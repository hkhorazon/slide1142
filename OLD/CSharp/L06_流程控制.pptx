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266" r:id="rId2"/>
    <p:sldId id="267" r:id="rId3"/>
    <p:sldId id="272" r:id="rId4"/>
    <p:sldId id="268" r:id="rId5"/>
    <p:sldId id="273" r:id="rId6"/>
    <p:sldId id="279" r:id="rId7"/>
    <p:sldId id="280" r:id="rId8"/>
    <p:sldId id="269" r:id="rId9"/>
    <p:sldId id="270" r:id="rId10"/>
    <p:sldId id="271" r:id="rId11"/>
    <p:sldId id="274" r:id="rId12"/>
    <p:sldId id="275" r:id="rId13"/>
    <p:sldId id="277" r:id="rId14"/>
    <p:sldId id="276" r:id="rId15"/>
    <p:sldId id="278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121"/>
    <a:srgbClr val="FF0000"/>
    <a:srgbClr val="92D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83108-ADE7-4328-A53F-6D2935F8AC8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DC522-41D9-47E7-B9C1-13612A72D34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DC522-41D9-47E7-B9C1-13612A72D34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/>
              <a:t>6</a:t>
            </a:r>
            <a:br>
              <a:rPr lang="en-US" altLang="zh-TW" dirty="0"/>
            </a:br>
            <a:r>
              <a:rPr lang="zh-TW" altLang="en-US" dirty="0"/>
              <a:t>流程控制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7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關係運算子 </a:t>
            </a:r>
            <a:r>
              <a:rPr lang="en-US" altLang="zh-TW" dirty="0"/>
              <a:t>(</a:t>
            </a:r>
            <a:r>
              <a:rPr lang="zh-TW" altLang="en-US" dirty="0"/>
              <a:t>比較運算子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&lt;, &lt;=, &gt;= ,&gt;</a:t>
            </a:r>
          </a:p>
          <a:p>
            <a:endParaRPr lang="en-US" altLang="zh-TW" dirty="0"/>
          </a:p>
          <a:p>
            <a:r>
              <a:rPr lang="en-US" altLang="zh-TW" dirty="0"/>
              <a:t>==, !=</a:t>
            </a:r>
          </a:p>
          <a:p>
            <a:pPr lvl="1"/>
            <a:r>
              <a:rPr lang="zh-TW" altLang="en-US" dirty="0"/>
              <a:t>記得雙等號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運算結果為</a:t>
            </a:r>
            <a:r>
              <a:rPr lang="en-US" altLang="zh-TW" dirty="0" err="1"/>
              <a:t>bool</a:t>
            </a:r>
            <a:endParaRPr lang="en-US" altLang="zh-TW" dirty="0"/>
          </a:p>
          <a:p>
            <a:r>
              <a:rPr lang="zh-TW" altLang="en-US" dirty="0"/>
              <a:t>一樣會有轉型問題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使用關係運算子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786058"/>
            <a:ext cx="7328129" cy="70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 r="3304"/>
          <a:stretch>
            <a:fillRect/>
          </a:stretch>
        </p:blipFill>
        <p:spPr bwMode="auto">
          <a:xfrm>
            <a:off x="1015245" y="4143380"/>
            <a:ext cx="6271399" cy="69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 t="12273"/>
          <a:stretch>
            <a:fillRect/>
          </a:stretch>
        </p:blipFill>
        <p:spPr bwMode="auto">
          <a:xfrm>
            <a:off x="1000100" y="5357826"/>
            <a:ext cx="6286544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布林邏輯運算子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二元</a:t>
            </a:r>
            <a:endParaRPr lang="en-US" altLang="zh-TW" dirty="0"/>
          </a:p>
          <a:p>
            <a:pPr lvl="1"/>
            <a:r>
              <a:rPr lang="en-US" altLang="zh-TW" dirty="0"/>
              <a:t>&amp;&amp;</a:t>
            </a:r>
            <a:r>
              <a:rPr lang="zh-TW" altLang="en-US" dirty="0"/>
              <a:t>、</a:t>
            </a:r>
            <a:r>
              <a:rPr lang="en-US" altLang="zh-TW" dirty="0"/>
              <a:t>||</a:t>
            </a:r>
            <a:r>
              <a:rPr lang="zh-TW" altLang="en-US" dirty="0"/>
              <a:t>、</a:t>
            </a:r>
            <a:r>
              <a:rPr lang="en-US" altLang="zh-TW" dirty="0"/>
              <a:t>^</a:t>
            </a:r>
            <a:r>
              <a:rPr lang="zh-TW" altLang="en-US" dirty="0"/>
              <a:t>、</a:t>
            </a:r>
            <a:r>
              <a:rPr lang="en-US" altLang="zh-TW" dirty="0"/>
              <a:t>&amp;</a:t>
            </a:r>
            <a:r>
              <a:rPr lang="zh-TW" altLang="en-US" dirty="0"/>
              <a:t>、</a:t>
            </a:r>
            <a:r>
              <a:rPr lang="en-US" altLang="zh-TW" dirty="0"/>
              <a:t>|</a:t>
            </a:r>
          </a:p>
          <a:p>
            <a:pPr lvl="1"/>
            <a:r>
              <a:rPr lang="zh-TW" altLang="en-US" dirty="0"/>
              <a:t>不建議使用 </a:t>
            </a:r>
            <a:r>
              <a:rPr lang="en-US" altLang="zh-TW" dirty="0"/>
              <a:t>&amp;</a:t>
            </a:r>
            <a:r>
              <a:rPr lang="zh-TW" altLang="en-US" dirty="0"/>
              <a:t>、</a:t>
            </a:r>
            <a:r>
              <a:rPr lang="en-US" altLang="zh-TW" dirty="0"/>
              <a:t>|</a:t>
            </a:r>
          </a:p>
          <a:p>
            <a:pPr lvl="1"/>
            <a:r>
              <a:rPr lang="zh-TW" altLang="en-US" dirty="0"/>
              <a:t>運算元為</a:t>
            </a:r>
            <a:r>
              <a:rPr lang="en-US" altLang="zh-TW" dirty="0" err="1"/>
              <a:t>bool</a:t>
            </a:r>
            <a:r>
              <a:rPr lang="zh-TW" altLang="en-US" dirty="0"/>
              <a:t>、回傳為</a:t>
            </a:r>
            <a:r>
              <a:rPr lang="en-US" altLang="zh-TW" dirty="0" err="1"/>
              <a:t>bool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一元</a:t>
            </a:r>
            <a:endParaRPr lang="en-US" altLang="zh-TW" dirty="0"/>
          </a:p>
          <a:p>
            <a:pPr lvl="1"/>
            <a:r>
              <a:rPr lang="en-US" altLang="zh-TW" dirty="0"/>
              <a:t>! 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否定</a:t>
            </a:r>
            <a:r>
              <a:rPr lang="en-US" altLang="zh-TW" dirty="0"/>
              <a:t>/</a:t>
            </a:r>
            <a:r>
              <a:rPr lang="zh-TW" altLang="en-US" dirty="0"/>
              <a:t>反</a:t>
            </a:r>
            <a:r>
              <a:rPr lang="en-US" altLang="zh-TW" dirty="0"/>
              <a:t>)</a:t>
            </a:r>
          </a:p>
          <a:p>
            <a:pPr lvl="2"/>
            <a:r>
              <a:rPr lang="zh-TW" altLang="en-US" dirty="0"/>
              <a:t>如有需要建議使用括號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4714884"/>
            <a:ext cx="27241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1500174"/>
            <a:ext cx="27717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36" y="3143248"/>
            <a:ext cx="26670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使用比較</a:t>
            </a:r>
            <a:r>
              <a:rPr lang="en-US" altLang="zh-TW" dirty="0"/>
              <a:t>/</a:t>
            </a:r>
            <a:r>
              <a:rPr lang="zh-TW" altLang="en-US" dirty="0"/>
              <a:t>邏輯運算子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928934"/>
            <a:ext cx="8229600" cy="3645602"/>
          </a:xfrm>
        </p:spPr>
        <p:txBody>
          <a:bodyPr/>
          <a:lstStyle/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顏色為</a:t>
            </a:r>
            <a:r>
              <a:rPr lang="zh-TW" altLang="en-US" dirty="0"/>
              <a:t>紅色</a:t>
            </a:r>
            <a:endParaRPr lang="en-US" altLang="zh-TW" dirty="0"/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形狀為</a:t>
            </a:r>
            <a:r>
              <a:rPr lang="zh-TW" altLang="en-US" dirty="0"/>
              <a:t>方形</a:t>
            </a:r>
            <a:endParaRPr lang="en-US" altLang="zh-TW" dirty="0"/>
          </a:p>
          <a:p>
            <a:r>
              <a:rPr lang="zh-TW" altLang="en-US" dirty="0"/>
              <a:t>紅色 </a:t>
            </a:r>
            <a:r>
              <a:rPr lang="en-US" altLang="zh-TW" dirty="0"/>
              <a:t>&amp;&amp; </a:t>
            </a:r>
            <a:r>
              <a:rPr lang="zh-TW" altLang="en-US" dirty="0"/>
              <a:t>方形</a:t>
            </a:r>
            <a:endParaRPr lang="en-US" altLang="zh-TW" dirty="0"/>
          </a:p>
          <a:p>
            <a:r>
              <a:rPr lang="zh-TW" altLang="en-US" dirty="0"/>
              <a:t>綠色 </a:t>
            </a:r>
            <a:r>
              <a:rPr lang="en-US" altLang="zh-TW" dirty="0"/>
              <a:t>&amp;&amp; </a:t>
            </a:r>
            <a:r>
              <a:rPr lang="zh-TW" altLang="en-US" dirty="0"/>
              <a:t>圓形</a:t>
            </a:r>
            <a:endParaRPr lang="en-US" altLang="zh-TW" dirty="0"/>
          </a:p>
          <a:p>
            <a:r>
              <a:rPr lang="zh-TW" altLang="en-US" dirty="0"/>
              <a:t>紅色  </a:t>
            </a:r>
            <a:r>
              <a:rPr lang="en-US" altLang="zh-TW" dirty="0"/>
              <a:t>| |  </a:t>
            </a:r>
            <a:r>
              <a:rPr lang="zh-TW" altLang="en-US" dirty="0"/>
              <a:t>圓形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!</a:t>
            </a:r>
            <a:r>
              <a:rPr lang="zh-TW" altLang="en-US" dirty="0"/>
              <a:t>藍色 </a:t>
            </a:r>
            <a:r>
              <a:rPr lang="en-US" altLang="zh-TW" dirty="0"/>
              <a:t>&amp;&amp; !</a:t>
            </a:r>
            <a:r>
              <a:rPr lang="zh-TW" altLang="en-US" dirty="0"/>
              <a:t>圓形</a:t>
            </a:r>
          </a:p>
        </p:txBody>
      </p:sp>
      <p:sp>
        <p:nvSpPr>
          <p:cNvPr id="4" name="橢圓 3"/>
          <p:cNvSpPr/>
          <p:nvPr/>
        </p:nvSpPr>
        <p:spPr>
          <a:xfrm>
            <a:off x="1000100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214414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8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214678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428992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3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4000496" y="2285992"/>
            <a:ext cx="642942" cy="571504"/>
          </a:xfrm>
          <a:prstGeom prst="ellipse">
            <a:avLst/>
          </a:prstGeom>
          <a:solidFill>
            <a:srgbClr val="92D050">
              <a:alpha val="50196"/>
            </a:srgbClr>
          </a:solidFill>
          <a:ln>
            <a:solidFill>
              <a:srgbClr val="000000">
                <a:alpha val="94902"/>
              </a:srgb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214810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5</a:t>
            </a:r>
            <a:endParaRPr lang="zh-TW" altLang="en-US" dirty="0"/>
          </a:p>
        </p:txBody>
      </p:sp>
      <p:grpSp>
        <p:nvGrpSpPr>
          <p:cNvPr id="20" name="群組 19"/>
          <p:cNvGrpSpPr/>
          <p:nvPr/>
        </p:nvGrpSpPr>
        <p:grpSpPr>
          <a:xfrm>
            <a:off x="4786314" y="2285992"/>
            <a:ext cx="571504" cy="571504"/>
            <a:chOff x="4572000" y="2285992"/>
            <a:chExt cx="571504" cy="571504"/>
          </a:xfrm>
        </p:grpSpPr>
        <p:sp>
          <p:nvSpPr>
            <p:cNvPr id="18" name="矩形 17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2</a:t>
              </a:r>
              <a:endParaRPr lang="zh-TW" altLang="en-US" dirty="0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785918" y="2285992"/>
            <a:ext cx="571504" cy="571504"/>
            <a:chOff x="4572000" y="2285992"/>
            <a:chExt cx="571504" cy="571504"/>
          </a:xfrm>
        </p:grpSpPr>
        <p:sp>
          <p:nvSpPr>
            <p:cNvPr id="22" name="矩形 21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1</a:t>
              </a:r>
              <a:endParaRPr lang="zh-TW" altLang="en-US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2500298" y="2285992"/>
            <a:ext cx="571504" cy="571504"/>
            <a:chOff x="4572000" y="2285992"/>
            <a:chExt cx="571504" cy="571504"/>
          </a:xfrm>
        </p:grpSpPr>
        <p:sp>
          <p:nvSpPr>
            <p:cNvPr id="25" name="矩形 24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FF2121">
                <a:alpha val="25098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7</a:t>
              </a:r>
              <a:endParaRPr lang="zh-TW" alt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使用比較</a:t>
            </a:r>
            <a:r>
              <a:rPr lang="en-US" altLang="zh-TW" dirty="0"/>
              <a:t>/</a:t>
            </a:r>
            <a:r>
              <a:rPr lang="zh-TW" altLang="en-US" dirty="0"/>
              <a:t>邏輯運算子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928934"/>
            <a:ext cx="8229600" cy="3645602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== 3</a:t>
            </a:r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&gt; 3 </a:t>
            </a:r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&lt; 3</a:t>
            </a:r>
          </a:p>
          <a:p>
            <a:endParaRPr lang="en-US" altLang="zh-TW" dirty="0"/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&gt;= 2 &amp;&amp;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/>
              <a:t>7</a:t>
            </a:r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&lt;=</a:t>
            </a:r>
            <a:r>
              <a:rPr lang="zh-TW" altLang="en-US" dirty="0"/>
              <a:t> </a:t>
            </a:r>
            <a:r>
              <a:rPr lang="en-US" altLang="zh-TW" dirty="0"/>
              <a:t>4 ||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&gt;=</a:t>
            </a:r>
            <a:r>
              <a:rPr lang="zh-TW" altLang="en-US" dirty="0"/>
              <a:t> </a:t>
            </a:r>
            <a:r>
              <a:rPr lang="en-US" altLang="zh-TW" dirty="0"/>
              <a:t>6</a:t>
            </a:r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/>
              <a:t>4 &amp;&amp;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數值 </a:t>
            </a:r>
            <a:r>
              <a:rPr lang="en-US" altLang="zh-TW" dirty="0"/>
              <a:t>&gt; 5</a:t>
            </a:r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000100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214414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8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214678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428992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3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4000496" y="2285992"/>
            <a:ext cx="642942" cy="571504"/>
          </a:xfrm>
          <a:prstGeom prst="ellipse">
            <a:avLst/>
          </a:prstGeom>
          <a:solidFill>
            <a:srgbClr val="92D050">
              <a:alpha val="50196"/>
            </a:srgbClr>
          </a:solidFill>
          <a:ln>
            <a:solidFill>
              <a:srgbClr val="000000">
                <a:alpha val="94902"/>
              </a:srgb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214810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5</a:t>
            </a:r>
            <a:endParaRPr lang="zh-TW" altLang="en-US" dirty="0"/>
          </a:p>
        </p:txBody>
      </p:sp>
      <p:grpSp>
        <p:nvGrpSpPr>
          <p:cNvPr id="5" name="群組 19"/>
          <p:cNvGrpSpPr/>
          <p:nvPr/>
        </p:nvGrpSpPr>
        <p:grpSpPr>
          <a:xfrm>
            <a:off x="4786314" y="2285992"/>
            <a:ext cx="571504" cy="571504"/>
            <a:chOff x="4572000" y="2285992"/>
            <a:chExt cx="571504" cy="571504"/>
          </a:xfrm>
        </p:grpSpPr>
        <p:sp>
          <p:nvSpPr>
            <p:cNvPr id="18" name="矩形 17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2</a:t>
              </a:r>
              <a:endParaRPr lang="zh-TW" altLang="en-US" dirty="0"/>
            </a:p>
          </p:txBody>
        </p:sp>
      </p:grpSp>
      <p:grpSp>
        <p:nvGrpSpPr>
          <p:cNvPr id="6" name="群組 20"/>
          <p:cNvGrpSpPr/>
          <p:nvPr/>
        </p:nvGrpSpPr>
        <p:grpSpPr>
          <a:xfrm>
            <a:off x="1785918" y="2285992"/>
            <a:ext cx="571504" cy="571504"/>
            <a:chOff x="4572000" y="2285992"/>
            <a:chExt cx="571504" cy="571504"/>
          </a:xfrm>
        </p:grpSpPr>
        <p:sp>
          <p:nvSpPr>
            <p:cNvPr id="22" name="矩形 21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1</a:t>
              </a:r>
              <a:endParaRPr lang="zh-TW" altLang="en-US" dirty="0"/>
            </a:p>
          </p:txBody>
        </p:sp>
      </p:grpSp>
      <p:grpSp>
        <p:nvGrpSpPr>
          <p:cNvPr id="7" name="群組 23"/>
          <p:cNvGrpSpPr/>
          <p:nvPr/>
        </p:nvGrpSpPr>
        <p:grpSpPr>
          <a:xfrm>
            <a:off x="2500298" y="2285992"/>
            <a:ext cx="571504" cy="571504"/>
            <a:chOff x="4572000" y="2285992"/>
            <a:chExt cx="571504" cy="571504"/>
          </a:xfrm>
        </p:grpSpPr>
        <p:sp>
          <p:nvSpPr>
            <p:cNvPr id="25" name="矩形 24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FF2121">
                <a:alpha val="25098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7</a:t>
              </a:r>
              <a:endParaRPr lang="zh-TW" alt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使用比較</a:t>
            </a:r>
            <a:r>
              <a:rPr lang="en-US" altLang="zh-TW" dirty="0"/>
              <a:t>/</a:t>
            </a:r>
            <a:r>
              <a:rPr lang="zh-TW" altLang="en-US" dirty="0"/>
              <a:t>邏輯運算子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928934"/>
            <a:ext cx="8229600" cy="3645602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000100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214414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8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3214678" y="2285992"/>
            <a:ext cx="642942" cy="571504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428992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3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4000496" y="2285992"/>
            <a:ext cx="642942" cy="571504"/>
          </a:xfrm>
          <a:prstGeom prst="ellipse">
            <a:avLst/>
          </a:prstGeom>
          <a:solidFill>
            <a:srgbClr val="92D050">
              <a:alpha val="50196"/>
            </a:srgbClr>
          </a:solidFill>
          <a:ln>
            <a:solidFill>
              <a:srgbClr val="000000">
                <a:alpha val="94902"/>
              </a:srgb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214810" y="2285992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5</a:t>
            </a:r>
            <a:endParaRPr lang="zh-TW" altLang="en-US" dirty="0"/>
          </a:p>
        </p:txBody>
      </p:sp>
      <p:grpSp>
        <p:nvGrpSpPr>
          <p:cNvPr id="5" name="群組 19"/>
          <p:cNvGrpSpPr/>
          <p:nvPr/>
        </p:nvGrpSpPr>
        <p:grpSpPr>
          <a:xfrm>
            <a:off x="4786314" y="2285992"/>
            <a:ext cx="571504" cy="571504"/>
            <a:chOff x="4572000" y="2285992"/>
            <a:chExt cx="571504" cy="571504"/>
          </a:xfrm>
        </p:grpSpPr>
        <p:sp>
          <p:nvSpPr>
            <p:cNvPr id="18" name="矩形 17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2</a:t>
              </a:r>
              <a:endParaRPr lang="zh-TW" altLang="en-US" dirty="0"/>
            </a:p>
          </p:txBody>
        </p:sp>
      </p:grpSp>
      <p:grpSp>
        <p:nvGrpSpPr>
          <p:cNvPr id="6" name="群組 20"/>
          <p:cNvGrpSpPr/>
          <p:nvPr/>
        </p:nvGrpSpPr>
        <p:grpSpPr>
          <a:xfrm>
            <a:off x="1785918" y="2285992"/>
            <a:ext cx="571504" cy="571504"/>
            <a:chOff x="4572000" y="2285992"/>
            <a:chExt cx="571504" cy="571504"/>
          </a:xfrm>
        </p:grpSpPr>
        <p:sp>
          <p:nvSpPr>
            <p:cNvPr id="22" name="矩形 21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92D050">
                <a:alpha val="50196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1</a:t>
              </a:r>
              <a:endParaRPr lang="zh-TW" altLang="en-US" dirty="0"/>
            </a:p>
          </p:txBody>
        </p:sp>
      </p:grpSp>
      <p:grpSp>
        <p:nvGrpSpPr>
          <p:cNvPr id="7" name="群組 23"/>
          <p:cNvGrpSpPr/>
          <p:nvPr/>
        </p:nvGrpSpPr>
        <p:grpSpPr>
          <a:xfrm>
            <a:off x="2500298" y="2285992"/>
            <a:ext cx="571504" cy="571504"/>
            <a:chOff x="4572000" y="2285992"/>
            <a:chExt cx="571504" cy="571504"/>
          </a:xfrm>
        </p:grpSpPr>
        <p:sp>
          <p:nvSpPr>
            <p:cNvPr id="25" name="矩形 24"/>
            <p:cNvSpPr/>
            <p:nvPr/>
          </p:nvSpPr>
          <p:spPr>
            <a:xfrm>
              <a:off x="4572000" y="2285992"/>
              <a:ext cx="571504" cy="571504"/>
            </a:xfrm>
            <a:prstGeom prst="rect">
              <a:avLst/>
            </a:prstGeom>
            <a:solidFill>
              <a:srgbClr val="FF2121">
                <a:alpha val="25098"/>
              </a:srgbClr>
            </a:solidFill>
            <a:ln>
              <a:solidFill>
                <a:srgbClr val="000000">
                  <a:alpha val="94902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4714876" y="2285992"/>
              <a:ext cx="285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7</a:t>
              </a:r>
              <a:endParaRPr lang="zh-TW" altLang="en-US" dirty="0"/>
            </a:p>
          </p:txBody>
        </p:sp>
      </p:grpSp>
      <p:sp>
        <p:nvSpPr>
          <p:cNvPr id="20" name="內容版面配置區 2"/>
          <p:cNvSpPr txBox="1">
            <a:spLocks/>
          </p:cNvSpPr>
          <p:nvPr/>
        </p:nvSpPr>
        <p:spPr>
          <a:xfrm>
            <a:off x="609600" y="3081334"/>
            <a:ext cx="8229600" cy="364560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lvl="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紅色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zh-TW" altLang="en-US" sz="2800" dirty="0">
                <a:solidFill>
                  <a:schemeClr val="bg1">
                    <a:lumMod val="65000"/>
                  </a:schemeClr>
                </a:solidFill>
              </a:rPr>
              <a:t>數值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lang="en-US" altLang="zh-TW" sz="2800" dirty="0"/>
              <a:t>5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lang="en-US" altLang="zh-TW" sz="2800" dirty="0"/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lang="zh-TW" altLang="en-US" sz="2800" dirty="0"/>
              <a:t>數值</a:t>
            </a:r>
            <a:r>
              <a:rPr lang="en-US" altLang="zh-TW" sz="2800" dirty="0"/>
              <a:t>%2 == 1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lang="en-US" altLang="zh-TW" sz="2800" dirty="0"/>
          </a:p>
          <a:p>
            <a:pPr marL="365760" lvl="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lang="zh-TW" altLang="en-US" sz="2800" dirty="0">
                <a:solidFill>
                  <a:schemeClr val="bg1">
                    <a:lumMod val="65000"/>
                  </a:schemeClr>
                </a:solidFill>
              </a:rPr>
              <a:t>數值</a:t>
            </a:r>
            <a:r>
              <a:rPr lang="en-US" altLang="zh-TW" sz="2800" dirty="0"/>
              <a:t>&gt;5</a:t>
            </a:r>
            <a:r>
              <a:rPr lang="zh-TW" altLang="en-US" sz="2800" dirty="0"/>
              <a:t> </a:t>
            </a:r>
            <a:r>
              <a:rPr lang="en-US" altLang="zh-TW" sz="2800" dirty="0"/>
              <a:t>||</a:t>
            </a:r>
            <a:r>
              <a:rPr lang="zh-TW" altLang="en-US" sz="2800" dirty="0"/>
              <a:t> </a:t>
            </a:r>
            <a:r>
              <a:rPr lang="en-US" altLang="zh-TW" sz="2800" dirty="0"/>
              <a:t>!(</a:t>
            </a:r>
            <a:r>
              <a:rPr lang="zh-TW" altLang="en-US" sz="2800" dirty="0"/>
              <a:t>紅色 </a:t>
            </a:r>
            <a:r>
              <a:rPr lang="en-US" altLang="zh-TW" sz="2800" dirty="0"/>
              <a:t>&amp;&amp;</a:t>
            </a:r>
            <a:r>
              <a:rPr lang="zh-TW" altLang="en-US" sz="2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TW" altLang="en-US" sz="2800" dirty="0"/>
              <a:t>圓形</a:t>
            </a:r>
            <a:r>
              <a:rPr lang="en-US" altLang="zh-TW" sz="2800" dirty="0"/>
              <a:t>)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if (</a:t>
            </a:r>
            <a:r>
              <a:rPr lang="zh-TW" altLang="en-US" dirty="0">
                <a:latin typeface="Lucida Console" pitchFamily="49" charset="0"/>
              </a:rPr>
              <a:t> 布林邏輯式 </a:t>
            </a:r>
            <a:r>
              <a:rPr lang="en-US" altLang="zh-TW" dirty="0">
                <a:latin typeface="Lucida Console" pitchFamily="49" charset="0"/>
              </a:rPr>
              <a:t>)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邏輯通過時執行之陳述式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只有一行時可省略大括號</a:t>
            </a:r>
            <a:r>
              <a:rPr lang="en-US" altLang="zh-TW" dirty="0"/>
              <a:t>{}</a:t>
            </a:r>
          </a:p>
          <a:p>
            <a:pPr lvl="1">
              <a:buNone/>
            </a:pPr>
            <a:r>
              <a:rPr lang="en-US" altLang="zh-TW" dirty="0">
                <a:latin typeface="Lucida Console" pitchFamily="49" charset="0"/>
              </a:rPr>
              <a:t>if (</a:t>
            </a:r>
            <a:r>
              <a:rPr lang="zh-TW" altLang="en-US" dirty="0">
                <a:latin typeface="Lucida Console" pitchFamily="49" charset="0"/>
              </a:rPr>
              <a:t> 布林邏輯式 </a:t>
            </a:r>
            <a:r>
              <a:rPr lang="en-US" altLang="zh-TW" dirty="0">
                <a:latin typeface="Lucida Console" pitchFamily="49" charset="0"/>
              </a:rPr>
              <a:t>)</a:t>
            </a:r>
          </a:p>
          <a:p>
            <a:pPr lvl="1"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邏輯通過時執行之陳述式</a:t>
            </a:r>
            <a:endParaRPr lang="en-US" altLang="zh-TW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   else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if (</a:t>
            </a:r>
            <a:r>
              <a:rPr lang="zh-TW" altLang="en-US" dirty="0">
                <a:latin typeface="Lucida Console" pitchFamily="49" charset="0"/>
              </a:rPr>
              <a:t>邏輯表達式</a:t>
            </a:r>
            <a:r>
              <a:rPr lang="en-US" altLang="zh-TW" dirty="0">
                <a:latin typeface="Lucida Console" pitchFamily="49" charset="0"/>
              </a:rPr>
              <a:t>)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</a:t>
            </a:r>
            <a:r>
              <a:rPr lang="zh-TW" altLang="en-US" b="1" dirty="0">
                <a:latin typeface="Lucida Console" pitchFamily="49" charset="0"/>
              </a:rPr>
              <a:t>通過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 else 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邏輯不</a:t>
            </a:r>
            <a:r>
              <a:rPr lang="zh-TW" altLang="en-US" b="1" dirty="0">
                <a:latin typeface="Lucida Console" pitchFamily="49" charset="0"/>
              </a:rPr>
              <a:t>通過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</a:t>
            </a:r>
            <a:r>
              <a:rPr lang="zh-TW" altLang="en-US" dirty="0"/>
              <a:t>、</a:t>
            </a:r>
            <a:r>
              <a:rPr lang="en-US" altLang="zh-TW" dirty="0"/>
              <a:t>else if</a:t>
            </a:r>
            <a:r>
              <a:rPr lang="zh-TW" altLang="en-US" dirty="0"/>
              <a:t>、</a:t>
            </a:r>
            <a:r>
              <a:rPr lang="en-US" altLang="zh-TW"/>
              <a:t>else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if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(</a:t>
            </a:r>
            <a:r>
              <a:rPr lang="zh-TW" altLang="en-US" dirty="0">
                <a:latin typeface="Lucida Console" pitchFamily="49" charset="0"/>
              </a:rPr>
              <a:t>邏輯表達式 </a:t>
            </a:r>
            <a:r>
              <a:rPr lang="en-US" altLang="zh-TW" dirty="0">
                <a:latin typeface="Lucida Console" pitchFamily="49" charset="0"/>
              </a:rPr>
              <a:t>A)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</a:t>
            </a:r>
            <a:r>
              <a:rPr lang="zh-TW" altLang="en-US" b="1" dirty="0">
                <a:latin typeface="Lucida Console" pitchFamily="49" charset="0"/>
              </a:rPr>
              <a:t>通過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 else if (</a:t>
            </a:r>
            <a:r>
              <a:rPr lang="zh-TW" altLang="en-US" dirty="0">
                <a:latin typeface="Lucida Console" pitchFamily="49" charset="0"/>
              </a:rPr>
              <a:t>邏輯表達式 </a:t>
            </a:r>
            <a:r>
              <a:rPr lang="en-US" altLang="zh-TW" dirty="0">
                <a:latin typeface="Lucida Console" pitchFamily="49" charset="0"/>
              </a:rPr>
              <a:t>B) 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</a:t>
            </a:r>
            <a:r>
              <a:rPr lang="zh-TW" altLang="en-US" b="1" dirty="0">
                <a:latin typeface="Lucida Console" pitchFamily="49" charset="0"/>
              </a:rPr>
              <a:t>不通過</a:t>
            </a:r>
            <a:r>
              <a:rPr lang="en-US" altLang="zh-TW" b="1" dirty="0">
                <a:latin typeface="Lucida Console" pitchFamily="49" charset="0"/>
              </a:rPr>
              <a:t>A</a:t>
            </a:r>
            <a:r>
              <a:rPr lang="zh-TW" altLang="en-US" b="1" dirty="0">
                <a:latin typeface="Lucida Console" pitchFamily="49" charset="0"/>
              </a:rPr>
              <a:t>但通過</a:t>
            </a:r>
            <a:r>
              <a:rPr lang="en-US" altLang="zh-TW" b="1" dirty="0">
                <a:latin typeface="Lucida Console" pitchFamily="49" charset="0"/>
              </a:rPr>
              <a:t>B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 else if (</a:t>
            </a:r>
            <a:r>
              <a:rPr lang="zh-TW" altLang="en-US" dirty="0">
                <a:latin typeface="Lucida Console" pitchFamily="49" charset="0"/>
              </a:rPr>
              <a:t>邏輯表達式 </a:t>
            </a:r>
            <a:r>
              <a:rPr lang="en-US" altLang="zh-TW" dirty="0">
                <a:latin typeface="Lucida Console" pitchFamily="49" charset="0"/>
              </a:rPr>
              <a:t>C) 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</a:t>
            </a:r>
            <a:r>
              <a:rPr lang="zh-TW" altLang="en-US" b="1" dirty="0">
                <a:latin typeface="Lucida Console" pitchFamily="49" charset="0"/>
              </a:rPr>
              <a:t>不通過</a:t>
            </a:r>
            <a:r>
              <a:rPr lang="en-US" altLang="zh-TW" b="1" dirty="0">
                <a:latin typeface="Lucida Console" pitchFamily="49" charset="0"/>
              </a:rPr>
              <a:t>AB</a:t>
            </a:r>
            <a:r>
              <a:rPr lang="zh-TW" altLang="en-US" b="1" dirty="0">
                <a:latin typeface="Lucida Console" pitchFamily="49" charset="0"/>
              </a:rPr>
              <a:t>但通過</a:t>
            </a:r>
            <a:r>
              <a:rPr lang="en-US" altLang="zh-TW" b="1" dirty="0">
                <a:latin typeface="Lucida Console" pitchFamily="49" charset="0"/>
              </a:rPr>
              <a:t>C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else 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邏輯</a:t>
            </a:r>
            <a:r>
              <a:rPr lang="zh-TW" altLang="en-US" b="1" dirty="0">
                <a:latin typeface="Lucida Console" pitchFamily="49" charset="0"/>
              </a:rPr>
              <a:t>不通過</a:t>
            </a:r>
            <a:r>
              <a:rPr lang="en-US" altLang="zh-TW" b="1" dirty="0">
                <a:latin typeface="Lucida Console" pitchFamily="49" charset="0"/>
              </a:rPr>
              <a:t>ABC</a:t>
            </a:r>
            <a:r>
              <a:rPr lang="zh-TW" altLang="en-US" dirty="0">
                <a:latin typeface="Lucida Console" pitchFamily="49" charset="0"/>
              </a:rPr>
              <a:t>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大括號問題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if</a:t>
            </a:r>
            <a:r>
              <a:rPr lang="zh-TW" altLang="en-US" sz="2400" dirty="0">
                <a:latin typeface="Lucida Console" pitchFamily="49" charset="0"/>
              </a:rPr>
              <a:t> </a:t>
            </a:r>
            <a:r>
              <a:rPr lang="en-US" altLang="zh-TW" sz="2400" dirty="0">
                <a:latin typeface="Lucida Console" pitchFamily="49" charset="0"/>
              </a:rPr>
              <a:t>(true){</a:t>
            </a: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	//</a:t>
            </a:r>
            <a:r>
              <a:rPr lang="zh-TW" altLang="en-US" sz="2400" dirty="0">
                <a:latin typeface="Lucida Console" pitchFamily="49" charset="0"/>
              </a:rPr>
              <a:t>一些程式碼</a:t>
            </a:r>
            <a:endParaRPr lang="en-US" altLang="zh-TW" sz="2400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}</a:t>
            </a:r>
          </a:p>
          <a:p>
            <a:pPr>
              <a:buNone/>
            </a:pPr>
            <a:endParaRPr lang="en-US" altLang="zh-TW" sz="2400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if</a:t>
            </a:r>
            <a:r>
              <a:rPr lang="zh-TW" altLang="en-US" sz="2400" dirty="0">
                <a:latin typeface="Lucida Console" pitchFamily="49" charset="0"/>
              </a:rPr>
              <a:t> </a:t>
            </a:r>
            <a:r>
              <a:rPr lang="en-US" altLang="zh-TW" sz="2400" dirty="0">
                <a:latin typeface="Lucida Console" pitchFamily="49" charset="0"/>
              </a:rPr>
              <a:t>(true)</a:t>
            </a: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{</a:t>
            </a: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	//</a:t>
            </a:r>
            <a:r>
              <a:rPr lang="zh-TW" altLang="en-US" sz="2400" dirty="0">
                <a:latin typeface="Lucida Console" pitchFamily="49" charset="0"/>
              </a:rPr>
              <a:t>一些程式碼</a:t>
            </a:r>
            <a:endParaRPr lang="en-US" altLang="zh-TW" sz="2400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sz="2400" dirty="0">
                <a:latin typeface="Lucida Console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switch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switch(</a:t>
            </a:r>
            <a:r>
              <a:rPr lang="zh-TW" altLang="en-US" dirty="0">
                <a:latin typeface="Lucida Console" pitchFamily="49" charset="0"/>
              </a:rPr>
              <a:t>變數</a:t>
            </a:r>
            <a:r>
              <a:rPr lang="en-US" altLang="zh-TW" dirty="0">
                <a:latin typeface="Lucida Console" pitchFamily="49" charset="0"/>
              </a:rPr>
              <a:t>)</a:t>
            </a:r>
            <a:r>
              <a:rPr lang="zh-TW" altLang="en-US" dirty="0">
                <a:latin typeface="Lucida Console" pitchFamily="49" charset="0"/>
              </a:rPr>
              <a:t> </a:t>
            </a:r>
            <a:r>
              <a:rPr lang="en-US" altLang="zh-TW" dirty="0">
                <a:latin typeface="Lucida Console" pitchFamily="49" charset="0"/>
              </a:rPr>
              <a:t>{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    case </a:t>
            </a:r>
            <a:r>
              <a:rPr lang="zh-TW" altLang="en-US" dirty="0">
                <a:latin typeface="Lucida Console" pitchFamily="49" charset="0"/>
              </a:rPr>
              <a:t>數值</a:t>
            </a:r>
            <a:r>
              <a:rPr lang="en-US" altLang="zh-TW" dirty="0">
                <a:latin typeface="Lucida Console" pitchFamily="49" charset="0"/>
              </a:rPr>
              <a:t>1: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	    </a:t>
            </a:r>
            <a:r>
              <a:rPr lang="zh-TW" altLang="en-US" dirty="0">
                <a:latin typeface="Lucida Console" pitchFamily="49" charset="0"/>
              </a:rPr>
              <a:t>變數等於數值</a:t>
            </a:r>
            <a:r>
              <a:rPr lang="en-US" altLang="zh-TW" dirty="0">
                <a:latin typeface="Lucida Console" pitchFamily="49" charset="0"/>
              </a:rPr>
              <a:t>1</a:t>
            </a:r>
            <a:r>
              <a:rPr lang="zh-TW" altLang="en-US" dirty="0">
                <a:latin typeface="Lucida Console" pitchFamily="49" charset="0"/>
              </a:rPr>
              <a:t>時執行的陳述式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        break;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	case </a:t>
            </a:r>
            <a:r>
              <a:rPr lang="zh-TW" altLang="en-US" dirty="0">
                <a:latin typeface="Lucida Console" pitchFamily="49" charset="0"/>
              </a:rPr>
              <a:t>數值</a:t>
            </a:r>
            <a:r>
              <a:rPr lang="en-US" altLang="zh-TW" dirty="0">
                <a:latin typeface="Lucida Console" pitchFamily="49" charset="0"/>
              </a:rPr>
              <a:t>2: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	case </a:t>
            </a:r>
            <a:r>
              <a:rPr lang="zh-TW" altLang="en-US" dirty="0">
                <a:latin typeface="Lucida Console" pitchFamily="49" charset="0"/>
              </a:rPr>
              <a:t>數值</a:t>
            </a:r>
            <a:r>
              <a:rPr lang="en-US" altLang="zh-TW" dirty="0">
                <a:latin typeface="Lucida Console" pitchFamily="49" charset="0"/>
              </a:rPr>
              <a:t>3:</a:t>
            </a:r>
          </a:p>
          <a:p>
            <a:pPr>
              <a:buNone/>
            </a:pPr>
            <a:r>
              <a:rPr lang="zh-TW" altLang="en-US" dirty="0">
                <a:latin typeface="Lucida Console" pitchFamily="49" charset="0"/>
              </a:rPr>
              <a:t>        變數等於數值</a:t>
            </a:r>
            <a:r>
              <a:rPr lang="en-US" altLang="zh-TW" dirty="0">
                <a:latin typeface="Lucida Console" pitchFamily="49" charset="0"/>
              </a:rPr>
              <a:t>2</a:t>
            </a:r>
            <a:r>
              <a:rPr lang="zh-TW" altLang="en-US" dirty="0">
                <a:latin typeface="Lucida Console" pitchFamily="49" charset="0"/>
              </a:rPr>
              <a:t>或數值</a:t>
            </a:r>
            <a:r>
              <a:rPr lang="en-US" altLang="zh-TW" dirty="0">
                <a:latin typeface="Lucida Console" pitchFamily="49" charset="0"/>
              </a:rPr>
              <a:t>3</a:t>
            </a:r>
            <a:r>
              <a:rPr lang="zh-TW" altLang="en-US" dirty="0">
                <a:latin typeface="Lucida Console" pitchFamily="49" charset="0"/>
              </a:rPr>
              <a:t>時執行的陳述式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        break;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	default:</a:t>
            </a:r>
          </a:p>
          <a:p>
            <a:pPr>
              <a:buNone/>
            </a:pPr>
            <a:r>
              <a:rPr lang="zh-TW" altLang="en-US" dirty="0">
                <a:latin typeface="Lucida Console" pitchFamily="49" charset="0"/>
              </a:rPr>
              <a:t>        以上都不符合時執行之陳述式</a:t>
            </a:r>
            <a:endParaRPr lang="en-US" altLang="zh-TW" dirty="0">
              <a:latin typeface="Lucida Console" pitchFamily="49" charset="0"/>
            </a:endParaRP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		</a:t>
            </a:r>
            <a:r>
              <a:rPr lang="zh-TW" altLang="en-US" dirty="0">
                <a:latin typeface="Lucida Console" pitchFamily="49" charset="0"/>
              </a:rPr>
              <a:t>    </a:t>
            </a:r>
            <a:r>
              <a:rPr lang="en-US" altLang="zh-TW" dirty="0">
                <a:latin typeface="Lucida Console" pitchFamily="49" charset="0"/>
              </a:rPr>
              <a:t>break;</a:t>
            </a:r>
          </a:p>
          <a:p>
            <a:pPr>
              <a:buNone/>
            </a:pPr>
            <a:r>
              <a:rPr lang="en-US" altLang="zh-TW" dirty="0">
                <a:latin typeface="Lucida Console" pitchFamily="49" charset="0"/>
              </a:rPr>
              <a:t>}</a:t>
            </a:r>
            <a:endParaRPr lang="zh-TW" altLang="en-US" dirty="0">
              <a:latin typeface="Lucida Console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變數的生命週期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一般變數只能活在最靠近的 </a:t>
            </a:r>
            <a:r>
              <a:rPr lang="en-US" altLang="zh-TW" dirty="0"/>
              <a:t>{ }</a:t>
            </a:r>
            <a:r>
              <a:rPr lang="zh-TW" altLang="en-US" dirty="0"/>
              <a:t> 內</a:t>
            </a:r>
            <a:endParaRPr lang="en-US" altLang="zh-TW" dirty="0"/>
          </a:p>
          <a:p>
            <a:pPr lvl="1"/>
            <a:r>
              <a:rPr lang="en-US" altLang="zh-TW" dirty="0"/>
              <a:t>switch</a:t>
            </a:r>
            <a:r>
              <a:rPr lang="zh-TW" altLang="en-US" dirty="0"/>
              <a:t> </a:t>
            </a:r>
            <a:r>
              <a:rPr lang="en-US" altLang="zh-TW" dirty="0"/>
              <a:t>case</a:t>
            </a:r>
            <a:r>
              <a:rPr lang="zh-TW" altLang="en-US" dirty="0"/>
              <a:t>中隱含</a:t>
            </a:r>
            <a:r>
              <a:rPr lang="en-US" altLang="zh-TW" dirty="0"/>
              <a:t>{</a:t>
            </a:r>
            <a:r>
              <a:rPr lang="zh-TW" altLang="en-US" dirty="0"/>
              <a:t> </a:t>
            </a:r>
            <a:r>
              <a:rPr lang="en-US" altLang="zh-TW" dirty="0"/>
              <a:t>}</a:t>
            </a:r>
            <a:r>
              <a:rPr lang="zh-TW" altLang="en-US" dirty="0"/>
              <a:t>區塊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357562"/>
            <a:ext cx="5857916" cy="305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goto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Lucida Console" pitchFamily="49" charset="0"/>
              </a:rPr>
              <a:t>標籤 </a:t>
            </a:r>
            <a:endParaRPr lang="en-US" altLang="zh-TW" dirty="0">
              <a:latin typeface="Lucida Console" pitchFamily="49" charset="0"/>
            </a:endParaRPr>
          </a:p>
          <a:p>
            <a:pPr lvl="1">
              <a:buNone/>
            </a:pPr>
            <a:r>
              <a:rPr lang="en-US" altLang="zh-TW" dirty="0" err="1">
                <a:latin typeface="Lucida Console" pitchFamily="49" charset="0"/>
              </a:rPr>
              <a:t>LabelName</a:t>
            </a:r>
            <a:r>
              <a:rPr lang="en-US" altLang="zh-TW" dirty="0">
                <a:latin typeface="Lucida Console" pitchFamily="49" charset="0"/>
              </a:rPr>
              <a:t>:</a:t>
            </a:r>
          </a:p>
          <a:p>
            <a:pPr lvl="1">
              <a:buNone/>
            </a:pPr>
            <a:r>
              <a:rPr lang="zh-TW" altLang="en-US" dirty="0">
                <a:latin typeface="Lucida Console" pitchFamily="49" charset="0"/>
              </a:rPr>
              <a:t>   </a:t>
            </a:r>
            <a:r>
              <a:rPr lang="en-US" altLang="zh-TW" dirty="0">
                <a:latin typeface="Lucida Console" pitchFamily="49" charset="0"/>
              </a:rPr>
              <a:t>{</a:t>
            </a:r>
          </a:p>
          <a:p>
            <a:pPr lvl="1">
              <a:buNone/>
            </a:pP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  </a:t>
            </a:r>
            <a:r>
              <a:rPr lang="en-US" altLang="zh-TW" dirty="0">
                <a:latin typeface="Lucida Console" pitchFamily="49" charset="0"/>
              </a:rPr>
              <a:t>	</a:t>
            </a:r>
            <a:r>
              <a:rPr lang="zh-TW" altLang="en-US" dirty="0">
                <a:latin typeface="Lucida Console" pitchFamily="49" charset="0"/>
              </a:rPr>
              <a:t>欲執行之陳述式</a:t>
            </a:r>
            <a:endParaRPr lang="en-US" altLang="zh-TW" dirty="0">
              <a:latin typeface="Lucida Console" pitchFamily="49" charset="0"/>
            </a:endParaRPr>
          </a:p>
          <a:p>
            <a:pPr lvl="1">
              <a:buNone/>
            </a:pPr>
            <a:r>
              <a:rPr lang="en-US" altLang="zh-TW" dirty="0">
                <a:latin typeface="Lucida Console" pitchFamily="49" charset="0"/>
              </a:rPr>
              <a:t>	  }</a:t>
            </a:r>
          </a:p>
          <a:p>
            <a:r>
              <a:rPr lang="zh-TW" altLang="en-US" dirty="0">
                <a:latin typeface="Lucida Console" pitchFamily="49" charset="0"/>
              </a:rPr>
              <a:t>前往</a:t>
            </a:r>
            <a:endParaRPr lang="en-US" altLang="zh-TW" dirty="0">
              <a:latin typeface="Lucida Console" pitchFamily="49" charset="0"/>
            </a:endParaRPr>
          </a:p>
          <a:p>
            <a:pPr lvl="1">
              <a:buNone/>
            </a:pPr>
            <a:r>
              <a:rPr lang="en-US" altLang="zh-TW" dirty="0" err="1">
                <a:latin typeface="Lucida Console" pitchFamily="49" charset="0"/>
              </a:rPr>
              <a:t>goto</a:t>
            </a:r>
            <a:r>
              <a:rPr lang="en-US" altLang="zh-TW" dirty="0">
                <a:latin typeface="Lucida Console" pitchFamily="49" charset="0"/>
              </a:rPr>
              <a:t> </a:t>
            </a:r>
            <a:r>
              <a:rPr lang="en-US" altLang="zh-TW" dirty="0" err="1">
                <a:latin typeface="Lucida Console" pitchFamily="49" charset="0"/>
              </a:rPr>
              <a:t>LabelName</a:t>
            </a:r>
            <a:r>
              <a:rPr lang="en-US" altLang="zh-TW" dirty="0">
                <a:latin typeface="Lucida Console" pitchFamily="49" charset="0"/>
              </a:rPr>
              <a:t>;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7225" y="485772"/>
            <a:ext cx="46767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goto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幾乎程式課都會教學，但老師都會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禁止使用</a:t>
            </a:r>
            <a:r>
              <a:rPr lang="zh-TW" altLang="en-US" dirty="0">
                <a:latin typeface="+mn-ea"/>
              </a:rPr>
              <a:t>的語法。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會讓其他人不好閱讀、增加維護難度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可能會引發不可預期的</a:t>
            </a:r>
            <a:r>
              <a:rPr lang="en-US" altLang="zh-TW" dirty="0">
                <a:latin typeface="+mn-ea"/>
              </a:rPr>
              <a:t>BUG</a:t>
            </a:r>
          </a:p>
          <a:p>
            <a:pPr lvl="1"/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未來可以用 </a:t>
            </a:r>
            <a:r>
              <a:rPr lang="en-US" altLang="zh-TW" dirty="0">
                <a:latin typeface="+mn-ea"/>
              </a:rPr>
              <a:t>function + return</a:t>
            </a:r>
            <a:r>
              <a:rPr lang="zh-TW" altLang="en-US" dirty="0">
                <a:latin typeface="+mn-ea"/>
              </a:rPr>
              <a:t>解決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可能寫了</a:t>
            </a:r>
            <a:r>
              <a:rPr lang="en-US" altLang="zh-TW" dirty="0">
                <a:latin typeface="+mn-ea"/>
              </a:rPr>
              <a:t>5~10</a:t>
            </a:r>
            <a:r>
              <a:rPr lang="zh-TW" altLang="en-US" dirty="0">
                <a:latin typeface="+mn-ea"/>
              </a:rPr>
              <a:t>年程式後會慢慢理解何時該使用</a:t>
            </a:r>
            <a:endParaRPr lang="en-US" altLang="zh-TW" dirty="0">
              <a:latin typeface="+mn-ea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1890</TotalTime>
  <Words>521</Words>
  <Application>Microsoft Office PowerPoint</Application>
  <PresentationFormat>如螢幕大小 (4:3)</PresentationFormat>
  <Paragraphs>129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Arial</vt:lpstr>
      <vt:lpstr>Calibri</vt:lpstr>
      <vt:lpstr>Georgia</vt:lpstr>
      <vt:lpstr>Lucida Console</vt:lpstr>
      <vt:lpstr>Wingdings 2</vt:lpstr>
      <vt:lpstr>都會</vt:lpstr>
      <vt:lpstr>Lesson 6 流程控制</vt:lpstr>
      <vt:lpstr>關係運算子 (比較運算子)</vt:lpstr>
      <vt:lpstr>使用關係運算子 </vt:lpstr>
      <vt:lpstr>布林邏輯運算子</vt:lpstr>
      <vt:lpstr>使用比較/邏輯運算子</vt:lpstr>
      <vt:lpstr>使用比較/邏輯運算子</vt:lpstr>
      <vt:lpstr>使用比較/邏輯運算子</vt:lpstr>
      <vt:lpstr>if</vt:lpstr>
      <vt:lpstr>if   else</vt:lpstr>
      <vt:lpstr>If、else if、else</vt:lpstr>
      <vt:lpstr>大括號問題</vt:lpstr>
      <vt:lpstr>switch</vt:lpstr>
      <vt:lpstr>變數的生命週期</vt:lpstr>
      <vt:lpstr>goto</vt:lpstr>
      <vt:lpstr>goto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178</cp:revision>
  <dcterms:created xsi:type="dcterms:W3CDTF">2024-11-18T05:57:07Z</dcterms:created>
  <dcterms:modified xsi:type="dcterms:W3CDTF">2025-02-14T01:34:54Z</dcterms:modified>
</cp:coreProperties>
</file>