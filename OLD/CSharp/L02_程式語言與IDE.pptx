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66" r:id="rId2"/>
    <p:sldId id="271" r:id="rId3"/>
    <p:sldId id="265" r:id="rId4"/>
    <p:sldId id="269" r:id="rId5"/>
    <p:sldId id="268" r:id="rId6"/>
    <p:sldId id="270" r:id="rId7"/>
    <p:sldId id="272" r:id="rId8"/>
    <p:sldId id="273" r:id="rId9"/>
    <p:sldId id="274" r:id="rId10"/>
    <p:sldId id="275" r:id="rId11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182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 22"/>
          <p:cNvSpPr/>
          <p:nvPr/>
        </p:nvSpPr>
        <p:spPr>
          <a:xfrm flipV="1">
            <a:off x="5410182" y="3810000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4" name="矩形 23"/>
          <p:cNvSpPr/>
          <p:nvPr/>
        </p:nvSpPr>
        <p:spPr>
          <a:xfrm flipV="1">
            <a:off x="5410200" y="3897010"/>
            <a:ext cx="3733801" cy="192024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5" name="矩形 24"/>
          <p:cNvSpPr/>
          <p:nvPr/>
        </p:nvSpPr>
        <p:spPr>
          <a:xfrm flipV="1">
            <a:off x="5410200" y="4115167"/>
            <a:ext cx="3733801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6" name="矩形 25"/>
          <p:cNvSpPr/>
          <p:nvPr/>
        </p:nvSpPr>
        <p:spPr>
          <a:xfrm flipV="1">
            <a:off x="5410200" y="4164403"/>
            <a:ext cx="1965960" cy="18288"/>
          </a:xfrm>
          <a:prstGeom prst="rect">
            <a:avLst/>
          </a:prstGeom>
          <a:solidFill>
            <a:schemeClr val="accent2">
              <a:alpha val="6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矩形 26"/>
          <p:cNvSpPr/>
          <p:nvPr/>
        </p:nvSpPr>
        <p:spPr>
          <a:xfrm flipV="1">
            <a:off x="5410200" y="4199572"/>
            <a:ext cx="1965960" cy="9144"/>
          </a:xfrm>
          <a:prstGeom prst="rect">
            <a:avLst/>
          </a:prstGeom>
          <a:solidFill>
            <a:schemeClr val="accent2">
              <a:alpha val="65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0" name="圓角矩形 29"/>
          <p:cNvSpPr/>
          <p:nvPr/>
        </p:nvSpPr>
        <p:spPr bwMode="white">
          <a:xfrm>
            <a:off x="5410200" y="3962400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1" name="圓角矩形 30"/>
          <p:cNvSpPr/>
          <p:nvPr/>
        </p:nvSpPr>
        <p:spPr bwMode="white">
          <a:xfrm>
            <a:off x="7376507" y="406098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矩形 6"/>
          <p:cNvSpPr/>
          <p:nvPr/>
        </p:nvSpPr>
        <p:spPr>
          <a:xfrm>
            <a:off x="1" y="3649662"/>
            <a:ext cx="9144000" cy="244170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0" y="3675527"/>
            <a:ext cx="9144001" cy="14067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矩形 10"/>
          <p:cNvSpPr/>
          <p:nvPr/>
        </p:nvSpPr>
        <p:spPr>
          <a:xfrm flipV="1">
            <a:off x="6414051" y="3643090"/>
            <a:ext cx="2729950" cy="2484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矩形 18"/>
          <p:cNvSpPr/>
          <p:nvPr/>
        </p:nvSpPr>
        <p:spPr>
          <a:xfrm>
            <a:off x="0" y="0"/>
            <a:ext cx="9144000" cy="3701700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457200" y="2401887"/>
            <a:ext cx="8458200" cy="1470025"/>
          </a:xfrm>
        </p:spPr>
        <p:txBody>
          <a:bodyPr anchor="b"/>
          <a:lstStyle>
            <a:lvl1pPr>
              <a:defRPr sz="4400">
                <a:solidFill>
                  <a:schemeClr val="bg1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457200" y="3899938"/>
            <a:ext cx="4953000" cy="1752600"/>
          </a:xfrm>
        </p:spPr>
        <p:txBody>
          <a:bodyPr/>
          <a:lstStyle>
            <a:lvl1pPr marL="64008" indent="0" algn="l">
              <a:buNone/>
              <a:defRPr sz="24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705600" y="4206240"/>
            <a:ext cx="960120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5410200" y="4205288"/>
            <a:ext cx="129540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8320088" y="1136"/>
            <a:ext cx="747712" cy="365760"/>
          </a:xfrm>
        </p:spPr>
        <p:txBody>
          <a:bodyPr/>
          <a:lstStyle>
            <a:lvl1pPr algn="r">
              <a:defRPr sz="1800">
                <a:solidFill>
                  <a:schemeClr val="bg1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1981200"/>
            <a:ext cx="7772400" cy="1362075"/>
          </a:xfrm>
        </p:spPr>
        <p:txBody>
          <a:bodyPr anchor="b">
            <a:noAutofit/>
          </a:bodyPr>
          <a:lstStyle>
            <a:lvl1pPr algn="l">
              <a:buNone/>
              <a:defRPr sz="4300" b="1" cap="none" baseline="0">
                <a:ln w="12700">
                  <a:solidFill>
                    <a:schemeClr val="accent2">
                      <a:shade val="90000"/>
                      <a:satMod val="150000"/>
                    </a:schemeClr>
                  </a:solidFill>
                </a:ln>
                <a:solidFill>
                  <a:srgbClr val="FFFFFF"/>
                </a:solidFill>
                <a:effectLst>
                  <a:outerShdw blurRad="38100" dist="381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3367088"/>
            <a:ext cx="7772400" cy="1509712"/>
          </a:xfrm>
        </p:spPr>
        <p:txBody>
          <a:bodyPr anchor="t"/>
          <a:lstStyle>
            <a:lvl1pPr marL="45720" indent="0">
              <a:buNone/>
              <a:defRPr sz="2100" b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2249424"/>
            <a:ext cx="4038600" cy="4525963"/>
          </a:xfrm>
        </p:spPr>
        <p:txBody>
          <a:bodyPr/>
          <a:lstStyle>
            <a:lvl1pPr>
              <a:defRPr sz="2000"/>
            </a:lvl1pPr>
            <a:lvl2pPr>
              <a:defRPr sz="19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81000" y="1143000"/>
            <a:ext cx="8382000" cy="1069848"/>
          </a:xfrm>
        </p:spPr>
        <p:txBody>
          <a:bodyPr anchor="ctr"/>
          <a:lstStyle>
            <a:lvl1pPr>
              <a:defRPr sz="4000" b="0" i="0" cap="none" baseline="0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381000" y="2244970"/>
            <a:ext cx="4041648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721225" y="2244970"/>
            <a:ext cx="4041775" cy="457200"/>
          </a:xfrm>
          <a:solidFill>
            <a:schemeClr val="accent2">
              <a:satMod val="150000"/>
              <a:alpha val="25000"/>
            </a:schemeClr>
          </a:solidFill>
          <a:ln w="12700">
            <a:solidFill>
              <a:schemeClr val="accent2"/>
            </a:solidFill>
          </a:ln>
        </p:spPr>
        <p:txBody>
          <a:bodyPr anchor="ctr">
            <a:noAutofit/>
          </a:bodyPr>
          <a:lstStyle>
            <a:lvl1pPr marL="45720" indent="0">
              <a:buNone/>
              <a:defRPr sz="1900" b="1">
                <a:solidFill>
                  <a:schemeClr val="tx1">
                    <a:tint val="95000"/>
                  </a:schemeClr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381000" y="2708519"/>
            <a:ext cx="4041648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718304" y="2708519"/>
            <a:ext cx="4041775" cy="388620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26" name="日期版面配置區 25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27" name="投影片編號版面配置區 26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頁尾版面配置區 27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9848"/>
          </a:xfrm>
        </p:spPr>
        <p:txBody>
          <a:bodyPr anchor="ctr"/>
          <a:lstStyle>
            <a:lvl1pPr>
              <a:defRPr sz="4000">
                <a:solidFill>
                  <a:schemeClr val="tx2"/>
                </a:solidFill>
              </a:defRPr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>
          <a:xfrm>
            <a:off x="6583680" y="612648"/>
            <a:ext cx="957264" cy="457200"/>
          </a:xfrm>
        </p:spPr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>
          <a:xfrm>
            <a:off x="5257800" y="612648"/>
            <a:ext cx="1325880" cy="4572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>
          <a:xfrm>
            <a:off x="8174736" y="2272"/>
            <a:ext cx="762000" cy="365760"/>
          </a:xfrm>
        </p:spPr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53496" y="1101970"/>
            <a:ext cx="3383280" cy="877824"/>
          </a:xfrm>
        </p:spPr>
        <p:txBody>
          <a:bodyPr anchor="b"/>
          <a:lstStyle>
            <a:lvl1pPr algn="l">
              <a:buNone/>
              <a:defRPr sz="18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5353496" y="2010727"/>
            <a:ext cx="3383280" cy="4617720"/>
          </a:xfrm>
        </p:spPr>
        <p:txBody>
          <a:bodyPr/>
          <a:lstStyle>
            <a:lvl1pPr marL="9144" indent="0"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152400" y="776287"/>
            <a:ext cx="5102352" cy="585216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440434" y="1109160"/>
            <a:ext cx="586803" cy="4681637"/>
          </a:xfrm>
        </p:spPr>
        <p:txBody>
          <a:bodyPr vert="vert270" lIns="45720" tIns="0" rIns="45720" anchor="t"/>
          <a:lstStyle>
            <a:lvl1pPr algn="ctr">
              <a:buNone/>
              <a:defRPr sz="2000" b="1"/>
            </a:lvl1pPr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03671" y="1143000"/>
            <a:ext cx="4572000" cy="4572000"/>
          </a:xfrm>
          <a:solidFill>
            <a:srgbClr val="EAEAEA"/>
          </a:solidFill>
          <a:ln w="50800">
            <a:solidFill>
              <a:srgbClr val="FFFFFF"/>
            </a:solidFill>
            <a:miter lim="800000"/>
          </a:ln>
          <a:effectLst>
            <a:outerShdw blurRad="57150" dist="31750" dir="4800000" algn="tl" rotWithShape="0">
              <a:srgbClr val="000000">
                <a:alpha val="2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 contourW="2540">
            <a:bevelT w="25400" h="19050"/>
            <a:contourClr>
              <a:srgbClr val="AEAEAE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TW" altLang="en-US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88443" y="3274308"/>
            <a:ext cx="2590800" cy="2516489"/>
          </a:xfrm>
        </p:spPr>
        <p:txBody>
          <a:bodyPr lIns="0" tIns="0" rIns="45720" anchor="t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3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781800" y="1143000"/>
            <a:ext cx="1905000" cy="5486400"/>
          </a:xfrm>
        </p:spPr>
        <p:txBody>
          <a:bodyPr vert="eaVert"/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1143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矩形 27"/>
          <p:cNvSpPr/>
          <p:nvPr/>
        </p:nvSpPr>
        <p:spPr>
          <a:xfrm>
            <a:off x="1" y="366818"/>
            <a:ext cx="9144000" cy="84407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矩形 28"/>
          <p:cNvSpPr/>
          <p:nvPr/>
        </p:nvSpPr>
        <p:spPr>
          <a:xfrm>
            <a:off x="0" y="-1"/>
            <a:ext cx="9144000" cy="310663"/>
          </a:xfrm>
          <a:prstGeom prst="rect">
            <a:avLst/>
          </a:prstGeom>
          <a:solidFill>
            <a:schemeClr val="tx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0" name="矩形 29"/>
          <p:cNvSpPr/>
          <p:nvPr/>
        </p:nvSpPr>
        <p:spPr>
          <a:xfrm>
            <a:off x="0" y="308276"/>
            <a:ext cx="9144001" cy="91441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1" name="矩形 30"/>
          <p:cNvSpPr/>
          <p:nvPr/>
        </p:nvSpPr>
        <p:spPr>
          <a:xfrm flipV="1">
            <a:off x="5410182" y="360246"/>
            <a:ext cx="3733819" cy="91087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 flipV="1">
            <a:off x="5410200" y="440112"/>
            <a:ext cx="3733801" cy="180035"/>
          </a:xfrm>
          <a:prstGeom prst="rect">
            <a:avLst/>
          </a:prstGeom>
          <a:solidFill>
            <a:schemeClr val="accent2">
              <a:alpha val="50000"/>
            </a:scheme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3" name="圓角矩形 32"/>
          <p:cNvSpPr/>
          <p:nvPr/>
        </p:nvSpPr>
        <p:spPr bwMode="white">
          <a:xfrm>
            <a:off x="5407339" y="497504"/>
            <a:ext cx="3063240" cy="27432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34" name="圓角矩形 33"/>
          <p:cNvSpPr/>
          <p:nvPr/>
        </p:nvSpPr>
        <p:spPr bwMode="white">
          <a:xfrm>
            <a:off x="7373646" y="588943"/>
            <a:ext cx="1600200" cy="36576"/>
          </a:xfrm>
          <a:prstGeom prst="roundRect">
            <a:avLst>
              <a:gd name="adj" fmla="val 16667"/>
            </a:avLst>
          </a:prstGeom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5" name="矩形 34"/>
          <p:cNvSpPr/>
          <p:nvPr/>
        </p:nvSpPr>
        <p:spPr bwMode="invGray">
          <a:xfrm>
            <a:off x="9084966" y="-2001"/>
            <a:ext cx="57626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6" name="矩形 35"/>
          <p:cNvSpPr/>
          <p:nvPr/>
        </p:nvSpPr>
        <p:spPr bwMode="invGray">
          <a:xfrm>
            <a:off x="9044481" y="-2001"/>
            <a:ext cx="27432" cy="621792"/>
          </a:xfrm>
          <a:prstGeom prst="rect">
            <a:avLst/>
          </a:prstGeom>
          <a:solidFill>
            <a:srgbClr val="FFFFFF">
              <a:alpha val="65098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37" name="矩形 36"/>
          <p:cNvSpPr/>
          <p:nvPr/>
        </p:nvSpPr>
        <p:spPr bwMode="invGray">
          <a:xfrm>
            <a:off x="9025428" y="-2001"/>
            <a:ext cx="9144" cy="621792"/>
          </a:xfrm>
          <a:prstGeom prst="rect">
            <a:avLst/>
          </a:prstGeom>
          <a:solidFill>
            <a:srgbClr val="FFFFFF">
              <a:alpha val="6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8" name="矩形 37"/>
          <p:cNvSpPr/>
          <p:nvPr/>
        </p:nvSpPr>
        <p:spPr bwMode="invGray">
          <a:xfrm>
            <a:off x="8975423" y="-2001"/>
            <a:ext cx="27432" cy="621792"/>
          </a:xfrm>
          <a:prstGeom prst="rect">
            <a:avLst/>
          </a:prstGeom>
          <a:solidFill>
            <a:srgbClr val="FFFFFF">
              <a:alpha val="4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9" name="矩形 38"/>
          <p:cNvSpPr/>
          <p:nvPr/>
        </p:nvSpPr>
        <p:spPr bwMode="invGray">
          <a:xfrm>
            <a:off x="8915677" y="380"/>
            <a:ext cx="54864" cy="585216"/>
          </a:xfrm>
          <a:prstGeom prst="rect">
            <a:avLst/>
          </a:prstGeom>
          <a:solidFill>
            <a:srgbClr val="FFFFFF">
              <a:alpha val="20000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0" name="矩形 39"/>
          <p:cNvSpPr/>
          <p:nvPr/>
        </p:nvSpPr>
        <p:spPr bwMode="invGray">
          <a:xfrm>
            <a:off x="8873475" y="380"/>
            <a:ext cx="9144" cy="585216"/>
          </a:xfrm>
          <a:prstGeom prst="rect">
            <a:avLst/>
          </a:prstGeom>
          <a:solidFill>
            <a:srgbClr val="FFFFFF">
              <a:alpha val="30196"/>
            </a:srgbClr>
          </a:solidFill>
          <a:ln w="508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143000"/>
            <a:ext cx="8229600" cy="10668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2249424"/>
            <a:ext cx="8229600" cy="432511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/>
              <a:t>按一下以編輯母片文字樣式</a:t>
            </a:r>
          </a:p>
          <a:p>
            <a:pPr lvl="1" eaLnBrk="1" latinLnBrk="0" hangingPunct="1"/>
            <a:r>
              <a:rPr kumimoji="0" lang="zh-TW" altLang="en-US"/>
              <a:t>第二層</a:t>
            </a:r>
          </a:p>
          <a:p>
            <a:pPr lvl="2" eaLnBrk="1" latinLnBrk="0" hangingPunct="1"/>
            <a:r>
              <a:rPr kumimoji="0" lang="zh-TW" altLang="en-US"/>
              <a:t>第三層</a:t>
            </a:r>
          </a:p>
          <a:p>
            <a:pPr lvl="3" eaLnBrk="1" latinLnBrk="0" hangingPunct="1"/>
            <a:r>
              <a:rPr kumimoji="0" lang="zh-TW" altLang="en-US"/>
              <a:t>第四層</a:t>
            </a:r>
          </a:p>
          <a:p>
            <a:pPr lvl="4" eaLnBrk="1" latinLnBrk="0" hangingPunct="1"/>
            <a:r>
              <a:rPr kumimoji="0" lang="zh-TW" altLang="en-US"/>
              <a:t>第五層</a:t>
            </a:r>
            <a:endParaRPr kumimoji="0" lang="en-US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586536" y="612648"/>
            <a:ext cx="957264" cy="45720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fld id="{5BBEAD13-0566-4C6C-97E7-55F17F24B09F}" type="datetimeFigureOut">
              <a:rPr lang="zh-TW" altLang="en-US" smtClean="0"/>
              <a:pPr/>
              <a:t>2025/2/14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5257800" y="612648"/>
            <a:ext cx="1325880" cy="45720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800">
                <a:solidFill>
                  <a:schemeClr val="accent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8174736" y="2272"/>
            <a:ext cx="762000" cy="365760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800">
                <a:solidFill>
                  <a:srgbClr val="FFFFFF"/>
                </a:solidFill>
              </a:defRPr>
            </a:lvl1pPr>
          </a:lstStyle>
          <a:p>
            <a:fld id="{73DA0BB7-265A-403C-9275-D587AB510ED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65760" indent="-256032" algn="l" rtl="0" eaLnBrk="1" latinLnBrk="0" hangingPunct="1">
        <a:spcBef>
          <a:spcPts val="300"/>
        </a:spcBef>
        <a:buClr>
          <a:schemeClr val="accent3"/>
        </a:buClr>
        <a:buFont typeface="Georgia"/>
        <a:buChar char="•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58368" indent="-246888" algn="l" rtl="0" eaLnBrk="1" latinLnBrk="0" hangingPunct="1">
        <a:spcBef>
          <a:spcPts val="300"/>
        </a:spcBef>
        <a:buClr>
          <a:schemeClr val="accent2"/>
        </a:buClr>
        <a:buFont typeface="Georgia"/>
        <a:buChar char="▫"/>
        <a:defRPr kumimoji="0" sz="2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923544" indent="-219456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179576" indent="-201168" algn="l" rtl="0" eaLnBrk="1" latinLnBrk="0" hangingPunct="1">
        <a:spcBef>
          <a:spcPts val="300"/>
        </a:spcBef>
        <a:buClr>
          <a:schemeClr val="accent1"/>
        </a:buClr>
        <a:buFont typeface="Wingdings 2"/>
        <a:buChar char=""/>
        <a:defRPr kumimoji="0" sz="2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38988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2000" kern="1200">
          <a:solidFill>
            <a:schemeClr val="accent3"/>
          </a:solidFill>
          <a:latin typeface="+mn-lt"/>
          <a:ea typeface="+mn-ea"/>
          <a:cs typeface="+mn-cs"/>
        </a:defRPr>
      </a:lvl5pPr>
      <a:lvl6pPr marL="1609344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800" kern="1200">
          <a:solidFill>
            <a:schemeClr val="accent3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▫"/>
        <a:defRPr kumimoji="0" sz="1600" kern="1200">
          <a:solidFill>
            <a:schemeClr val="accent3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500" kern="1200">
          <a:solidFill>
            <a:schemeClr val="accent3"/>
          </a:solidFill>
          <a:latin typeface="+mn-lt"/>
          <a:ea typeface="+mn-ea"/>
          <a:cs typeface="+mn-cs"/>
        </a:defRPr>
      </a:lvl8pPr>
      <a:lvl9pPr marL="2240280" indent="-182880" algn="l" rtl="0" eaLnBrk="1" latinLnBrk="0" hangingPunct="1">
        <a:spcBef>
          <a:spcPts val="300"/>
        </a:spcBef>
        <a:buClr>
          <a:schemeClr val="accent3"/>
        </a:buClr>
        <a:buFont typeface="Georgia"/>
        <a:buChar char="◦"/>
        <a:defRPr kumimoji="0" sz="1400" kern="1200" baseline="0">
          <a:solidFill>
            <a:schemeClr val="accent3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visualstudio.microsoft.com/zh-hant/downloads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TW" dirty="0"/>
              <a:t>Lesson</a:t>
            </a:r>
            <a:r>
              <a:rPr lang="zh-TW" altLang="en-US" dirty="0"/>
              <a:t> </a:t>
            </a:r>
            <a:r>
              <a:rPr lang="en-US" altLang="zh-TW" dirty="0"/>
              <a:t>2</a:t>
            </a:r>
            <a:br>
              <a:rPr lang="en-US" altLang="zh-TW" dirty="0"/>
            </a:br>
            <a:r>
              <a:rPr lang="zh-TW" altLang="en-US" dirty="0"/>
              <a:t>程式語言與</a:t>
            </a:r>
            <a:r>
              <a:rPr lang="en-US" altLang="zh-TW" dirty="0"/>
              <a:t>IDE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altLang="zh-TW" dirty="0"/>
          </a:p>
          <a:p>
            <a:r>
              <a:rPr lang="en-US" altLang="zh-TW" dirty="0"/>
              <a:t>Horazon</a:t>
            </a:r>
          </a:p>
          <a:p>
            <a:r>
              <a:rPr lang="en-US" altLang="zh-TW" dirty="0"/>
              <a:t>C#</a:t>
            </a:r>
            <a:r>
              <a:rPr lang="zh-TW" altLang="en-US"/>
              <a:t>程式設計</a:t>
            </a:r>
            <a:endParaRPr lang="en-US" altLang="zh-TW" dirty="0"/>
          </a:p>
          <a:p>
            <a:endParaRPr lang="zh-TW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C# (C Sharp)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起源：</a:t>
            </a:r>
            <a:r>
              <a:rPr lang="en-US" altLang="zh-TW" dirty="0"/>
              <a:t>C</a:t>
            </a:r>
            <a:r>
              <a:rPr lang="zh-TW" altLang="en-US" dirty="0"/>
              <a:t>、</a:t>
            </a:r>
            <a:r>
              <a:rPr lang="en-US" altLang="zh-TW" dirty="0"/>
              <a:t>C++</a:t>
            </a:r>
            <a:r>
              <a:rPr lang="zh-TW" altLang="en-US" dirty="0"/>
              <a:t>、</a:t>
            </a:r>
            <a:r>
              <a:rPr lang="en-US" altLang="zh-TW" dirty="0"/>
              <a:t>Java </a:t>
            </a:r>
          </a:p>
          <a:p>
            <a:r>
              <a:rPr lang="en-US" altLang="zh-TW" dirty="0"/>
              <a:t>2000</a:t>
            </a:r>
            <a:r>
              <a:rPr lang="zh-TW" altLang="en-US" dirty="0"/>
              <a:t>年</a:t>
            </a:r>
            <a:endParaRPr lang="en-US" altLang="zh-TW" dirty="0"/>
          </a:p>
          <a:p>
            <a:r>
              <a:rPr lang="zh-TW" altLang="en-US" dirty="0"/>
              <a:t>微軟 </a:t>
            </a:r>
            <a:r>
              <a:rPr lang="en-US" altLang="zh-TW" dirty="0"/>
              <a:t>.NET</a:t>
            </a:r>
            <a:r>
              <a:rPr lang="zh-TW" altLang="en-US" dirty="0"/>
              <a:t>框架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物件導向</a:t>
            </a:r>
            <a:endParaRPr lang="en-US" altLang="zh-TW" dirty="0"/>
          </a:p>
          <a:p>
            <a:r>
              <a:rPr lang="zh-TW" altLang="en-US" dirty="0"/>
              <a:t>編譯器</a:t>
            </a:r>
            <a:endParaRPr lang="en-US" altLang="zh-TW" dirty="0"/>
          </a:p>
          <a:p>
            <a:r>
              <a:rPr lang="zh-TW" altLang="en-US" dirty="0"/>
              <a:t>最新版本：</a:t>
            </a:r>
            <a:r>
              <a:rPr lang="en-US" altLang="zh-TW" dirty="0"/>
              <a:t>C# 13</a:t>
            </a:r>
          </a:p>
          <a:p>
            <a:pPr>
              <a:buNone/>
            </a:pPr>
            <a:endParaRPr lang="en-US" altLang="zh-TW" dirty="0"/>
          </a:p>
          <a:p>
            <a:r>
              <a:rPr lang="en-US" altLang="zh-TW" sz="2400" dirty="0"/>
              <a:t>C# 8</a:t>
            </a:r>
            <a:r>
              <a:rPr lang="zh-TW" altLang="en-US" sz="2400" dirty="0"/>
              <a:t>、</a:t>
            </a:r>
            <a:r>
              <a:rPr lang="en-US" altLang="zh-TW" sz="2400" dirty="0"/>
              <a:t>.NET </a:t>
            </a:r>
            <a:r>
              <a:rPr lang="en-US" altLang="zh-TW" sz="2400" dirty="0" err="1"/>
              <a:t>Framwork</a:t>
            </a:r>
            <a:r>
              <a:rPr lang="en-US" altLang="zh-TW" sz="2400" dirty="0"/>
              <a:t> 4.8</a:t>
            </a:r>
            <a:r>
              <a:rPr lang="zh-TW" altLang="en-US" sz="2400" dirty="0"/>
              <a:t>、</a:t>
            </a:r>
            <a:r>
              <a:rPr lang="en-US" altLang="zh-TW" sz="2400" dirty="0"/>
              <a:t>.NET Standard 2.1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編譯器與直譯器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他也是一段程式，通常沒有</a:t>
            </a:r>
            <a:r>
              <a:rPr lang="en-US" altLang="zh-TW" dirty="0"/>
              <a:t>UI</a:t>
            </a:r>
            <a:r>
              <a:rPr lang="zh-TW" altLang="en-US" dirty="0"/>
              <a:t>介面</a:t>
            </a:r>
            <a:endParaRPr lang="en-US" altLang="zh-TW" dirty="0"/>
          </a:p>
          <a:p>
            <a:r>
              <a:rPr lang="zh-TW" altLang="en-US" dirty="0"/>
              <a:t>編譯器 </a:t>
            </a:r>
            <a:r>
              <a:rPr lang="en-US" altLang="zh-TW" dirty="0"/>
              <a:t>Compiler</a:t>
            </a:r>
          </a:p>
          <a:p>
            <a:pPr lvl="1"/>
            <a:r>
              <a:rPr lang="en-US" altLang="zh-TW" dirty="0"/>
              <a:t>C++, C#, Java</a:t>
            </a:r>
          </a:p>
          <a:p>
            <a:r>
              <a:rPr lang="zh-TW" altLang="en-US" dirty="0"/>
              <a:t>直譯器 </a:t>
            </a:r>
            <a:r>
              <a:rPr lang="en-US" altLang="zh-TW" dirty="0"/>
              <a:t>Interpreter</a:t>
            </a:r>
          </a:p>
          <a:p>
            <a:pPr lvl="1"/>
            <a:r>
              <a:rPr lang="en-US" altLang="zh-TW" dirty="0"/>
              <a:t>Python, JavaScript</a:t>
            </a:r>
            <a:endParaRPr lang="zh-TW" altLang="en-US" dirty="0"/>
          </a:p>
        </p:txBody>
      </p:sp>
      <p:pic>
        <p:nvPicPr>
          <p:cNvPr id="4" name="Picture 2" descr="Organization of Computer Systems: ISA, Machine Language, Number System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67200" y="4229100"/>
            <a:ext cx="4876800" cy="26289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如何寫程式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打開記事本，寫一段程式儲存</a:t>
            </a:r>
            <a:endParaRPr lang="en-US" altLang="zh-TW" dirty="0"/>
          </a:p>
          <a:p>
            <a:r>
              <a:rPr lang="zh-TW" altLang="en-US" dirty="0"/>
              <a:t>給</a:t>
            </a:r>
            <a:r>
              <a:rPr lang="en-US" altLang="zh-TW" dirty="0"/>
              <a:t>Compiler</a:t>
            </a:r>
            <a:r>
              <a:rPr lang="zh-TW" altLang="en-US" dirty="0"/>
              <a:t>一些設定</a:t>
            </a:r>
            <a:endParaRPr lang="en-US" altLang="zh-TW" dirty="0"/>
          </a:p>
          <a:p>
            <a:r>
              <a:rPr lang="zh-TW" altLang="en-US" dirty="0"/>
              <a:t>叫</a:t>
            </a:r>
            <a:r>
              <a:rPr lang="en-US" altLang="zh-TW" dirty="0"/>
              <a:t>Compiler</a:t>
            </a:r>
            <a:r>
              <a:rPr lang="zh-TW" altLang="en-US" dirty="0"/>
              <a:t>編譯該文件</a:t>
            </a:r>
            <a:endParaRPr lang="en-US" altLang="zh-TW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IDE</a:t>
            </a:r>
            <a:r>
              <a:rPr lang="zh-TW" altLang="en-US" dirty="0"/>
              <a:t> 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整合開發環境</a:t>
            </a:r>
            <a:endParaRPr lang="en-US" sz="2000" dirty="0"/>
          </a:p>
          <a:p>
            <a:pPr lvl="1"/>
            <a:r>
              <a:rPr lang="zh-TW" altLang="en-US" sz="2400" dirty="0"/>
              <a:t>一種輔助程式開發人員開發軟體的應用軟體</a:t>
            </a:r>
            <a:endParaRPr lang="en-US" altLang="zh-TW" sz="2400" dirty="0"/>
          </a:p>
          <a:p>
            <a:pPr lvl="1"/>
            <a:r>
              <a:rPr lang="en-US" sz="2400" dirty="0"/>
              <a:t>Integrated Development Environment</a:t>
            </a:r>
          </a:p>
          <a:p>
            <a:pPr lvl="1"/>
            <a:r>
              <a:rPr lang="zh-TW" altLang="en-US" dirty="0"/>
              <a:t>適用於一或多種程式語言</a:t>
            </a:r>
            <a:endParaRPr lang="en-US" altLang="zh-TW" dirty="0"/>
          </a:p>
          <a:p>
            <a:pPr lvl="1"/>
            <a:r>
              <a:rPr lang="zh-TW" altLang="en-US" dirty="0"/>
              <a:t>高亮關鍵字、外框、行號等等</a:t>
            </a:r>
            <a:endParaRPr lang="en-US" altLang="zh-TW" dirty="0"/>
          </a:p>
          <a:p>
            <a:pPr lvl="1"/>
            <a:r>
              <a:rPr lang="en-US" altLang="zh-TW" dirty="0"/>
              <a:t>Visual</a:t>
            </a:r>
            <a:r>
              <a:rPr lang="zh-TW" altLang="en-US" dirty="0"/>
              <a:t> </a:t>
            </a:r>
            <a:r>
              <a:rPr lang="en-US" altLang="zh-TW" dirty="0"/>
              <a:t>Studio, Eclipse</a:t>
            </a:r>
            <a:endParaRPr lang="zh-TW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Microsoft Visual Studio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下載與安裝</a:t>
            </a:r>
            <a:endParaRPr lang="en-US" altLang="zh-TW" dirty="0"/>
          </a:p>
          <a:p>
            <a:pPr lvl="1"/>
            <a:r>
              <a:rPr lang="en-US" altLang="zh-TW" dirty="0">
                <a:hlinkClick r:id="rId2"/>
              </a:rPr>
              <a:t>https://visualstudio.microsoft.com/zh-hant/downloads/</a:t>
            </a:r>
            <a:endParaRPr lang="en-US" altLang="zh-TW" dirty="0"/>
          </a:p>
          <a:p>
            <a:pPr lvl="1"/>
            <a:endParaRPr lang="en-US" altLang="zh-TW" dirty="0"/>
          </a:p>
          <a:p>
            <a:pPr lvl="1"/>
            <a:endParaRPr lang="en-US" altLang="zh-TW" dirty="0"/>
          </a:p>
          <a:p>
            <a:r>
              <a:rPr lang="zh-TW" altLang="en-US" dirty="0"/>
              <a:t>註冊微軟帳號</a:t>
            </a:r>
            <a:endParaRPr lang="en-US" altLang="zh-TW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開啟專案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主控台應用程式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其他</a:t>
            </a:r>
            <a:endParaRPr lang="en-US" altLang="zh-TW" dirty="0"/>
          </a:p>
          <a:p>
            <a:pPr lvl="1"/>
            <a:r>
              <a:rPr lang="en-US" altLang="zh-TW" dirty="0"/>
              <a:t>Windows Form</a:t>
            </a:r>
            <a:r>
              <a:rPr lang="zh-TW" altLang="en-US" dirty="0"/>
              <a:t> </a:t>
            </a:r>
            <a:r>
              <a:rPr lang="en-US" altLang="zh-TW" dirty="0"/>
              <a:t>/ WPF</a:t>
            </a:r>
          </a:p>
          <a:p>
            <a:pPr lvl="1"/>
            <a:r>
              <a:rPr lang="en-US" altLang="zh-TW" dirty="0"/>
              <a:t>ASP.NET / Aspire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786058"/>
            <a:ext cx="6259513" cy="1047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647688"/>
            <a:ext cx="8229600" cy="1066800"/>
          </a:xfrm>
        </p:spPr>
        <p:txBody>
          <a:bodyPr/>
          <a:lstStyle/>
          <a:p>
            <a:r>
              <a:rPr lang="en-US" altLang="zh-TW" dirty="0"/>
              <a:t>Visual Studio IDE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-1" y="1785926"/>
            <a:ext cx="9146173" cy="49292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Visual Studio IDE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方案總管</a:t>
            </a:r>
            <a:endParaRPr lang="en-US" altLang="zh-TW" dirty="0"/>
          </a:p>
          <a:p>
            <a:r>
              <a:rPr lang="zh-TW" altLang="en-US" dirty="0"/>
              <a:t>主要區域 </a:t>
            </a:r>
            <a:r>
              <a:rPr lang="en-US" altLang="zh-TW" dirty="0"/>
              <a:t>(</a:t>
            </a:r>
            <a:r>
              <a:rPr lang="zh-TW" altLang="en-US" dirty="0"/>
              <a:t>程式碼</a:t>
            </a:r>
            <a:r>
              <a:rPr lang="en-US" altLang="zh-TW" dirty="0"/>
              <a:t>)</a:t>
            </a:r>
          </a:p>
          <a:p>
            <a:r>
              <a:rPr lang="zh-TW" altLang="en-US" dirty="0"/>
              <a:t>錯誤清單</a:t>
            </a:r>
            <a:endParaRPr lang="en-US" altLang="zh-TW" dirty="0"/>
          </a:p>
          <a:p>
            <a:r>
              <a:rPr lang="zh-TW" altLang="en-US" dirty="0"/>
              <a:t>輸出</a:t>
            </a:r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工具列 </a:t>
            </a:r>
            <a:r>
              <a:rPr lang="en-US" altLang="zh-TW" dirty="0"/>
              <a:t>&gt;</a:t>
            </a:r>
            <a:r>
              <a:rPr lang="zh-TW" altLang="en-US" dirty="0"/>
              <a:t> 檢視 </a:t>
            </a:r>
            <a:r>
              <a:rPr lang="en-US" altLang="zh-TW" dirty="0"/>
              <a:t>&gt;</a:t>
            </a:r>
            <a:r>
              <a:rPr lang="zh-TW" altLang="en-US" dirty="0"/>
              <a:t> 需要的區塊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Visual Studio IDE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工具列 </a:t>
            </a:r>
            <a:r>
              <a:rPr lang="en-US" altLang="zh-TW" dirty="0"/>
              <a:t>&gt;</a:t>
            </a:r>
            <a:r>
              <a:rPr lang="zh-TW" altLang="en-US" dirty="0"/>
              <a:t> 工具 </a:t>
            </a:r>
            <a:r>
              <a:rPr lang="en-US" altLang="zh-TW" dirty="0"/>
              <a:t>&gt; </a:t>
            </a:r>
            <a:r>
              <a:rPr lang="zh-TW" altLang="en-US" dirty="0"/>
              <a:t>選項</a:t>
            </a:r>
            <a:endParaRPr lang="en-US" altLang="zh-TW" dirty="0"/>
          </a:p>
          <a:p>
            <a:pPr lvl="1"/>
            <a:r>
              <a:rPr lang="zh-TW" altLang="en-US" dirty="0"/>
              <a:t>環境 </a:t>
            </a:r>
            <a:r>
              <a:rPr lang="en-US" altLang="zh-TW" dirty="0"/>
              <a:t>&gt;</a:t>
            </a:r>
            <a:r>
              <a:rPr lang="zh-TW" altLang="en-US" dirty="0"/>
              <a:t> 可切換為 深色</a:t>
            </a:r>
            <a:endParaRPr lang="en-US" altLang="zh-TW" dirty="0"/>
          </a:p>
          <a:p>
            <a:pPr lvl="1"/>
            <a:r>
              <a:rPr lang="zh-TW" altLang="en-US" dirty="0"/>
              <a:t>環境 </a:t>
            </a:r>
            <a:r>
              <a:rPr lang="en-US" altLang="zh-TW" dirty="0"/>
              <a:t>&gt; </a:t>
            </a:r>
            <a:r>
              <a:rPr lang="zh-TW" altLang="en-US" dirty="0"/>
              <a:t>字型  可改動為喜歡字型</a:t>
            </a:r>
            <a:endParaRPr lang="en-US" altLang="zh-TW" dirty="0"/>
          </a:p>
          <a:p>
            <a:pPr lvl="2"/>
            <a:r>
              <a:rPr lang="en-US" altLang="zh-TW" dirty="0"/>
              <a:t>(</a:t>
            </a:r>
            <a:r>
              <a:rPr lang="zh-TW" altLang="en-US" dirty="0"/>
              <a:t>建議粗體字</a:t>
            </a:r>
            <a:r>
              <a:rPr lang="en-US" altLang="zh-TW" dirty="0"/>
              <a:t>=</a:t>
            </a:r>
            <a:r>
              <a:rPr lang="zh-TW" altLang="en-US" dirty="0"/>
              <a:t>固定等寬字型</a:t>
            </a:r>
            <a:r>
              <a:rPr lang="en-US" altLang="zh-TW" dirty="0"/>
              <a:t>)</a:t>
            </a:r>
          </a:p>
          <a:p>
            <a:pPr lvl="1"/>
            <a:r>
              <a:rPr lang="zh-TW" altLang="en-US" dirty="0"/>
              <a:t>文字編輯器 </a:t>
            </a:r>
            <a:r>
              <a:rPr lang="en-US" altLang="zh-TW" dirty="0"/>
              <a:t>&gt;</a:t>
            </a:r>
            <a:r>
              <a:rPr lang="zh-TW" altLang="en-US" dirty="0"/>
              <a:t> 行號 建議開啟 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都會">
  <a:themeElements>
    <a:clrScheme name="自訂 2">
      <a:dk1>
        <a:sysClr val="windowText" lastClr="000000"/>
      </a:dk1>
      <a:lt1>
        <a:sysClr val="window" lastClr="FFFFFF"/>
      </a:lt1>
      <a:dk2>
        <a:srgbClr val="424456"/>
      </a:dk2>
      <a:lt2>
        <a:srgbClr val="DEDEDE"/>
      </a:lt2>
      <a:accent1>
        <a:srgbClr val="53548A"/>
      </a:accent1>
      <a:accent2>
        <a:srgbClr val="53548A"/>
      </a:accent2>
      <a:accent3>
        <a:srgbClr val="A04DA3"/>
      </a:accent3>
      <a:accent4>
        <a:srgbClr val="C4652D"/>
      </a:accent4>
      <a:accent5>
        <a:srgbClr val="8B5D3D"/>
      </a:accent5>
      <a:accent6>
        <a:srgbClr val="5C92B5"/>
      </a:accent6>
      <a:hlink>
        <a:srgbClr val="67AFBD"/>
      </a:hlink>
      <a:folHlink>
        <a:srgbClr val="C2A874"/>
      </a:folHlink>
    </a:clrScheme>
    <a:fontScheme name="自訂 1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都會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255000"/>
              </a:schemeClr>
            </a:gs>
            <a:gs pos="55000">
              <a:schemeClr val="phClr">
                <a:tint val="12000"/>
                <a:satMod val="255000"/>
              </a:schemeClr>
            </a:gs>
            <a:gs pos="100000">
              <a:schemeClr val="phClr">
                <a:tint val="45000"/>
                <a:satMod val="250000"/>
              </a:schemeClr>
            </a:gs>
          </a:gsLst>
          <a:path path="circle">
            <a:fillToRect l="-40000" t="-90000" r="140000" b="190000"/>
          </a:path>
        </a:gradFill>
        <a:gradFill rotWithShape="1">
          <a:gsLst>
            <a:gs pos="0">
              <a:schemeClr val="phClr">
                <a:tint val="43000"/>
                <a:satMod val="165000"/>
              </a:schemeClr>
            </a:gs>
            <a:gs pos="55000">
              <a:schemeClr val="phClr">
                <a:tint val="83000"/>
                <a:satMod val="155000"/>
              </a:schemeClr>
            </a:gs>
            <a:gs pos="100000">
              <a:schemeClr val="phClr">
                <a:shade val="85000"/>
              </a:schemeClr>
            </a:gs>
          </a:gsLst>
          <a:path path="circle">
            <a:fillToRect l="-40000" t="-90000" r="140000" b="19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15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flat" dir="t">
              <a:rot lat="0" lon="0" rev="20040000"/>
            </a:lightRig>
          </a:scene3d>
          <a:sp3d contourW="12700" prstMaterial="dkEdge">
            <a:bevelT w="25400" h="38100" prst="convex"/>
            <a:contourClr>
              <a:schemeClr val="phClr">
                <a:satMod val="115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100000">
              <a:schemeClr val="phClr">
                <a:tint val="80000"/>
                <a:satMod val="250000"/>
              </a:schemeClr>
            </a:gs>
            <a:gs pos="60000">
              <a:schemeClr val="phClr">
                <a:shade val="38000"/>
                <a:satMod val="175000"/>
              </a:schemeClr>
            </a:gs>
            <a:gs pos="0">
              <a:schemeClr val="phClr">
                <a:shade val="30000"/>
                <a:satMod val="175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</a:schemeClr>
              <a:schemeClr val="phClr">
                <a:tint val="96000"/>
                <a:satMod val="15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Urban</Template>
  <TotalTime>511</TotalTime>
  <Words>232</Words>
  <Application>Microsoft Office PowerPoint</Application>
  <PresentationFormat>如螢幕大小 (4:3)</PresentationFormat>
  <Paragraphs>61</Paragraphs>
  <Slides>10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Arial</vt:lpstr>
      <vt:lpstr>Georgia</vt:lpstr>
      <vt:lpstr>Wingdings 2</vt:lpstr>
      <vt:lpstr>都會</vt:lpstr>
      <vt:lpstr>Lesson 2 程式語言與IDE</vt:lpstr>
      <vt:lpstr>C# (C Sharp)</vt:lpstr>
      <vt:lpstr>編譯器與直譯器 </vt:lpstr>
      <vt:lpstr>如何寫程式</vt:lpstr>
      <vt:lpstr>IDE </vt:lpstr>
      <vt:lpstr>Microsoft Visual Studio</vt:lpstr>
      <vt:lpstr>開啟專案</vt:lpstr>
      <vt:lpstr>Visual Studio IDE</vt:lpstr>
      <vt:lpstr>Visual Studio IDE</vt:lpstr>
      <vt:lpstr>Visual Studio IDE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 遊戲引擎概論</dc:title>
  <dc:creator>user</dc:creator>
  <cp:lastModifiedBy>horazon</cp:lastModifiedBy>
  <cp:revision>57</cp:revision>
  <dcterms:created xsi:type="dcterms:W3CDTF">2024-11-18T05:57:07Z</dcterms:created>
  <dcterms:modified xsi:type="dcterms:W3CDTF">2025-02-14T01:34:32Z</dcterms:modified>
</cp:coreProperties>
</file>