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9" r:id="rId4"/>
    <p:sldId id="259" r:id="rId5"/>
    <p:sldId id="258" r:id="rId6"/>
    <p:sldId id="260" r:id="rId7"/>
    <p:sldId id="261" r:id="rId8"/>
    <p:sldId id="262" r:id="rId9"/>
    <p:sldId id="264" r:id="rId10"/>
    <p:sldId id="267" r:id="rId11"/>
    <p:sldId id="263" r:id="rId12"/>
    <p:sldId id="268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2025/5/5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" TargetMode="External"/><Relationship Id="rId2" Type="http://schemas.openxmlformats.org/officeDocument/2006/relationships/hyperlink" Target="https://www.cursor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br>
              <a:rPr lang="en-US" altLang="zh-TW" dirty="0"/>
            </a:br>
            <a:r>
              <a:rPr lang="zh-TW" altLang="en-US" dirty="0"/>
              <a:t>學習程式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程式是什麼？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Computer Program</a:t>
            </a:r>
          </a:p>
          <a:p>
            <a:r>
              <a:rPr lang="zh-TW" altLang="en-US" dirty="0"/>
              <a:t>是指一組</a:t>
            </a:r>
            <a:r>
              <a:rPr lang="zh-TW" altLang="en-US" b="1" dirty="0">
                <a:solidFill>
                  <a:srgbClr val="0070C0"/>
                </a:solidFill>
              </a:rPr>
              <a:t>指示</a:t>
            </a:r>
            <a:r>
              <a:rPr lang="zh-TW" altLang="en-US" dirty="0"/>
              <a:t>電腦或其他具有訊息處理能力的電子裝置每一步</a:t>
            </a:r>
            <a:r>
              <a:rPr lang="zh-TW" altLang="en-US" b="1" dirty="0">
                <a:solidFill>
                  <a:srgbClr val="0070C0"/>
                </a:solidFill>
              </a:rPr>
              <a:t>動作的指令</a:t>
            </a:r>
            <a:r>
              <a:rPr lang="zh-TW" altLang="en-US" dirty="0"/>
              <a:t>，通常用某種</a:t>
            </a:r>
            <a:r>
              <a:rPr lang="zh-TW" altLang="en-US" b="1" dirty="0"/>
              <a:t>程式設計語言</a:t>
            </a:r>
            <a:r>
              <a:rPr lang="zh-TW" altLang="en-US" dirty="0"/>
              <a:t>編寫，執行於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</a:rPr>
              <a:t>某種目標體系結構</a:t>
            </a:r>
            <a:r>
              <a:rPr lang="zh-TW" altLang="en-US" dirty="0"/>
              <a:t>上。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</a:t>
            </a:r>
            <a:r>
              <a:rPr lang="zh-TW" altLang="en-US" dirty="0">
                <a:solidFill>
                  <a:schemeClr val="accent4">
                    <a:lumMod val="75000"/>
                  </a:schemeClr>
                </a:solidFill>
              </a:rPr>
              <a:t>電腦</a:t>
            </a:r>
            <a:r>
              <a:rPr lang="zh-TW" altLang="en-US" dirty="0"/>
              <a:t>上</a:t>
            </a:r>
            <a:r>
              <a:rPr lang="zh-TW" altLang="en-US" dirty="0">
                <a:solidFill>
                  <a:srgbClr val="0070C0"/>
                </a:solidFill>
              </a:rPr>
              <a:t>展示一行</a:t>
            </a:r>
            <a:r>
              <a:rPr lang="en-US" altLang="zh-TW" dirty="0">
                <a:solidFill>
                  <a:srgbClr val="0070C0"/>
                </a:solidFill>
              </a:rPr>
              <a:t>Hello World</a:t>
            </a:r>
          </a:p>
          <a:p>
            <a:r>
              <a:rPr lang="zh-TW" altLang="en-US" dirty="0"/>
              <a:t>在</a:t>
            </a:r>
            <a:r>
              <a:rPr lang="en-US" altLang="zh-TW" dirty="0">
                <a:solidFill>
                  <a:schemeClr val="accent4">
                    <a:lumMod val="75000"/>
                  </a:schemeClr>
                </a:solidFill>
              </a:rPr>
              <a:t>Android</a:t>
            </a:r>
            <a:r>
              <a:rPr lang="zh-TW" altLang="en-US" dirty="0"/>
              <a:t>上</a:t>
            </a:r>
            <a:r>
              <a:rPr lang="zh-TW" altLang="en-US" dirty="0">
                <a:solidFill>
                  <a:srgbClr val="0070C0"/>
                </a:solidFill>
              </a:rPr>
              <a:t>執行傳說對決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程式分類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系統程式</a:t>
            </a:r>
            <a:endParaRPr lang="en-US" altLang="zh-TW" dirty="0"/>
          </a:p>
          <a:p>
            <a:pPr lvl="1"/>
            <a:r>
              <a:rPr lang="zh-TW" altLang="en-US" dirty="0"/>
              <a:t>作業系統</a:t>
            </a:r>
            <a:r>
              <a:rPr lang="en-US" altLang="zh-TW" dirty="0"/>
              <a:t> (Operating System)</a:t>
            </a:r>
          </a:p>
          <a:p>
            <a:pPr lvl="1"/>
            <a:r>
              <a:rPr lang="zh-TW" altLang="en-US" dirty="0"/>
              <a:t>網路系統 </a:t>
            </a:r>
            <a:r>
              <a:rPr lang="en-US" altLang="zh-TW" dirty="0"/>
              <a:t>(Network System)</a:t>
            </a:r>
          </a:p>
          <a:p>
            <a:pPr lvl="1"/>
            <a:r>
              <a:rPr lang="zh-TW" altLang="en-US" dirty="0"/>
              <a:t>伺服器</a:t>
            </a:r>
            <a:r>
              <a:rPr lang="en-US" altLang="zh-TW" dirty="0"/>
              <a:t> (Server)</a:t>
            </a:r>
          </a:p>
          <a:p>
            <a:r>
              <a:rPr lang="zh-TW" altLang="en-US" dirty="0"/>
              <a:t>應用程式</a:t>
            </a:r>
            <a:endParaRPr lang="en-US" altLang="zh-TW" dirty="0"/>
          </a:p>
          <a:p>
            <a:pPr lvl="1"/>
            <a:r>
              <a:rPr lang="en-US" altLang="zh-TW" dirty="0"/>
              <a:t>Word</a:t>
            </a:r>
            <a:r>
              <a:rPr lang="zh-TW" altLang="en-US" dirty="0"/>
              <a:t>、</a:t>
            </a:r>
            <a:r>
              <a:rPr lang="en-US" altLang="zh-TW" dirty="0"/>
              <a:t>Excel</a:t>
            </a:r>
          </a:p>
          <a:p>
            <a:pPr lvl="1"/>
            <a:r>
              <a:rPr lang="zh-TW" altLang="en-US" dirty="0"/>
              <a:t>瀏覽器</a:t>
            </a:r>
            <a:endParaRPr lang="en-US" altLang="zh-TW" dirty="0"/>
          </a:p>
          <a:p>
            <a:pPr lvl="1"/>
            <a:r>
              <a:rPr lang="zh-TW" altLang="en-US" dirty="0"/>
              <a:t>遊戲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程式語言是什麼？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186370" cy="4325112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Programming Language</a:t>
            </a:r>
          </a:p>
          <a:p>
            <a:r>
              <a:rPr lang="zh-TW" altLang="en-US" dirty="0"/>
              <a:t>是用來</a:t>
            </a:r>
            <a:r>
              <a:rPr lang="zh-TW" altLang="en-US" b="1" dirty="0"/>
              <a:t>定義電腦程式的形式語言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高階語言 </a:t>
            </a:r>
            <a:endParaRPr lang="en-US" altLang="zh-TW" dirty="0"/>
          </a:p>
          <a:p>
            <a:pPr lvl="1"/>
            <a:r>
              <a:rPr lang="en-US" altLang="zh-TW" sz="2400" dirty="0"/>
              <a:t>High-level Language</a:t>
            </a:r>
            <a:endParaRPr lang="zh-TW" altLang="en-US" sz="2800" dirty="0"/>
          </a:p>
          <a:p>
            <a:r>
              <a:rPr lang="zh-TW" altLang="en-US" dirty="0"/>
              <a:t>組合語言 </a:t>
            </a:r>
            <a:endParaRPr lang="en-US" altLang="zh-TW" dirty="0"/>
          </a:p>
          <a:p>
            <a:pPr lvl="1"/>
            <a:r>
              <a:rPr lang="en-US" altLang="zh-TW" sz="2400" dirty="0"/>
              <a:t>Assembly Language</a:t>
            </a:r>
          </a:p>
          <a:p>
            <a:r>
              <a:rPr lang="zh-TW" altLang="en-US" dirty="0"/>
              <a:t>機器語言</a:t>
            </a:r>
            <a:endParaRPr lang="en-US" altLang="zh-TW" dirty="0"/>
          </a:p>
          <a:p>
            <a:pPr lvl="1"/>
            <a:r>
              <a:rPr lang="en-US" altLang="zh-TW" sz="2400" dirty="0"/>
              <a:t>Machine Language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 descr="Organization of Computer Systems: ISA, Machine Language, Number System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4014810"/>
            <a:ext cx="4876800" cy="2628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為啥學程式？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因為你要叫電腦幫你做事</a:t>
            </a:r>
            <a:endParaRPr lang="en-US" altLang="zh-TW" dirty="0"/>
          </a:p>
          <a:p>
            <a:pPr lvl="1"/>
            <a:r>
              <a:rPr lang="zh-TW" altLang="en-US" dirty="0"/>
              <a:t>製作</a:t>
            </a:r>
            <a:r>
              <a:rPr lang="en-US" altLang="zh-TW" dirty="0"/>
              <a:t>app</a:t>
            </a:r>
          </a:p>
          <a:p>
            <a:pPr lvl="1"/>
            <a:r>
              <a:rPr lang="zh-TW" altLang="en-US" dirty="0"/>
              <a:t>製作網頁</a:t>
            </a:r>
            <a:endParaRPr lang="en-US" altLang="zh-TW" dirty="0"/>
          </a:p>
          <a:p>
            <a:pPr lvl="1"/>
            <a:r>
              <a:rPr lang="zh-TW" altLang="en-US" dirty="0"/>
              <a:t>製作遊戲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未來工作需求</a:t>
            </a:r>
            <a:endParaRPr lang="en-US" altLang="zh-TW" dirty="0"/>
          </a:p>
          <a:p>
            <a:r>
              <a:rPr lang="zh-TW" altLang="en-US" dirty="0"/>
              <a:t>生成式</a:t>
            </a:r>
            <a:r>
              <a:rPr lang="en-US" altLang="zh-TW" dirty="0"/>
              <a:t>AI</a:t>
            </a:r>
            <a:r>
              <a:rPr lang="zh-TW" altLang="en-US" dirty="0"/>
              <a:t> 取代 程式設計師？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程式語言排名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087240"/>
            <a:ext cx="6515281" cy="477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學哪一種程式語言？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功能取向</a:t>
            </a:r>
            <a:endParaRPr lang="en-US" altLang="zh-TW" dirty="0"/>
          </a:p>
          <a:p>
            <a:pPr lvl="1"/>
            <a:r>
              <a:rPr lang="en-US" altLang="zh-TW" dirty="0"/>
              <a:t>Android</a:t>
            </a:r>
            <a:r>
              <a:rPr lang="zh-TW" altLang="en-US" dirty="0"/>
              <a:t>：</a:t>
            </a:r>
            <a:r>
              <a:rPr lang="en-US" altLang="zh-TW" dirty="0"/>
              <a:t>Java</a:t>
            </a:r>
          </a:p>
          <a:p>
            <a:pPr lvl="1"/>
            <a:r>
              <a:rPr lang="en-US" altLang="zh-TW" dirty="0" err="1"/>
              <a:t>iOS</a:t>
            </a:r>
            <a:r>
              <a:rPr lang="zh-TW" altLang="en-US" dirty="0"/>
              <a:t>：</a:t>
            </a:r>
            <a:r>
              <a:rPr lang="en-US" altLang="zh-TW" dirty="0"/>
              <a:t>Objective-C / Swift</a:t>
            </a:r>
          </a:p>
          <a:p>
            <a:pPr lvl="1"/>
            <a:r>
              <a:rPr lang="zh-TW" altLang="en-US" dirty="0"/>
              <a:t>網頁：</a:t>
            </a:r>
            <a:r>
              <a:rPr lang="en-US" altLang="zh-TW" dirty="0" err="1"/>
              <a:t>Javascript</a:t>
            </a:r>
            <a:r>
              <a:rPr lang="en-US" altLang="zh-TW" dirty="0"/>
              <a:t>, Python,</a:t>
            </a:r>
            <a:r>
              <a:rPr lang="zh-TW" altLang="en-US" dirty="0"/>
              <a:t> </a:t>
            </a:r>
            <a:r>
              <a:rPr lang="en-US" altLang="zh-TW" dirty="0"/>
              <a:t>PHP, Ruby </a:t>
            </a:r>
            <a:r>
              <a:rPr lang="en-US" altLang="zh-TW" strike="sngStrike" dirty="0">
                <a:solidFill>
                  <a:schemeClr val="bg1">
                    <a:lumMod val="50000"/>
                  </a:schemeClr>
                </a:solidFill>
              </a:rPr>
              <a:t>(html, </a:t>
            </a:r>
            <a:r>
              <a:rPr lang="en-US" altLang="zh-TW" strike="sngStrike" dirty="0" err="1">
                <a:solidFill>
                  <a:schemeClr val="bg1">
                    <a:lumMod val="50000"/>
                  </a:schemeClr>
                </a:solidFill>
              </a:rPr>
              <a:t>css</a:t>
            </a:r>
            <a:r>
              <a:rPr lang="en-US" altLang="zh-TW" strike="sngStrike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zh-TW" altLang="en-US" dirty="0"/>
              <a:t>資料庫：</a:t>
            </a:r>
            <a:r>
              <a:rPr lang="en-US" altLang="zh-TW" dirty="0"/>
              <a:t>SQL</a:t>
            </a:r>
          </a:p>
          <a:p>
            <a:pPr lvl="1"/>
            <a:r>
              <a:rPr lang="en-US" altLang="zh-TW" dirty="0"/>
              <a:t>Unity</a:t>
            </a:r>
            <a:r>
              <a:rPr lang="zh-TW" altLang="en-US" dirty="0"/>
              <a:t>：</a:t>
            </a:r>
            <a:r>
              <a:rPr lang="en-US" altLang="zh-TW" dirty="0"/>
              <a:t>C#</a:t>
            </a:r>
          </a:p>
          <a:p>
            <a:r>
              <a:rPr lang="zh-TW" altLang="en-US" dirty="0"/>
              <a:t>難度取向</a:t>
            </a:r>
            <a:endParaRPr lang="en-US" altLang="zh-TW" dirty="0"/>
          </a:p>
          <a:p>
            <a:pPr lvl="1"/>
            <a:r>
              <a:rPr lang="en-US" altLang="zh-TW" dirty="0"/>
              <a:t>C++</a:t>
            </a:r>
          </a:p>
          <a:p>
            <a:pPr lvl="1"/>
            <a:r>
              <a:rPr lang="en-US" altLang="zh-TW" dirty="0"/>
              <a:t>C# / Java</a:t>
            </a:r>
          </a:p>
          <a:p>
            <a:pPr lvl="1"/>
            <a:r>
              <a:rPr lang="en-US" altLang="zh-TW" dirty="0"/>
              <a:t>Python</a:t>
            </a:r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怎麼學好程式？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理解每一個階段學到的東西</a:t>
            </a:r>
            <a:endParaRPr lang="en-US" altLang="zh-TW" dirty="0"/>
          </a:p>
          <a:p>
            <a:pPr lvl="1"/>
            <a:r>
              <a:rPr lang="zh-TW" altLang="en-US" dirty="0"/>
              <a:t>換個方式理解</a:t>
            </a:r>
            <a:endParaRPr lang="en-US" altLang="zh-TW" dirty="0"/>
          </a:p>
          <a:p>
            <a:pPr lvl="1"/>
            <a:r>
              <a:rPr lang="zh-TW" altLang="en-US"/>
              <a:t>如何發問</a:t>
            </a:r>
            <a:endParaRPr lang="en-US" altLang="zh-TW" dirty="0"/>
          </a:p>
          <a:p>
            <a:r>
              <a:rPr lang="zh-TW" altLang="en-US" dirty="0"/>
              <a:t>參考別人的程式，但必須理解</a:t>
            </a:r>
            <a:endParaRPr lang="en-US" altLang="zh-TW" dirty="0"/>
          </a:p>
          <a:p>
            <a:pPr lvl="1"/>
            <a:r>
              <a:rPr lang="zh-TW" altLang="en-US" dirty="0"/>
              <a:t>同學</a:t>
            </a:r>
            <a:endParaRPr lang="en-US" altLang="zh-TW" dirty="0"/>
          </a:p>
          <a:p>
            <a:pPr lvl="1"/>
            <a:r>
              <a:rPr lang="zh-TW" altLang="en-US" dirty="0"/>
              <a:t>生成式</a:t>
            </a:r>
            <a:r>
              <a:rPr lang="en-US" altLang="zh-TW" dirty="0"/>
              <a:t>AI</a:t>
            </a:r>
            <a:r>
              <a:rPr lang="zh-TW" altLang="en-US" dirty="0"/>
              <a:t>輔助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Cursor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>
                <a:hlinkClick r:id="rId3"/>
              </a:rPr>
              <a:t>Stack Overflow</a:t>
            </a:r>
            <a:r>
              <a:rPr lang="zh-TW" altLang="en-US" dirty="0"/>
              <a:t>網站</a:t>
            </a:r>
            <a:r>
              <a:rPr lang="en-US" altLang="zh-TW" dirty="0"/>
              <a:t> </a:t>
            </a:r>
            <a:r>
              <a:rPr lang="zh-TW" altLang="en-US" dirty="0"/>
              <a:t>與其他論壇</a:t>
            </a:r>
            <a:endParaRPr lang="en-US" altLang="zh-TW" dirty="0"/>
          </a:p>
          <a:p>
            <a:r>
              <a:rPr lang="zh-TW" altLang="en-US" dirty="0"/>
              <a:t>多做，而非多寫</a:t>
            </a:r>
            <a:endParaRPr lang="en-US" altLang="zh-TW" dirty="0"/>
          </a:p>
          <a:p>
            <a:pPr lvl="1"/>
            <a:r>
              <a:rPr lang="zh-TW" altLang="en-US" dirty="0"/>
              <a:t>練習不同的題目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怎麼學好程式？</a:t>
            </a:r>
          </a:p>
        </p:txBody>
      </p:sp>
      <p:pic>
        <p:nvPicPr>
          <p:cNvPr id="18434" name="Picture 2" descr="程式學習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000241"/>
            <a:ext cx="7367601" cy="48577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怎麼寫好程式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程式是一組</a:t>
            </a:r>
            <a:r>
              <a:rPr lang="zh-TW" altLang="en-US" b="1" dirty="0"/>
              <a:t>指示</a:t>
            </a:r>
            <a:r>
              <a:rPr lang="zh-TW" altLang="en-US" dirty="0"/>
              <a:t>電腦裝置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</a:rPr>
              <a:t>每一步動作</a:t>
            </a:r>
            <a:r>
              <a:rPr lang="zh-TW" altLang="en-US" dirty="0"/>
              <a:t>的指令。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無論你知道的電腦、</a:t>
            </a:r>
            <a:r>
              <a:rPr lang="en-US" altLang="zh-TW" dirty="0"/>
              <a:t>AI</a:t>
            </a:r>
            <a:r>
              <a:rPr lang="zh-TW" altLang="en-US" dirty="0"/>
              <a:t>等再厲害，當你在寫程式的時候，電腦只是個聽你</a:t>
            </a:r>
            <a:r>
              <a:rPr lang="zh-TW" altLang="en-US" b="1" dirty="0"/>
              <a:t>指示</a:t>
            </a:r>
            <a:r>
              <a:rPr lang="zh-TW" altLang="en-US" dirty="0"/>
              <a:t>，一個指另一個動作的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</a:rPr>
              <a:t>笨蛋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r>
              <a:rPr lang="zh-TW" altLang="en-US" dirty="0"/>
              <a:t>解決問題的方法</a:t>
            </a:r>
            <a:endParaRPr lang="en-US" altLang="zh-TW" dirty="0"/>
          </a:p>
          <a:p>
            <a:pPr lvl="1"/>
            <a:r>
              <a:rPr lang="zh-TW" altLang="en-US" dirty="0"/>
              <a:t>暴力解決</a:t>
            </a:r>
            <a:endParaRPr lang="en-US" altLang="zh-TW" dirty="0"/>
          </a:p>
          <a:p>
            <a:pPr lvl="1"/>
            <a:r>
              <a:rPr lang="zh-TW" altLang="en-US" dirty="0"/>
              <a:t>拆解問題，各個擊破</a:t>
            </a:r>
            <a:endParaRPr lang="en-US" altLang="zh-TW" dirty="0"/>
          </a:p>
          <a:p>
            <a:pPr lvl="1"/>
            <a:r>
              <a:rPr lang="zh-TW" altLang="en-US" dirty="0"/>
              <a:t>先解決小問題，再擴大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數學與英文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數學在學</a:t>
            </a:r>
            <a:r>
              <a:rPr lang="zh-TW" altLang="en-US" b="1" dirty="0"/>
              <a:t>程式語言</a:t>
            </a:r>
            <a:r>
              <a:rPr lang="zh-TW" altLang="en-US" dirty="0"/>
              <a:t>這門課相對不重要，但未來會在多種領域需要理解數學</a:t>
            </a:r>
            <a:endParaRPr lang="en-US" altLang="zh-TW" dirty="0"/>
          </a:p>
          <a:p>
            <a:pPr lvl="1"/>
            <a:r>
              <a:rPr lang="zh-TW" altLang="en-US" dirty="0"/>
              <a:t>邏輯 </a:t>
            </a:r>
            <a:r>
              <a:rPr lang="en-US" altLang="zh-TW" dirty="0"/>
              <a:t>(</a:t>
            </a:r>
            <a:r>
              <a:rPr lang="zh-TW" altLang="en-US" dirty="0"/>
              <a:t>但畢竟沒有正式課程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抽象化能力</a:t>
            </a:r>
            <a:endParaRPr lang="en-US" altLang="zh-TW" dirty="0"/>
          </a:p>
          <a:p>
            <a:pPr lvl="1"/>
            <a:r>
              <a:rPr lang="zh-TW" altLang="en-US" dirty="0"/>
              <a:t>定義問題的能力</a:t>
            </a:r>
            <a:endParaRPr lang="en-US" altLang="zh-TW" dirty="0"/>
          </a:p>
          <a:p>
            <a:r>
              <a:rPr lang="zh-TW" altLang="en-US" dirty="0"/>
              <a:t>英文不算重點，但你還是在學一門「語言」</a:t>
            </a:r>
            <a:endParaRPr lang="en-US" altLang="zh-TW" dirty="0"/>
          </a:p>
          <a:p>
            <a:pPr lvl="1"/>
            <a:r>
              <a:rPr lang="zh-TW" altLang="en-US" dirty="0"/>
              <a:t>關鍵字、專有名詞</a:t>
            </a:r>
            <a:endParaRPr lang="en-US" altLang="zh-TW" dirty="0"/>
          </a:p>
          <a:p>
            <a:pPr lvl="1"/>
            <a:r>
              <a:rPr lang="zh-TW" altLang="en-US" dirty="0"/>
              <a:t>其他人寫的功能</a:t>
            </a:r>
            <a:endParaRPr lang="en-US" altLang="zh-TW" dirty="0"/>
          </a:p>
          <a:p>
            <a:pPr lvl="1"/>
            <a:r>
              <a:rPr lang="zh-TW" altLang="en-US" dirty="0"/>
              <a:t>教學、資訊 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Stack Overflow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生成式</a:t>
            </a:r>
            <a:r>
              <a:rPr lang="en-US" altLang="zh-TW" dirty="0"/>
              <a:t>AI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工程師的等級</a:t>
            </a:r>
            <a:endParaRPr lang="en-US" altLang="zh-TW" dirty="0"/>
          </a:p>
          <a:p>
            <a:pPr lvl="1"/>
            <a:r>
              <a:rPr lang="zh-TW" altLang="en-US" dirty="0"/>
              <a:t>初學</a:t>
            </a:r>
            <a:endParaRPr lang="en-US" altLang="zh-TW" dirty="0"/>
          </a:p>
          <a:p>
            <a:pPr lvl="1"/>
            <a:r>
              <a:rPr lang="en-US" altLang="zh-TW" dirty="0"/>
              <a:t>Junior </a:t>
            </a:r>
          </a:p>
          <a:p>
            <a:pPr lvl="1"/>
            <a:r>
              <a:rPr lang="en-US" altLang="zh-TW" dirty="0"/>
              <a:t>Middle </a:t>
            </a:r>
          </a:p>
          <a:p>
            <a:pPr lvl="1"/>
            <a:r>
              <a:rPr lang="en-US" altLang="zh-TW" dirty="0"/>
              <a:t>Senior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/>
              <a:t>AI</a:t>
            </a:r>
            <a:r>
              <a:rPr lang="zh-TW" altLang="en-US" dirty="0"/>
              <a:t>工具</a:t>
            </a:r>
            <a:endParaRPr lang="en-US" altLang="zh-TW" dirty="0"/>
          </a:p>
          <a:p>
            <a:pPr lvl="1"/>
            <a:r>
              <a:rPr lang="zh-TW" altLang="en-US" dirty="0"/>
              <a:t>問答式：</a:t>
            </a:r>
            <a:r>
              <a:rPr lang="en-US" altLang="zh-TW" dirty="0"/>
              <a:t>Cursor</a:t>
            </a:r>
            <a:r>
              <a:rPr lang="zh-TW" altLang="en-US" dirty="0"/>
              <a:t>、</a:t>
            </a:r>
            <a:r>
              <a:rPr lang="en-US" altLang="zh-TW" dirty="0" err="1"/>
              <a:t>Capliot</a:t>
            </a:r>
            <a:r>
              <a:rPr lang="zh-TW" altLang="en-US"/>
              <a:t> 、</a:t>
            </a:r>
            <a:r>
              <a:rPr lang="en-US" altLang="zh-TW"/>
              <a:t>Gemini </a:t>
            </a:r>
            <a:r>
              <a:rPr lang="en-US" altLang="zh-TW" dirty="0"/>
              <a:t>Code</a:t>
            </a:r>
          </a:p>
          <a:p>
            <a:pPr lvl="1"/>
            <a:r>
              <a:rPr lang="zh-TW" altLang="en-US" dirty="0"/>
              <a:t>提示式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65C4D0-395C-5FAC-E07A-D10806D6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程式的學習地圖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6D5BBF-3A57-2DA9-5760-58E1C642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基本結構</a:t>
            </a:r>
            <a:endParaRPr lang="en-US" altLang="zh-TW" dirty="0"/>
          </a:p>
          <a:p>
            <a:r>
              <a:rPr lang="zh-TW" altLang="en-US" dirty="0"/>
              <a:t>變數宣告</a:t>
            </a:r>
            <a:endParaRPr lang="en-US" altLang="zh-TW" dirty="0"/>
          </a:p>
          <a:p>
            <a:r>
              <a:rPr lang="zh-TW" altLang="en-US" dirty="0"/>
              <a:t>循序</a:t>
            </a:r>
            <a:endParaRPr lang="en-US" altLang="zh-TW" dirty="0"/>
          </a:p>
          <a:p>
            <a:r>
              <a:rPr lang="zh-TW" altLang="en-US" dirty="0"/>
              <a:t>選擇 </a:t>
            </a:r>
            <a:r>
              <a:rPr lang="en-US" altLang="zh-TW" dirty="0"/>
              <a:t>(if, switch)</a:t>
            </a:r>
          </a:p>
          <a:p>
            <a:r>
              <a:rPr lang="zh-TW" altLang="en-US" dirty="0"/>
              <a:t>迴圈 </a:t>
            </a:r>
            <a:r>
              <a:rPr lang="en-US" altLang="zh-TW" dirty="0"/>
              <a:t>(for, while, do-while)</a:t>
            </a:r>
          </a:p>
        </p:txBody>
      </p:sp>
    </p:spTree>
    <p:extLst>
      <p:ext uri="{BB962C8B-B14F-4D97-AF65-F5344CB8AC3E}">
        <p14:creationId xmlns:p14="http://schemas.microsoft.com/office/powerpoint/2010/main" val="1221071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65C4D0-395C-5FAC-E07A-D10806D6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程式的學習地圖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6D5BBF-3A57-2DA9-5760-58E1C642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函數</a:t>
            </a:r>
            <a:endParaRPr lang="en-US" altLang="zh-TW" dirty="0"/>
          </a:p>
          <a:p>
            <a:pPr lvl="1"/>
            <a:r>
              <a:rPr lang="zh-TW" altLang="en-US" dirty="0"/>
              <a:t>遞迴 </a:t>
            </a:r>
            <a:r>
              <a:rPr lang="en-US" altLang="zh-TW" dirty="0"/>
              <a:t>(</a:t>
            </a:r>
            <a:r>
              <a:rPr lang="zh-TW" altLang="en-US" dirty="0"/>
              <a:t>屬於利用函數製作迴圈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其他語法</a:t>
            </a:r>
            <a:endParaRPr lang="en-US" altLang="zh-TW" dirty="0"/>
          </a:p>
          <a:p>
            <a:pPr lvl="1"/>
            <a:r>
              <a:rPr lang="zh-TW" altLang="en-US" dirty="0"/>
              <a:t>結構</a:t>
            </a:r>
            <a:endParaRPr lang="en-US" altLang="zh-TW" dirty="0"/>
          </a:p>
          <a:p>
            <a:pPr lvl="1"/>
            <a:r>
              <a:rPr lang="zh-TW" altLang="en-US" dirty="0"/>
              <a:t>列舉</a:t>
            </a:r>
            <a:endParaRPr lang="en-US" altLang="zh-TW" dirty="0"/>
          </a:p>
          <a:p>
            <a:r>
              <a:rPr lang="zh-TW" altLang="en-US" dirty="0"/>
              <a:t>物件導向 </a:t>
            </a:r>
            <a:r>
              <a:rPr lang="en-US" altLang="zh-TW" dirty="0"/>
              <a:t>(class, object)</a:t>
            </a:r>
          </a:p>
          <a:p>
            <a:pPr lvl="1"/>
            <a:r>
              <a:rPr lang="zh-TW" altLang="en-US" dirty="0"/>
              <a:t>封裝</a:t>
            </a:r>
            <a:endParaRPr lang="en-US" altLang="zh-TW" dirty="0"/>
          </a:p>
          <a:p>
            <a:pPr lvl="1"/>
            <a:r>
              <a:rPr lang="zh-TW" altLang="en-US" dirty="0"/>
              <a:t>繼承</a:t>
            </a:r>
            <a:endParaRPr lang="en-US" altLang="zh-TW" dirty="0"/>
          </a:p>
          <a:p>
            <a:pPr lvl="1"/>
            <a:r>
              <a:rPr lang="zh-TW" altLang="en-US" dirty="0"/>
              <a:t>多型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87214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CC9E2-BB63-43E8-219B-291DAAC0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程式的學習地圖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5021B3-E429-463F-F905-A60489C69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更多工具</a:t>
            </a:r>
            <a:endParaRPr lang="en-US" altLang="zh-TW" dirty="0"/>
          </a:p>
          <a:p>
            <a:pPr lvl="1"/>
            <a:r>
              <a:rPr lang="zh-TW" altLang="en-US" dirty="0"/>
              <a:t>多載</a:t>
            </a:r>
            <a:endParaRPr lang="en-US" altLang="zh-TW" dirty="0"/>
          </a:p>
          <a:p>
            <a:pPr lvl="1"/>
            <a:r>
              <a:rPr lang="zh-TW" altLang="en-US" dirty="0"/>
              <a:t>泛型</a:t>
            </a:r>
            <a:endParaRPr lang="en-US" altLang="zh-TW" dirty="0"/>
          </a:p>
          <a:p>
            <a:pPr lvl="1"/>
            <a:r>
              <a:rPr lang="zh-TW" altLang="en-US" dirty="0"/>
              <a:t>通用容器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資料結構與演算法</a:t>
            </a:r>
            <a:endParaRPr lang="en-US" altLang="zh-TW" dirty="0"/>
          </a:p>
          <a:p>
            <a:r>
              <a:rPr lang="zh-TW" altLang="en-US" dirty="0"/>
              <a:t>軟體工程</a:t>
            </a:r>
            <a:endParaRPr lang="en-US" altLang="zh-TW" dirty="0"/>
          </a:p>
          <a:p>
            <a:pPr lvl="1"/>
            <a:r>
              <a:rPr lang="zh-TW" altLang="en-US" dirty="0"/>
              <a:t>設計模式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0642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152</TotalTime>
  <Words>480</Words>
  <Application>Microsoft Office PowerPoint</Application>
  <PresentationFormat>如螢幕大小 (4:3)</PresentationFormat>
  <Paragraphs>112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Arial</vt:lpstr>
      <vt:lpstr>Georgia</vt:lpstr>
      <vt:lpstr>Wingdings 2</vt:lpstr>
      <vt:lpstr>都會</vt:lpstr>
      <vt:lpstr>Lesson 1 學習程式</vt:lpstr>
      <vt:lpstr>程式是什麼？</vt:lpstr>
      <vt:lpstr>程式分類</vt:lpstr>
      <vt:lpstr>程式語言是什麼？</vt:lpstr>
      <vt:lpstr>為啥學程式？</vt:lpstr>
      <vt:lpstr>程式語言排名</vt:lpstr>
      <vt:lpstr>學哪一種程式語言？</vt:lpstr>
      <vt:lpstr>怎麼學好程式？</vt:lpstr>
      <vt:lpstr>怎麼學好程式？</vt:lpstr>
      <vt:lpstr>怎麼寫好程式</vt:lpstr>
      <vt:lpstr>數學與英文</vt:lpstr>
      <vt:lpstr>生成式AI</vt:lpstr>
      <vt:lpstr>程式的學習地圖</vt:lpstr>
      <vt:lpstr>程式的學習地圖</vt:lpstr>
      <vt:lpstr>程式的學習地圖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34</cp:revision>
  <dcterms:created xsi:type="dcterms:W3CDTF">2024-11-18T05:57:07Z</dcterms:created>
  <dcterms:modified xsi:type="dcterms:W3CDTF">2025-05-05T00:42:36Z</dcterms:modified>
</cp:coreProperties>
</file>