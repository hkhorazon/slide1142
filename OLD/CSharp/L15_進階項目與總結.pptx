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6" r:id="rId2"/>
    <p:sldId id="267" r:id="rId3"/>
    <p:sldId id="269" r:id="rId4"/>
    <p:sldId id="268" r:id="rId5"/>
    <p:sldId id="270" r:id="rId6"/>
    <p:sldId id="271" r:id="rId7"/>
    <p:sldId id="277" r:id="rId8"/>
    <p:sldId id="278" r:id="rId9"/>
    <p:sldId id="279" r:id="rId10"/>
    <p:sldId id="281" r:id="rId11"/>
    <p:sldId id="284" r:id="rId12"/>
    <p:sldId id="285" r:id="rId13"/>
    <p:sldId id="300" r:id="rId14"/>
    <p:sldId id="286" r:id="rId15"/>
    <p:sldId id="287" r:id="rId16"/>
    <p:sldId id="289" r:id="rId17"/>
    <p:sldId id="290" r:id="rId18"/>
    <p:sldId id="288" r:id="rId19"/>
    <p:sldId id="283" r:id="rId20"/>
    <p:sldId id="291" r:id="rId21"/>
    <p:sldId id="293" r:id="rId22"/>
    <p:sldId id="294" r:id="rId23"/>
    <p:sldId id="295" r:id="rId24"/>
    <p:sldId id="296" r:id="rId25"/>
    <p:sldId id="297" r:id="rId26"/>
    <p:sldId id="292" r:id="rId27"/>
    <p:sldId id="298" r:id="rId28"/>
    <p:sldId id="299" r:id="rId29"/>
    <p:sldId id="273" r:id="rId30"/>
    <p:sldId id="274" r:id="rId31"/>
    <p:sldId id="276" r:id="rId32"/>
    <p:sldId id="272" r:id="rId33"/>
    <p:sldId id="282" r:id="rId34"/>
    <p:sldId id="280" r:id="rId3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2025/6/9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2025/6/9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2025/6/9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2025/6/9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2025/6/9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2025/6/9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2025/6/9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2025/6/9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2025/6/9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2025/6/9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2025/6/9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2025/6/9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</a:t>
            </a:r>
            <a:r>
              <a:rPr lang="zh-TW" altLang="en-US" dirty="0"/>
              <a:t> </a:t>
            </a:r>
            <a:r>
              <a:rPr lang="en-US" altLang="zh-TW" dirty="0"/>
              <a:t>15</a:t>
            </a:r>
            <a:br>
              <a:rPr lang="en-US" altLang="zh-TW" dirty="0"/>
            </a:br>
            <a:r>
              <a:rPr lang="zh-TW" altLang="en-US" dirty="0"/>
              <a:t>靜態</a:t>
            </a:r>
            <a:r>
              <a:rPr lang="en-US" altLang="zh-TW" dirty="0"/>
              <a:t>(static)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en-US" altLang="zh-TW" dirty="0"/>
              <a:t>C#</a:t>
            </a:r>
            <a:r>
              <a:rPr lang="zh-TW" altLang="en-US" dirty="0"/>
              <a:t>程式設計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靜態屬性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400" dirty="0"/>
              <a:t>可以使用</a:t>
            </a:r>
            <a:r>
              <a:rPr lang="en-US" altLang="zh-TW" sz="2400" dirty="0"/>
              <a:t>static</a:t>
            </a:r>
            <a:r>
              <a:rPr lang="zh-TW" altLang="en-US" sz="2400" dirty="0"/>
              <a:t>將屬性設定為靜態</a:t>
            </a:r>
            <a:endParaRPr lang="en-US" altLang="zh-TW" sz="2400" dirty="0"/>
          </a:p>
          <a:p>
            <a:endParaRPr lang="en-US" altLang="zh-TW" sz="2400" dirty="0"/>
          </a:p>
          <a:p>
            <a:endParaRPr lang="en-US" altLang="zh-TW" sz="2400" dirty="0"/>
          </a:p>
          <a:p>
            <a:endParaRPr lang="en-US" altLang="zh-TW" sz="2400" dirty="0"/>
          </a:p>
          <a:p>
            <a:endParaRPr lang="en-US" altLang="zh-TW" sz="2400" dirty="0"/>
          </a:p>
          <a:p>
            <a:r>
              <a:rPr lang="zh-TW" altLang="en-US" sz="2400" dirty="0"/>
              <a:t>此時該變數，無論</a:t>
            </a:r>
            <a:r>
              <a:rPr lang="en-US" altLang="zh-TW" sz="2400"/>
              <a:t>class</a:t>
            </a:r>
            <a:r>
              <a:rPr lang="zh-TW" altLang="en-US" sz="2400"/>
              <a:t>有</a:t>
            </a:r>
            <a:r>
              <a:rPr lang="zh-TW" altLang="en-US" sz="2400" dirty="0"/>
              <a:t>幾個</a:t>
            </a:r>
            <a:r>
              <a:rPr lang="en-US" altLang="zh-TW" sz="2400" dirty="0"/>
              <a:t>instance</a:t>
            </a:r>
            <a:r>
              <a:rPr lang="zh-TW" altLang="en-US" sz="2400" dirty="0"/>
              <a:t>，其靜態屬性數值皆只有一份，且無須建立任何</a:t>
            </a:r>
            <a:r>
              <a:rPr lang="en-US" altLang="zh-TW" sz="2400" dirty="0"/>
              <a:t>instance</a:t>
            </a:r>
            <a:r>
              <a:rPr lang="zh-TW" altLang="en-US" sz="2400" dirty="0"/>
              <a:t>，該欄位即存在。</a:t>
            </a:r>
            <a:endParaRPr lang="en-US" altLang="zh-TW" sz="2400" dirty="0"/>
          </a:p>
          <a:p>
            <a:r>
              <a:rPr lang="zh-TW" altLang="en-US" dirty="0"/>
              <a:t>使用上必須為透過</a:t>
            </a:r>
            <a:r>
              <a:rPr lang="en-US" altLang="zh-TW" dirty="0"/>
              <a:t>class</a:t>
            </a:r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2819400"/>
            <a:ext cx="7545387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66850" y="5791200"/>
            <a:ext cx="48577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靜態欄位與方法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方法與欄位也可以宣告為靜態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其靜態欄位與方法皆只有一份，存在</a:t>
            </a:r>
            <a:r>
              <a:rPr lang="en-US" altLang="zh-TW" dirty="0"/>
              <a:t>class</a:t>
            </a:r>
            <a:r>
              <a:rPr lang="zh-TW" altLang="en-US" dirty="0"/>
              <a:t>中，使用上必須透過</a:t>
            </a:r>
            <a:r>
              <a:rPr lang="en-US" altLang="zh-TW" dirty="0"/>
              <a:t>Class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在方法與欄位的程式中，不可使用非</a:t>
            </a:r>
            <a:r>
              <a:rPr lang="en-US" altLang="zh-TW" dirty="0"/>
              <a:t>static</a:t>
            </a:r>
            <a:r>
              <a:rPr lang="zh-TW" altLang="en-US" dirty="0"/>
              <a:t>的屬性、欄位、方法。</a:t>
            </a:r>
            <a:endParaRPr lang="en-US" altLang="zh-TW" dirty="0"/>
          </a:p>
          <a:p>
            <a:pPr lvl="1"/>
            <a:r>
              <a:rPr lang="zh-TW" altLang="en-US" sz="2400" dirty="0"/>
              <a:t>這就是為啥我們最早的運用必須為</a:t>
            </a:r>
            <a:r>
              <a:rPr lang="en-US" altLang="zh-TW" sz="2400" dirty="0"/>
              <a:t>static (</a:t>
            </a:r>
            <a:r>
              <a:rPr lang="zh-TW" altLang="en-US" sz="2400" dirty="0"/>
              <a:t>由</a:t>
            </a:r>
            <a:r>
              <a:rPr lang="en-US" altLang="zh-TW" sz="2400" dirty="0"/>
              <a:t>main</a:t>
            </a:r>
            <a:r>
              <a:rPr lang="zh-TW" altLang="en-US" sz="2400" dirty="0"/>
              <a:t>呼叫</a:t>
            </a:r>
            <a:r>
              <a:rPr lang="en-US" altLang="zh-TW" sz="2400" dirty="0"/>
              <a:t>)</a:t>
            </a:r>
            <a:endParaRPr lang="en-US" altLang="zh-TW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2819400"/>
            <a:ext cx="7086600" cy="1393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靜態類別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可以將類別設定為靜態，則</a:t>
            </a:r>
            <a:endParaRPr lang="en-US" altLang="zh-TW" dirty="0"/>
          </a:p>
          <a:p>
            <a:pPr lvl="1"/>
            <a:r>
              <a:rPr lang="zh-TW" altLang="en-US" dirty="0"/>
              <a:t>所有屬性、欄位、方法必須皆為靜態</a:t>
            </a:r>
            <a:endParaRPr lang="en-US" altLang="zh-TW" dirty="0"/>
          </a:p>
          <a:p>
            <a:pPr lvl="1"/>
            <a:r>
              <a:rPr lang="zh-TW" altLang="en-US" dirty="0"/>
              <a:t>無法建立其</a:t>
            </a:r>
            <a:r>
              <a:rPr lang="en-US" altLang="zh-TW" dirty="0"/>
              <a:t>instance ( </a:t>
            </a:r>
            <a:r>
              <a:rPr lang="zh-TW" altLang="en-US" dirty="0"/>
              <a:t>不能</a:t>
            </a:r>
            <a:r>
              <a:rPr lang="en-US" altLang="zh-TW" dirty="0"/>
              <a:t>new() )</a:t>
            </a:r>
          </a:p>
          <a:p>
            <a:pPr lvl="1"/>
            <a:r>
              <a:rPr lang="zh-TW" altLang="en-US" dirty="0"/>
              <a:t>常做為函式庫使用，如</a:t>
            </a:r>
            <a:r>
              <a:rPr lang="en-US" altLang="zh-TW" dirty="0"/>
              <a:t>Math</a:t>
            </a:r>
          </a:p>
          <a:p>
            <a:pPr lvl="1"/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98912" y="4164973"/>
            <a:ext cx="5145088" cy="2159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67200" y="6360209"/>
            <a:ext cx="4821237" cy="393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Const</a:t>
            </a:r>
            <a:r>
              <a:rPr lang="zh-TW" altLang="en-US" dirty="0"/>
              <a:t>屬性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在物件中也可宣告</a:t>
            </a:r>
            <a:r>
              <a:rPr lang="en-US" altLang="zh-TW" dirty="0"/>
              <a:t>const</a:t>
            </a:r>
            <a:r>
              <a:rPr lang="zh-TW" altLang="en-US" dirty="0"/>
              <a:t>變數，其狀況與</a:t>
            </a:r>
            <a:r>
              <a:rPr lang="en-US" altLang="zh-TW" dirty="0"/>
              <a:t>static</a:t>
            </a:r>
            <a:r>
              <a:rPr lang="zh-TW" altLang="en-US" dirty="0"/>
              <a:t>類似，但無法修改。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請注意</a:t>
            </a:r>
            <a:r>
              <a:rPr lang="en-US" altLang="zh-TW" dirty="0"/>
              <a:t>const</a:t>
            </a:r>
            <a:r>
              <a:rPr lang="zh-TW" altLang="en-US" dirty="0"/>
              <a:t>的運用上，在其他位置的功能性可能不同。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0" y="3200400"/>
            <a:ext cx="4724400" cy="785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62400" y="4038600"/>
            <a:ext cx="3228975" cy="420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</a:t>
            </a:r>
            <a:r>
              <a:rPr lang="zh-TW" altLang="en-US" dirty="0"/>
              <a:t> </a:t>
            </a:r>
            <a:r>
              <a:rPr lang="en-US" altLang="zh-TW" dirty="0"/>
              <a:t>16</a:t>
            </a:r>
            <a:br>
              <a:rPr lang="en-US" altLang="zh-TW" dirty="0"/>
            </a:br>
            <a:r>
              <a:rPr lang="zh-TW" altLang="en-US" dirty="0"/>
              <a:t>例外處理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課本第</a:t>
            </a:r>
            <a:r>
              <a:rPr lang="en-US" altLang="zh-TW" dirty="0"/>
              <a:t>24</a:t>
            </a:r>
            <a:r>
              <a:rPr lang="zh-TW" altLang="en-US" dirty="0"/>
              <a:t>章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en-US" altLang="zh-TW" dirty="0"/>
              <a:t>C#</a:t>
            </a:r>
            <a:r>
              <a:rPr lang="zh-TW" altLang="en-US" dirty="0"/>
              <a:t>程式設計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例外 </a:t>
            </a:r>
            <a:r>
              <a:rPr lang="en-US" altLang="zh-TW" dirty="0"/>
              <a:t>(Exception)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程式在運行中常會出現錯誤</a:t>
            </a:r>
            <a:r>
              <a:rPr lang="en-US" altLang="zh-TW" dirty="0"/>
              <a:t>(error)</a:t>
            </a:r>
            <a:r>
              <a:rPr lang="zh-TW" altLang="en-US" dirty="0"/>
              <a:t>，又稱為異常。</a:t>
            </a:r>
            <a:endParaRPr lang="en-US" altLang="zh-TW" dirty="0"/>
          </a:p>
          <a:p>
            <a:endParaRPr lang="en-US" altLang="zh-TW" sz="2400" dirty="0"/>
          </a:p>
          <a:p>
            <a:r>
              <a:rPr lang="zh-TW" altLang="en-US" sz="2400" dirty="0"/>
              <a:t>除以零例外</a:t>
            </a:r>
            <a:endParaRPr lang="en-US" altLang="zh-TW" sz="2400" dirty="0"/>
          </a:p>
          <a:p>
            <a:pPr lvl="1"/>
            <a:r>
              <a:rPr lang="en-US" altLang="zh-TW" sz="2400" dirty="0" err="1"/>
              <a:t>DivideByZeroException</a:t>
            </a:r>
            <a:endParaRPr lang="en-US" altLang="zh-TW" sz="2400" dirty="0"/>
          </a:p>
          <a:p>
            <a:r>
              <a:rPr lang="zh-TW" altLang="en-US" sz="2400" dirty="0"/>
              <a:t>陣列溢位例外</a:t>
            </a:r>
            <a:endParaRPr lang="en-US" altLang="zh-TW" sz="2400" dirty="0"/>
          </a:p>
          <a:p>
            <a:pPr lvl="1"/>
            <a:r>
              <a:rPr lang="en-US" altLang="zh-TW" sz="2400" dirty="0" err="1"/>
              <a:t>IndexOutOfRangeException</a:t>
            </a:r>
            <a:endParaRPr lang="en-US" altLang="zh-TW" sz="2400" dirty="0"/>
          </a:p>
          <a:p>
            <a:r>
              <a:rPr lang="en-US" altLang="zh-TW" dirty="0"/>
              <a:t>Null</a:t>
            </a:r>
            <a:r>
              <a:rPr lang="zh-TW" altLang="en-US" dirty="0"/>
              <a:t>引用例外</a:t>
            </a:r>
            <a:endParaRPr lang="en-US" altLang="zh-TW" dirty="0"/>
          </a:p>
          <a:p>
            <a:pPr lvl="1"/>
            <a:r>
              <a:rPr lang="en-US" altLang="zh-TW" dirty="0" err="1"/>
              <a:t>NullReferenceException</a:t>
            </a:r>
            <a:endParaRPr lang="zh-TW" alt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2971800"/>
            <a:ext cx="2371725" cy="886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6400" y="4116998"/>
            <a:ext cx="3314700" cy="531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70363" y="5638800"/>
            <a:ext cx="4973637" cy="888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try-catch-finally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我們可以使用</a:t>
            </a:r>
            <a:r>
              <a:rPr lang="en-US" altLang="zh-TW" dirty="0"/>
              <a:t>try-catch-finally</a:t>
            </a:r>
            <a:r>
              <a:rPr lang="zh-TW" altLang="en-US" dirty="0"/>
              <a:t>三段語法來處理例外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73038" y="3048000"/>
            <a:ext cx="5699488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try-catch-finally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try</a:t>
            </a:r>
          </a:p>
          <a:p>
            <a:pPr lvl="1"/>
            <a:r>
              <a:rPr lang="zh-TW" altLang="en-US" dirty="0"/>
              <a:t>正常要運行的程式碼</a:t>
            </a:r>
            <a:endParaRPr lang="en-US" altLang="zh-TW" dirty="0"/>
          </a:p>
          <a:p>
            <a:r>
              <a:rPr lang="en-US" altLang="zh-TW" dirty="0"/>
              <a:t>Catch</a:t>
            </a:r>
          </a:p>
          <a:p>
            <a:pPr lvl="1"/>
            <a:r>
              <a:rPr lang="zh-TW" altLang="en-US" dirty="0"/>
              <a:t>裡面撰寫當</a:t>
            </a:r>
            <a:r>
              <a:rPr lang="en-US" altLang="zh-TW" dirty="0"/>
              <a:t>”</a:t>
            </a:r>
            <a:r>
              <a:rPr lang="zh-TW" altLang="en-US" dirty="0"/>
              <a:t>接</a:t>
            </a:r>
            <a:r>
              <a:rPr lang="en-US" altLang="zh-TW" dirty="0"/>
              <a:t>”</a:t>
            </a:r>
            <a:r>
              <a:rPr lang="zh-TW" altLang="en-US" dirty="0"/>
              <a:t>到例外時，要做的處理</a:t>
            </a:r>
            <a:endParaRPr lang="en-US" altLang="zh-TW" dirty="0"/>
          </a:p>
          <a:p>
            <a:pPr lvl="1"/>
            <a:r>
              <a:rPr lang="zh-TW" altLang="en-US" dirty="0"/>
              <a:t>可允許多個</a:t>
            </a:r>
            <a:r>
              <a:rPr lang="en-US" altLang="zh-TW" dirty="0"/>
              <a:t>catch</a:t>
            </a:r>
          </a:p>
          <a:p>
            <a:pPr lvl="1"/>
            <a:r>
              <a:rPr lang="zh-TW" altLang="en-US" dirty="0"/>
              <a:t>也可使用通用</a:t>
            </a:r>
            <a:r>
              <a:rPr lang="en-US" altLang="zh-TW" dirty="0"/>
              <a:t>(</a:t>
            </a:r>
            <a:r>
              <a:rPr lang="zh-TW" altLang="en-US" dirty="0"/>
              <a:t>父輩</a:t>
            </a:r>
            <a:r>
              <a:rPr lang="en-US" altLang="zh-TW" dirty="0"/>
              <a:t>)</a:t>
            </a:r>
            <a:r>
              <a:rPr lang="zh-TW" altLang="en-US" dirty="0"/>
              <a:t>的</a:t>
            </a:r>
            <a:r>
              <a:rPr lang="en-US" altLang="zh-TW" dirty="0"/>
              <a:t>Exception</a:t>
            </a:r>
          </a:p>
          <a:p>
            <a:r>
              <a:rPr lang="en-US" altLang="zh-TW" dirty="0"/>
              <a:t>Finally</a:t>
            </a:r>
          </a:p>
          <a:p>
            <a:pPr lvl="1"/>
            <a:r>
              <a:rPr lang="zh-TW" altLang="en-US" dirty="0"/>
              <a:t>無論成功失敗，皆會植行的內容</a:t>
            </a:r>
            <a:endParaRPr lang="en-US" altLang="zh-TW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34200" y="4051381"/>
            <a:ext cx="4691063" cy="2806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throw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3200400" cy="4325112"/>
          </a:xfrm>
        </p:spPr>
        <p:txBody>
          <a:bodyPr/>
          <a:lstStyle/>
          <a:p>
            <a:r>
              <a:rPr lang="zh-TW" altLang="en-US" dirty="0"/>
              <a:t>當接</a:t>
            </a:r>
            <a:r>
              <a:rPr lang="en-US" altLang="zh-TW" dirty="0"/>
              <a:t>(catch)</a:t>
            </a:r>
            <a:r>
              <a:rPr lang="zh-TW" altLang="en-US" dirty="0"/>
              <a:t>到一個例外時，可以不處理而將它</a:t>
            </a:r>
            <a:endParaRPr lang="en-US" altLang="zh-TW" dirty="0"/>
          </a:p>
          <a:p>
            <a:pPr>
              <a:buNone/>
            </a:pPr>
            <a:r>
              <a:rPr lang="zh-TW" altLang="en-US" dirty="0"/>
              <a:t>  丟</a:t>
            </a:r>
            <a:r>
              <a:rPr lang="en-US" altLang="zh-TW" dirty="0"/>
              <a:t>(throw)</a:t>
            </a:r>
            <a:r>
              <a:rPr lang="zh-TW" altLang="en-US" dirty="0"/>
              <a:t>出去，此時會由其外部處理。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86200" y="1524000"/>
            <a:ext cx="5198522" cy="508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</a:t>
            </a:r>
            <a:r>
              <a:rPr lang="zh-TW" altLang="en-US" dirty="0"/>
              <a:t> </a:t>
            </a:r>
            <a:r>
              <a:rPr lang="en-US" altLang="zh-TW" dirty="0"/>
              <a:t>17</a:t>
            </a:r>
            <a:br>
              <a:rPr lang="en-US" altLang="zh-TW" dirty="0"/>
            </a:br>
            <a:r>
              <a:rPr lang="zh-TW" altLang="en-US" dirty="0"/>
              <a:t>泛型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課本第</a:t>
            </a:r>
            <a:r>
              <a:rPr lang="en-US" altLang="zh-TW" dirty="0"/>
              <a:t>21,22</a:t>
            </a:r>
            <a:r>
              <a:rPr lang="zh-TW" altLang="en-US" dirty="0"/>
              <a:t>章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en-US" altLang="zh-TW" dirty="0"/>
              <a:t>C#</a:t>
            </a:r>
            <a:r>
              <a:rPr lang="zh-TW" altLang="en-US" dirty="0"/>
              <a:t>程式設計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前言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“</a:t>
            </a:r>
            <a:r>
              <a:rPr lang="zh-TW" altLang="en-US" dirty="0"/>
              <a:t>交換</a:t>
            </a:r>
            <a:r>
              <a:rPr lang="en-US" altLang="zh-TW" dirty="0"/>
              <a:t>”</a:t>
            </a:r>
            <a:r>
              <a:rPr lang="zh-TW" altLang="en-US" dirty="0"/>
              <a:t>兩個值的方法</a:t>
            </a:r>
            <a:endParaRPr lang="en-US" altLang="zh-TW" dirty="0"/>
          </a:p>
          <a:p>
            <a:pPr lvl="1"/>
            <a:r>
              <a:rPr lang="zh-TW" altLang="en-US" dirty="0"/>
              <a:t>你需要為每一種型態撰寫一個方法</a:t>
            </a:r>
            <a:endParaRPr lang="en-US" altLang="zh-TW" dirty="0"/>
          </a:p>
          <a:p>
            <a:pPr lvl="1"/>
            <a:r>
              <a:rPr lang="zh-TW" altLang="en-US" dirty="0"/>
              <a:t>或是你可以讓他們</a:t>
            </a:r>
            <a:r>
              <a:rPr lang="en-US" altLang="zh-TW" dirty="0"/>
              <a:t>”</a:t>
            </a:r>
            <a:r>
              <a:rPr lang="zh-TW" altLang="en-US" dirty="0"/>
              <a:t>同名</a:t>
            </a:r>
            <a:r>
              <a:rPr lang="en-US" altLang="zh-TW" dirty="0"/>
              <a:t>”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3709785"/>
            <a:ext cx="5257800" cy="25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1A8D41-8485-47AB-973B-E54F167F3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泛型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F78348-6F93-41C7-9176-E81FC58BB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Generic </a:t>
            </a:r>
            <a:r>
              <a:rPr lang="zh-TW" altLang="en-US" dirty="0"/>
              <a:t>指的是通用</a:t>
            </a:r>
            <a:endParaRPr lang="en-US" altLang="zh-TW" dirty="0"/>
          </a:p>
          <a:p>
            <a:r>
              <a:rPr lang="zh-TW" altLang="en-US" dirty="0"/>
              <a:t>部分語言會用 </a:t>
            </a:r>
            <a:r>
              <a:rPr lang="en-US" altLang="zh-TW" dirty="0"/>
              <a:t>template</a:t>
            </a:r>
            <a:r>
              <a:rPr lang="zh-TW" altLang="en-US" dirty="0"/>
              <a:t>來稱呼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可以讓你的方法或類別使用在不同狀況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985400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泛型方法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在方法後利用</a:t>
            </a:r>
            <a:r>
              <a:rPr lang="en-US" altLang="zh-TW" dirty="0"/>
              <a:t>&lt;T&gt;</a:t>
            </a:r>
          </a:p>
          <a:p>
            <a:pPr lvl="1"/>
            <a:r>
              <a:rPr lang="zh-TW" altLang="en-US" dirty="0"/>
              <a:t>就可以做出泛型方法 </a:t>
            </a:r>
            <a:r>
              <a:rPr lang="en-US" altLang="zh-TW" dirty="0"/>
              <a:t>(</a:t>
            </a:r>
            <a:r>
              <a:rPr lang="zh-TW" altLang="en-US" dirty="0"/>
              <a:t>可以想成</a:t>
            </a:r>
            <a:r>
              <a:rPr lang="en-US" altLang="zh-TW" dirty="0"/>
              <a:t>”</a:t>
            </a:r>
            <a:r>
              <a:rPr lang="zh-TW" altLang="en-US" dirty="0"/>
              <a:t>通用</a:t>
            </a:r>
            <a:r>
              <a:rPr lang="en-US" altLang="zh-TW" dirty="0"/>
              <a:t>”</a:t>
            </a:r>
            <a:r>
              <a:rPr lang="zh-TW" altLang="en-US" dirty="0"/>
              <a:t>方法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其中</a:t>
            </a:r>
            <a:r>
              <a:rPr lang="en-US" altLang="zh-TW" dirty="0"/>
              <a:t>T</a:t>
            </a:r>
            <a:r>
              <a:rPr lang="zh-TW" altLang="en-US" dirty="0"/>
              <a:t>指的是</a:t>
            </a:r>
            <a:r>
              <a:rPr lang="en-US" altLang="zh-TW" dirty="0"/>
              <a:t>”</a:t>
            </a:r>
            <a:r>
              <a:rPr lang="zh-TW" altLang="en-US" dirty="0"/>
              <a:t>某一種</a:t>
            </a:r>
            <a:r>
              <a:rPr lang="en-US" altLang="zh-TW" dirty="0"/>
              <a:t>”</a:t>
            </a:r>
            <a:r>
              <a:rPr lang="zh-TW" altLang="en-US" dirty="0"/>
              <a:t>型態，被執行時才會被決定</a:t>
            </a:r>
            <a:endParaRPr lang="en-US" altLang="zh-TW" dirty="0"/>
          </a:p>
          <a:p>
            <a:pPr lvl="1"/>
            <a:r>
              <a:rPr lang="zh-TW" altLang="en-US" dirty="0"/>
              <a:t>允許多個型態，該名稱可自由取名，通常會使用</a:t>
            </a:r>
            <a:r>
              <a:rPr lang="en-US" altLang="zh-TW" dirty="0"/>
              <a:t>T1,T2,T3 </a:t>
            </a:r>
            <a:r>
              <a:rPr lang="zh-TW" altLang="en-US" dirty="0"/>
              <a:t>或 </a:t>
            </a:r>
            <a:r>
              <a:rPr lang="en-US" altLang="zh-TW" dirty="0"/>
              <a:t>T,U,V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4127782"/>
            <a:ext cx="4259263" cy="2446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泛型類別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也可以將類別轉為泛型</a:t>
            </a:r>
            <a:endParaRPr lang="en-US" altLang="zh-TW" dirty="0"/>
          </a:p>
          <a:p>
            <a:pPr lvl="1"/>
            <a:r>
              <a:rPr lang="zh-TW" altLang="en-US" dirty="0"/>
              <a:t>你可以在屬性、方法、欄位等使用</a:t>
            </a:r>
            <a:r>
              <a:rPr lang="en-US" altLang="zh-TW" dirty="0"/>
              <a:t>T</a:t>
            </a:r>
          </a:p>
          <a:p>
            <a:pPr lvl="1"/>
            <a:r>
              <a:rPr lang="zh-TW" altLang="en-US" dirty="0"/>
              <a:t>允許多個型態，該名稱可自由取名，通常會使用</a:t>
            </a:r>
            <a:r>
              <a:rPr lang="en-US" altLang="zh-TW" dirty="0"/>
              <a:t>T1,T2,T3 </a:t>
            </a:r>
            <a:r>
              <a:rPr lang="zh-TW" altLang="en-US" dirty="0"/>
              <a:t>或 </a:t>
            </a:r>
            <a:r>
              <a:rPr lang="en-US" altLang="zh-TW" dirty="0"/>
              <a:t>T,U,V</a:t>
            </a:r>
            <a:endParaRPr lang="zh-TW" altLang="en-US" dirty="0"/>
          </a:p>
          <a:p>
            <a:pPr lvl="1"/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4114800"/>
            <a:ext cx="38385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泛型類別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使用泛型類別時，必須在建立物件時，指定其型別，之後就不可混用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4419600"/>
            <a:ext cx="8763000" cy="1274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常用的泛型類別 </a:t>
            </a:r>
            <a:r>
              <a:rPr lang="en-US" altLang="zh-TW" dirty="0"/>
              <a:t>List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使用陣列時，要新增、刪除是很麻煩的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但使用</a:t>
            </a:r>
            <a:r>
              <a:rPr lang="en-US" altLang="zh-TW" dirty="0"/>
              <a:t>List</a:t>
            </a:r>
            <a:r>
              <a:rPr lang="zh-TW" altLang="en-US" dirty="0"/>
              <a:t>就很簡單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2776773"/>
            <a:ext cx="5307013" cy="2176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0" y="5791200"/>
            <a:ext cx="6297613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常用的泛型類別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Stack</a:t>
            </a:r>
          </a:p>
          <a:p>
            <a:r>
              <a:rPr lang="en-US" altLang="zh-TW" dirty="0"/>
              <a:t>Queue</a:t>
            </a:r>
          </a:p>
          <a:p>
            <a:r>
              <a:rPr lang="en-US" altLang="zh-TW" dirty="0" err="1"/>
              <a:t>LinkedList</a:t>
            </a:r>
            <a:endParaRPr lang="en-US" altLang="zh-TW" dirty="0"/>
          </a:p>
          <a:p>
            <a:r>
              <a:rPr lang="en-US" altLang="zh-TW" dirty="0" err="1"/>
              <a:t>HashSet</a:t>
            </a:r>
            <a:endParaRPr lang="en-US" altLang="zh-TW" dirty="0"/>
          </a:p>
          <a:p>
            <a:r>
              <a:rPr lang="en-US" altLang="zh-TW" dirty="0"/>
              <a:t>Dictionary</a:t>
            </a:r>
          </a:p>
          <a:p>
            <a:r>
              <a:rPr lang="en-US" altLang="zh-TW" dirty="0" err="1"/>
              <a:t>Tuple</a:t>
            </a:r>
            <a:endParaRPr lang="zh-TW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</a:t>
            </a:r>
            <a:r>
              <a:rPr lang="zh-TW" altLang="en-US" dirty="0"/>
              <a:t> </a:t>
            </a:r>
            <a:r>
              <a:rPr lang="en-US" altLang="zh-TW" dirty="0"/>
              <a:t>18</a:t>
            </a:r>
            <a:br>
              <a:rPr lang="en-US" altLang="zh-TW" dirty="0"/>
            </a:br>
            <a:r>
              <a:rPr lang="zh-TW" altLang="en-US" dirty="0"/>
              <a:t>委派與事件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課本第</a:t>
            </a:r>
            <a:r>
              <a:rPr lang="en-US" altLang="zh-TW" dirty="0"/>
              <a:t>26,27,28</a:t>
            </a:r>
            <a:r>
              <a:rPr lang="zh-TW" altLang="en-US" dirty="0"/>
              <a:t>章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en-US" altLang="zh-TW" dirty="0"/>
              <a:t>C#</a:t>
            </a:r>
            <a:r>
              <a:rPr lang="zh-TW" altLang="en-US" dirty="0"/>
              <a:t>程式設計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委派 </a:t>
            </a:r>
            <a:r>
              <a:rPr lang="en-US" altLang="zh-TW" dirty="0"/>
              <a:t>(delegate)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我們宣告的變數，它的型態通常是基本型態</a:t>
            </a:r>
            <a:r>
              <a:rPr lang="en-US" altLang="zh-TW" dirty="0"/>
              <a:t>(</a:t>
            </a:r>
            <a:r>
              <a:rPr lang="en-US" altLang="zh-TW" dirty="0" err="1"/>
              <a:t>int,float</a:t>
            </a:r>
            <a:r>
              <a:rPr lang="en-US" altLang="zh-TW" dirty="0"/>
              <a:t>..)</a:t>
            </a:r>
            <a:r>
              <a:rPr lang="zh-TW" altLang="en-US" dirty="0"/>
              <a:t>或是類別</a:t>
            </a:r>
            <a:r>
              <a:rPr lang="en-US" altLang="zh-TW" dirty="0"/>
              <a:t>(class)</a:t>
            </a:r>
          </a:p>
          <a:p>
            <a:endParaRPr lang="en-US" altLang="zh-TW" dirty="0"/>
          </a:p>
          <a:p>
            <a:r>
              <a:rPr lang="zh-TW" altLang="en-US" dirty="0"/>
              <a:t>但其實不只如此，程式語言中可以把</a:t>
            </a:r>
            <a:r>
              <a:rPr lang="en-US" altLang="zh-TW" dirty="0"/>
              <a:t>”</a:t>
            </a:r>
            <a:r>
              <a:rPr lang="zh-TW" altLang="en-US" dirty="0"/>
              <a:t>函式</a:t>
            </a:r>
            <a:r>
              <a:rPr lang="en-US" altLang="zh-TW" dirty="0"/>
              <a:t>/</a:t>
            </a:r>
            <a:r>
              <a:rPr lang="zh-TW" altLang="en-US" dirty="0"/>
              <a:t>方法</a:t>
            </a:r>
            <a:r>
              <a:rPr lang="en-US" altLang="zh-TW" dirty="0"/>
              <a:t>”</a:t>
            </a:r>
            <a:r>
              <a:rPr lang="zh-TW" altLang="en-US" dirty="0"/>
              <a:t>也儲存在變數中</a:t>
            </a:r>
            <a:endParaRPr lang="en-US" altLang="zh-TW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委派 </a:t>
            </a:r>
            <a:r>
              <a:rPr lang="en-US" altLang="zh-TW" dirty="0"/>
              <a:t>(delegate)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但如同使用變數一樣，我們要宣告變數正確的型態，而且之後該變數也只能儲存該型態的內容。</a:t>
            </a:r>
            <a:endParaRPr lang="en-US" altLang="zh-TW" dirty="0"/>
          </a:p>
          <a:p>
            <a:r>
              <a:rPr lang="zh-TW" altLang="en-US" dirty="0"/>
              <a:t>在這邊介紹的</a:t>
            </a:r>
            <a:r>
              <a:rPr lang="en-US" altLang="zh-TW" dirty="0"/>
              <a:t>”</a:t>
            </a:r>
            <a:r>
              <a:rPr lang="zh-TW" altLang="en-US" dirty="0"/>
              <a:t>委派 </a:t>
            </a:r>
            <a:r>
              <a:rPr lang="en-US" altLang="zh-TW" dirty="0"/>
              <a:t>/ </a:t>
            </a:r>
            <a:r>
              <a:rPr lang="zh-TW" altLang="en-US" dirty="0"/>
              <a:t>函式變數</a:t>
            </a:r>
            <a:r>
              <a:rPr lang="en-US" altLang="zh-TW" dirty="0"/>
              <a:t>”</a:t>
            </a:r>
            <a:r>
              <a:rPr lang="zh-TW" altLang="en-US" dirty="0"/>
              <a:t>也是一樣，我們只能儲存</a:t>
            </a:r>
            <a:r>
              <a:rPr lang="en-US" altLang="zh-TW" dirty="0"/>
              <a:t>”</a:t>
            </a:r>
            <a:r>
              <a:rPr lang="zh-TW" altLang="en-US" dirty="0"/>
              <a:t>相同種類</a:t>
            </a:r>
            <a:r>
              <a:rPr lang="en-US" altLang="zh-TW" dirty="0"/>
              <a:t>”</a:t>
            </a:r>
            <a:r>
              <a:rPr lang="zh-TW" altLang="en-US" dirty="0"/>
              <a:t>的函式。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sz="2400" dirty="0" err="1"/>
              <a:t>FuncA</a:t>
            </a:r>
            <a:r>
              <a:rPr lang="zh-TW" altLang="en-US" sz="2400" dirty="0"/>
              <a:t>與</a:t>
            </a:r>
            <a:r>
              <a:rPr lang="en-US" altLang="zh-TW" sz="2400" dirty="0" err="1"/>
              <a:t>FuncB</a:t>
            </a:r>
            <a:r>
              <a:rPr lang="zh-TW" altLang="en-US" sz="2400" dirty="0"/>
              <a:t>為</a:t>
            </a:r>
            <a:r>
              <a:rPr lang="en-US" altLang="zh-TW" sz="2400" dirty="0"/>
              <a:t>”</a:t>
            </a:r>
            <a:r>
              <a:rPr lang="zh-TW" altLang="en-US" sz="2400" dirty="0"/>
              <a:t>相同種類</a:t>
            </a:r>
            <a:r>
              <a:rPr lang="en-US" altLang="zh-TW" sz="2400" dirty="0"/>
              <a:t>”</a:t>
            </a:r>
          </a:p>
          <a:p>
            <a:endParaRPr lang="zh-TW" alt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76800" y="4051534"/>
            <a:ext cx="4267199" cy="2806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委派的宣告與使用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3962400" cy="4325112"/>
          </a:xfrm>
        </p:spPr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delegate</a:t>
            </a:r>
            <a:r>
              <a:rPr lang="zh-TW" altLang="en-US" dirty="0"/>
              <a:t>的方式，可以宣告函式的</a:t>
            </a:r>
            <a:r>
              <a:rPr lang="en-US" altLang="zh-TW" dirty="0"/>
              <a:t>”</a:t>
            </a:r>
            <a:r>
              <a:rPr lang="zh-TW" altLang="en-US" dirty="0"/>
              <a:t>種類</a:t>
            </a:r>
            <a:r>
              <a:rPr lang="en-US" altLang="zh-TW" dirty="0"/>
              <a:t>”</a:t>
            </a:r>
          </a:p>
          <a:p>
            <a:endParaRPr lang="en-US" altLang="zh-TW" dirty="0"/>
          </a:p>
          <a:p>
            <a:r>
              <a:rPr lang="zh-TW" altLang="en-US" dirty="0"/>
              <a:t>接著，我們可以像變數一樣改變值</a:t>
            </a:r>
            <a:endParaRPr lang="en-US" altLang="zh-TW" dirty="0"/>
          </a:p>
          <a:p>
            <a:r>
              <a:rPr lang="zh-TW" altLang="en-US" dirty="0"/>
              <a:t>或是像函式一樣使用它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3851072"/>
            <a:ext cx="4572000" cy="3006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2113469"/>
            <a:ext cx="4572000" cy="1572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多播委派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可以使用 </a:t>
            </a:r>
            <a:r>
              <a:rPr lang="en-US" altLang="zh-TW" dirty="0"/>
              <a:t>+=</a:t>
            </a:r>
            <a:r>
              <a:rPr lang="zh-TW" altLang="en-US" dirty="0"/>
              <a:t> 與 </a:t>
            </a:r>
            <a:r>
              <a:rPr lang="en-US" altLang="zh-TW" dirty="0"/>
              <a:t>-= </a:t>
            </a:r>
            <a:r>
              <a:rPr lang="zh-TW" altLang="en-US" dirty="0"/>
              <a:t>去對一個</a:t>
            </a:r>
            <a:r>
              <a:rPr lang="en-US" altLang="zh-TW" dirty="0"/>
              <a:t>”</a:t>
            </a:r>
            <a:r>
              <a:rPr lang="zh-TW" altLang="en-US" dirty="0"/>
              <a:t>委派</a:t>
            </a:r>
            <a:r>
              <a:rPr lang="en-US" altLang="zh-TW" dirty="0"/>
              <a:t>”</a:t>
            </a:r>
            <a:r>
              <a:rPr lang="zh-TW" altLang="en-US" dirty="0"/>
              <a:t>新增、減少其儲存的函式，當你呼叫該委派時，所有函式都會被執行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5600" y="3330353"/>
            <a:ext cx="5840413" cy="3299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委派的其他寫法</a:t>
            </a:r>
            <a:r>
              <a:rPr lang="en-US" altLang="zh-TW" dirty="0"/>
              <a:t>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由於委派宣告很麻煩，有一些內建的委派可使用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Func</a:t>
            </a:r>
            <a:r>
              <a:rPr lang="en-US" altLang="zh-TW" dirty="0"/>
              <a:t>&lt; T1,T2, …, </a:t>
            </a:r>
            <a:r>
              <a:rPr lang="en-US" altLang="zh-TW" dirty="0" err="1"/>
              <a:t>TResult</a:t>
            </a:r>
            <a:r>
              <a:rPr lang="en-US" altLang="zh-TW" dirty="0"/>
              <a:t>&gt;</a:t>
            </a:r>
          </a:p>
          <a:p>
            <a:pPr lvl="1"/>
            <a:r>
              <a:rPr lang="zh-TW" altLang="en-US"/>
              <a:t>最後一個為</a:t>
            </a:r>
            <a:r>
              <a:rPr lang="zh-TW" altLang="en-US" dirty="0"/>
              <a:t>回傳值，後面接受</a:t>
            </a:r>
            <a:r>
              <a:rPr lang="en-US" altLang="zh-TW" dirty="0"/>
              <a:t>0+</a:t>
            </a:r>
            <a:r>
              <a:rPr lang="zh-TW" altLang="en-US" dirty="0"/>
              <a:t>個輸入</a:t>
            </a:r>
            <a:endParaRPr lang="en-US" altLang="zh-TW" dirty="0"/>
          </a:p>
          <a:p>
            <a:r>
              <a:rPr lang="en-US" altLang="zh-TW" dirty="0"/>
              <a:t>Action&lt;T1,T2, ..&gt;</a:t>
            </a:r>
          </a:p>
          <a:p>
            <a:pPr lvl="1"/>
            <a:r>
              <a:rPr lang="zh-TW" altLang="en-US" dirty="0"/>
              <a:t>無回傳值，接受</a:t>
            </a:r>
            <a:r>
              <a:rPr lang="en-US" altLang="zh-TW" dirty="0"/>
              <a:t>0+</a:t>
            </a:r>
            <a:r>
              <a:rPr lang="zh-TW" altLang="en-US" dirty="0"/>
              <a:t>個輸入</a:t>
            </a:r>
            <a:endParaRPr lang="en-US" altLang="zh-TW" dirty="0"/>
          </a:p>
          <a:p>
            <a:r>
              <a:rPr lang="en-US" altLang="zh-TW" dirty="0"/>
              <a:t>Predicate&lt;T&gt;</a:t>
            </a:r>
          </a:p>
          <a:p>
            <a:pPr lvl="1"/>
            <a:r>
              <a:rPr lang="zh-TW" altLang="en-US" dirty="0"/>
              <a:t>回傳值為</a:t>
            </a:r>
            <a:r>
              <a:rPr lang="en-US" altLang="zh-TW" dirty="0" err="1"/>
              <a:t>bool</a:t>
            </a:r>
            <a:r>
              <a:rPr lang="zh-TW" altLang="en-US" dirty="0"/>
              <a:t>，接受恰好</a:t>
            </a:r>
            <a:r>
              <a:rPr lang="en-US" altLang="zh-TW" dirty="0"/>
              <a:t>1</a:t>
            </a:r>
            <a:r>
              <a:rPr lang="zh-TW" altLang="en-US" dirty="0"/>
              <a:t>個輸入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委派要用在哪邊？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當設計應用程式、遊戲等，通常都會有</a:t>
            </a:r>
            <a:r>
              <a:rPr lang="en-US" altLang="zh-TW" dirty="0"/>
              <a:t>UI</a:t>
            </a:r>
            <a:r>
              <a:rPr lang="zh-TW" altLang="en-US" dirty="0"/>
              <a:t>，而</a:t>
            </a:r>
            <a:r>
              <a:rPr lang="en-US" altLang="zh-TW" dirty="0"/>
              <a:t>UI</a:t>
            </a:r>
            <a:r>
              <a:rPr lang="zh-TW" altLang="en-US" dirty="0"/>
              <a:t>上會有按鈕等元件</a:t>
            </a:r>
            <a:endParaRPr lang="en-US" altLang="zh-TW" dirty="0"/>
          </a:p>
          <a:p>
            <a:r>
              <a:rPr lang="zh-TW" altLang="en-US" dirty="0"/>
              <a:t>而各種行為通常稱為</a:t>
            </a:r>
            <a:r>
              <a:rPr lang="zh-TW" altLang="en-US" b="1" dirty="0"/>
              <a:t>「事件</a:t>
            </a:r>
            <a:r>
              <a:rPr lang="en-US" altLang="zh-TW" dirty="0"/>
              <a:t>(event)</a:t>
            </a:r>
            <a:r>
              <a:rPr lang="zh-TW" altLang="en-US" b="1" dirty="0"/>
              <a:t>」</a:t>
            </a:r>
            <a:endParaRPr lang="en-US" altLang="zh-TW" b="1" dirty="0"/>
          </a:p>
          <a:p>
            <a:endParaRPr lang="en-US" altLang="zh-TW" dirty="0"/>
          </a:p>
          <a:p>
            <a:r>
              <a:rPr lang="en-US" altLang="zh-TW" dirty="0"/>
              <a:t>“</a:t>
            </a:r>
            <a:r>
              <a:rPr lang="zh-TW" altLang="en-US" dirty="0"/>
              <a:t>當按下按鈕時</a:t>
            </a:r>
            <a:r>
              <a:rPr lang="en-US" altLang="zh-TW" dirty="0"/>
              <a:t>”</a:t>
            </a:r>
            <a:r>
              <a:rPr lang="zh-TW" altLang="en-US" dirty="0"/>
              <a:t>，</a:t>
            </a:r>
            <a:r>
              <a:rPr lang="en-US" altLang="zh-TW" dirty="0"/>
              <a:t>”</a:t>
            </a:r>
            <a:r>
              <a:rPr lang="zh-TW" altLang="en-US" dirty="0"/>
              <a:t>當指標進入</a:t>
            </a:r>
            <a:r>
              <a:rPr lang="en-US" altLang="zh-TW" dirty="0"/>
              <a:t>(hover)</a:t>
            </a:r>
            <a:r>
              <a:rPr lang="zh-TW" altLang="en-US" dirty="0"/>
              <a:t>物件時</a:t>
            </a:r>
            <a:r>
              <a:rPr lang="en-US" altLang="zh-TW" dirty="0"/>
              <a:t>”</a:t>
            </a:r>
            <a:r>
              <a:rPr lang="zh-TW" altLang="en-US" dirty="0"/>
              <a:t>、</a:t>
            </a:r>
            <a:r>
              <a:rPr lang="en-US" altLang="zh-TW" dirty="0"/>
              <a:t>“</a:t>
            </a:r>
            <a:r>
              <a:rPr lang="zh-TW" altLang="en-US" dirty="0"/>
              <a:t>當指標離開物件時</a:t>
            </a:r>
            <a:r>
              <a:rPr lang="en-US" altLang="zh-TW" dirty="0"/>
              <a:t>”</a:t>
            </a:r>
            <a:r>
              <a:rPr lang="zh-TW" altLang="en-US" dirty="0"/>
              <a:t> 等等都可視為一個</a:t>
            </a:r>
            <a:r>
              <a:rPr lang="zh-TW" altLang="en-US" b="1" dirty="0"/>
              <a:t>「事件」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函式的額外寫法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在使用委派或其他狀況時，有時候函式只是一次性的，需要去撰寫一個完整的函式有時候太麻煩的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3213" y="4540177"/>
            <a:ext cx="5030787" cy="2317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使用委派撰寫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匿名函式 </a:t>
            </a:r>
            <a:r>
              <a:rPr lang="en-US" altLang="zh-TW" sz="2000" dirty="0"/>
              <a:t>(</a:t>
            </a:r>
            <a:r>
              <a:rPr lang="zh-TW" altLang="en-US" sz="2000" dirty="0"/>
              <a:t>沒名字的函式</a:t>
            </a:r>
            <a:r>
              <a:rPr lang="en-US" altLang="zh-TW" sz="2000" dirty="0"/>
              <a:t>)</a:t>
            </a:r>
            <a:endParaRPr lang="zh-TW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2800350"/>
            <a:ext cx="7031037" cy="15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13213" y="4540177"/>
            <a:ext cx="5030787" cy="2317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Lambda</a:t>
            </a:r>
            <a:r>
              <a:rPr lang="zh-TW" altLang="en-US" dirty="0"/>
              <a:t>表示式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(input-parameters) =&gt; { &lt;sequence-of-statements&gt; }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endParaRPr lang="en-US" sz="1200" dirty="0"/>
          </a:p>
          <a:p>
            <a:r>
              <a:rPr lang="en-US" sz="2400" dirty="0"/>
              <a:t>(input-parameters) =&gt; expression</a:t>
            </a:r>
            <a:endParaRPr lang="zh-TW" altLang="en-US" sz="24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3213" y="4540177"/>
            <a:ext cx="5030787" cy="2317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2743200"/>
            <a:ext cx="7297737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71600" y="3810000"/>
            <a:ext cx="6907213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總結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en-US" altLang="zh-TW" dirty="0"/>
              <a:t>C#</a:t>
            </a:r>
            <a:r>
              <a:rPr lang="zh-TW" altLang="en-US" dirty="0"/>
              <a:t>程式設計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教學部分</a:t>
            </a:r>
            <a:r>
              <a:rPr lang="en-US" altLang="zh-TW" dirty="0"/>
              <a:t>(</a:t>
            </a:r>
            <a:r>
              <a:rPr lang="zh-TW" altLang="en-US" dirty="0"/>
              <a:t>基礎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變數宣告</a:t>
            </a:r>
            <a:endParaRPr lang="en-US" altLang="zh-TW" dirty="0"/>
          </a:p>
          <a:p>
            <a:r>
              <a:rPr lang="zh-TW" altLang="en-US" dirty="0"/>
              <a:t>運算子</a:t>
            </a:r>
            <a:endParaRPr lang="en-US" altLang="zh-TW" dirty="0"/>
          </a:p>
          <a:p>
            <a:r>
              <a:rPr lang="zh-TW" altLang="en-US" dirty="0"/>
              <a:t>判斷 </a:t>
            </a:r>
            <a:r>
              <a:rPr lang="en-US" altLang="zh-TW" dirty="0"/>
              <a:t>(if, switch)</a:t>
            </a:r>
          </a:p>
          <a:p>
            <a:r>
              <a:rPr lang="zh-TW" altLang="en-US" dirty="0"/>
              <a:t>迴圈 </a:t>
            </a:r>
            <a:r>
              <a:rPr lang="en-US" altLang="zh-TW" dirty="0"/>
              <a:t>(for, while, do-while)</a:t>
            </a:r>
          </a:p>
          <a:p>
            <a:r>
              <a:rPr lang="zh-TW" altLang="en-US" dirty="0"/>
              <a:t>陣列 </a:t>
            </a:r>
            <a:r>
              <a:rPr lang="en-US" altLang="zh-TW" dirty="0"/>
              <a:t>(array)</a:t>
            </a:r>
          </a:p>
          <a:p>
            <a:r>
              <a:rPr lang="zh-TW" altLang="en-US" dirty="0"/>
              <a:t>函式 </a:t>
            </a:r>
            <a:r>
              <a:rPr lang="en-US" altLang="zh-TW" dirty="0"/>
              <a:t>(function/</a:t>
            </a:r>
            <a:r>
              <a:rPr lang="en-US" altLang="zh-TW"/>
              <a:t>method)</a:t>
            </a:r>
            <a:endParaRPr lang="en-US" altLang="zh-TW" dirty="0"/>
          </a:p>
          <a:p>
            <a:r>
              <a:rPr lang="zh-TW" altLang="en-US" dirty="0"/>
              <a:t>字串</a:t>
            </a:r>
            <a:r>
              <a:rPr lang="en-US" altLang="zh-TW" dirty="0"/>
              <a:t>(string)</a:t>
            </a:r>
          </a:p>
          <a:p>
            <a:r>
              <a:rPr lang="zh-TW" altLang="en-US" dirty="0"/>
              <a:t>列舉</a:t>
            </a:r>
            <a:r>
              <a:rPr lang="en-US" altLang="zh-TW" dirty="0"/>
              <a:t>(</a:t>
            </a:r>
            <a:r>
              <a:rPr lang="en-US" altLang="zh-TW" dirty="0" err="1"/>
              <a:t>enum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結構</a:t>
            </a:r>
            <a:r>
              <a:rPr lang="en-US" altLang="zh-TW" dirty="0"/>
              <a:t>(</a:t>
            </a:r>
            <a:r>
              <a:rPr lang="en-US" altLang="zh-TW" dirty="0" err="1"/>
              <a:t>struct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教學部分</a:t>
            </a:r>
            <a:r>
              <a:rPr lang="en-US" altLang="zh-TW" dirty="0"/>
              <a:t>(</a:t>
            </a:r>
            <a:r>
              <a:rPr lang="zh-TW" altLang="en-US" dirty="0"/>
              <a:t>物件導向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Class</a:t>
            </a:r>
            <a:r>
              <a:rPr lang="zh-TW" altLang="en-US" dirty="0"/>
              <a:t>建立、</a:t>
            </a:r>
            <a:r>
              <a:rPr lang="en-US" altLang="zh-TW" dirty="0"/>
              <a:t> object</a:t>
            </a:r>
            <a:r>
              <a:rPr lang="zh-TW" altLang="en-US" dirty="0"/>
              <a:t>建立</a:t>
            </a:r>
            <a:endParaRPr lang="en-US" altLang="zh-TW" dirty="0"/>
          </a:p>
          <a:p>
            <a:r>
              <a:rPr lang="zh-TW" altLang="en-US" dirty="0"/>
              <a:t>存取修飾子 </a:t>
            </a:r>
            <a:r>
              <a:rPr lang="en-US" altLang="zh-TW" dirty="0"/>
              <a:t>(public private protected)</a:t>
            </a:r>
          </a:p>
          <a:p>
            <a:r>
              <a:rPr lang="zh-TW" altLang="en-US" dirty="0"/>
              <a:t>封裝 </a:t>
            </a:r>
            <a:endParaRPr lang="en-US" altLang="zh-TW" dirty="0"/>
          </a:p>
          <a:p>
            <a:r>
              <a:rPr lang="zh-TW" altLang="en-US" dirty="0"/>
              <a:t>繼承</a:t>
            </a:r>
            <a:endParaRPr lang="en-US" altLang="zh-TW" dirty="0"/>
          </a:p>
          <a:p>
            <a:r>
              <a:rPr lang="zh-TW" altLang="en-US" dirty="0"/>
              <a:t>多型 </a:t>
            </a:r>
            <a:r>
              <a:rPr lang="en-US" altLang="zh-TW" dirty="0"/>
              <a:t>(virtual override)</a:t>
            </a:r>
          </a:p>
          <a:p>
            <a:r>
              <a:rPr lang="zh-TW" altLang="en-US" dirty="0"/>
              <a:t>抽象類別 </a:t>
            </a:r>
            <a:r>
              <a:rPr lang="en-US" altLang="zh-TW" dirty="0"/>
              <a:t>(abstract class)</a:t>
            </a:r>
          </a:p>
          <a:p>
            <a:r>
              <a:rPr lang="zh-TW" altLang="en-US" dirty="0"/>
              <a:t>介面 </a:t>
            </a:r>
            <a:r>
              <a:rPr lang="en-US" altLang="zh-TW" dirty="0"/>
              <a:t>(interface)</a:t>
            </a:r>
            <a:endParaRPr lang="zh-TW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教學部分</a:t>
            </a:r>
            <a:r>
              <a:rPr lang="en-US" altLang="zh-TW" dirty="0"/>
              <a:t>(</a:t>
            </a:r>
            <a:r>
              <a:rPr lang="zh-TW" altLang="en-US" dirty="0"/>
              <a:t>其他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static</a:t>
            </a:r>
          </a:p>
          <a:p>
            <a:r>
              <a:rPr lang="zh-TW" altLang="en-US" dirty="0"/>
              <a:t>例外處理 </a:t>
            </a:r>
            <a:r>
              <a:rPr lang="en-US" altLang="zh-TW" dirty="0"/>
              <a:t>(exception)</a:t>
            </a:r>
          </a:p>
          <a:p>
            <a:r>
              <a:rPr lang="zh-TW" altLang="en-US" dirty="0">
                <a:solidFill>
                  <a:srgbClr val="FF0000"/>
                </a:solidFill>
              </a:rPr>
              <a:t>二進位相關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>
                <a:solidFill>
                  <a:srgbClr val="FF0000"/>
                </a:solidFill>
              </a:rPr>
              <a:t>檔案處理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/>
              <a:t>泛型 </a:t>
            </a:r>
            <a:r>
              <a:rPr lang="en-US" altLang="zh-TW" dirty="0"/>
              <a:t>(generics / template)</a:t>
            </a:r>
          </a:p>
          <a:p>
            <a:r>
              <a:rPr lang="zh-TW" altLang="en-US" dirty="0"/>
              <a:t>泛型集合 </a:t>
            </a:r>
            <a:r>
              <a:rPr lang="en-US" altLang="zh-TW" dirty="0"/>
              <a:t>(</a:t>
            </a:r>
            <a:r>
              <a:rPr lang="en-US" altLang="zh-TW" dirty="0" err="1"/>
              <a:t>List,Stack,Queue,Dictionary</a:t>
            </a:r>
            <a:r>
              <a:rPr lang="en-US" altLang="zh-TW" dirty="0"/>
              <a:t>..)</a:t>
            </a:r>
          </a:p>
          <a:p>
            <a:r>
              <a:rPr lang="zh-TW" altLang="en-US" dirty="0"/>
              <a:t>委派、事件、</a:t>
            </a:r>
            <a:r>
              <a:rPr lang="en-US" altLang="zh-TW" dirty="0" err="1"/>
              <a:t>Lamda</a:t>
            </a:r>
            <a:r>
              <a:rPr lang="zh-TW" altLang="en-US" dirty="0"/>
              <a:t>表達式</a:t>
            </a:r>
            <a:endParaRPr lang="en-US" altLang="zh-TW" dirty="0"/>
          </a:p>
          <a:p>
            <a:r>
              <a:rPr lang="zh-TW" altLang="en-US" dirty="0">
                <a:solidFill>
                  <a:srgbClr val="FF0000"/>
                </a:solidFill>
              </a:rPr>
              <a:t>正規表達式 </a:t>
            </a:r>
            <a:r>
              <a:rPr lang="en-US" altLang="zh-TW" dirty="0">
                <a:solidFill>
                  <a:srgbClr val="FF0000"/>
                </a:solidFill>
              </a:rPr>
              <a:t>(Regular expression)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LINQ</a:t>
            </a:r>
            <a:endParaRPr lang="zh-TW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EB6AAF-A9AA-6044-B0AF-93F3AB8DE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未來內容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E3EE3E-D56C-A4AA-6B56-130653B5C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資料結構與演算法</a:t>
            </a:r>
            <a:endParaRPr lang="en-US" altLang="zh-TW" dirty="0"/>
          </a:p>
          <a:p>
            <a:pPr lvl="1"/>
            <a:r>
              <a:rPr lang="en-US" altLang="zh-TW" dirty="0" err="1"/>
              <a:t>LeetCode</a:t>
            </a:r>
            <a:endParaRPr lang="en-US" altLang="zh-TW" dirty="0"/>
          </a:p>
          <a:p>
            <a:r>
              <a:rPr lang="zh-TW" altLang="en-US" dirty="0"/>
              <a:t>軟體工程</a:t>
            </a:r>
            <a:endParaRPr lang="en-US" altLang="zh-TW" dirty="0"/>
          </a:p>
          <a:p>
            <a:pPr lvl="1"/>
            <a:r>
              <a:rPr lang="zh-TW" altLang="en-US" dirty="0"/>
              <a:t>系統分析</a:t>
            </a:r>
            <a:endParaRPr lang="en-US" altLang="zh-TW" dirty="0"/>
          </a:p>
          <a:p>
            <a:pPr lvl="1"/>
            <a:r>
              <a:rPr lang="zh-TW" altLang="en-US" dirty="0"/>
              <a:t>設計模式</a:t>
            </a:r>
            <a:endParaRPr lang="en-US" altLang="zh-TW" dirty="0"/>
          </a:p>
          <a:p>
            <a:r>
              <a:rPr lang="en-US" altLang="zh-TW" dirty="0"/>
              <a:t>C#</a:t>
            </a:r>
            <a:r>
              <a:rPr lang="zh-TW" altLang="en-US" dirty="0"/>
              <a:t>運用</a:t>
            </a:r>
            <a:endParaRPr lang="en-US" altLang="zh-TW" dirty="0"/>
          </a:p>
          <a:p>
            <a:pPr lvl="1"/>
            <a:r>
              <a:rPr lang="en-US" altLang="zh-TW" dirty="0"/>
              <a:t>Windows Form</a:t>
            </a:r>
          </a:p>
          <a:p>
            <a:pPr lvl="1"/>
            <a:r>
              <a:rPr lang="zh-TW" altLang="en-US" dirty="0"/>
              <a:t>網頁 </a:t>
            </a:r>
            <a:r>
              <a:rPr lang="en-US" altLang="zh-TW" dirty="0" err="1"/>
              <a:t>ASP.Net</a:t>
            </a:r>
            <a:endParaRPr lang="en-US" altLang="zh-TW" dirty="0"/>
          </a:p>
          <a:p>
            <a:pPr lvl="1"/>
            <a:r>
              <a:rPr lang="en-US" altLang="zh-TW" dirty="0"/>
              <a:t>Unity</a:t>
            </a:r>
          </a:p>
        </p:txBody>
      </p:sp>
    </p:spTree>
    <p:extLst>
      <p:ext uri="{BB962C8B-B14F-4D97-AF65-F5344CB8AC3E}">
        <p14:creationId xmlns:p14="http://schemas.microsoft.com/office/powerpoint/2010/main" val="14072897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分數調整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b="1" dirty="0"/>
              <a:t>最後總分為 </a:t>
            </a:r>
            <a:r>
              <a:rPr lang="en-US" altLang="zh-TW" b="1" dirty="0"/>
              <a:t>[</a:t>
            </a:r>
            <a:r>
              <a:rPr lang="zh-TW" altLang="en-US" b="1" dirty="0"/>
              <a:t>期中考</a:t>
            </a:r>
            <a:r>
              <a:rPr lang="en-US" altLang="zh-TW" b="1" dirty="0"/>
              <a:t>]</a:t>
            </a:r>
            <a:r>
              <a:rPr lang="zh-TW" altLang="en-US" b="1" dirty="0"/>
              <a:t> </a:t>
            </a:r>
            <a:r>
              <a:rPr lang="en-US" altLang="zh-TW" b="1" dirty="0"/>
              <a:t>+</a:t>
            </a:r>
            <a:r>
              <a:rPr lang="zh-TW" altLang="en-US" b="1" dirty="0"/>
              <a:t> </a:t>
            </a:r>
            <a:r>
              <a:rPr lang="en-US" altLang="zh-TW" b="1" dirty="0"/>
              <a:t>[</a:t>
            </a:r>
            <a:r>
              <a:rPr lang="zh-TW" altLang="en-US" b="1" dirty="0"/>
              <a:t>作業</a:t>
            </a:r>
            <a:r>
              <a:rPr lang="en-US" altLang="zh-TW" b="1" dirty="0"/>
              <a:t>x2]</a:t>
            </a:r>
          </a:p>
          <a:p>
            <a:endParaRPr lang="en-US" altLang="zh-TW" dirty="0"/>
          </a:p>
          <a:p>
            <a:r>
              <a:rPr lang="zh-TW" altLang="en-US" dirty="0"/>
              <a:t>期中考低於</a:t>
            </a:r>
            <a:r>
              <a:rPr lang="en-US" altLang="zh-TW" dirty="0"/>
              <a:t>70</a:t>
            </a:r>
            <a:r>
              <a:rPr lang="zh-TW" altLang="en-US" dirty="0"/>
              <a:t>分者拉高至</a:t>
            </a:r>
            <a:r>
              <a:rPr lang="en-US" altLang="zh-TW" dirty="0"/>
              <a:t>70</a:t>
            </a:r>
            <a:r>
              <a:rPr lang="zh-TW" altLang="en-US" dirty="0"/>
              <a:t>分。</a:t>
            </a:r>
            <a:endParaRPr lang="en-US" altLang="zh-TW" dirty="0"/>
          </a:p>
          <a:p>
            <a:r>
              <a:rPr lang="zh-TW" altLang="en-US" dirty="0"/>
              <a:t>等比縮放</a:t>
            </a:r>
            <a:r>
              <a:rPr lang="en-US" altLang="zh-TW" dirty="0"/>
              <a:t> 70~100 =&gt;</a:t>
            </a:r>
            <a:r>
              <a:rPr lang="zh-TW" altLang="en-US" dirty="0"/>
              <a:t> </a:t>
            </a:r>
            <a:r>
              <a:rPr lang="en-US" altLang="zh-TW" dirty="0"/>
              <a:t>70~88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未考期中考者，可以作業形式補繳</a:t>
            </a:r>
            <a:r>
              <a:rPr lang="en-US" altLang="zh-TW" dirty="0"/>
              <a:t>(6/16)</a:t>
            </a:r>
            <a:r>
              <a:rPr lang="zh-TW" altLang="en-US" dirty="0"/>
              <a:t>，考卷分數必須至少為</a:t>
            </a:r>
            <a:r>
              <a:rPr lang="en-US" altLang="zh-TW" dirty="0"/>
              <a:t>80</a:t>
            </a:r>
            <a:r>
              <a:rPr lang="zh-TW" altLang="en-US" dirty="0"/>
              <a:t>分以上，則期中考成績以</a:t>
            </a:r>
            <a:r>
              <a:rPr lang="en-US" altLang="zh-TW" dirty="0"/>
              <a:t>60</a:t>
            </a:r>
            <a:r>
              <a:rPr lang="zh-TW" altLang="en-US" dirty="0"/>
              <a:t>分計算。</a:t>
            </a:r>
            <a:endParaRPr lang="en-US" altLang="zh-TW" dirty="0"/>
          </a:p>
          <a:p>
            <a:pPr>
              <a:buNone/>
            </a:pPr>
            <a:endParaRPr lang="en-US" altLang="zh-TW" dirty="0"/>
          </a:p>
          <a:p>
            <a:r>
              <a:rPr lang="zh-TW" altLang="en-US" b="1" dirty="0"/>
              <a:t>無期末考</a:t>
            </a:r>
            <a:endParaRPr lang="en-US" altLang="zh-TW" b="1" dirty="0"/>
          </a:p>
          <a:p>
            <a:r>
              <a:rPr lang="zh-TW" altLang="en-US" dirty="0"/>
              <a:t>兩次作業，每答對一題增加學期</a:t>
            </a:r>
            <a:r>
              <a:rPr lang="en-US" altLang="zh-TW" dirty="0"/>
              <a:t>5</a:t>
            </a:r>
            <a:r>
              <a:rPr lang="zh-TW" altLang="en-US" dirty="0"/>
              <a:t>分。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1350</TotalTime>
  <Words>1206</Words>
  <Application>Microsoft Office PowerPoint</Application>
  <PresentationFormat>如螢幕大小 (4:3)</PresentationFormat>
  <Paragraphs>197</Paragraphs>
  <Slides>34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39" baseType="lpstr">
      <vt:lpstr>微軟正黑體</vt:lpstr>
      <vt:lpstr>Arial</vt:lpstr>
      <vt:lpstr>Georgia</vt:lpstr>
      <vt:lpstr>Wingdings 2</vt:lpstr>
      <vt:lpstr>都會</vt:lpstr>
      <vt:lpstr>Lesson 15 靜態(static)</vt:lpstr>
      <vt:lpstr>靜態屬性</vt:lpstr>
      <vt:lpstr>靜態欄位與方法</vt:lpstr>
      <vt:lpstr>靜態類別</vt:lpstr>
      <vt:lpstr>Const屬性</vt:lpstr>
      <vt:lpstr>Lesson 16 例外處理</vt:lpstr>
      <vt:lpstr>例外 (Exception)</vt:lpstr>
      <vt:lpstr>try-catch-finally</vt:lpstr>
      <vt:lpstr>try-catch-finally</vt:lpstr>
      <vt:lpstr>throw</vt:lpstr>
      <vt:lpstr>Lesson 17 泛型</vt:lpstr>
      <vt:lpstr>前言</vt:lpstr>
      <vt:lpstr>泛型</vt:lpstr>
      <vt:lpstr>泛型方法</vt:lpstr>
      <vt:lpstr>泛型類別</vt:lpstr>
      <vt:lpstr>泛型類別</vt:lpstr>
      <vt:lpstr>常用的泛型類別 List</vt:lpstr>
      <vt:lpstr>常用的泛型類別</vt:lpstr>
      <vt:lpstr>Lesson 18 委派與事件</vt:lpstr>
      <vt:lpstr>委派 (delegate)</vt:lpstr>
      <vt:lpstr>委派 (delegate)</vt:lpstr>
      <vt:lpstr>委派的宣告與使用</vt:lpstr>
      <vt:lpstr>多播委派</vt:lpstr>
      <vt:lpstr>委派的其他寫法(1)</vt:lpstr>
      <vt:lpstr>委派要用在哪邊？</vt:lpstr>
      <vt:lpstr>函式的額外寫法</vt:lpstr>
      <vt:lpstr>使用委派撰寫</vt:lpstr>
      <vt:lpstr>使用Lambda表示式</vt:lpstr>
      <vt:lpstr>總結</vt:lpstr>
      <vt:lpstr>教學部分(基礎)</vt:lpstr>
      <vt:lpstr>教學部分(物件導向)</vt:lpstr>
      <vt:lpstr>教學部分(其他)</vt:lpstr>
      <vt:lpstr>未來內容</vt:lpstr>
      <vt:lpstr>分數調整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164</cp:revision>
  <dcterms:created xsi:type="dcterms:W3CDTF">2024-11-18T05:57:07Z</dcterms:created>
  <dcterms:modified xsi:type="dcterms:W3CDTF">2025-06-09T02:57:04Z</dcterms:modified>
</cp:coreProperties>
</file>