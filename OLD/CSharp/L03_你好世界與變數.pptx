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82" r:id="rId3"/>
    <p:sldId id="267" r:id="rId4"/>
    <p:sldId id="268" r:id="rId5"/>
    <p:sldId id="278" r:id="rId6"/>
    <p:sldId id="283" r:id="rId7"/>
    <p:sldId id="269" r:id="rId8"/>
    <p:sldId id="270" r:id="rId9"/>
    <p:sldId id="271" r:id="rId10"/>
    <p:sldId id="280" r:id="rId11"/>
    <p:sldId id="272" r:id="rId12"/>
    <p:sldId id="274" r:id="rId13"/>
    <p:sldId id="273" r:id="rId14"/>
    <p:sldId id="275" r:id="rId15"/>
    <p:sldId id="276" r:id="rId16"/>
    <p:sldId id="277" r:id="rId17"/>
    <p:sldId id="279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/>
              <a:t>3</a:t>
            </a:r>
            <a:br>
              <a:rPr lang="en-US" altLang="zh-TW" dirty="0"/>
            </a:br>
            <a:r>
              <a:rPr lang="zh-TW" altLang="en-US" dirty="0"/>
              <a:t>你好世界 </a:t>
            </a:r>
            <a:r>
              <a:rPr lang="en-US" altLang="zh-TW" dirty="0"/>
              <a:t>&amp;</a:t>
            </a:r>
            <a:r>
              <a:rPr lang="zh-TW" altLang="en-US" dirty="0"/>
              <a:t> 變數宣告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3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開啟專案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主控台應用程式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其他</a:t>
            </a:r>
            <a:endParaRPr lang="en-US" altLang="zh-TW" dirty="0"/>
          </a:p>
          <a:p>
            <a:pPr lvl="1"/>
            <a:r>
              <a:rPr lang="en-US" altLang="zh-TW" dirty="0"/>
              <a:t>Windows Form</a:t>
            </a:r>
            <a:r>
              <a:rPr lang="zh-TW" altLang="en-US" dirty="0"/>
              <a:t> </a:t>
            </a:r>
            <a:r>
              <a:rPr lang="en-US" altLang="zh-TW" dirty="0"/>
              <a:t>/ WPF</a:t>
            </a:r>
          </a:p>
          <a:p>
            <a:pPr lvl="1"/>
            <a:r>
              <a:rPr lang="en-US" altLang="zh-TW" dirty="0"/>
              <a:t>ASP.NET / Aspire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786058"/>
            <a:ext cx="6259513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第一個程式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“Hello, World!”</a:t>
            </a:r>
          </a:p>
          <a:p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r>
              <a:rPr lang="zh-TW" altLang="en-US" dirty="0"/>
              <a:t>另一種課本內的寫法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87" y="2928934"/>
            <a:ext cx="911701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4591073"/>
            <a:ext cx="7450137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執行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2285992"/>
            <a:ext cx="8229600" cy="4325112"/>
          </a:xfrm>
        </p:spPr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如何執行</a:t>
            </a:r>
            <a:endParaRPr lang="en-US" altLang="zh-TW" dirty="0"/>
          </a:p>
          <a:p>
            <a:pPr lvl="1"/>
            <a:r>
              <a:rPr lang="zh-TW" altLang="en-US" dirty="0"/>
              <a:t>檢視</a:t>
            </a:r>
            <a:r>
              <a:rPr lang="en-US" altLang="zh-TW" dirty="0"/>
              <a:t>&gt;</a:t>
            </a:r>
            <a:r>
              <a:rPr lang="zh-TW" altLang="en-US" dirty="0"/>
              <a:t>工具列</a:t>
            </a:r>
            <a:r>
              <a:rPr lang="en-US" altLang="zh-TW" dirty="0"/>
              <a:t>&gt;</a:t>
            </a:r>
            <a:r>
              <a:rPr lang="zh-TW" altLang="en-US" dirty="0"/>
              <a:t>標準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輸出視窗</a:t>
            </a:r>
            <a:endParaRPr lang="en-US" altLang="zh-TW" dirty="0"/>
          </a:p>
          <a:p>
            <a:pPr lvl="1"/>
            <a:r>
              <a:rPr lang="zh-TW" altLang="en-US" dirty="0"/>
              <a:t>輸出結果：</a:t>
            </a:r>
            <a:r>
              <a:rPr lang="en-US" altLang="zh-TW" dirty="0"/>
              <a:t>Hello, World!</a:t>
            </a:r>
          </a:p>
          <a:p>
            <a:pPr lvl="1"/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3786190"/>
            <a:ext cx="469582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143116"/>
            <a:ext cx="911701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Hello World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143248"/>
            <a:ext cx="8229600" cy="3431288"/>
          </a:xfrm>
        </p:spPr>
        <p:txBody>
          <a:bodyPr/>
          <a:lstStyle/>
          <a:p>
            <a:r>
              <a:rPr lang="zh-TW" altLang="en-US" dirty="0"/>
              <a:t>註解</a:t>
            </a:r>
            <a:endParaRPr lang="en-US" altLang="zh-TW" dirty="0"/>
          </a:p>
          <a:p>
            <a:pPr lvl="1"/>
            <a:r>
              <a:rPr lang="zh-TW" altLang="en-US" dirty="0"/>
              <a:t>單行註解  </a:t>
            </a:r>
            <a:r>
              <a:rPr lang="en-US" altLang="zh-TW" dirty="0"/>
              <a:t>//</a:t>
            </a:r>
          </a:p>
          <a:p>
            <a:pPr lvl="1"/>
            <a:r>
              <a:rPr lang="zh-TW" altLang="en-US" dirty="0"/>
              <a:t>多行註解  </a:t>
            </a:r>
            <a:r>
              <a:rPr lang="en-US" altLang="zh-TW" dirty="0"/>
              <a:t>/*  */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輸出字串</a:t>
            </a:r>
            <a:endParaRPr lang="en-US" altLang="zh-TW" dirty="0"/>
          </a:p>
          <a:p>
            <a:pPr lvl="1"/>
            <a:r>
              <a:rPr lang="en-US" altLang="zh-TW" dirty="0" err="1"/>
              <a:t>Console.WriteLine</a:t>
            </a:r>
            <a:r>
              <a:rPr lang="en-US" altLang="zh-TW" dirty="0"/>
              <a:t>(“</a:t>
            </a:r>
            <a:r>
              <a:rPr lang="zh-TW" altLang="en-US" dirty="0"/>
              <a:t>一段文字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”</a:t>
            </a:r>
            <a:r>
              <a:rPr lang="zh-TW" altLang="en-US" dirty="0"/>
              <a:t> 另一段文字</a:t>
            </a:r>
            <a:r>
              <a:rPr lang="en-US" altLang="zh-TW" dirty="0"/>
              <a:t>”);</a:t>
            </a:r>
          </a:p>
          <a:p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87" y="2357430"/>
            <a:ext cx="911701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0B9277-1AC1-BBDE-C2C5-DFE3ED68B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其他常用符號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B55FDD-F6CE-B44B-0162-AC23D8DEE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括號 </a:t>
            </a:r>
            <a:r>
              <a:rPr lang="en-US" altLang="zh-TW" dirty="0"/>
              <a:t>/</a:t>
            </a:r>
            <a:r>
              <a:rPr lang="zh-TW" altLang="en-US" dirty="0"/>
              <a:t> 括弧 </a:t>
            </a:r>
            <a:r>
              <a:rPr lang="en-US" altLang="zh-TW" dirty="0"/>
              <a:t>(brackets</a:t>
            </a:r>
            <a:r>
              <a:rPr lang="zh-TW" altLang="en-US" dirty="0"/>
              <a:t> </a:t>
            </a:r>
            <a:r>
              <a:rPr lang="en-US" altLang="zh-TW" dirty="0"/>
              <a:t>/ parentheses)</a:t>
            </a:r>
          </a:p>
          <a:p>
            <a:pPr lvl="1"/>
            <a:r>
              <a:rPr lang="en-US" altLang="zh-TW" dirty="0"/>
              <a:t>{ } </a:t>
            </a:r>
            <a:r>
              <a:rPr lang="zh-TW" altLang="en-US" dirty="0"/>
              <a:t> 大括號 </a:t>
            </a:r>
            <a:r>
              <a:rPr lang="en-US" altLang="zh-TW" dirty="0"/>
              <a:t> curly brackets</a:t>
            </a:r>
          </a:p>
          <a:p>
            <a:pPr lvl="1"/>
            <a:r>
              <a:rPr lang="en-US" altLang="zh-TW" dirty="0"/>
              <a:t>[ ]  </a:t>
            </a:r>
            <a:r>
              <a:rPr lang="zh-TW" altLang="en-US" dirty="0"/>
              <a:t>中括號  </a:t>
            </a:r>
            <a:r>
              <a:rPr lang="en-US" altLang="zh-TW" dirty="0"/>
              <a:t>square brackets</a:t>
            </a:r>
          </a:p>
          <a:p>
            <a:pPr lvl="1"/>
            <a:r>
              <a:rPr lang="en-US" altLang="zh-TW" dirty="0"/>
              <a:t>( ) </a:t>
            </a:r>
            <a:r>
              <a:rPr lang="zh-TW" altLang="en-US" dirty="0"/>
              <a:t> 小括號  </a:t>
            </a:r>
            <a:r>
              <a:rPr lang="en-US" altLang="zh-TW" dirty="0"/>
              <a:t>round brackets</a:t>
            </a:r>
          </a:p>
          <a:p>
            <a:pPr lvl="1"/>
            <a:r>
              <a:rPr lang="zh-TW" altLang="en-US" dirty="0"/>
              <a:t>用途不一</a:t>
            </a:r>
            <a:endParaRPr lang="en-US" altLang="zh-TW" dirty="0"/>
          </a:p>
          <a:p>
            <a:r>
              <a:rPr lang="zh-TW" altLang="en-US" dirty="0"/>
              <a:t>引號 </a:t>
            </a:r>
            <a:r>
              <a:rPr lang="en-US" altLang="zh-TW" dirty="0"/>
              <a:t>(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quotation mark)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202122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 </a:t>
            </a:r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TW" altLang="en-US" dirty="0"/>
              <a:t>雙引號  </a:t>
            </a:r>
            <a:r>
              <a:rPr lang="en-US" altLang="zh-TW" dirty="0"/>
              <a:t>double </a:t>
            </a:r>
            <a:r>
              <a:rPr lang="en-US" altLang="zh-TW" dirty="0" err="1"/>
              <a:t>quotaion</a:t>
            </a:r>
            <a:r>
              <a:rPr lang="en-US" altLang="zh-TW" dirty="0"/>
              <a:t> mark</a:t>
            </a:r>
          </a:p>
          <a:p>
            <a:pPr lvl="1"/>
            <a:r>
              <a:rPr lang="zh-TW" altLang="en-US" dirty="0"/>
              <a:t>       雙引號  </a:t>
            </a:r>
            <a:r>
              <a:rPr lang="en-US" altLang="zh-TW" dirty="0"/>
              <a:t>double </a:t>
            </a:r>
            <a:r>
              <a:rPr lang="en-US" altLang="zh-TW" dirty="0" err="1"/>
              <a:t>quotaion</a:t>
            </a:r>
            <a:r>
              <a:rPr lang="en-US" altLang="zh-TW" dirty="0"/>
              <a:t> mark</a:t>
            </a:r>
          </a:p>
          <a:p>
            <a:pPr lvl="1"/>
            <a:r>
              <a:rPr lang="zh-TW" altLang="en-US" dirty="0"/>
              <a:t>通常與文字有關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99265B2-1CA6-7713-B1C2-39F121637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4941168"/>
            <a:ext cx="474932" cy="40543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591AEAA-7BCF-A3DC-7281-BBEA0CDF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5414152"/>
            <a:ext cx="474932" cy="38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0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第一行程式碼：變數宣告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000372"/>
            <a:ext cx="8229600" cy="3574164"/>
          </a:xfrm>
        </p:spPr>
        <p:txBody>
          <a:bodyPr/>
          <a:lstStyle/>
          <a:p>
            <a:r>
              <a:rPr lang="zh-TW" altLang="en-US" dirty="0"/>
              <a:t>變數型態：</a:t>
            </a:r>
            <a:r>
              <a:rPr lang="en-US" altLang="zh-TW" dirty="0" err="1"/>
              <a:t>int</a:t>
            </a:r>
            <a:r>
              <a:rPr lang="zh-TW" altLang="en-US" dirty="0"/>
              <a:t>          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(Integer 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整數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r>
              <a:rPr lang="zh-TW" altLang="en-US" dirty="0"/>
              <a:t>變數名稱：</a:t>
            </a:r>
            <a:r>
              <a:rPr lang="en-US" altLang="zh-TW" dirty="0" err="1"/>
              <a:t>myInt</a:t>
            </a:r>
            <a:endParaRPr lang="en-US" altLang="zh-TW" dirty="0"/>
          </a:p>
          <a:p>
            <a:r>
              <a:rPr lang="zh-TW" altLang="en-US" dirty="0"/>
              <a:t>指定運算子：等號 </a:t>
            </a:r>
            <a:r>
              <a:rPr lang="en-US" altLang="zh-TW" dirty="0"/>
              <a:t>=</a:t>
            </a:r>
          </a:p>
          <a:p>
            <a:r>
              <a:rPr lang="zh-TW" altLang="en-US" dirty="0"/>
              <a:t>初始值：</a:t>
            </a:r>
            <a:r>
              <a:rPr lang="en-US" altLang="zh-TW" dirty="0"/>
              <a:t>123</a:t>
            </a:r>
          </a:p>
          <a:p>
            <a:r>
              <a:rPr lang="zh-TW" altLang="en-US" dirty="0"/>
              <a:t>句子結束：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;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分號 </a:t>
            </a:r>
            <a:r>
              <a:rPr lang="en-US" altLang="zh-TW" dirty="0"/>
              <a:t>(Semicolon)</a:t>
            </a:r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285992"/>
            <a:ext cx="3143272" cy="609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內建類型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整數 </a:t>
            </a:r>
            <a:r>
              <a:rPr lang="en-US" altLang="zh-TW" dirty="0" err="1"/>
              <a:t>int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zh-TW" altLang="en-US" dirty="0"/>
              <a:t>單精度</a:t>
            </a:r>
            <a:r>
              <a:rPr lang="en-US" altLang="zh-TW" dirty="0"/>
              <a:t>)</a:t>
            </a:r>
            <a:r>
              <a:rPr lang="zh-TW" altLang="en-US" dirty="0"/>
              <a:t>浮點數 </a:t>
            </a:r>
            <a:r>
              <a:rPr lang="en-US" altLang="zh-TW" dirty="0"/>
              <a:t>float</a:t>
            </a:r>
          </a:p>
          <a:p>
            <a:pPr lvl="1"/>
            <a:r>
              <a:rPr lang="en-US" altLang="zh-TW" dirty="0"/>
              <a:t>float </a:t>
            </a:r>
            <a:r>
              <a:rPr lang="en-US" altLang="zh-TW" dirty="0" err="1"/>
              <a:t>myFloat</a:t>
            </a:r>
            <a:r>
              <a:rPr lang="en-US" altLang="zh-TW" dirty="0"/>
              <a:t> = 3.5f;</a:t>
            </a:r>
          </a:p>
          <a:p>
            <a:r>
              <a:rPr lang="zh-TW" altLang="en-US" dirty="0"/>
              <a:t>字元</a:t>
            </a:r>
            <a:r>
              <a:rPr lang="en-US" altLang="zh-TW" dirty="0"/>
              <a:t> char</a:t>
            </a:r>
          </a:p>
          <a:p>
            <a:r>
              <a:rPr lang="zh-TW" altLang="en-US" dirty="0"/>
              <a:t>布林值 </a:t>
            </a:r>
            <a:r>
              <a:rPr lang="en-US" altLang="zh-TW" dirty="0" err="1"/>
              <a:t>bool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內建</a:t>
            </a:r>
            <a:r>
              <a:rPr lang="zh-TW" altLang="en-US" b="1" dirty="0"/>
              <a:t>參考</a:t>
            </a:r>
            <a:r>
              <a:rPr lang="zh-TW" altLang="en-US" dirty="0"/>
              <a:t>類型</a:t>
            </a:r>
            <a:endParaRPr lang="en-US" altLang="zh-TW" dirty="0"/>
          </a:p>
          <a:p>
            <a:pPr lvl="1"/>
            <a:r>
              <a:rPr lang="zh-TW" altLang="en-US" dirty="0"/>
              <a:t>字串 </a:t>
            </a:r>
            <a:r>
              <a:rPr lang="en-US" altLang="zh-TW" dirty="0"/>
              <a:t>string/String</a:t>
            </a:r>
          </a:p>
          <a:p>
            <a:pPr lvl="1"/>
            <a:r>
              <a:rPr lang="zh-TW" altLang="en-US" dirty="0"/>
              <a:t>物件 </a:t>
            </a:r>
            <a:r>
              <a:rPr lang="en-US" altLang="zh-TW" dirty="0"/>
              <a:t>object</a:t>
            </a:r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714620"/>
            <a:ext cx="8001056" cy="3507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溢位例外 </a:t>
            </a:r>
            <a:r>
              <a:rPr lang="en-US" altLang="zh-TW" dirty="0"/>
              <a:t>(Overflow Exception)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https://cdn.discordapp.com/attachments/1086861819915804693/1314134625676693595/image.png?ex=6752aabe&amp;is=6751593e&amp;hm=b504d161997cc0de748f5bccd5f1a4bfab3307996beaafcc96923f7a66ad0dcf&amp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2357430"/>
            <a:ext cx="7358114" cy="41389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浮點數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float f = 2.3f;</a:t>
            </a:r>
          </a:p>
          <a:p>
            <a:r>
              <a:rPr lang="en-US" altLang="zh-TW" dirty="0"/>
              <a:t>double d = 2.3;</a:t>
            </a:r>
          </a:p>
          <a:p>
            <a:r>
              <a:rPr lang="en-US" altLang="zh-TW" dirty="0"/>
              <a:t>decimal m = 2.3m;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4429132"/>
            <a:ext cx="7316787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布林值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1byte / 8bit</a:t>
            </a:r>
          </a:p>
          <a:p>
            <a:r>
              <a:rPr lang="zh-TW" altLang="en-US" dirty="0"/>
              <a:t>只能是</a:t>
            </a:r>
            <a:r>
              <a:rPr lang="en-US" altLang="zh-TW" dirty="0"/>
              <a:t>true </a:t>
            </a:r>
            <a:r>
              <a:rPr lang="zh-TW" altLang="en-US" dirty="0"/>
              <a:t>或 </a:t>
            </a:r>
            <a:r>
              <a:rPr lang="en-US" altLang="zh-TW" dirty="0"/>
              <a:t>false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字元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2byte / 16bit</a:t>
            </a:r>
          </a:p>
          <a:p>
            <a:r>
              <a:rPr lang="en-US" altLang="zh-TW" dirty="0"/>
              <a:t>char c = ‘</a:t>
            </a:r>
            <a:r>
              <a:rPr lang="zh-TW" altLang="en-US" dirty="0"/>
              <a:t>中</a:t>
            </a:r>
            <a:r>
              <a:rPr lang="en-US" altLang="zh-TW" dirty="0"/>
              <a:t>’;</a:t>
            </a:r>
          </a:p>
          <a:p>
            <a:r>
              <a:rPr lang="en-US" altLang="zh-TW" dirty="0"/>
              <a:t>char c = ‘\u4e2d’;</a:t>
            </a:r>
            <a:r>
              <a:rPr lang="zh-TW" altLang="en-US" dirty="0"/>
              <a:t>   </a:t>
            </a:r>
            <a:endParaRPr lang="en-US" altLang="zh-TW" dirty="0"/>
          </a:p>
          <a:p>
            <a:pPr lvl="1"/>
            <a:r>
              <a:rPr lang="en-US" altLang="zh-TW" dirty="0"/>
              <a:t>Unicode</a:t>
            </a:r>
            <a:r>
              <a:rPr lang="zh-TW" altLang="en-US" dirty="0"/>
              <a:t>、單引號、允許中文</a:t>
            </a:r>
            <a:endParaRPr lang="en-US" altLang="zh-TW" dirty="0"/>
          </a:p>
          <a:p>
            <a:r>
              <a:rPr lang="zh-TW" altLang="en-US" dirty="0"/>
              <a:t>逸出字元</a:t>
            </a:r>
            <a:endParaRPr lang="en-US" altLang="zh-TW" dirty="0"/>
          </a:p>
          <a:p>
            <a:pPr lvl="1"/>
            <a:r>
              <a:rPr lang="en-US" altLang="zh-TW" dirty="0"/>
              <a:t>\0  </a:t>
            </a:r>
            <a:r>
              <a:rPr lang="zh-TW" altLang="en-US" dirty="0"/>
              <a:t>空格</a:t>
            </a:r>
            <a:endParaRPr lang="en-US" altLang="zh-TW" dirty="0"/>
          </a:p>
          <a:p>
            <a:pPr lvl="1"/>
            <a:r>
              <a:rPr lang="en-US" altLang="zh-TW" dirty="0"/>
              <a:t>\n</a:t>
            </a:r>
            <a:r>
              <a:rPr lang="zh-TW" altLang="en-US" dirty="0"/>
              <a:t>  換行  </a:t>
            </a:r>
            <a:endParaRPr lang="en-US" altLang="zh-TW" dirty="0"/>
          </a:p>
          <a:p>
            <a:pPr lvl="1"/>
            <a:r>
              <a:rPr lang="en-US" altLang="zh-TW" dirty="0"/>
              <a:t>\\</a:t>
            </a:r>
            <a:r>
              <a:rPr lang="zh-TW" altLang="en-US" dirty="0"/>
              <a:t>   斜線</a:t>
            </a:r>
            <a:endParaRPr lang="en-US" altLang="zh-TW" dirty="0"/>
          </a:p>
          <a:p>
            <a:pPr lvl="1"/>
            <a:r>
              <a:rPr lang="en-US" altLang="zh-TW" dirty="0"/>
              <a:t>\”</a:t>
            </a:r>
            <a:r>
              <a:rPr lang="zh-TW" altLang="en-US" dirty="0"/>
              <a:t>   雙引號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string / String </a:t>
            </a:r>
            <a:r>
              <a:rPr lang="zh-TW" altLang="en-US" dirty="0"/>
              <a:t>都可以</a:t>
            </a:r>
            <a:endParaRPr lang="en-US" altLang="zh-TW" dirty="0"/>
          </a:p>
          <a:p>
            <a:r>
              <a:rPr lang="en-US" altLang="zh-TW" dirty="0"/>
              <a:t>string s = “Hello, World!”;</a:t>
            </a:r>
          </a:p>
          <a:p>
            <a:endParaRPr lang="en-US" altLang="zh-TW" dirty="0"/>
          </a:p>
          <a:p>
            <a:r>
              <a:rPr lang="zh-TW" altLang="en-US" dirty="0"/>
              <a:t>使用</a:t>
            </a:r>
            <a:r>
              <a:rPr lang="en-US" altLang="zh-TW" dirty="0"/>
              <a:t>@</a:t>
            </a:r>
            <a:r>
              <a:rPr lang="zh-TW" altLang="en-US" dirty="0"/>
              <a:t>來避免逸出字元</a:t>
            </a:r>
            <a:endParaRPr lang="en-US" altLang="zh-TW" dirty="0"/>
          </a:p>
          <a:p>
            <a:pPr lvl="1"/>
            <a:r>
              <a:rPr lang="zh-TW" altLang="en-US" dirty="0"/>
              <a:t>無法使用 </a:t>
            </a:r>
            <a:r>
              <a:rPr lang="en-US" altLang="zh-TW" dirty="0"/>
              <a:t>”</a:t>
            </a:r>
          </a:p>
          <a:p>
            <a:r>
              <a:rPr lang="zh-TW" altLang="en-US" dirty="0"/>
              <a:t>使用</a:t>
            </a:r>
            <a:r>
              <a:rPr lang="en-US" altLang="zh-TW" dirty="0"/>
              <a:t>@</a:t>
            </a:r>
            <a:r>
              <a:rPr lang="zh-TW" altLang="en-US" dirty="0"/>
              <a:t>來撰寫多行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String.Format</a:t>
            </a:r>
            <a:r>
              <a:rPr lang="en-US" altLang="zh-TW" dirty="0"/>
              <a:t>(string, object?[]</a:t>
            </a:r>
            <a:r>
              <a:rPr lang="zh-TW" altLang="en-US" dirty="0"/>
              <a:t> </a:t>
            </a:r>
            <a:r>
              <a:rPr lang="en-US" altLang="zh-TW" dirty="0" err="1"/>
              <a:t>param</a:t>
            </a:r>
            <a:r>
              <a:rPr lang="en-US" altLang="zh-TW" dirty="0"/>
              <a:t>);</a:t>
            </a:r>
          </a:p>
          <a:p>
            <a:r>
              <a:rPr lang="zh-TW" altLang="en-US" dirty="0"/>
              <a:t>使用</a:t>
            </a:r>
            <a:r>
              <a:rPr lang="en-US" altLang="zh-TW" dirty="0"/>
              <a:t>$</a:t>
            </a:r>
            <a:endParaRPr lang="zh-TW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資料類型轉換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隱式轉換</a:t>
            </a:r>
            <a:endParaRPr lang="en-US" altLang="zh-TW" dirty="0"/>
          </a:p>
          <a:p>
            <a:pPr lvl="1"/>
            <a:r>
              <a:rPr lang="zh-TW" altLang="en-US" dirty="0"/>
              <a:t>簡單來說就是只能「升級」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強制轉換</a:t>
            </a:r>
            <a:endParaRPr lang="en-US" altLang="zh-TW" dirty="0"/>
          </a:p>
          <a:p>
            <a:pPr lvl="1"/>
            <a:r>
              <a:rPr lang="en-US" altLang="zh-TW" dirty="0" err="1"/>
              <a:t>int</a:t>
            </a:r>
            <a:r>
              <a:rPr lang="zh-TW" altLang="en-US" dirty="0"/>
              <a:t> </a:t>
            </a:r>
            <a:r>
              <a:rPr lang="en-US" altLang="zh-TW" dirty="0"/>
              <a:t>a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int</a:t>
            </a:r>
            <a:r>
              <a:rPr lang="en-US" altLang="zh-TW" dirty="0"/>
              <a:t>)3.7;</a:t>
            </a:r>
          </a:p>
          <a:p>
            <a:pPr lvl="1"/>
            <a:r>
              <a:rPr lang="zh-TW" altLang="en-US" dirty="0"/>
              <a:t>資料遺失 或 錯亂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其他相關關鍵字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const</a:t>
            </a:r>
          </a:p>
          <a:p>
            <a:pPr lvl="1"/>
            <a:r>
              <a:rPr lang="zh-TW" altLang="en-US" dirty="0"/>
              <a:t>常數</a:t>
            </a:r>
            <a:endParaRPr lang="en-US" altLang="zh-TW" dirty="0"/>
          </a:p>
          <a:p>
            <a:r>
              <a:rPr lang="en-US" altLang="zh-TW" dirty="0"/>
              <a:t>default(</a:t>
            </a:r>
            <a:r>
              <a:rPr lang="zh-TW" altLang="en-US"/>
              <a:t>型態</a:t>
            </a:r>
            <a:r>
              <a:rPr lang="en-US" altLang="zh-TW"/>
              <a:t>)</a:t>
            </a:r>
            <a:endParaRPr lang="en-US" altLang="zh-TW" dirty="0"/>
          </a:p>
          <a:p>
            <a:pPr lvl="1"/>
            <a:r>
              <a:rPr lang="zh-TW" altLang="en-US" dirty="0"/>
              <a:t>預設值 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 err="1"/>
              <a:t>int</a:t>
            </a:r>
            <a:r>
              <a:rPr lang="zh-TW" altLang="en-US" dirty="0"/>
              <a:t>為</a:t>
            </a:r>
            <a:r>
              <a:rPr lang="en-US" altLang="zh-TW" dirty="0"/>
              <a:t>0)</a:t>
            </a:r>
          </a:p>
          <a:p>
            <a:r>
              <a:rPr lang="en-US" altLang="zh-TW" dirty="0" err="1"/>
              <a:t>typeof</a:t>
            </a:r>
            <a:r>
              <a:rPr lang="en-US" altLang="zh-TW" dirty="0"/>
              <a:t>(</a:t>
            </a:r>
            <a:r>
              <a:rPr lang="zh-TW" altLang="en-US" dirty="0"/>
              <a:t>變數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顯示該變數的類型</a:t>
            </a:r>
            <a:endParaRPr lang="en-US" altLang="zh-TW" dirty="0"/>
          </a:p>
          <a:p>
            <a:r>
              <a:rPr lang="en-US" altLang="zh-TW" dirty="0" err="1"/>
              <a:t>var</a:t>
            </a:r>
            <a:endParaRPr lang="en-US" altLang="zh-TW" dirty="0"/>
          </a:p>
          <a:p>
            <a:pPr lvl="1"/>
            <a:r>
              <a:rPr lang="zh-TW" altLang="en-US" dirty="0"/>
              <a:t>匿名資料型態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變數與常數的</a:t>
            </a:r>
            <a:r>
              <a:rPr lang="zh-TW" altLang="en-US" b="1" u="sng" dirty="0"/>
              <a:t>命名建議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err="1">
                <a:latin typeface="Lucida Console" pitchFamily="49" charset="0"/>
              </a:rPr>
              <a:t>int</a:t>
            </a:r>
            <a:r>
              <a:rPr lang="en-US" altLang="zh-TW" sz="2400" dirty="0">
                <a:latin typeface="Lucida Console" pitchFamily="49" charset="0"/>
              </a:rPr>
              <a:t> </a:t>
            </a:r>
            <a:r>
              <a:rPr lang="en-US" altLang="zh-TW" sz="2400" dirty="0" err="1">
                <a:latin typeface="Lucida Console" pitchFamily="49" charset="0"/>
              </a:rPr>
              <a:t>myInt</a:t>
            </a:r>
            <a:r>
              <a:rPr lang="en-US" altLang="zh-TW" sz="2400" dirty="0">
                <a:latin typeface="Lucida Console" pitchFamily="49" charset="0"/>
              </a:rPr>
              <a:t> = 0;</a:t>
            </a:r>
          </a:p>
          <a:p>
            <a:pPr lvl="1"/>
            <a:r>
              <a:rPr lang="en-US" altLang="zh-TW" dirty="0" err="1"/>
              <a:t>camelCase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sz="2400" dirty="0">
                <a:latin typeface="Lucida Console" pitchFamily="49" charset="0"/>
              </a:rPr>
              <a:t>const </a:t>
            </a:r>
            <a:r>
              <a:rPr lang="en-US" altLang="zh-TW" sz="2400" dirty="0" err="1">
                <a:latin typeface="Lucida Console" pitchFamily="49" charset="0"/>
              </a:rPr>
              <a:t>int</a:t>
            </a:r>
            <a:r>
              <a:rPr lang="en-US" altLang="zh-TW" sz="2400" dirty="0">
                <a:latin typeface="Lucida Console" pitchFamily="49" charset="0"/>
              </a:rPr>
              <a:t> MAX_PLAYER_COUNT = 8;</a:t>
            </a:r>
          </a:p>
          <a:p>
            <a:pPr lvl="1"/>
            <a:r>
              <a:rPr lang="en-US" altLang="zh-TW" sz="2200" dirty="0"/>
              <a:t>Screaming Snake case</a:t>
            </a:r>
            <a:endParaRPr lang="zh-TW" altLang="en-US" sz="2200" dirty="0"/>
          </a:p>
        </p:txBody>
      </p:sp>
      <p:pic>
        <p:nvPicPr>
          <p:cNvPr id="1026" name="Picture 2" descr="小駝峰圖片範例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98" y="1857364"/>
            <a:ext cx="2381250" cy="1962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1110</TotalTime>
  <Words>404</Words>
  <Application>Microsoft Office PowerPoint</Application>
  <PresentationFormat>如螢幕大小 (4:3)</PresentationFormat>
  <Paragraphs>114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Arial</vt:lpstr>
      <vt:lpstr>Georgia</vt:lpstr>
      <vt:lpstr>Lucida Console</vt:lpstr>
      <vt:lpstr>Wingdings 2</vt:lpstr>
      <vt:lpstr>都會</vt:lpstr>
      <vt:lpstr>Lesson 3 你好世界 &amp; 變數宣告</vt:lpstr>
      <vt:lpstr>開啟專案</vt:lpstr>
      <vt:lpstr>第一個程式</vt:lpstr>
      <vt:lpstr>執行</vt:lpstr>
      <vt:lpstr>Hello World</vt:lpstr>
      <vt:lpstr>其他常用符號</vt:lpstr>
      <vt:lpstr>第一行程式碼：變數宣告</vt:lpstr>
      <vt:lpstr>內建類型</vt:lpstr>
      <vt:lpstr>整數</vt:lpstr>
      <vt:lpstr>溢位例外 (Overflow Exception)</vt:lpstr>
      <vt:lpstr>浮點數</vt:lpstr>
      <vt:lpstr>布林值</vt:lpstr>
      <vt:lpstr>字元</vt:lpstr>
      <vt:lpstr>字串</vt:lpstr>
      <vt:lpstr>資料類型轉換</vt:lpstr>
      <vt:lpstr>其他相關關鍵字</vt:lpstr>
      <vt:lpstr>變數與常數的命名建議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91</cp:revision>
  <dcterms:created xsi:type="dcterms:W3CDTF">2024-11-18T05:57:07Z</dcterms:created>
  <dcterms:modified xsi:type="dcterms:W3CDTF">2025-02-24T00:57:17Z</dcterms:modified>
</cp:coreProperties>
</file>