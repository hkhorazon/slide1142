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66" r:id="rId2"/>
    <p:sldId id="267" r:id="rId3"/>
    <p:sldId id="268" r:id="rId4"/>
    <p:sldId id="269" r:id="rId5"/>
    <p:sldId id="271" r:id="rId6"/>
    <p:sldId id="272" r:id="rId7"/>
    <p:sldId id="277" r:id="rId8"/>
    <p:sldId id="273" r:id="rId9"/>
    <p:sldId id="274" r:id="rId10"/>
    <p:sldId id="275" r:id="rId11"/>
    <p:sldId id="276" r:id="rId12"/>
    <p:sldId id="282" r:id="rId13"/>
    <p:sldId id="278" r:id="rId14"/>
    <p:sldId id="279" r:id="rId15"/>
    <p:sldId id="281" r:id="rId16"/>
    <p:sldId id="280" r:id="rId17"/>
    <p:sldId id="284" r:id="rId18"/>
    <p:sldId id="283" r:id="rId19"/>
    <p:sldId id="285" r:id="rId20"/>
    <p:sldId id="286" r:id="rId21"/>
    <p:sldId id="287" r:id="rId22"/>
    <p:sldId id="288" r:id="rId23"/>
    <p:sldId id="289" r:id="rId2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9" d="100"/>
          <a:sy n="119" d="100"/>
        </p:scale>
        <p:origin x="-1786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2025/5/25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2025/5/25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2025/5/25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2025/5/25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2025/5/25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2025/5/25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2025/5/25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2025/5/25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2025/5/25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2025/5/25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2025/5/25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2025/5/25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</a:t>
            </a:r>
            <a:r>
              <a:rPr lang="zh-TW" altLang="en-US" dirty="0"/>
              <a:t> </a:t>
            </a:r>
            <a:r>
              <a:rPr lang="en-US" altLang="zh-TW" dirty="0" smtClean="0"/>
              <a:t>14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zh-TW" altLang="en-US" dirty="0" smtClean="0"/>
              <a:t>繼承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課本第</a:t>
            </a:r>
            <a:r>
              <a:rPr lang="en-US" altLang="zh-TW" dirty="0" smtClean="0"/>
              <a:t>18</a:t>
            </a:r>
            <a:r>
              <a:rPr lang="zh-TW" altLang="en-US" dirty="0" smtClean="0"/>
              <a:t>章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en-US" altLang="zh-TW" dirty="0"/>
              <a:t>C#</a:t>
            </a:r>
            <a:r>
              <a:rPr lang="zh-TW" altLang="en-US" dirty="0"/>
              <a:t>程式設計</a:t>
            </a:r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繼承 與 多型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物件導向如果只有封裝功能，那基本上與結構沒甚麼兩樣，真正影響強大的是繼承與多型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在現實世界中，我們會說狗是</a:t>
            </a:r>
            <a:r>
              <a:rPr lang="en-US" altLang="zh-TW" dirty="0" smtClean="0"/>
              <a:t>(is a)</a:t>
            </a:r>
            <a:r>
              <a:rPr lang="zh-TW" altLang="en-US" dirty="0" smtClean="0"/>
              <a:t>一種動物，這種概念在程式中可使用繼承來實作。</a:t>
            </a:r>
            <a:endParaRPr lang="zh-TW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繼承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繼承的概念，就是讓衍生類別也有部分基底類別的屬性方法欄位等等。</a:t>
            </a:r>
            <a:endParaRPr lang="zh-TW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7400" y="4038600"/>
            <a:ext cx="4954587" cy="2510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繼承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語法如下</a:t>
            </a:r>
            <a:endParaRPr lang="en-US" altLang="zh-TW" dirty="0" smtClean="0"/>
          </a:p>
          <a:p>
            <a:r>
              <a:rPr lang="zh-TW" altLang="en-US" b="1" dirty="0" smtClean="0"/>
              <a:t>狗</a:t>
            </a:r>
            <a:r>
              <a:rPr lang="zh-TW" altLang="en-US" dirty="0" smtClean="0"/>
              <a:t>繼承了</a:t>
            </a:r>
            <a:r>
              <a:rPr lang="zh-TW" altLang="en-US" b="1" dirty="0" smtClean="0"/>
              <a:t>動物</a:t>
            </a:r>
            <a:endParaRPr lang="en-US" altLang="zh-TW" b="1" dirty="0" smtClean="0"/>
          </a:p>
          <a:p>
            <a:r>
              <a:rPr lang="zh-TW" altLang="en-US" b="1" dirty="0" smtClean="0"/>
              <a:t>動物</a:t>
            </a:r>
            <a:r>
              <a:rPr lang="zh-TW" altLang="en-US" dirty="0" smtClean="0"/>
              <a:t>事基底類別、父類別</a:t>
            </a:r>
            <a:endParaRPr lang="en-US" altLang="zh-TW" dirty="0" smtClean="0"/>
          </a:p>
          <a:p>
            <a:r>
              <a:rPr lang="zh-TW" altLang="en-US" b="1" dirty="0" smtClean="0"/>
              <a:t>狗</a:t>
            </a:r>
            <a:r>
              <a:rPr lang="zh-TW" altLang="en-US" dirty="0" smtClean="0"/>
              <a:t>是衍生類別、子類別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9200" y="4067402"/>
            <a:ext cx="3962400" cy="2676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存取修飾詞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private:</a:t>
            </a:r>
            <a:r>
              <a:rPr lang="zh-TW" altLang="en-US" dirty="0" smtClean="0"/>
              <a:t> 成員欄位和方法的資料預設是 </a:t>
            </a:r>
            <a:r>
              <a:rPr lang="en-US" altLang="zh-TW" dirty="0" smtClean="0"/>
              <a:t>private</a:t>
            </a:r>
            <a:r>
              <a:rPr lang="zh-TW" altLang="en-US" dirty="0" smtClean="0"/>
              <a:t>， 只有類別的方法才可以存取。</a:t>
            </a:r>
          </a:p>
          <a:p>
            <a:r>
              <a:rPr lang="en-US" altLang="zh-TW" dirty="0" smtClean="0"/>
              <a:t>public:</a:t>
            </a:r>
            <a:r>
              <a:rPr lang="zh-TW" altLang="en-US" dirty="0" smtClean="0"/>
              <a:t> 這類資料可以讓類別物件存取。</a:t>
            </a:r>
            <a:endParaRPr lang="en-US" altLang="zh-TW" dirty="0" smtClean="0"/>
          </a:p>
          <a:p>
            <a:r>
              <a:rPr lang="en-US" altLang="zh-TW" dirty="0" smtClean="0"/>
              <a:t>internal:</a:t>
            </a:r>
            <a:r>
              <a:rPr lang="zh-TW" altLang="en-US" dirty="0" smtClean="0"/>
              <a:t> 可以供</a:t>
            </a:r>
            <a:r>
              <a:rPr lang="en-US" altLang="zh-TW" dirty="0" smtClean="0"/>
              <a:t>C#</a:t>
            </a:r>
            <a:r>
              <a:rPr lang="zh-TW" altLang="en-US" dirty="0" smtClean="0"/>
              <a:t>同一個專案的程式存取。</a:t>
            </a:r>
          </a:p>
          <a:p>
            <a:r>
              <a:rPr lang="en-US" altLang="zh-TW" dirty="0" smtClean="0"/>
              <a:t>protected:</a:t>
            </a:r>
            <a:r>
              <a:rPr lang="zh-TW" altLang="en-US" dirty="0" smtClean="0"/>
              <a:t> 可以讓類別或是其子類別存取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存取基底類別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外部可以存取其基底類別的資料 </a:t>
            </a:r>
            <a:r>
              <a:rPr lang="en-US" altLang="zh-TW" dirty="0" smtClean="0"/>
              <a:t>(</a:t>
            </a:r>
            <a:r>
              <a:rPr lang="zh-TW" altLang="en-US" dirty="0" smtClean="0"/>
              <a:t>因為</a:t>
            </a:r>
            <a:r>
              <a:rPr lang="en-US" altLang="zh-TW" dirty="0" smtClean="0"/>
              <a:t>public)</a:t>
            </a:r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3048000"/>
            <a:ext cx="4724400" cy="3037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81600" y="4724400"/>
            <a:ext cx="3371850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分層繼承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3048000"/>
            <a:ext cx="6364287" cy="3568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雙層繼承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67000" y="2514600"/>
            <a:ext cx="5764213" cy="420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多重繼承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C#</a:t>
            </a:r>
            <a:r>
              <a:rPr lang="zh-TW" altLang="en-US" dirty="0" smtClean="0"/>
              <a:t>中無法使用，在部分程式語言可使用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取而代之，在</a:t>
            </a:r>
            <a:r>
              <a:rPr lang="en-US" altLang="zh-TW" dirty="0" smtClean="0"/>
              <a:t>C#</a:t>
            </a:r>
            <a:r>
              <a:rPr lang="zh-TW" altLang="en-US" dirty="0" smtClean="0"/>
              <a:t>中可用實作介面</a:t>
            </a:r>
            <a:r>
              <a:rPr lang="en-US" altLang="zh-TW" dirty="0" smtClean="0"/>
              <a:t>(interface)</a:t>
            </a:r>
            <a:r>
              <a:rPr lang="zh-TW" altLang="en-US" dirty="0" smtClean="0"/>
              <a:t>的方式達成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之後再教學</a:t>
            </a:r>
            <a:endParaRPr lang="zh-TW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4572000"/>
            <a:ext cx="6615998" cy="145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繼承衍生的問題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在繼承中，衍生類別不一定想完全照做基底類別的內容。</a:t>
            </a:r>
            <a:endParaRPr lang="en-US" altLang="zh-TW" dirty="0" smtClean="0"/>
          </a:p>
          <a:p>
            <a:r>
              <a:rPr lang="zh-TW" altLang="en-US" dirty="0" smtClean="0"/>
              <a:t>此時必須要下一個功能</a:t>
            </a:r>
            <a:r>
              <a:rPr lang="en-US" altLang="zh-TW" dirty="0" smtClean="0"/>
              <a:t>”</a:t>
            </a:r>
            <a:r>
              <a:rPr lang="zh-TW" altLang="en-US" dirty="0" smtClean="0"/>
              <a:t>多型</a:t>
            </a:r>
            <a:r>
              <a:rPr lang="en-US" altLang="zh-TW" dirty="0" smtClean="0"/>
              <a:t>”</a:t>
            </a:r>
            <a:endParaRPr lang="zh-TW" altLang="en-US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43200" y="3733800"/>
            <a:ext cx="5765980" cy="275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</a:t>
            </a:r>
            <a:r>
              <a:rPr lang="zh-TW" altLang="en-US" dirty="0"/>
              <a:t> </a:t>
            </a:r>
            <a:r>
              <a:rPr lang="en-US" altLang="zh-TW" dirty="0" smtClean="0"/>
              <a:t>14.2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zh-TW" altLang="en-US" dirty="0" smtClean="0"/>
              <a:t>多型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課本第</a:t>
            </a:r>
            <a:r>
              <a:rPr lang="en-US" altLang="zh-TW" dirty="0" smtClean="0"/>
              <a:t>18</a:t>
            </a:r>
            <a:r>
              <a:rPr lang="zh-TW" altLang="en-US" dirty="0" smtClean="0"/>
              <a:t>章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en-US" altLang="zh-TW" dirty="0"/>
              <a:t>C#</a:t>
            </a:r>
            <a:r>
              <a:rPr lang="zh-TW" altLang="en-US" dirty="0"/>
              <a:t>程式設計</a:t>
            </a:r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覆寫 </a:t>
            </a:r>
            <a:r>
              <a:rPr lang="en-US" altLang="zh-TW" dirty="0" smtClean="0"/>
              <a:t>(new)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我們可以在子物件中使用</a:t>
            </a:r>
            <a:r>
              <a:rPr lang="en-US" altLang="zh-TW" dirty="0" smtClean="0"/>
              <a:t>new</a:t>
            </a:r>
            <a:r>
              <a:rPr lang="zh-TW" altLang="en-US" dirty="0" smtClean="0"/>
              <a:t>來覆寫。</a:t>
            </a:r>
            <a:endParaRPr lang="zh-TW" alt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76600" y="2895600"/>
            <a:ext cx="4990284" cy="3735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覆寫 </a:t>
            </a:r>
            <a:r>
              <a:rPr lang="en-US" altLang="zh-TW" dirty="0" smtClean="0"/>
              <a:t>(override)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由於衍生類別不一定想要</a:t>
            </a:r>
            <a:r>
              <a:rPr lang="en-US" altLang="zh-TW" dirty="0" smtClean="0"/>
              <a:t>(</a:t>
            </a:r>
            <a:r>
              <a:rPr lang="zh-TW" altLang="en-US" dirty="0" smtClean="0"/>
              <a:t>只</a:t>
            </a:r>
            <a:r>
              <a:rPr lang="en-US" altLang="zh-TW" dirty="0" smtClean="0"/>
              <a:t>)</a:t>
            </a:r>
            <a:r>
              <a:rPr lang="zh-TW" altLang="en-US" dirty="0" smtClean="0"/>
              <a:t>做基底類別的方法內容，此時基底類別可以覆寫上層的方法。</a:t>
            </a:r>
            <a:endParaRPr lang="zh-TW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3352800"/>
            <a:ext cx="5840413" cy="33076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橢圓 4"/>
          <p:cNvSpPr/>
          <p:nvPr/>
        </p:nvSpPr>
        <p:spPr>
          <a:xfrm>
            <a:off x="2819400" y="4114800"/>
            <a:ext cx="914400" cy="533400"/>
          </a:xfrm>
          <a:prstGeom prst="ellipse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/>
          <p:cNvSpPr/>
          <p:nvPr/>
        </p:nvSpPr>
        <p:spPr>
          <a:xfrm>
            <a:off x="2819400" y="5562600"/>
            <a:ext cx="914400" cy="533400"/>
          </a:xfrm>
          <a:prstGeom prst="ellipse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覆寫 </a:t>
            </a:r>
            <a:r>
              <a:rPr lang="en-US" altLang="zh-TW" dirty="0" smtClean="0"/>
              <a:t>(override)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在複寫內容中，你仍然可以呼叫基底類別執行的內容，或是完全取代。</a:t>
            </a:r>
            <a:endParaRPr lang="zh-TW" alt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7400" y="3352800"/>
            <a:ext cx="630301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封印 </a:t>
            </a:r>
            <a:r>
              <a:rPr lang="en-US" altLang="zh-TW" dirty="0" smtClean="0"/>
              <a:t>(Sealed)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我們使用</a:t>
            </a:r>
            <a:r>
              <a:rPr lang="en-US" altLang="zh-TW" dirty="0" smtClean="0"/>
              <a:t>virtual / override</a:t>
            </a:r>
            <a:r>
              <a:rPr lang="zh-TW" altLang="en-US" dirty="0" smtClean="0"/>
              <a:t> 開放子物件可以覆寫，我們亦可使用</a:t>
            </a:r>
            <a:r>
              <a:rPr lang="en-US" altLang="zh-TW" dirty="0" smtClean="0"/>
              <a:t>sealed</a:t>
            </a:r>
            <a:r>
              <a:rPr lang="zh-TW" altLang="en-US" dirty="0" smtClean="0"/>
              <a:t>封印子物件的覆寫。</a:t>
            </a:r>
            <a:endParaRPr lang="zh-TW" alt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38600" y="3124200"/>
            <a:ext cx="4800600" cy="34941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多型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而在外部呼叫時，我們不需要知道它實際的類別，則此</a:t>
            </a:r>
            <a:r>
              <a:rPr lang="zh-TW" altLang="en-US" dirty="0" smtClean="0"/>
              <a:t>為</a:t>
            </a:r>
            <a:r>
              <a:rPr lang="zh-TW" altLang="en-US" b="1" dirty="0" smtClean="0"/>
              <a:t>執行時期</a:t>
            </a:r>
            <a:r>
              <a:rPr lang="zh-TW" altLang="en-US" b="1" dirty="0" smtClean="0"/>
              <a:t>多型</a:t>
            </a:r>
            <a:r>
              <a:rPr lang="zh-TW" altLang="en-US" dirty="0" smtClean="0"/>
              <a:t>。</a:t>
            </a:r>
            <a:endParaRPr lang="zh-TW" alt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3657600"/>
            <a:ext cx="5721639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</a:t>
            </a:r>
            <a:r>
              <a:rPr lang="zh-TW" altLang="en-US" dirty="0"/>
              <a:t> </a:t>
            </a:r>
            <a:r>
              <a:rPr lang="en-US" altLang="zh-TW" dirty="0" smtClean="0"/>
              <a:t>14.3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zh-TW" altLang="en-US" dirty="0" smtClean="0"/>
              <a:t>抽象類別與介面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課本第</a:t>
            </a:r>
            <a:r>
              <a:rPr lang="en-US" altLang="zh-TW" dirty="0" smtClean="0"/>
              <a:t>19</a:t>
            </a:r>
            <a:r>
              <a:rPr lang="zh-TW" altLang="en-US" dirty="0" smtClean="0"/>
              <a:t>章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en-US" altLang="zh-TW" dirty="0"/>
              <a:t>C#</a:t>
            </a:r>
            <a:r>
              <a:rPr lang="zh-TW" altLang="en-US" dirty="0"/>
              <a:t>程式設計</a:t>
            </a:r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抽象</a:t>
            </a:r>
            <a:r>
              <a:rPr lang="zh-TW" altLang="en-US" dirty="0" smtClean="0"/>
              <a:t>類別 </a:t>
            </a:r>
            <a:r>
              <a:rPr lang="en-US" altLang="zh-TW" dirty="0" smtClean="0"/>
              <a:t>(Abstract Class)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有些類別，在我們建立時，並不希望該類別被實例化 </a:t>
            </a:r>
            <a:r>
              <a:rPr lang="en-US" altLang="zh-TW" dirty="0" smtClean="0"/>
              <a:t>(instance)</a:t>
            </a:r>
          </a:p>
          <a:p>
            <a:r>
              <a:rPr lang="zh-TW" altLang="en-US" dirty="0" smtClean="0"/>
              <a:t>此時</a:t>
            </a:r>
            <a:r>
              <a:rPr lang="zh-TW" altLang="en-US" dirty="0" smtClean="0"/>
              <a:t>我們可以建立抽象</a:t>
            </a:r>
            <a:r>
              <a:rPr lang="en-US" altLang="zh-TW" dirty="0" smtClean="0"/>
              <a:t>(abstract)</a:t>
            </a:r>
            <a:r>
              <a:rPr lang="zh-TW" altLang="en-US" dirty="0" smtClean="0"/>
              <a:t>類別</a:t>
            </a:r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抽象類別</a:t>
            </a:r>
            <a:r>
              <a:rPr lang="zh-TW" altLang="en-US" dirty="0" smtClean="0"/>
              <a:t>中可擁有</a:t>
            </a:r>
            <a:r>
              <a:rPr lang="en-US" altLang="zh-TW" dirty="0" smtClean="0"/>
              <a:t>abstract /</a:t>
            </a:r>
            <a:r>
              <a:rPr lang="zh-TW" altLang="en-US" dirty="0" smtClean="0"/>
              <a:t> </a:t>
            </a:r>
            <a:r>
              <a:rPr lang="en-US" altLang="zh-TW" dirty="0" smtClean="0"/>
              <a:t>virtual </a:t>
            </a:r>
            <a:r>
              <a:rPr lang="zh-TW" altLang="en-US" dirty="0" smtClean="0"/>
              <a:t>或正常的方法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3733800"/>
            <a:ext cx="5964237" cy="145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抽象</a:t>
            </a:r>
            <a:r>
              <a:rPr lang="zh-TW" altLang="en-US" dirty="0" smtClean="0"/>
              <a:t>類別 </a:t>
            </a:r>
            <a:r>
              <a:rPr lang="zh-TW" altLang="en-US" dirty="0" smtClean="0"/>
              <a:t>的</a:t>
            </a:r>
            <a:r>
              <a:rPr lang="zh-TW" altLang="en-US" dirty="0" smtClean="0"/>
              <a:t>衍生類別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4038600" cy="4325112"/>
          </a:xfrm>
        </p:spPr>
        <p:txBody>
          <a:bodyPr/>
          <a:lstStyle/>
          <a:p>
            <a:r>
              <a:rPr lang="zh-TW" altLang="en-US" dirty="0" smtClean="0"/>
              <a:t>抽象類別必須經由繼承才能被使用。</a:t>
            </a:r>
            <a:endParaRPr lang="en-US" altLang="zh-TW" dirty="0" smtClean="0"/>
          </a:p>
          <a:p>
            <a:r>
              <a:rPr lang="zh-TW" altLang="en-US" dirty="0" smtClean="0"/>
              <a:t>此時繼承的衍生類別</a:t>
            </a:r>
            <a:r>
              <a:rPr lang="zh-TW" altLang="en-US" b="1" dirty="0" smtClean="0"/>
              <a:t>必須</a:t>
            </a:r>
            <a:r>
              <a:rPr lang="zh-TW" altLang="en-US" dirty="0" smtClean="0"/>
              <a:t> </a:t>
            </a:r>
            <a:r>
              <a:rPr lang="en-US" altLang="zh-TW" dirty="0" smtClean="0"/>
              <a:t>override</a:t>
            </a:r>
            <a:r>
              <a:rPr lang="zh-TW" altLang="en-US" dirty="0" smtClean="0"/>
              <a:t>所有</a:t>
            </a:r>
            <a:r>
              <a:rPr lang="en-US" altLang="zh-TW" dirty="0" smtClean="0"/>
              <a:t>abstract</a:t>
            </a:r>
            <a:r>
              <a:rPr lang="zh-TW" altLang="en-US" dirty="0" smtClean="0"/>
              <a:t>的方法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24400" y="2679496"/>
            <a:ext cx="4191000" cy="4105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介面 </a:t>
            </a:r>
            <a:r>
              <a:rPr lang="en-US" altLang="zh-TW" dirty="0" smtClean="0"/>
              <a:t>(Interface)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介面的概念</a:t>
            </a:r>
            <a:r>
              <a:rPr lang="zh-TW" altLang="en-US" dirty="0" smtClean="0"/>
              <a:t>是，為類別間定義「類似的行為」，如鳥是動物、飛機不是動物，但它們有類似的行為：飛行。</a:t>
            </a:r>
            <a:endParaRPr lang="en-US" altLang="zh-TW" dirty="0" smtClean="0"/>
          </a:p>
          <a:p>
            <a:r>
              <a:rPr lang="zh-TW" altLang="en-US" dirty="0" smtClean="0"/>
              <a:t>此時我們可以撰寫介面</a:t>
            </a:r>
            <a:r>
              <a:rPr lang="en-US" altLang="zh-TW" dirty="0" smtClean="0"/>
              <a:t>(interface)</a:t>
            </a:r>
            <a:r>
              <a:rPr lang="zh-TW" altLang="en-US" dirty="0" smtClean="0"/>
              <a:t>「可飛行的」來說明兩者的共通性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由於</a:t>
            </a:r>
            <a:r>
              <a:rPr lang="en-US" altLang="zh-TW" dirty="0" smtClean="0"/>
              <a:t>C#</a:t>
            </a:r>
            <a:r>
              <a:rPr lang="zh-TW" altLang="en-US" dirty="0" smtClean="0"/>
              <a:t>沒有「多重繼承」，介面通常會用來替代此部分應用。</a:t>
            </a:r>
            <a:endParaRPr lang="en-US" altLang="zh-TW" dirty="0" smtClean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介面範例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鳥是動物、</a:t>
            </a:r>
            <a:r>
              <a:rPr lang="zh-TW" altLang="en-US" dirty="0" smtClean="0"/>
              <a:t>飛機是交通工具，</a:t>
            </a:r>
            <a:r>
              <a:rPr lang="zh-TW" altLang="en-US" dirty="0" smtClean="0"/>
              <a:t>但它們有類似的行為：飛行。</a:t>
            </a: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2800" y="3008320"/>
            <a:ext cx="5791200" cy="38496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介面範例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interface</a:t>
            </a:r>
            <a:r>
              <a:rPr lang="zh-TW" altLang="en-US" dirty="0" smtClean="0"/>
              <a:t>與</a:t>
            </a:r>
            <a:r>
              <a:rPr lang="en-US" altLang="zh-TW" dirty="0" smtClean="0"/>
              <a:t>class</a:t>
            </a:r>
            <a:r>
              <a:rPr lang="zh-TW" altLang="en-US" dirty="0" smtClean="0"/>
              <a:t>類似，但是只能擁有</a:t>
            </a:r>
            <a:r>
              <a:rPr lang="en-US" altLang="zh-TW" dirty="0" smtClean="0"/>
              <a:t>”</a:t>
            </a:r>
            <a:r>
              <a:rPr lang="zh-TW" altLang="en-US" dirty="0" smtClean="0"/>
              <a:t>方法</a:t>
            </a:r>
            <a:r>
              <a:rPr lang="en-US" altLang="zh-TW" dirty="0" smtClean="0"/>
              <a:t>”</a:t>
            </a:r>
            <a:r>
              <a:rPr lang="zh-TW" altLang="en-US" dirty="0" smtClean="0"/>
              <a:t>，部會有任何修飾詞</a:t>
            </a:r>
            <a:r>
              <a:rPr lang="en-US" altLang="zh-TW" dirty="0" smtClean="0"/>
              <a:t>(</a:t>
            </a:r>
            <a:r>
              <a:rPr lang="zh-TW" altLang="en-US" dirty="0" smtClean="0"/>
              <a:t>會一律等同於</a:t>
            </a:r>
            <a:r>
              <a:rPr lang="en-US" altLang="zh-TW" dirty="0" smtClean="0"/>
              <a:t>interface</a:t>
            </a:r>
            <a:r>
              <a:rPr lang="zh-TW" altLang="en-US" dirty="0" smtClean="0"/>
              <a:t>的</a:t>
            </a:r>
            <a:r>
              <a:rPr lang="zh-TW" altLang="en-US" dirty="0" smtClean="0"/>
              <a:t>存取修飾詞</a:t>
            </a:r>
            <a:r>
              <a:rPr lang="en-US" altLang="zh-TW" dirty="0" smtClean="0"/>
              <a:t>)</a:t>
            </a:r>
            <a:endParaRPr lang="en-US" altLang="zh-TW" dirty="0" smtClean="0"/>
          </a:p>
          <a:p>
            <a:r>
              <a:rPr lang="zh-TW" altLang="en-US" dirty="0" smtClean="0"/>
              <a:t>繼承</a:t>
            </a:r>
            <a:r>
              <a:rPr lang="en-US" altLang="zh-TW" dirty="0" smtClean="0"/>
              <a:t>interface</a:t>
            </a:r>
            <a:r>
              <a:rPr lang="zh-TW" altLang="en-US" dirty="0" smtClean="0"/>
              <a:t>之</a:t>
            </a:r>
            <a:r>
              <a:rPr lang="en-US" altLang="zh-TW" dirty="0" smtClean="0"/>
              <a:t>class</a:t>
            </a:r>
            <a:r>
              <a:rPr lang="zh-TW" altLang="en-US" dirty="0" smtClean="0"/>
              <a:t>必須實作其方法及屬性，且該方法的存取修飾詞必須相等或更開放</a:t>
            </a:r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05200" y="4419600"/>
            <a:ext cx="5514976" cy="1293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05200" y="5770880"/>
            <a:ext cx="5486400" cy="1087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顯式實作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altLang="zh-TW" dirty="0" smtClean="0"/>
          </a:p>
          <a:p>
            <a:r>
              <a:rPr lang="zh-TW" altLang="en-US" dirty="0" smtClean="0"/>
              <a:t>下方</a:t>
            </a:r>
            <a:r>
              <a:rPr lang="zh-TW" altLang="en-US" dirty="0" smtClean="0"/>
              <a:t>寫法</a:t>
            </a:r>
            <a:r>
              <a:rPr lang="zh-TW" altLang="en-US" dirty="0" smtClean="0"/>
              <a:t>稱為</a:t>
            </a:r>
            <a:r>
              <a:rPr lang="zh-TW" altLang="en-US" dirty="0" smtClean="0"/>
              <a:t>顯式實</a:t>
            </a:r>
            <a:r>
              <a:rPr lang="zh-TW" altLang="en-US" dirty="0" smtClean="0"/>
              <a:t>作，</a:t>
            </a:r>
            <a:r>
              <a:rPr lang="zh-TW" altLang="en-US" dirty="0" smtClean="0"/>
              <a:t>此時不須</a:t>
            </a:r>
            <a:r>
              <a:rPr lang="zh-TW" altLang="en-US" dirty="0" smtClean="0"/>
              <a:t>給</a:t>
            </a:r>
            <a:r>
              <a:rPr lang="zh-TW" altLang="en-US" dirty="0" smtClean="0"/>
              <a:t>存取</a:t>
            </a:r>
            <a:r>
              <a:rPr lang="zh-TW" altLang="en-US" dirty="0" smtClean="0"/>
              <a:t>修飾詞</a:t>
            </a:r>
            <a:endParaRPr lang="zh-TW" altLang="en-US" dirty="0"/>
          </a:p>
        </p:txBody>
      </p:sp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33800" y="1295400"/>
            <a:ext cx="4762500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3000" y="3352800"/>
            <a:ext cx="6545263" cy="150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43000" y="4953000"/>
            <a:ext cx="7145337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1197</TotalTime>
  <Words>638</Words>
  <Application>Microsoft Office PowerPoint</Application>
  <PresentationFormat>如螢幕大小 (4:3)</PresentationFormat>
  <Paragraphs>77</Paragraphs>
  <Slides>23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24" baseType="lpstr">
      <vt:lpstr>都會</vt:lpstr>
      <vt:lpstr>Lesson 14 繼承</vt:lpstr>
      <vt:lpstr>繼承 與 多型</vt:lpstr>
      <vt:lpstr>繼承</vt:lpstr>
      <vt:lpstr>繼承</vt:lpstr>
      <vt:lpstr>存取修飾詞</vt:lpstr>
      <vt:lpstr>存取基底類別</vt:lpstr>
      <vt:lpstr>分層繼承</vt:lpstr>
      <vt:lpstr>雙層繼承</vt:lpstr>
      <vt:lpstr>多重繼承</vt:lpstr>
      <vt:lpstr>繼承衍生的問題</vt:lpstr>
      <vt:lpstr>Lesson 14.2 多型</vt:lpstr>
      <vt:lpstr>覆寫 (new)</vt:lpstr>
      <vt:lpstr>覆寫 (override)</vt:lpstr>
      <vt:lpstr>覆寫 (override)</vt:lpstr>
      <vt:lpstr>封印 (Sealed)</vt:lpstr>
      <vt:lpstr>多型</vt:lpstr>
      <vt:lpstr>Lesson 14.3 抽象類別與介面</vt:lpstr>
      <vt:lpstr>抽象類別 (Abstract Class)</vt:lpstr>
      <vt:lpstr>抽象類別 的衍生類別</vt:lpstr>
      <vt:lpstr>介面 (Interface)</vt:lpstr>
      <vt:lpstr>介面範例</vt:lpstr>
      <vt:lpstr>介面範例</vt:lpstr>
      <vt:lpstr>顯式實作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user</cp:lastModifiedBy>
  <cp:revision>118</cp:revision>
  <dcterms:created xsi:type="dcterms:W3CDTF">2024-11-18T05:57:07Z</dcterms:created>
  <dcterms:modified xsi:type="dcterms:W3CDTF">2025-05-25T13:26:41Z</dcterms:modified>
</cp:coreProperties>
</file>