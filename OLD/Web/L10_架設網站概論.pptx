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5" r:id="rId2"/>
    <p:sldId id="267" r:id="rId3"/>
    <p:sldId id="269" r:id="rId4"/>
    <p:sldId id="271" r:id="rId5"/>
    <p:sldId id="272" r:id="rId6"/>
    <p:sldId id="270" r:id="rId7"/>
    <p:sldId id="268" r:id="rId8"/>
    <p:sldId id="266" r:id="rId9"/>
    <p:sldId id="273" r:id="rId10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47" autoAdjust="0"/>
  </p:normalViewPr>
  <p:slideViewPr>
    <p:cSldViewPr>
      <p:cViewPr varScale="1">
        <p:scale>
          <a:sx n="105" d="100"/>
          <a:sy n="105" d="100"/>
        </p:scale>
        <p:origin x="179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2025/4/8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earch" TargetMode="External"/><Relationship Id="rId2" Type="http://schemas.openxmlformats.org/officeDocument/2006/relationships/hyperlink" Target="http://www.google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w.godaddy.com/offers/domain?isc=sem3year&amp;countryview=1&amp;currencyType=TWD&amp;cdtl=c_17628637907.g_139698244553.k_kwd-299632902450.a_714137668318.d_c.ctv_g&amp;bnb=nb&amp;gad_source=1&amp;gclid=CjwKCAjw-qi_BhBxEiwAkxvbkMSOogNMOxlGXN0AWKCEvb4GClhXdL6zUnRU2XA31MYv-ORPKTXYEhoC7M8QAvD_Bw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 10</a:t>
            </a:r>
            <a:br>
              <a:rPr lang="en-US" altLang="zh-TW" dirty="0"/>
            </a:br>
            <a:r>
              <a:rPr lang="zh-TW" altLang="en-US" dirty="0"/>
              <a:t>架設網站概論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zh-TW" altLang="en-US" b="0" i="0">
                <a:solidFill>
                  <a:srgbClr val="003399"/>
                </a:solidFill>
                <a:effectLst/>
                <a:latin typeface="Times New Roman" panose="02020603050405020304" pitchFamily="18" charset="0"/>
              </a:rPr>
              <a:t>互動媒體製作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7737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 38">
            <a:extLst>
              <a:ext uri="{FF2B5EF4-FFF2-40B4-BE49-F238E27FC236}">
                <a16:creationId xmlns:a16="http://schemas.microsoft.com/office/drawing/2014/main" id="{A4150A24-B957-CC91-C20C-5680849A5760}"/>
              </a:ext>
            </a:extLst>
          </p:cNvPr>
          <p:cNvSpPr/>
          <p:nvPr/>
        </p:nvSpPr>
        <p:spPr>
          <a:xfrm>
            <a:off x="2195736" y="1700846"/>
            <a:ext cx="6390344" cy="23135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D2CE5AE-D187-F837-FF56-7CF5E3FBA90F}"/>
              </a:ext>
            </a:extLst>
          </p:cNvPr>
          <p:cNvSpPr/>
          <p:nvPr/>
        </p:nvSpPr>
        <p:spPr>
          <a:xfrm>
            <a:off x="2267744" y="4199021"/>
            <a:ext cx="6390344" cy="21102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821903A-47D5-1D09-B23B-710CC0F2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536" y="836712"/>
            <a:ext cx="8229600" cy="1066800"/>
          </a:xfrm>
        </p:spPr>
        <p:txBody>
          <a:bodyPr/>
          <a:lstStyle/>
          <a:p>
            <a:r>
              <a:rPr lang="zh-TW" altLang="en-US" dirty="0"/>
              <a:t>製作流程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4C2AFF1-C8EE-342F-E9E9-0BC0598AC61C}"/>
              </a:ext>
            </a:extLst>
          </p:cNvPr>
          <p:cNvSpPr txBox="1"/>
          <p:nvPr/>
        </p:nvSpPr>
        <p:spPr>
          <a:xfrm>
            <a:off x="251520" y="3645024"/>
            <a:ext cx="15121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網站規劃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B1FDB12-BE6A-7EBE-507E-27650F910ABE}"/>
              </a:ext>
            </a:extLst>
          </p:cNvPr>
          <p:cNvSpPr txBox="1"/>
          <p:nvPr/>
        </p:nvSpPr>
        <p:spPr>
          <a:xfrm>
            <a:off x="4553632" y="4770440"/>
            <a:ext cx="136815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資料庫設計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5BF9AFC-1788-D590-BDF2-F1DDA94B9758}"/>
              </a:ext>
            </a:extLst>
          </p:cNvPr>
          <p:cNvSpPr txBox="1"/>
          <p:nvPr/>
        </p:nvSpPr>
        <p:spPr>
          <a:xfrm>
            <a:off x="6804248" y="4770440"/>
            <a:ext cx="136815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後端程式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9D5623-07AC-3CEB-ECEB-B735971083DF}"/>
              </a:ext>
            </a:extLst>
          </p:cNvPr>
          <p:cNvSpPr txBox="1"/>
          <p:nvPr/>
        </p:nvSpPr>
        <p:spPr>
          <a:xfrm>
            <a:off x="2393392" y="4770440"/>
            <a:ext cx="161047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商業邏輯規劃</a:t>
            </a:r>
          </a:p>
        </p:txBody>
      </p:sp>
      <p:cxnSp>
        <p:nvCxnSpPr>
          <p:cNvPr id="9" name="接點: 肘形 8">
            <a:extLst>
              <a:ext uri="{FF2B5EF4-FFF2-40B4-BE49-F238E27FC236}">
                <a16:creationId xmlns:a16="http://schemas.microsoft.com/office/drawing/2014/main" id="{178245EB-3193-2683-F455-29E086CDF1FE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1763688" y="3829690"/>
            <a:ext cx="629704" cy="1125416"/>
          </a:xfrm>
          <a:prstGeom prst="bentConnector3">
            <a:avLst>
              <a:gd name="adj1" fmla="val 45644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A88EDD1-DB1B-A4A6-CC7C-641F2526D2D7}"/>
              </a:ext>
            </a:extLst>
          </p:cNvPr>
          <p:cNvSpPr txBox="1"/>
          <p:nvPr/>
        </p:nvSpPr>
        <p:spPr>
          <a:xfrm>
            <a:off x="260704" y="2317522"/>
            <a:ext cx="15121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網站需求</a:t>
            </a:r>
          </a:p>
        </p:txBody>
      </p:sp>
      <p:cxnSp>
        <p:nvCxnSpPr>
          <p:cNvPr id="15" name="接點: 肘形 14">
            <a:extLst>
              <a:ext uri="{FF2B5EF4-FFF2-40B4-BE49-F238E27FC236}">
                <a16:creationId xmlns:a16="http://schemas.microsoft.com/office/drawing/2014/main" id="{DF3716FF-6889-C88B-9ABE-83DB5746DDB6}"/>
              </a:ext>
            </a:extLst>
          </p:cNvPr>
          <p:cNvCxnSpPr>
            <a:cxnSpLocks/>
            <a:stCxn id="13" idx="2"/>
            <a:endCxn id="4" idx="0"/>
          </p:cNvCxnSpPr>
          <p:nvPr/>
        </p:nvCxnSpPr>
        <p:spPr>
          <a:xfrm rot="5400000">
            <a:off x="533111" y="3161347"/>
            <a:ext cx="958170" cy="918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601E66E3-C573-95D6-8FF9-3491CBBB96CA}"/>
              </a:ext>
            </a:extLst>
          </p:cNvPr>
          <p:cNvCxnSpPr>
            <a:stCxn id="7" idx="3"/>
            <a:endCxn id="5" idx="1"/>
          </p:cNvCxnSpPr>
          <p:nvPr/>
        </p:nvCxnSpPr>
        <p:spPr>
          <a:xfrm>
            <a:off x="4003864" y="4955106"/>
            <a:ext cx="549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5" name="直線單箭頭接點 24">
            <a:extLst>
              <a:ext uri="{FF2B5EF4-FFF2-40B4-BE49-F238E27FC236}">
                <a16:creationId xmlns:a16="http://schemas.microsoft.com/office/drawing/2014/main" id="{CCB9BF5B-EE2C-897C-A41D-EC23849F4AD5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921784" y="4955106"/>
            <a:ext cx="88246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D429A318-CEE5-3FB4-145C-9BC731A4B427}"/>
              </a:ext>
            </a:extLst>
          </p:cNvPr>
          <p:cNvSpPr txBox="1"/>
          <p:nvPr/>
        </p:nvSpPr>
        <p:spPr>
          <a:xfrm>
            <a:off x="2267744" y="5496624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後端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7E16BF78-6F42-2FBE-B05B-A80A7F60BCBC}"/>
              </a:ext>
            </a:extLst>
          </p:cNvPr>
          <p:cNvSpPr txBox="1"/>
          <p:nvPr/>
        </p:nvSpPr>
        <p:spPr>
          <a:xfrm>
            <a:off x="2333332" y="1963030"/>
            <a:ext cx="1610472" cy="80021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zh-TW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UI / UX</a:t>
            </a:r>
            <a:r>
              <a:rPr lang="zh-TW" altLang="en-US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規劃</a:t>
            </a:r>
            <a:endParaRPr lang="en-US" altLang="zh-TW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Canva</a:t>
            </a: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Figma</a:t>
            </a:r>
            <a:endParaRPr lang="zh-TW" altLang="en-US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31" name="接點: 肘形 30">
            <a:extLst>
              <a:ext uri="{FF2B5EF4-FFF2-40B4-BE49-F238E27FC236}">
                <a16:creationId xmlns:a16="http://schemas.microsoft.com/office/drawing/2014/main" id="{F754EE95-0772-C1FA-2992-0342C4743C5D}"/>
              </a:ext>
            </a:extLst>
          </p:cNvPr>
          <p:cNvCxnSpPr>
            <a:cxnSpLocks/>
            <a:stCxn id="4" idx="3"/>
            <a:endCxn id="29" idx="1"/>
          </p:cNvCxnSpPr>
          <p:nvPr/>
        </p:nvCxnSpPr>
        <p:spPr>
          <a:xfrm flipV="1">
            <a:off x="1763688" y="2363140"/>
            <a:ext cx="569644" cy="146655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21F8A6D5-3948-5828-ED8B-9695BCBAE207}"/>
              </a:ext>
            </a:extLst>
          </p:cNvPr>
          <p:cNvSpPr txBox="1"/>
          <p:nvPr/>
        </p:nvSpPr>
        <p:spPr>
          <a:xfrm>
            <a:off x="6560712" y="1963030"/>
            <a:ext cx="1610472" cy="12311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前端程式</a:t>
            </a:r>
            <a:endParaRPr lang="en-US" altLang="zh-TW" sz="1400" b="1" dirty="0"/>
          </a:p>
          <a:p>
            <a:pPr algn="ctr"/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JS,Jquery</a:t>
            </a:r>
            <a:endParaRPr lang="en-US" altLang="zh-TW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React</a:t>
            </a: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Angular</a:t>
            </a:r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Vue</a:t>
            </a:r>
            <a:endParaRPr lang="zh-TW" altLang="en-US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2B87074E-9815-0579-0F34-9699E1234E6D}"/>
              </a:ext>
            </a:extLst>
          </p:cNvPr>
          <p:cNvSpPr txBox="1"/>
          <p:nvPr/>
        </p:nvSpPr>
        <p:spPr>
          <a:xfrm>
            <a:off x="2253556" y="366452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前端</a:t>
            </a: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BCE5A332-C09C-0AC1-4485-9FED647D3894}"/>
              </a:ext>
            </a:extLst>
          </p:cNvPr>
          <p:cNvSpPr txBox="1"/>
          <p:nvPr/>
        </p:nvSpPr>
        <p:spPr>
          <a:xfrm>
            <a:off x="4457182" y="1953660"/>
            <a:ext cx="1610472" cy="123110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前端畫面</a:t>
            </a:r>
            <a:endParaRPr lang="en-US" altLang="zh-TW" sz="1400" b="1" dirty="0"/>
          </a:p>
          <a:p>
            <a:pPr algn="ctr"/>
            <a: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  <a:t>HTML+CSS</a:t>
            </a:r>
          </a:p>
          <a:p>
            <a:pPr algn="ctr"/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BootStrap</a:t>
            </a:r>
            <a:br>
              <a:rPr lang="en-US" altLang="zh-TW" sz="14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GoogleSite</a:t>
            </a:r>
            <a:endParaRPr lang="en-US" altLang="zh-TW" sz="14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ctr"/>
            <a:r>
              <a:rPr lang="en-US" altLang="zh-TW" sz="1400" b="1" dirty="0" err="1">
                <a:solidFill>
                  <a:schemeClr val="accent6">
                    <a:lumMod val="75000"/>
                  </a:schemeClr>
                </a:solidFill>
              </a:rPr>
              <a:t>Wix</a:t>
            </a:r>
            <a:endParaRPr lang="en-US" altLang="zh-TW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74A9FA0D-5288-B6B6-770E-AE39F2494EB7}"/>
              </a:ext>
            </a:extLst>
          </p:cNvPr>
          <p:cNvCxnSpPr>
            <a:cxnSpLocks/>
          </p:cNvCxnSpPr>
          <p:nvPr/>
        </p:nvCxnSpPr>
        <p:spPr>
          <a:xfrm>
            <a:off x="4493572" y="2682208"/>
            <a:ext cx="1610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CCE68011-1D06-0C01-F49C-F0FBBC6EEE11}"/>
              </a:ext>
            </a:extLst>
          </p:cNvPr>
          <p:cNvCxnSpPr>
            <a:cxnSpLocks/>
          </p:cNvCxnSpPr>
          <p:nvPr/>
        </p:nvCxnSpPr>
        <p:spPr>
          <a:xfrm>
            <a:off x="4457182" y="2496069"/>
            <a:ext cx="1610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34D5F8C9-891C-6CFA-33DD-2CB9D9F04944}"/>
              </a:ext>
            </a:extLst>
          </p:cNvPr>
          <p:cNvCxnSpPr>
            <a:cxnSpLocks/>
          </p:cNvCxnSpPr>
          <p:nvPr/>
        </p:nvCxnSpPr>
        <p:spPr>
          <a:xfrm>
            <a:off x="6569856" y="2466184"/>
            <a:ext cx="161047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983EEB99-4093-148F-4394-D7D16555C8A6}"/>
              </a:ext>
            </a:extLst>
          </p:cNvPr>
          <p:cNvCxnSpPr/>
          <p:nvPr/>
        </p:nvCxnSpPr>
        <p:spPr>
          <a:xfrm>
            <a:off x="3943804" y="2322168"/>
            <a:ext cx="549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387CF210-9884-326A-D3C9-D445BFCC1798}"/>
              </a:ext>
            </a:extLst>
          </p:cNvPr>
          <p:cNvCxnSpPr/>
          <p:nvPr/>
        </p:nvCxnSpPr>
        <p:spPr>
          <a:xfrm>
            <a:off x="6067654" y="2271384"/>
            <a:ext cx="5497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3" name="文字方塊 52">
            <a:extLst>
              <a:ext uri="{FF2B5EF4-FFF2-40B4-BE49-F238E27FC236}">
                <a16:creationId xmlns:a16="http://schemas.microsoft.com/office/drawing/2014/main" id="{8CB834A9-FC42-695F-58B9-4AE446C3E64E}"/>
              </a:ext>
            </a:extLst>
          </p:cNvPr>
          <p:cNvSpPr txBox="1"/>
          <p:nvPr/>
        </p:nvSpPr>
        <p:spPr>
          <a:xfrm>
            <a:off x="6749868" y="5730591"/>
            <a:ext cx="1512168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TW" altLang="en-US" b="1" dirty="0"/>
              <a:t>架設網站</a:t>
            </a:r>
          </a:p>
        </p:txBody>
      </p:sp>
      <p:cxnSp>
        <p:nvCxnSpPr>
          <p:cNvPr id="58" name="接點: 肘形 57">
            <a:extLst>
              <a:ext uri="{FF2B5EF4-FFF2-40B4-BE49-F238E27FC236}">
                <a16:creationId xmlns:a16="http://schemas.microsoft.com/office/drawing/2014/main" id="{27B2235C-8733-BC6B-F56A-618FC346432C}"/>
              </a:ext>
            </a:extLst>
          </p:cNvPr>
          <p:cNvCxnSpPr>
            <a:stCxn id="38" idx="3"/>
            <a:endCxn id="53" idx="3"/>
          </p:cNvCxnSpPr>
          <p:nvPr/>
        </p:nvCxnSpPr>
        <p:spPr>
          <a:xfrm>
            <a:off x="8171184" y="2578583"/>
            <a:ext cx="90852" cy="3336674"/>
          </a:xfrm>
          <a:prstGeom prst="bentConnector3">
            <a:avLst>
              <a:gd name="adj1" fmla="val 834725"/>
            </a:avLst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9" name="直線單箭頭接點 58">
            <a:extLst>
              <a:ext uri="{FF2B5EF4-FFF2-40B4-BE49-F238E27FC236}">
                <a16:creationId xmlns:a16="http://schemas.microsoft.com/office/drawing/2014/main" id="{3B75ED31-A2D6-3565-3C78-C485B82E2BA2}"/>
              </a:ext>
            </a:extLst>
          </p:cNvPr>
          <p:cNvCxnSpPr>
            <a:cxnSpLocks/>
          </p:cNvCxnSpPr>
          <p:nvPr/>
        </p:nvCxnSpPr>
        <p:spPr>
          <a:xfrm>
            <a:off x="8171184" y="4955106"/>
            <a:ext cx="7933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400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9A7507-53D9-E934-A002-BA477D656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架設網站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FB4973-1B2E-BA59-7655-554B2B4C6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網站式託管服務</a:t>
            </a:r>
            <a:endParaRPr lang="en-US" altLang="zh-TW" dirty="0"/>
          </a:p>
          <a:p>
            <a:pPr lvl="1"/>
            <a:r>
              <a:rPr lang="zh-TW" altLang="en-US" dirty="0"/>
              <a:t>通常由含有製作網頁功能的網站提供，即製作出來的東西就放在該網站 </a:t>
            </a:r>
            <a:r>
              <a:rPr lang="en-US" altLang="zh-TW" dirty="0"/>
              <a:t>(</a:t>
            </a:r>
            <a:r>
              <a:rPr lang="zh-TW" altLang="en-US" dirty="0"/>
              <a:t>如：</a:t>
            </a:r>
            <a:r>
              <a:rPr lang="en-US" altLang="zh-TW" dirty="0"/>
              <a:t>Google Site)</a:t>
            </a:r>
          </a:p>
          <a:p>
            <a:r>
              <a:rPr lang="zh-TW" altLang="en-US" dirty="0"/>
              <a:t>自行購買空間</a:t>
            </a:r>
            <a:endParaRPr lang="en-US" altLang="zh-TW" dirty="0"/>
          </a:p>
          <a:p>
            <a:pPr lvl="1"/>
            <a:r>
              <a:rPr lang="zh-TW" altLang="en-US" dirty="0"/>
              <a:t>只需要有相關空間，</a:t>
            </a:r>
            <a:r>
              <a:rPr lang="en-US" altLang="zh-TW" dirty="0"/>
              <a:t>Google</a:t>
            </a:r>
            <a:r>
              <a:rPr lang="zh-TW" altLang="en-US" dirty="0"/>
              <a:t> </a:t>
            </a:r>
            <a:r>
              <a:rPr lang="en-US" altLang="zh-TW" dirty="0"/>
              <a:t>Site</a:t>
            </a:r>
            <a:r>
              <a:rPr lang="zh-TW" altLang="en-US" dirty="0"/>
              <a:t>、</a:t>
            </a:r>
            <a:r>
              <a:rPr lang="en-US" altLang="zh-TW" dirty="0"/>
              <a:t>Dropbox</a:t>
            </a:r>
          </a:p>
          <a:p>
            <a:pPr lvl="1"/>
            <a:r>
              <a:rPr lang="zh-TW" altLang="en-US" dirty="0"/>
              <a:t>需要購買網域</a:t>
            </a:r>
            <a:endParaRPr lang="en-US" altLang="zh-TW" dirty="0"/>
          </a:p>
          <a:p>
            <a:r>
              <a:rPr lang="zh-TW" altLang="en-US" dirty="0"/>
              <a:t>自行購買主機、空間</a:t>
            </a:r>
            <a:endParaRPr lang="en-US" altLang="zh-TW" dirty="0"/>
          </a:p>
          <a:p>
            <a:pPr lvl="1"/>
            <a:r>
              <a:rPr lang="zh-TW" altLang="en-US" dirty="0"/>
              <a:t>個人電腦、雲端電腦</a:t>
            </a:r>
            <a:r>
              <a:rPr lang="en-US" altLang="zh-TW" dirty="0"/>
              <a:t>(GCP</a:t>
            </a:r>
            <a:r>
              <a:rPr lang="zh-TW" altLang="en-US" dirty="0"/>
              <a:t>、</a:t>
            </a:r>
            <a:r>
              <a:rPr lang="en-US" altLang="zh-TW" dirty="0"/>
              <a:t>AWS)</a:t>
            </a:r>
          </a:p>
          <a:p>
            <a:pPr lvl="1"/>
            <a:r>
              <a:rPr lang="zh-TW" altLang="en-US" dirty="0"/>
              <a:t>需自行架設伺服器</a:t>
            </a:r>
            <a:r>
              <a:rPr lang="en-US" altLang="zh-TW" dirty="0"/>
              <a:t>(Apache)</a:t>
            </a:r>
            <a:r>
              <a:rPr lang="zh-TW" altLang="en-US" dirty="0"/>
              <a:t>、需要購買網域</a:t>
            </a:r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61359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79A08-1BE0-4E2B-99C9-92116974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架設網站：網域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AF9860-75D4-109E-F134-BB3721A9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如果使用自己或雲端的電腦架站，則其他人要連到你的網站需要使用 </a:t>
            </a:r>
            <a:r>
              <a:rPr lang="en-US" altLang="zh-TW" dirty="0"/>
              <a:t>IP</a:t>
            </a:r>
            <a:r>
              <a:rPr lang="zh-TW" altLang="en-US" dirty="0"/>
              <a:t> 連線 </a:t>
            </a:r>
            <a:r>
              <a:rPr lang="en-US" altLang="zh-TW" sz="2400" dirty="0"/>
              <a:t>(</a:t>
            </a:r>
            <a:r>
              <a:rPr lang="zh-TW" altLang="en-US" sz="2400" dirty="0"/>
              <a:t>如：</a:t>
            </a:r>
            <a:r>
              <a:rPr lang="en-US" altLang="zh-TW" sz="2400" dirty="0"/>
              <a:t>123.123.20.12)</a:t>
            </a:r>
            <a:endParaRPr lang="en-US" altLang="zh-TW" dirty="0"/>
          </a:p>
          <a:p>
            <a:r>
              <a:rPr lang="zh-TW" altLang="en-US" dirty="0"/>
              <a:t>我們需要取得一個網域來讓其他人容易記住你的網站 如 </a:t>
            </a:r>
            <a:r>
              <a:rPr lang="en-US" altLang="zh-TW" dirty="0">
                <a:hlinkClick r:id="rId2"/>
              </a:rPr>
              <a:t>www.google.com</a:t>
            </a:r>
            <a:endParaRPr lang="en-US" altLang="zh-TW" dirty="0"/>
          </a:p>
          <a:p>
            <a:pPr lvl="1"/>
            <a:r>
              <a:rPr lang="zh-TW" altLang="en-US" dirty="0"/>
              <a:t>而網域底下的所以可能網址，都會屬於你，如</a:t>
            </a:r>
            <a:r>
              <a:rPr lang="en-US" altLang="zh-TW" dirty="0"/>
              <a:t> </a:t>
            </a:r>
            <a:r>
              <a:rPr lang="en-US" altLang="zh-TW" dirty="0">
                <a:hlinkClick r:id="rId3"/>
              </a:rPr>
              <a:t>www.google.com/search</a:t>
            </a:r>
            <a:endParaRPr lang="en-US" altLang="zh-TW" dirty="0"/>
          </a:p>
          <a:p>
            <a:pPr lvl="1"/>
            <a:r>
              <a:rPr lang="zh-TW" altLang="en-US" dirty="0"/>
              <a:t>常見的頂級域如</a:t>
            </a:r>
            <a:r>
              <a:rPr lang="en-US" altLang="zh-TW" dirty="0"/>
              <a:t>.com </a:t>
            </a:r>
            <a:r>
              <a:rPr lang="en-US" altLang="zh-TW" dirty="0" err="1"/>
              <a:t>.net</a:t>
            </a:r>
            <a:r>
              <a:rPr lang="en-US" altLang="zh-TW" dirty="0"/>
              <a:t> .</a:t>
            </a:r>
            <a:r>
              <a:rPr lang="en-US" altLang="zh-TW" dirty="0" err="1"/>
              <a:t>edu</a:t>
            </a:r>
            <a:r>
              <a:rPr lang="en-US" altLang="zh-TW" dirty="0"/>
              <a:t> .gov .org</a:t>
            </a:r>
          </a:p>
          <a:p>
            <a:r>
              <a:rPr lang="zh-TW" altLang="en-US" dirty="0"/>
              <a:t>網域購買</a:t>
            </a:r>
            <a:endParaRPr lang="en-US" altLang="zh-TW" dirty="0"/>
          </a:p>
          <a:p>
            <a:pPr lvl="1"/>
            <a:r>
              <a:rPr lang="en-US" altLang="zh-TW" dirty="0">
                <a:hlinkClick r:id="rId4"/>
              </a:rPr>
              <a:t>GoDaddy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39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779A08-1BE0-4E2B-99C9-92116974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架設網站：託管型網域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CAF9860-75D4-109E-F134-BB3721A95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網域由其他地方提供，通常你也是在該地方製作網頁。</a:t>
            </a:r>
            <a:endParaRPr lang="en-US" altLang="zh-TW" dirty="0"/>
          </a:p>
          <a:p>
            <a:pPr marL="109728" indent="0">
              <a:buNone/>
            </a:pPr>
            <a:endParaRPr lang="en-US" altLang="zh-TW" dirty="0"/>
          </a:p>
          <a:p>
            <a:pPr algn="l" fontAlgn="ctr"/>
            <a:r>
              <a:rPr lang="zh-TW" altLang="en-US" dirty="0"/>
              <a:t>如：</a:t>
            </a:r>
            <a:r>
              <a:rPr lang="en-US" altLang="zh-TW" b="0" i="0" dirty="0">
                <a:solidFill>
                  <a:srgbClr val="80868B"/>
                </a:solidFill>
                <a:effectLst/>
                <a:latin typeface="Roboto" panose="02000000000000000000" pitchFamily="2" charset="0"/>
              </a:rPr>
              <a:t>https://sites.google.com/view/</a:t>
            </a:r>
            <a:r>
              <a:rPr lang="en-US" altLang="zh-TW" b="1" i="0" dirty="0">
                <a:solidFill>
                  <a:srgbClr val="80868B"/>
                </a:solidFill>
                <a:effectLst/>
                <a:latin typeface="Roboto" panose="02000000000000000000" pitchFamily="2" charset="0"/>
              </a:rPr>
              <a:t>hora-frieren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你可以把這兩種方式想成 買一塊地 </a:t>
            </a:r>
            <a:r>
              <a:rPr lang="en-US" altLang="zh-TW" dirty="0"/>
              <a:t>vs </a:t>
            </a:r>
            <a:r>
              <a:rPr lang="zh-TW" altLang="en-US" dirty="0"/>
              <a:t>租一塊地來蓋房子</a:t>
            </a:r>
          </a:p>
        </p:txBody>
      </p:sp>
    </p:spTree>
    <p:extLst>
      <p:ext uri="{BB962C8B-B14F-4D97-AF65-F5344CB8AC3E}">
        <p14:creationId xmlns:p14="http://schemas.microsoft.com/office/powerpoint/2010/main" val="3840052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C226A-D6F3-2116-0C7D-8AC4BAC6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架設網站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F558A8-89AF-CA7A-6C6A-21078A6E4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架站伺服器軟體</a:t>
            </a:r>
            <a:endParaRPr lang="en-US" altLang="zh-TW" dirty="0"/>
          </a:p>
          <a:p>
            <a:pPr lvl="1"/>
            <a:r>
              <a:rPr lang="en-US" altLang="zh-TW" dirty="0"/>
              <a:t>Apache	</a:t>
            </a:r>
            <a:r>
              <a:rPr lang="zh-TW" altLang="en-US" dirty="0"/>
              <a:t> </a:t>
            </a:r>
            <a:r>
              <a:rPr lang="en-US" altLang="zh-TW" dirty="0"/>
              <a:t>(PHP)</a:t>
            </a:r>
          </a:p>
          <a:p>
            <a:pPr lvl="1"/>
            <a:r>
              <a:rPr lang="en-US" altLang="zh-TW" dirty="0"/>
              <a:t>Tomcat</a:t>
            </a:r>
            <a:r>
              <a:rPr lang="zh-TW" altLang="en-US" dirty="0"/>
              <a:t>  </a:t>
            </a:r>
            <a:r>
              <a:rPr lang="en-US" altLang="zh-TW" dirty="0"/>
              <a:t>(JSP)</a:t>
            </a:r>
          </a:p>
          <a:p>
            <a:pPr lvl="1"/>
            <a:r>
              <a:rPr lang="en-US" altLang="zh-TW" dirty="0"/>
              <a:t>MS</a:t>
            </a:r>
            <a:r>
              <a:rPr lang="zh-TW" altLang="en-US" dirty="0"/>
              <a:t> </a:t>
            </a:r>
            <a:r>
              <a:rPr lang="en-US" altLang="zh-TW" dirty="0"/>
              <a:t>Server</a:t>
            </a:r>
            <a:r>
              <a:rPr lang="zh-TW" altLang="en-US" dirty="0"/>
              <a:t>  </a:t>
            </a:r>
            <a:r>
              <a:rPr lang="en-US" altLang="zh-TW" dirty="0"/>
              <a:t>(ASP.NET)</a:t>
            </a:r>
          </a:p>
          <a:p>
            <a:pPr lvl="1"/>
            <a:r>
              <a:rPr lang="en-US" altLang="zh-TW" dirty="0"/>
              <a:t>Node.js (JS)</a:t>
            </a:r>
          </a:p>
          <a:p>
            <a:r>
              <a:rPr lang="zh-TW" altLang="en-US" dirty="0"/>
              <a:t>整合性軟體</a:t>
            </a:r>
            <a:endParaRPr lang="en-US" altLang="zh-TW" dirty="0"/>
          </a:p>
          <a:p>
            <a:pPr lvl="1"/>
            <a:r>
              <a:rPr lang="en-US" altLang="zh-TW" dirty="0"/>
              <a:t>WordPress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內容管理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/>
              <a:t>XAMPP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zh-TW" altLang="en-US" dirty="0"/>
              <a:t>架站資源集合</a:t>
            </a:r>
            <a:r>
              <a:rPr lang="en-US" altLang="zh-TW" dirty="0"/>
              <a:t>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13936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D63BF9-C90A-FBB0-E36C-ABFDF7BF0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WordPress.org </a:t>
            </a:r>
            <a:r>
              <a:rPr lang="zh-TW" altLang="en-US" dirty="0"/>
              <a:t>與 </a:t>
            </a:r>
            <a:r>
              <a:rPr lang="en-US" altLang="zh-TW" dirty="0"/>
              <a:t>WordPress.com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A2746D-F045-E47D-5770-8DF5CBBD02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WordPress</a:t>
            </a:r>
            <a:r>
              <a:rPr lang="zh-TW" altLang="en-US" dirty="0"/>
              <a:t>是一套軟體，由</a:t>
            </a:r>
            <a:r>
              <a:rPr lang="en-US" altLang="zh-TW" dirty="0"/>
              <a:t>WordPress.org</a:t>
            </a:r>
            <a:r>
              <a:rPr lang="zh-TW" altLang="en-US" dirty="0"/>
              <a:t>下載</a:t>
            </a:r>
            <a:endParaRPr lang="en-US" altLang="zh-TW" dirty="0"/>
          </a:p>
          <a:p>
            <a:pPr lvl="1"/>
            <a:r>
              <a:rPr lang="en-US" altLang="zh-TW" dirty="0"/>
              <a:t>content management system (CMS)</a:t>
            </a:r>
            <a:r>
              <a:rPr lang="zh-TW" altLang="en-US" dirty="0"/>
              <a:t>，內容管理系統，協助管理</a:t>
            </a:r>
            <a:r>
              <a:rPr lang="en-US" altLang="zh-TW" dirty="0"/>
              <a:t>&amp;</a:t>
            </a:r>
            <a:r>
              <a:rPr lang="zh-TW" altLang="en-US" dirty="0"/>
              <a:t>架設網站</a:t>
            </a:r>
            <a:endParaRPr lang="en-US" altLang="zh-TW" dirty="0"/>
          </a:p>
          <a:p>
            <a:pPr lvl="1"/>
            <a:r>
              <a:rPr lang="zh-TW" altLang="en-US" dirty="0"/>
              <a:t>可免費在</a:t>
            </a:r>
            <a:r>
              <a:rPr lang="en-US" altLang="zh-TW" dirty="0">
                <a:solidFill>
                  <a:srgbClr val="FF0000"/>
                </a:solidFill>
              </a:rPr>
              <a:t>WordPress.org</a:t>
            </a:r>
            <a:r>
              <a:rPr lang="zh-TW" altLang="en-US" dirty="0"/>
              <a:t>下載</a:t>
            </a:r>
            <a:endParaRPr lang="en-US" altLang="zh-TW" dirty="0"/>
          </a:p>
          <a:p>
            <a:pPr lvl="1"/>
            <a:r>
              <a:rPr lang="zh-TW" altLang="en-US" dirty="0"/>
              <a:t>後端使用</a:t>
            </a:r>
            <a:r>
              <a:rPr lang="en-US" altLang="zh-TW" dirty="0"/>
              <a:t>PHP</a:t>
            </a:r>
            <a:r>
              <a:rPr lang="zh-TW" altLang="en-US" dirty="0"/>
              <a:t> </a:t>
            </a:r>
            <a:r>
              <a:rPr lang="en-US" altLang="zh-TW" dirty="0"/>
              <a:t>+</a:t>
            </a:r>
            <a:r>
              <a:rPr lang="zh-TW" altLang="en-US" dirty="0"/>
              <a:t> </a:t>
            </a:r>
            <a:r>
              <a:rPr lang="en-US" altLang="zh-TW" dirty="0"/>
              <a:t>MySQL</a:t>
            </a:r>
            <a:r>
              <a:rPr lang="zh-TW" altLang="en-US" dirty="0"/>
              <a:t> </a:t>
            </a:r>
            <a:r>
              <a:rPr lang="en-US" altLang="zh-TW" dirty="0"/>
              <a:t>(MariaDB)</a:t>
            </a:r>
          </a:p>
          <a:p>
            <a:pPr lvl="1"/>
            <a:r>
              <a:rPr lang="zh-TW" altLang="en-US" dirty="0"/>
              <a:t>現在有</a:t>
            </a:r>
            <a:r>
              <a:rPr lang="en-US" altLang="zh-TW" dirty="0"/>
              <a:t>40%</a:t>
            </a:r>
            <a:r>
              <a:rPr lang="zh-TW" altLang="en-US" dirty="0"/>
              <a:t>的網站由</a:t>
            </a:r>
            <a:r>
              <a:rPr lang="en-US" altLang="zh-TW" dirty="0"/>
              <a:t>WordPress</a:t>
            </a:r>
            <a:r>
              <a:rPr lang="zh-TW" altLang="en-US" dirty="0"/>
              <a:t>製作</a:t>
            </a:r>
            <a:endParaRPr lang="en-US" altLang="zh-TW" dirty="0"/>
          </a:p>
          <a:p>
            <a:r>
              <a:rPr lang="en-US" altLang="zh-TW" dirty="0"/>
              <a:t>WordPress.com</a:t>
            </a:r>
            <a:r>
              <a:rPr lang="zh-TW" altLang="en-US" dirty="0"/>
              <a:t>是一個線上網站</a:t>
            </a:r>
            <a:endParaRPr lang="en-US" altLang="zh-TW" dirty="0"/>
          </a:p>
          <a:p>
            <a:pPr lvl="1"/>
            <a:r>
              <a:rPr lang="zh-TW" altLang="en-US" dirty="0"/>
              <a:t>線上編輯網頁並使用</a:t>
            </a:r>
            <a:r>
              <a:rPr lang="en-US" altLang="zh-TW" dirty="0"/>
              <a:t>WordPress</a:t>
            </a:r>
            <a:r>
              <a:rPr lang="zh-TW" altLang="en-US" dirty="0"/>
              <a:t>軟體發布</a:t>
            </a:r>
            <a:endParaRPr lang="en-US" altLang="zh-TW" dirty="0"/>
          </a:p>
          <a:p>
            <a:pPr lvl="1"/>
            <a:r>
              <a:rPr lang="zh-TW" altLang="en-US" dirty="0"/>
              <a:t>也有免費託管服務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99109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6C00C5-1B47-AB88-AF15-95D0F196C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前端製作方法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1CE3D7-6659-EBC4-0FC5-3EA0A1A9B4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線上製作型</a:t>
            </a:r>
            <a:endParaRPr lang="en-US" altLang="zh-TW" dirty="0"/>
          </a:p>
          <a:p>
            <a:pPr lvl="1"/>
            <a:r>
              <a:rPr lang="en-US" altLang="zh-TW" dirty="0"/>
              <a:t>Google Site</a:t>
            </a:r>
          </a:p>
          <a:p>
            <a:pPr lvl="1"/>
            <a:r>
              <a:rPr lang="en-US" altLang="zh-TW" dirty="0"/>
              <a:t>Weebly</a:t>
            </a:r>
          </a:p>
          <a:p>
            <a:pPr lvl="1"/>
            <a:r>
              <a:rPr lang="en-US" altLang="zh-TW" dirty="0" err="1"/>
              <a:t>Wix</a:t>
            </a:r>
            <a:endParaRPr lang="en-US" altLang="zh-TW" dirty="0"/>
          </a:p>
          <a:p>
            <a:pPr lvl="1"/>
            <a:r>
              <a:rPr lang="en-US" altLang="zh-TW" dirty="0"/>
              <a:t>WordPress.com</a:t>
            </a:r>
          </a:p>
          <a:p>
            <a:r>
              <a:rPr lang="zh-TW" altLang="en-US" dirty="0"/>
              <a:t>工具型</a:t>
            </a:r>
            <a:endParaRPr lang="en-US" altLang="zh-TW" dirty="0"/>
          </a:p>
          <a:p>
            <a:pPr lvl="1"/>
            <a:r>
              <a:rPr lang="en-US" altLang="zh-TW" dirty="0" err="1"/>
              <a:t>DreamWeaver</a:t>
            </a:r>
            <a:endParaRPr lang="en-US" altLang="zh-TW" dirty="0"/>
          </a:p>
          <a:p>
            <a:pPr lvl="1"/>
            <a:r>
              <a:rPr lang="en-US" altLang="zh-TW" dirty="0"/>
              <a:t>Visual Code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76151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A4177F7-E02F-9CFE-D2CB-B2A0B5E9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/>
              <a:t>Wix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B8A7E7-D15D-C1E3-0713-35CD5B256B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較容易使用</a:t>
            </a:r>
            <a:endParaRPr lang="en-US" altLang="zh-TW" dirty="0"/>
          </a:p>
          <a:p>
            <a:r>
              <a:rPr lang="zh-TW" altLang="en-US" dirty="0"/>
              <a:t>範本多</a:t>
            </a:r>
            <a:endParaRPr lang="en-US" altLang="zh-TW" dirty="0"/>
          </a:p>
          <a:p>
            <a:r>
              <a:rPr lang="zh-TW" altLang="en-US" dirty="0"/>
              <a:t>可以自動做部分後端功能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SEO</a:t>
            </a:r>
            <a:r>
              <a:rPr lang="zh-TW" altLang="en-US" dirty="0"/>
              <a:t>排名低 </a:t>
            </a:r>
            <a:r>
              <a:rPr lang="en-US" altLang="zh-TW" dirty="0"/>
              <a:t>(</a:t>
            </a:r>
            <a:r>
              <a:rPr lang="zh-TW" altLang="en-US" dirty="0"/>
              <a:t>搜尋引擎優化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免費方案會有廣告</a:t>
            </a:r>
            <a:endParaRPr lang="en-US" altLang="zh-TW" dirty="0"/>
          </a:p>
          <a:p>
            <a:r>
              <a:rPr lang="zh-TW" altLang="en-US" dirty="0"/>
              <a:t>無法搬家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885249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1035</TotalTime>
  <Words>440</Words>
  <Application>Microsoft Office PowerPoint</Application>
  <PresentationFormat>如螢幕大小 (4:3)</PresentationFormat>
  <Paragraphs>86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5" baseType="lpstr">
      <vt:lpstr>Arial</vt:lpstr>
      <vt:lpstr>Georgia</vt:lpstr>
      <vt:lpstr>Roboto</vt:lpstr>
      <vt:lpstr>Times New Roman</vt:lpstr>
      <vt:lpstr>Wingdings 2</vt:lpstr>
      <vt:lpstr>都會</vt:lpstr>
      <vt:lpstr>Lesson 10 架設網站概論</vt:lpstr>
      <vt:lpstr>製作流程</vt:lpstr>
      <vt:lpstr>架設網站</vt:lpstr>
      <vt:lpstr>架設網站：網域</vt:lpstr>
      <vt:lpstr>架設網站：託管型網域</vt:lpstr>
      <vt:lpstr>架設網站</vt:lpstr>
      <vt:lpstr>WordPress.org 與 WordPress.com</vt:lpstr>
      <vt:lpstr>前端製作方法 </vt:lpstr>
      <vt:lpstr>Wix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仕明 張</cp:lastModifiedBy>
  <cp:revision>133</cp:revision>
  <dcterms:created xsi:type="dcterms:W3CDTF">2024-11-18T05:57:07Z</dcterms:created>
  <dcterms:modified xsi:type="dcterms:W3CDTF">2025-04-08T09:18:16Z</dcterms:modified>
</cp:coreProperties>
</file>