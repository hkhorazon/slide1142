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  <p:sldId id="266" r:id="rId11"/>
    <p:sldId id="265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47" autoAdjust="0"/>
  </p:normalViewPr>
  <p:slideViewPr>
    <p:cSldViewPr>
      <p:cViewPr varScale="1">
        <p:scale>
          <a:sx n="105" d="100"/>
          <a:sy n="105" d="100"/>
        </p:scale>
        <p:origin x="179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zh-CN/docs/Web/CS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Lesson 5</a:t>
            </a:r>
            <a:br>
              <a:rPr lang="en-US" altLang="zh-TW" dirty="0"/>
            </a:br>
            <a:r>
              <a:rPr lang="en-US" altLang="zh-TW" dirty="0"/>
              <a:t>CSS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互動媒體製作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181758-3E7A-DA0E-6430-0DE81E521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基本概念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1880A1-F0CD-CA59-7A0D-7216E8209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html inline</a:t>
            </a:r>
            <a:r>
              <a:rPr lang="zh-TW" altLang="en-US" dirty="0"/>
              <a:t>語法</a:t>
            </a:r>
            <a:endParaRPr lang="en-US" altLang="zh-TW" dirty="0"/>
          </a:p>
          <a:p>
            <a:pPr lvl="1"/>
            <a:r>
              <a:rPr lang="en-US" altLang="zh-TW" dirty="0"/>
              <a:t>&lt;p style=“</a:t>
            </a:r>
            <a:r>
              <a:rPr lang="en-US" altLang="zh-TW" dirty="0" err="1"/>
              <a:t>color:red</a:t>
            </a:r>
            <a:r>
              <a:rPr lang="en-US" altLang="zh-TW" dirty="0"/>
              <a:t>;”&gt;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html </a:t>
            </a:r>
            <a:r>
              <a:rPr lang="zh-TW" altLang="en-US" dirty="0"/>
              <a:t>標頭 </a:t>
            </a:r>
            <a:r>
              <a:rPr lang="en-US" altLang="zh-TW" dirty="0"/>
              <a:t>(</a:t>
            </a:r>
            <a:r>
              <a:rPr lang="zh-TW" altLang="en-US" dirty="0"/>
              <a:t>放在</a:t>
            </a:r>
            <a:r>
              <a:rPr lang="en-US" altLang="zh-TW" dirty="0"/>
              <a:t>&lt;head&gt;</a:t>
            </a:r>
            <a:r>
              <a:rPr lang="zh-TW" altLang="en-US" dirty="0"/>
              <a:t>中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&lt;style&gt; p{</a:t>
            </a:r>
            <a:r>
              <a:rPr lang="en-US" altLang="zh-TW" dirty="0" err="1"/>
              <a:t>color:red</a:t>
            </a:r>
            <a:r>
              <a:rPr lang="en-US" altLang="zh-TW" dirty="0"/>
              <a:t>;} &lt;/style&gt;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獨立</a:t>
            </a:r>
            <a:r>
              <a:rPr lang="en-US" altLang="zh-TW" dirty="0"/>
              <a:t>CSS</a:t>
            </a:r>
            <a:r>
              <a:rPr lang="zh-TW" altLang="en-US" dirty="0"/>
              <a:t>檔案</a:t>
            </a:r>
            <a:endParaRPr lang="en-US" altLang="zh-TW" dirty="0"/>
          </a:p>
          <a:p>
            <a:pPr lvl="1"/>
            <a:r>
              <a:rPr lang="en-US" altLang="zh-TW" dirty="0"/>
              <a:t>p</a:t>
            </a:r>
            <a:r>
              <a:rPr lang="zh-TW" altLang="en-US" dirty="0"/>
              <a:t> </a:t>
            </a:r>
            <a:r>
              <a:rPr lang="en-US" altLang="zh-TW" dirty="0"/>
              <a:t>{</a:t>
            </a:r>
            <a:r>
              <a:rPr lang="en-US" altLang="zh-TW" dirty="0" err="1"/>
              <a:t>color:red</a:t>
            </a:r>
            <a:r>
              <a:rPr lang="en-US" altLang="zh-TW" dirty="0"/>
              <a:t>;}</a:t>
            </a:r>
          </a:p>
        </p:txBody>
      </p:sp>
    </p:spTree>
    <p:extLst>
      <p:ext uri="{BB962C8B-B14F-4D97-AF65-F5344CB8AC3E}">
        <p14:creationId xmlns:p14="http://schemas.microsoft.com/office/powerpoint/2010/main" val="4141849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C9C6C8-2534-E4D7-7685-81FB0318C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632" y="2924944"/>
            <a:ext cx="6768752" cy="3649592"/>
          </a:xfrm>
        </p:spPr>
        <p:txBody>
          <a:bodyPr/>
          <a:lstStyle/>
          <a:p>
            <a:pPr marL="109728" indent="0">
              <a:buNone/>
            </a:pPr>
            <a:r>
              <a:rPr lang="en-US" altLang="zh-TW" dirty="0"/>
              <a:t>p</a:t>
            </a:r>
            <a:r>
              <a:rPr lang="zh-TW" altLang="en-US" dirty="0"/>
              <a:t> </a:t>
            </a:r>
            <a:r>
              <a:rPr lang="en-US" altLang="zh-TW" dirty="0"/>
              <a:t>{</a:t>
            </a:r>
          </a:p>
          <a:p>
            <a:pPr marL="109728" indent="0">
              <a:buNone/>
            </a:pPr>
            <a:r>
              <a:rPr lang="en-US" altLang="zh-TW" dirty="0"/>
              <a:t>	color : red ;</a:t>
            </a:r>
          </a:p>
          <a:p>
            <a:pPr marL="109728" indent="0">
              <a:buNone/>
            </a:pPr>
            <a:r>
              <a:rPr lang="en-US" altLang="zh-TW" dirty="0"/>
              <a:t>	background-color : </a:t>
            </a:r>
            <a:r>
              <a:rPr lang="en-US" altLang="zh-TW" dirty="0" err="1"/>
              <a:t>darkorchid</a:t>
            </a:r>
            <a:r>
              <a:rPr lang="en-US" altLang="zh-TW" dirty="0"/>
              <a:t> ;</a:t>
            </a:r>
          </a:p>
          <a:p>
            <a:pPr marL="109728" indent="0">
              <a:buNone/>
            </a:pPr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45BD1D-8D15-B427-0F7D-F56E4B61E5D6}"/>
              </a:ext>
            </a:extLst>
          </p:cNvPr>
          <p:cNvSpPr/>
          <p:nvPr/>
        </p:nvSpPr>
        <p:spPr>
          <a:xfrm>
            <a:off x="1331640" y="3026672"/>
            <a:ext cx="432048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317A2C7-BAE8-CF31-54A4-E653958DC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CSS</a:t>
            </a:r>
            <a:r>
              <a:rPr lang="zh-TW" altLang="en-US" dirty="0"/>
              <a:t>基本結構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7DD4198-DEC1-A023-D935-2BCB61946CC5}"/>
              </a:ext>
            </a:extLst>
          </p:cNvPr>
          <p:cNvSpPr txBox="1"/>
          <p:nvPr/>
        </p:nvSpPr>
        <p:spPr>
          <a:xfrm>
            <a:off x="683568" y="2470343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highlight>
                  <a:srgbClr val="000000"/>
                </a:highlight>
              </a:rPr>
              <a:t>Selector </a:t>
            </a:r>
            <a:r>
              <a:rPr lang="zh-TW" altLang="en-US" sz="2400" dirty="0">
                <a:solidFill>
                  <a:srgbClr val="FF0000"/>
                </a:solidFill>
                <a:highlight>
                  <a:srgbClr val="000000"/>
                </a:highlight>
              </a:rPr>
              <a:t>選擇器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BAADC8-3F60-5F27-9C9E-FA88CA30E0BC}"/>
              </a:ext>
            </a:extLst>
          </p:cNvPr>
          <p:cNvSpPr/>
          <p:nvPr/>
        </p:nvSpPr>
        <p:spPr>
          <a:xfrm>
            <a:off x="2199192" y="3453000"/>
            <a:ext cx="860640" cy="43204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EF7A47-FCAF-18DB-8B28-01669FEA83D4}"/>
              </a:ext>
            </a:extLst>
          </p:cNvPr>
          <p:cNvSpPr/>
          <p:nvPr/>
        </p:nvSpPr>
        <p:spPr>
          <a:xfrm>
            <a:off x="2199192" y="3925992"/>
            <a:ext cx="2876864" cy="43204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46592EF-8F7A-D87E-5415-EA2242BF8AFE}"/>
              </a:ext>
            </a:extLst>
          </p:cNvPr>
          <p:cNvSpPr txBox="1"/>
          <p:nvPr/>
        </p:nvSpPr>
        <p:spPr>
          <a:xfrm>
            <a:off x="2123728" y="4731143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C000"/>
                </a:solidFill>
                <a:highlight>
                  <a:srgbClr val="000000"/>
                </a:highlight>
              </a:rPr>
              <a:t>Attribute </a:t>
            </a:r>
            <a:r>
              <a:rPr lang="zh-TW" altLang="en-US" sz="2400" dirty="0">
                <a:solidFill>
                  <a:srgbClr val="FFC000"/>
                </a:solidFill>
                <a:highlight>
                  <a:srgbClr val="000000"/>
                </a:highlight>
              </a:rPr>
              <a:t>屬性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DF55C7-F007-1777-8F1F-235C7F15F248}"/>
              </a:ext>
            </a:extLst>
          </p:cNvPr>
          <p:cNvSpPr/>
          <p:nvPr/>
        </p:nvSpPr>
        <p:spPr>
          <a:xfrm>
            <a:off x="3234738" y="3439272"/>
            <a:ext cx="689190" cy="43204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92D050"/>
              </a:solidFill>
              <a:highlight>
                <a:srgbClr val="00FF00"/>
              </a:highligh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6EE3884-AE29-14E5-CFCD-FF2FF9A3F17E}"/>
              </a:ext>
            </a:extLst>
          </p:cNvPr>
          <p:cNvSpPr/>
          <p:nvPr/>
        </p:nvSpPr>
        <p:spPr>
          <a:xfrm>
            <a:off x="5292080" y="3925992"/>
            <a:ext cx="1728192" cy="43204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92D050"/>
              </a:solidFill>
              <a:highlight>
                <a:srgbClr val="00FF00"/>
              </a:highligh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B897A1A-A6BF-64ED-D683-F73A043A52F9}"/>
              </a:ext>
            </a:extLst>
          </p:cNvPr>
          <p:cNvSpPr txBox="1"/>
          <p:nvPr/>
        </p:nvSpPr>
        <p:spPr>
          <a:xfrm>
            <a:off x="5076056" y="4731142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92D050"/>
                </a:solidFill>
                <a:highlight>
                  <a:srgbClr val="000000"/>
                </a:highlight>
              </a:rPr>
              <a:t>Value </a:t>
            </a:r>
            <a:r>
              <a:rPr lang="zh-TW" altLang="en-US" sz="2400" dirty="0">
                <a:solidFill>
                  <a:srgbClr val="92D050"/>
                </a:solidFill>
                <a:highlight>
                  <a:srgbClr val="000000"/>
                </a:highlight>
              </a:rPr>
              <a:t>值</a:t>
            </a:r>
          </a:p>
        </p:txBody>
      </p:sp>
    </p:spTree>
    <p:extLst>
      <p:ext uri="{BB962C8B-B14F-4D97-AF65-F5344CB8AC3E}">
        <p14:creationId xmlns:p14="http://schemas.microsoft.com/office/powerpoint/2010/main" val="647964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3E04F2-F6CF-6DD5-32DF-1ED5B780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Selector </a:t>
            </a:r>
            <a:r>
              <a:rPr lang="zh-TW" altLang="en-US" dirty="0"/>
              <a:t>選擇器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C8388B-77EE-4F11-D391-E4EAC2EC6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全域 </a:t>
            </a:r>
            <a:r>
              <a:rPr lang="en-US" altLang="zh-TW" dirty="0"/>
              <a:t>(</a:t>
            </a:r>
            <a:r>
              <a:rPr lang="zh-TW" altLang="en-US" dirty="0"/>
              <a:t>*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type</a:t>
            </a:r>
            <a:r>
              <a:rPr lang="zh-TW" altLang="en-US" dirty="0"/>
              <a:t>型態選擇器 </a:t>
            </a:r>
            <a:r>
              <a:rPr lang="en-US" altLang="zh-TW" dirty="0"/>
              <a:t>()</a:t>
            </a:r>
          </a:p>
          <a:p>
            <a:pPr lvl="1"/>
            <a:r>
              <a:rPr lang="en-US" altLang="zh-TW" dirty="0"/>
              <a:t>pseudo-element</a:t>
            </a:r>
            <a:r>
              <a:rPr lang="zh-TW" altLang="en-US" dirty="0"/>
              <a:t>偽元素 </a:t>
            </a:r>
            <a:r>
              <a:rPr lang="en-US" altLang="zh-TW" dirty="0"/>
              <a:t>(::before)</a:t>
            </a:r>
          </a:p>
          <a:p>
            <a:r>
              <a:rPr lang="en-US" altLang="zh-TW" dirty="0"/>
              <a:t>class</a:t>
            </a:r>
            <a:r>
              <a:rPr lang="zh-TW" altLang="en-US" dirty="0"/>
              <a:t>類選擇器 </a:t>
            </a:r>
            <a:r>
              <a:rPr lang="en-US" altLang="zh-TW" dirty="0"/>
              <a:t>(.)</a:t>
            </a:r>
          </a:p>
          <a:p>
            <a:pPr lvl="1"/>
            <a:r>
              <a:rPr lang="en-US" altLang="zh-TW" dirty="0"/>
              <a:t>pseudo-class</a:t>
            </a:r>
            <a:r>
              <a:rPr lang="zh-TW" altLang="en-US" dirty="0"/>
              <a:t>偽類選擇器 </a:t>
            </a:r>
            <a:r>
              <a:rPr lang="en-US" altLang="zh-TW" dirty="0"/>
              <a:t>(:hover)</a:t>
            </a:r>
          </a:p>
          <a:p>
            <a:r>
              <a:rPr lang="en-US" altLang="zh-TW" dirty="0"/>
              <a:t>id</a:t>
            </a:r>
            <a:r>
              <a:rPr lang="zh-TW" altLang="en-US" dirty="0"/>
              <a:t>選擇器 </a:t>
            </a:r>
            <a:r>
              <a:rPr lang="en-US" altLang="zh-TW" dirty="0"/>
              <a:t>(#)</a:t>
            </a:r>
          </a:p>
          <a:p>
            <a:r>
              <a:rPr lang="en-US" altLang="zh-TW" dirty="0"/>
              <a:t>inline </a:t>
            </a:r>
            <a:r>
              <a:rPr lang="zh-TW" altLang="en-US" dirty="0"/>
              <a:t>行內 </a:t>
            </a:r>
            <a:r>
              <a:rPr lang="en-US" altLang="zh-TW" dirty="0"/>
              <a:t>(&lt;p style=“</a:t>
            </a:r>
            <a:r>
              <a:rPr lang="en-US" altLang="zh-TW" dirty="0" err="1"/>
              <a:t>color:red</a:t>
            </a:r>
            <a:r>
              <a:rPr lang="en-US" altLang="zh-TW" dirty="0"/>
              <a:t>;”&gt;&lt;/p&gt;)</a:t>
            </a:r>
          </a:p>
          <a:p>
            <a:r>
              <a:rPr lang="en-US" altLang="zh-TW" dirty="0"/>
              <a:t>Important </a:t>
            </a:r>
            <a:r>
              <a:rPr lang="zh-TW" altLang="en-US" dirty="0"/>
              <a:t>重要宣告 </a:t>
            </a:r>
            <a:r>
              <a:rPr lang="en-US" altLang="zh-TW" dirty="0"/>
              <a:t>(!important)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9107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837E58-4EA7-94E6-8501-B2E732F4B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選擇器合成</a:t>
            </a:r>
            <a:r>
              <a:rPr lang="en-US" altLang="zh-TW" dirty="0"/>
              <a:t>(Selector Combinator)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92D6E0-F6D6-F531-2FA0-FD62FCBE3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多重選擇 </a:t>
            </a:r>
            <a:r>
              <a:rPr lang="en-US" altLang="zh-TW" dirty="0"/>
              <a:t>(</a:t>
            </a:r>
            <a:r>
              <a:rPr lang="zh-TW" altLang="en-US" dirty="0"/>
              <a:t>用在</a:t>
            </a:r>
            <a:r>
              <a:rPr lang="en-US" altLang="zh-TW" dirty="0"/>
              <a:t>class,</a:t>
            </a:r>
            <a:r>
              <a:rPr lang="zh-TW" altLang="en-US" dirty="0"/>
              <a:t>直接連接</a:t>
            </a:r>
            <a:r>
              <a:rPr lang="en-US" altLang="zh-TW" dirty="0"/>
              <a:t>)</a:t>
            </a:r>
          </a:p>
          <a:p>
            <a:r>
              <a:rPr lang="en-US" altLang="zh-TW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Descendant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空格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</a:t>
            </a:r>
          </a:p>
          <a:p>
            <a:r>
              <a:rPr lang="en-US" altLang="zh-TW" dirty="0"/>
              <a:t>Child</a:t>
            </a:r>
            <a:r>
              <a:rPr lang="zh-TW" altLang="en-US" dirty="0"/>
              <a:t> 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&gt; )</a:t>
            </a:r>
          </a:p>
          <a:p>
            <a:r>
              <a:rPr lang="en-US" altLang="zh-TW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Next Sibling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 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(+)</a:t>
            </a:r>
          </a:p>
          <a:p>
            <a:r>
              <a:rPr lang="en-US" altLang="zh-TW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Subsequent-sibling (~)</a:t>
            </a:r>
          </a:p>
          <a:p>
            <a:endParaRPr lang="en-US" altLang="zh-TW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US" altLang="zh-TW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0048B5C-DC34-EE6A-1BC6-B2793CA4A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832624"/>
            <a:ext cx="4633008" cy="182424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21179DE-3CB5-5B92-85EE-16ED948B9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3429000"/>
            <a:ext cx="2376264" cy="322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008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C9C6C8-2534-E4D7-7685-81FB0318C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632" y="2924944"/>
            <a:ext cx="6768752" cy="3649592"/>
          </a:xfrm>
        </p:spPr>
        <p:txBody>
          <a:bodyPr/>
          <a:lstStyle/>
          <a:p>
            <a:pPr marL="109728" indent="0">
              <a:buNone/>
            </a:pPr>
            <a:r>
              <a:rPr lang="en-US" altLang="zh-TW" dirty="0"/>
              <a:t>p</a:t>
            </a:r>
            <a:r>
              <a:rPr lang="zh-TW" altLang="en-US" dirty="0"/>
              <a:t> </a:t>
            </a:r>
            <a:r>
              <a:rPr lang="en-US" altLang="zh-TW" dirty="0"/>
              <a:t>{</a:t>
            </a:r>
          </a:p>
          <a:p>
            <a:pPr marL="109728" indent="0">
              <a:buNone/>
            </a:pPr>
            <a:r>
              <a:rPr lang="en-US" altLang="zh-TW" dirty="0"/>
              <a:t>	color : red ;</a:t>
            </a:r>
          </a:p>
          <a:p>
            <a:pPr marL="109728" indent="0">
              <a:buNone/>
            </a:pPr>
            <a:r>
              <a:rPr lang="en-US" altLang="zh-TW" dirty="0"/>
              <a:t>	background-color : </a:t>
            </a:r>
            <a:r>
              <a:rPr lang="en-US" altLang="zh-TW" dirty="0" err="1"/>
              <a:t>darkorchid</a:t>
            </a:r>
            <a:r>
              <a:rPr lang="en-US" altLang="zh-TW" dirty="0"/>
              <a:t> ;</a:t>
            </a:r>
          </a:p>
          <a:p>
            <a:pPr marL="109728" indent="0">
              <a:buNone/>
            </a:pPr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45BD1D-8D15-B427-0F7D-F56E4B61E5D6}"/>
              </a:ext>
            </a:extLst>
          </p:cNvPr>
          <p:cNvSpPr/>
          <p:nvPr/>
        </p:nvSpPr>
        <p:spPr>
          <a:xfrm>
            <a:off x="1331640" y="3026672"/>
            <a:ext cx="432048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317A2C7-BAE8-CF31-54A4-E653958DC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CSS</a:t>
            </a:r>
            <a:r>
              <a:rPr lang="zh-TW" altLang="en-US" dirty="0"/>
              <a:t>基本結構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7DD4198-DEC1-A023-D935-2BCB61946CC5}"/>
              </a:ext>
            </a:extLst>
          </p:cNvPr>
          <p:cNvSpPr txBox="1"/>
          <p:nvPr/>
        </p:nvSpPr>
        <p:spPr>
          <a:xfrm>
            <a:off x="683568" y="2470343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highlight>
                  <a:srgbClr val="000000"/>
                </a:highlight>
              </a:rPr>
              <a:t>Selector </a:t>
            </a:r>
            <a:r>
              <a:rPr lang="zh-TW" altLang="en-US" sz="2400" dirty="0">
                <a:solidFill>
                  <a:srgbClr val="FF0000"/>
                </a:solidFill>
                <a:highlight>
                  <a:srgbClr val="000000"/>
                </a:highlight>
              </a:rPr>
              <a:t>選擇器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BAADC8-3F60-5F27-9C9E-FA88CA30E0BC}"/>
              </a:ext>
            </a:extLst>
          </p:cNvPr>
          <p:cNvSpPr/>
          <p:nvPr/>
        </p:nvSpPr>
        <p:spPr>
          <a:xfrm>
            <a:off x="2199192" y="3453000"/>
            <a:ext cx="860640" cy="43204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EF7A47-FCAF-18DB-8B28-01669FEA83D4}"/>
              </a:ext>
            </a:extLst>
          </p:cNvPr>
          <p:cNvSpPr/>
          <p:nvPr/>
        </p:nvSpPr>
        <p:spPr>
          <a:xfrm>
            <a:off x="2199192" y="3925992"/>
            <a:ext cx="2876864" cy="43204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46592EF-8F7A-D87E-5415-EA2242BF8AFE}"/>
              </a:ext>
            </a:extLst>
          </p:cNvPr>
          <p:cNvSpPr txBox="1"/>
          <p:nvPr/>
        </p:nvSpPr>
        <p:spPr>
          <a:xfrm>
            <a:off x="2123728" y="4731143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C000"/>
                </a:solidFill>
                <a:highlight>
                  <a:srgbClr val="000000"/>
                </a:highlight>
              </a:rPr>
              <a:t>Attribute </a:t>
            </a:r>
            <a:r>
              <a:rPr lang="zh-TW" altLang="en-US" sz="2400" dirty="0">
                <a:solidFill>
                  <a:srgbClr val="FFC000"/>
                </a:solidFill>
                <a:highlight>
                  <a:srgbClr val="000000"/>
                </a:highlight>
              </a:rPr>
              <a:t>屬性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DF55C7-F007-1777-8F1F-235C7F15F248}"/>
              </a:ext>
            </a:extLst>
          </p:cNvPr>
          <p:cNvSpPr/>
          <p:nvPr/>
        </p:nvSpPr>
        <p:spPr>
          <a:xfrm>
            <a:off x="3234738" y="3439272"/>
            <a:ext cx="689190" cy="43204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92D050"/>
              </a:solidFill>
              <a:highlight>
                <a:srgbClr val="00FF00"/>
              </a:highligh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6EE3884-AE29-14E5-CFCD-FF2FF9A3F17E}"/>
              </a:ext>
            </a:extLst>
          </p:cNvPr>
          <p:cNvSpPr/>
          <p:nvPr/>
        </p:nvSpPr>
        <p:spPr>
          <a:xfrm>
            <a:off x="5292080" y="3925992"/>
            <a:ext cx="1728192" cy="43204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92D050"/>
              </a:solidFill>
              <a:highlight>
                <a:srgbClr val="00FF00"/>
              </a:highligh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B897A1A-A6BF-64ED-D683-F73A043A52F9}"/>
              </a:ext>
            </a:extLst>
          </p:cNvPr>
          <p:cNvSpPr txBox="1"/>
          <p:nvPr/>
        </p:nvSpPr>
        <p:spPr>
          <a:xfrm>
            <a:off x="5076056" y="4731142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92D050"/>
                </a:solidFill>
                <a:highlight>
                  <a:srgbClr val="000000"/>
                </a:highlight>
              </a:rPr>
              <a:t>Value </a:t>
            </a:r>
            <a:r>
              <a:rPr lang="zh-TW" altLang="en-US" sz="2400" dirty="0">
                <a:solidFill>
                  <a:srgbClr val="92D050"/>
                </a:solidFill>
                <a:highlight>
                  <a:srgbClr val="000000"/>
                </a:highlight>
              </a:rPr>
              <a:t>值</a:t>
            </a:r>
          </a:p>
        </p:txBody>
      </p:sp>
    </p:spTree>
    <p:extLst>
      <p:ext uri="{BB962C8B-B14F-4D97-AF65-F5344CB8AC3E}">
        <p14:creationId xmlns:p14="http://schemas.microsoft.com/office/powerpoint/2010/main" val="1248386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891D98-DC15-8403-DEB9-C6A767E71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屬性</a:t>
            </a:r>
            <a:r>
              <a:rPr lang="en-US" altLang="zh-TW" dirty="0"/>
              <a:t>&amp;</a:t>
            </a:r>
            <a:r>
              <a:rPr lang="zh-TW" altLang="en-US" dirty="0"/>
              <a:t>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E24EC7-2ADE-987C-94D4-A7DC47553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CSS</a:t>
            </a:r>
            <a:r>
              <a:rPr lang="zh-TW" altLang="en-US" dirty="0"/>
              <a:t>的屬性種類永遠學不完</a:t>
            </a:r>
            <a:endParaRPr lang="en-US" altLang="zh-TW" dirty="0"/>
          </a:p>
          <a:p>
            <a:pPr lvl="1"/>
            <a:r>
              <a:rPr lang="zh-TW" altLang="en-US" dirty="0"/>
              <a:t>改版會新增屬性、語法，還有一些是特定瀏覽器使用的語法</a:t>
            </a:r>
            <a:endParaRPr lang="en-US" altLang="zh-TW" dirty="0"/>
          </a:p>
          <a:p>
            <a:pPr lvl="1"/>
            <a:r>
              <a:rPr lang="zh-TW" altLang="en-US" dirty="0"/>
              <a:t>只需要記住常用的，其他請養成搜尋習慣</a:t>
            </a:r>
            <a:endParaRPr lang="en-US" altLang="zh-TW" dirty="0"/>
          </a:p>
          <a:p>
            <a:pPr lvl="2"/>
            <a:r>
              <a:rPr lang="zh-TW" altLang="en-US" dirty="0"/>
              <a:t>如</a:t>
            </a:r>
            <a:r>
              <a:rPr lang="en-US" altLang="zh-TW" sz="2000" dirty="0">
                <a:hlinkClick r:id="rId2"/>
              </a:rPr>
              <a:t>https://developer.mozilla.org/zh-CN/docs/Web/CSS</a:t>
            </a:r>
            <a:endParaRPr lang="en-US" altLang="zh-TW" dirty="0"/>
          </a:p>
          <a:p>
            <a:pPr lvl="1"/>
            <a:r>
              <a:rPr lang="zh-TW" altLang="en-US" dirty="0"/>
              <a:t>讓</a:t>
            </a:r>
            <a:r>
              <a:rPr lang="en-US" altLang="zh-TW" dirty="0"/>
              <a:t>Dreamweaver</a:t>
            </a:r>
            <a:r>
              <a:rPr lang="zh-TW" altLang="en-US" dirty="0"/>
              <a:t>提示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99132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AA698D-E564-A238-FB4A-32943833A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屬性</a:t>
            </a:r>
            <a:r>
              <a:rPr lang="en-US" altLang="zh-TW" dirty="0"/>
              <a:t>&amp;</a:t>
            </a:r>
            <a:r>
              <a:rPr lang="zh-TW" altLang="en-US" dirty="0"/>
              <a:t>值 </a:t>
            </a:r>
            <a:r>
              <a:rPr lang="en-US" altLang="zh-TW" dirty="0"/>
              <a:t>(</a:t>
            </a:r>
            <a:r>
              <a:rPr lang="zh-TW" altLang="en-US" dirty="0"/>
              <a:t>顏色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6904B9-72B2-5C96-8EDB-0793D9099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顏色相關屬性</a:t>
            </a:r>
            <a:endParaRPr lang="en-US" altLang="zh-TW" dirty="0"/>
          </a:p>
          <a:p>
            <a:pPr lvl="1"/>
            <a:r>
              <a:rPr lang="en-US" altLang="zh-TW" dirty="0"/>
              <a:t>color	</a:t>
            </a:r>
          </a:p>
          <a:p>
            <a:pPr lvl="1"/>
            <a:r>
              <a:rPr lang="en-US" altLang="zh-TW" dirty="0"/>
              <a:t>background-color</a:t>
            </a:r>
          </a:p>
          <a:p>
            <a:endParaRPr lang="en-US" altLang="zh-TW" dirty="0"/>
          </a:p>
          <a:p>
            <a:r>
              <a:rPr lang="zh-TW" altLang="en-US" dirty="0"/>
              <a:t>可用值</a:t>
            </a:r>
            <a:endParaRPr lang="en-US" altLang="zh-TW" dirty="0"/>
          </a:p>
          <a:p>
            <a:pPr lvl="1"/>
            <a:r>
              <a:rPr lang="en-US" altLang="zh-TW" dirty="0"/>
              <a:t>red</a:t>
            </a:r>
          </a:p>
          <a:p>
            <a:pPr lvl="1"/>
            <a:r>
              <a:rPr lang="en-US" altLang="zh-TW" dirty="0"/>
              <a:t>#FF0000</a:t>
            </a:r>
          </a:p>
          <a:p>
            <a:pPr lvl="1"/>
            <a:r>
              <a:rPr lang="en-US" altLang="zh-TW" dirty="0" err="1"/>
              <a:t>rgb</a:t>
            </a:r>
            <a:r>
              <a:rPr lang="en-US" altLang="zh-TW" dirty="0"/>
              <a:t>(255,100,100)</a:t>
            </a:r>
          </a:p>
          <a:p>
            <a:pPr lvl="1"/>
            <a:r>
              <a:rPr lang="en-US" altLang="zh-TW" sz="2400" dirty="0" err="1"/>
              <a:t>hsl</a:t>
            </a:r>
            <a:r>
              <a:rPr lang="en-US" altLang="zh-TW" sz="2400" dirty="0"/>
              <a:t>(30deg 82% 34%)   </a:t>
            </a:r>
            <a:r>
              <a:rPr lang="en-US" altLang="zh-TW" sz="2400" dirty="0" err="1"/>
              <a:t>hsla</a:t>
            </a:r>
            <a:r>
              <a:rPr lang="en-US" altLang="zh-TW" sz="2400" dirty="0"/>
              <a:t>(30deg 82% 34% / 50%)  </a:t>
            </a:r>
          </a:p>
          <a:p>
            <a:pPr lvl="1"/>
            <a:r>
              <a:rPr lang="en-US" altLang="zh-TW" sz="2400" dirty="0" err="1"/>
              <a:t>hwb</a:t>
            </a:r>
            <a:r>
              <a:rPr lang="en-US" altLang="zh-TW" sz="2400" dirty="0"/>
              <a:t>(152deg 0% 58% / 70%)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02476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E08D73-E859-9221-208C-09FE2870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屬性</a:t>
            </a:r>
            <a:r>
              <a:rPr lang="en-US" altLang="zh-TW" dirty="0"/>
              <a:t>&amp;</a:t>
            </a:r>
            <a:r>
              <a:rPr lang="zh-TW" altLang="en-US" dirty="0"/>
              <a:t>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99EF47-161F-6370-6301-7860BA367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部分屬性的值需要「單位」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pt </a:t>
            </a:r>
            <a:r>
              <a:rPr lang="zh-TW" altLang="en-US" dirty="0"/>
              <a:t>： 絕對單位，約為</a:t>
            </a:r>
            <a:r>
              <a:rPr lang="en-US" altLang="zh-TW" dirty="0"/>
              <a:t>0.28</a:t>
            </a:r>
            <a:r>
              <a:rPr lang="zh-TW" altLang="en-US" dirty="0"/>
              <a:t>公分 </a:t>
            </a:r>
            <a:r>
              <a:rPr lang="en-US" altLang="zh-TW" sz="2000" dirty="0"/>
              <a:t>(</a:t>
            </a:r>
            <a:r>
              <a:rPr lang="zh-TW" altLang="en-US" sz="2000" dirty="0"/>
              <a:t>其實也可以使用</a:t>
            </a:r>
            <a:r>
              <a:rPr lang="en-US" altLang="zh-TW" sz="2000" dirty="0"/>
              <a:t>cm)</a:t>
            </a:r>
          </a:p>
          <a:p>
            <a:r>
              <a:rPr lang="en-US" altLang="zh-TW" dirty="0" err="1"/>
              <a:t>px</a:t>
            </a:r>
            <a:r>
              <a:rPr lang="en-US" altLang="zh-TW" dirty="0"/>
              <a:t> </a:t>
            </a:r>
            <a:r>
              <a:rPr lang="zh-TW" altLang="en-US" dirty="0"/>
              <a:t>： 絕對單位，為</a:t>
            </a:r>
            <a:r>
              <a:rPr lang="en-US" altLang="zh-TW" dirty="0"/>
              <a:t>pixel</a:t>
            </a:r>
            <a:r>
              <a:rPr lang="zh-TW" altLang="en-US" dirty="0"/>
              <a:t>的概念</a:t>
            </a:r>
            <a:endParaRPr lang="en-US" altLang="zh-TW" dirty="0"/>
          </a:p>
          <a:p>
            <a:r>
              <a:rPr lang="en-US" altLang="zh-TW" dirty="0" err="1"/>
              <a:t>em</a:t>
            </a:r>
            <a:r>
              <a:rPr lang="zh-TW" altLang="en-US" dirty="0"/>
              <a:t> </a:t>
            </a:r>
            <a:r>
              <a:rPr lang="en-US" altLang="zh-TW" dirty="0"/>
              <a:t>/ rem </a:t>
            </a:r>
            <a:r>
              <a:rPr lang="zh-TW" altLang="en-US" dirty="0"/>
              <a:t>： 相對單位，為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code-pro"/>
              </a:rPr>
              <a:t>font-size</a:t>
            </a:r>
            <a:r>
              <a:rPr lang="zh-TW" altLang="en-US" dirty="0"/>
              <a:t>的</a:t>
            </a:r>
            <a:r>
              <a:rPr lang="en-US" altLang="zh-TW" dirty="0" err="1"/>
              <a:t>px</a:t>
            </a:r>
            <a:r>
              <a:rPr lang="zh-TW" altLang="en-US" dirty="0"/>
              <a:t>值的倍率</a:t>
            </a:r>
            <a:endParaRPr lang="en-US" altLang="zh-TW" dirty="0"/>
          </a:p>
          <a:p>
            <a:pPr lvl="1"/>
            <a:r>
              <a:rPr lang="zh-TW" altLang="en-US" dirty="0"/>
              <a:t>若無會找尋最接近上層的</a:t>
            </a:r>
            <a:r>
              <a:rPr lang="en-US" altLang="zh-TW" dirty="0"/>
              <a:t>font-size</a:t>
            </a:r>
          </a:p>
          <a:p>
            <a:r>
              <a:rPr lang="en-US" altLang="zh-TW" dirty="0"/>
              <a:t>%</a:t>
            </a:r>
            <a:r>
              <a:rPr lang="zh-TW" altLang="en-US" dirty="0"/>
              <a:t> ： 相對單位，上層的</a:t>
            </a:r>
            <a:r>
              <a:rPr lang="en-US" altLang="zh-TW" dirty="0" err="1"/>
              <a:t>px</a:t>
            </a:r>
            <a:r>
              <a:rPr lang="zh-TW" altLang="en-US" dirty="0"/>
              <a:t>值的百分比</a:t>
            </a:r>
            <a:endParaRPr lang="en-US" altLang="zh-TW" dirty="0"/>
          </a:p>
          <a:p>
            <a:r>
              <a:rPr lang="en-US" altLang="zh-TW" dirty="0" err="1"/>
              <a:t>vw,vh,vmin,vmax</a:t>
            </a:r>
            <a:r>
              <a:rPr lang="zh-TW" altLang="en-US" dirty="0"/>
              <a:t> ：</a:t>
            </a:r>
            <a:r>
              <a:rPr lang="zh-TW" altLang="en-US" sz="2400" dirty="0"/>
              <a:t>螢幕寬</a:t>
            </a:r>
            <a:r>
              <a:rPr lang="en-US" altLang="zh-TW" sz="2400" dirty="0"/>
              <a:t>,</a:t>
            </a:r>
            <a:r>
              <a:rPr lang="zh-TW" altLang="en-US" sz="2400" dirty="0"/>
              <a:t>高</a:t>
            </a:r>
            <a:r>
              <a:rPr lang="en-US" altLang="zh-TW" sz="2400" dirty="0"/>
              <a:t>,</a:t>
            </a:r>
            <a:r>
              <a:rPr lang="zh-TW" altLang="en-US" sz="2400" dirty="0"/>
              <a:t>短邊</a:t>
            </a:r>
            <a:r>
              <a:rPr lang="en-US" altLang="zh-TW" sz="2400" dirty="0"/>
              <a:t>,</a:t>
            </a:r>
            <a:r>
              <a:rPr lang="zh-TW" altLang="en-US" sz="2400" dirty="0"/>
              <a:t>長邊的百分比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84515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322F03-9DBC-0F29-8DDE-C802065E2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屬性</a:t>
            </a:r>
            <a:r>
              <a:rPr lang="en-US" altLang="zh-TW" dirty="0"/>
              <a:t>&amp;</a:t>
            </a:r>
            <a:r>
              <a:rPr lang="zh-TW" altLang="en-US" dirty="0"/>
              <a:t>值 </a:t>
            </a:r>
            <a:r>
              <a:rPr lang="en-US" altLang="zh-TW" dirty="0"/>
              <a:t>(</a:t>
            </a:r>
            <a:r>
              <a:rPr lang="zh-TW" altLang="en-US" dirty="0"/>
              <a:t>文字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7B0E6A-EBA9-E4E4-3BF6-1D3FE696E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font-size</a:t>
            </a:r>
            <a:r>
              <a:rPr lang="zh-TW" altLang="en-US" dirty="0"/>
              <a:t>  字體大小</a:t>
            </a:r>
            <a:endParaRPr lang="en-US" altLang="zh-TW" dirty="0"/>
          </a:p>
          <a:p>
            <a:r>
              <a:rPr lang="en-US" altLang="zh-TW" dirty="0"/>
              <a:t>text-decoration </a:t>
            </a:r>
            <a:r>
              <a:rPr lang="zh-TW" altLang="en-US" dirty="0"/>
              <a:t>  文字裝飾</a:t>
            </a:r>
            <a:r>
              <a:rPr lang="en-US" altLang="zh-TW" dirty="0"/>
              <a:t>(</a:t>
            </a:r>
            <a:r>
              <a:rPr lang="zh-TW" altLang="en-US" dirty="0"/>
              <a:t>如底線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font-family </a:t>
            </a:r>
            <a:r>
              <a:rPr lang="zh-TW" altLang="en-US" dirty="0"/>
              <a:t>字型 </a:t>
            </a:r>
            <a:r>
              <a:rPr lang="en-US" altLang="zh-TW" dirty="0"/>
              <a:t>(</a:t>
            </a:r>
            <a:r>
              <a:rPr lang="zh-TW" altLang="en-US" dirty="0"/>
              <a:t>允許多種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font-style </a:t>
            </a:r>
            <a:r>
              <a:rPr lang="zh-TW" altLang="en-US" dirty="0"/>
              <a:t>字體風格 </a:t>
            </a:r>
            <a:r>
              <a:rPr lang="en-US" altLang="zh-TW" dirty="0"/>
              <a:t>(</a:t>
            </a:r>
            <a:r>
              <a:rPr lang="zh-TW" altLang="en-US" dirty="0"/>
              <a:t>如</a:t>
            </a:r>
            <a:r>
              <a:rPr lang="en-US" altLang="zh-TW" dirty="0"/>
              <a:t>:</a:t>
            </a:r>
            <a:r>
              <a:rPr lang="zh-TW" altLang="en-US" dirty="0"/>
              <a:t>斜體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font-weight </a:t>
            </a:r>
            <a:r>
              <a:rPr lang="zh-TW" altLang="en-US" dirty="0"/>
              <a:t>字體粗細 </a:t>
            </a:r>
            <a:r>
              <a:rPr lang="en-US" altLang="zh-TW" dirty="0"/>
              <a:t>(</a:t>
            </a:r>
            <a:r>
              <a:rPr lang="zh-TW" altLang="en-US" dirty="0"/>
              <a:t>改粗體用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en-US" altLang="zh-TW" dirty="0"/>
              <a:t>text-align</a:t>
            </a:r>
            <a:r>
              <a:rPr lang="zh-TW" altLang="en-US" dirty="0"/>
              <a:t>  </a:t>
            </a:r>
            <a:r>
              <a:rPr lang="en-US" altLang="zh-TW" dirty="0"/>
              <a:t>(</a:t>
            </a:r>
            <a:r>
              <a:rPr lang="zh-TW" altLang="en-US" dirty="0"/>
              <a:t>對齊方式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line-height (</a:t>
            </a:r>
            <a:r>
              <a:rPr lang="zh-TW" altLang="en-US" dirty="0"/>
              <a:t>行距，倍率或</a:t>
            </a:r>
            <a:r>
              <a:rPr lang="en-US" altLang="zh-TW" dirty="0" err="1"/>
              <a:t>px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9551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1072D5-CC50-727C-C964-965DF941D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屬性</a:t>
            </a:r>
            <a:r>
              <a:rPr lang="en-US" altLang="zh-TW" dirty="0"/>
              <a:t>&amp;</a:t>
            </a:r>
            <a:r>
              <a:rPr lang="zh-TW" altLang="en-US" dirty="0"/>
              <a:t>值 </a:t>
            </a:r>
            <a:r>
              <a:rPr lang="en-US" altLang="zh-TW" dirty="0"/>
              <a:t>(</a:t>
            </a:r>
            <a:r>
              <a:rPr lang="zh-TW" altLang="en-US" dirty="0"/>
              <a:t>控制位置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C6094E-E904-8348-B87E-4D8CEEE11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position</a:t>
            </a:r>
          </a:p>
          <a:p>
            <a:pPr lvl="1"/>
            <a:r>
              <a:rPr lang="en-US" altLang="zh-TW" sz="2200" dirty="0"/>
              <a:t>static (</a:t>
            </a:r>
            <a:r>
              <a:rPr lang="zh-TW" altLang="en-US" sz="2200" dirty="0"/>
              <a:t>類似於</a:t>
            </a:r>
            <a:r>
              <a:rPr lang="en-US" altLang="zh-TW" sz="2200" dirty="0"/>
              <a:t>relative</a:t>
            </a:r>
            <a:r>
              <a:rPr lang="zh-TW" altLang="en-US" sz="2200" dirty="0"/>
              <a:t>，但不可用</a:t>
            </a:r>
            <a:r>
              <a:rPr lang="en-US" altLang="zh-TW" sz="2200" dirty="0"/>
              <a:t>top/left</a:t>
            </a:r>
            <a:r>
              <a:rPr lang="zh-TW" altLang="en-US" sz="2200" dirty="0"/>
              <a:t>等</a:t>
            </a:r>
            <a:r>
              <a:rPr lang="en-US" altLang="zh-TW" sz="2200" dirty="0"/>
              <a:t>)</a:t>
            </a:r>
          </a:p>
          <a:p>
            <a:pPr lvl="1"/>
            <a:r>
              <a:rPr lang="en-US" altLang="zh-TW" sz="2200" dirty="0"/>
              <a:t>relative</a:t>
            </a:r>
            <a:r>
              <a:rPr lang="zh-TW" altLang="en-US" sz="2200" dirty="0"/>
              <a:t>  </a:t>
            </a:r>
            <a:r>
              <a:rPr lang="en-US" altLang="zh-TW" sz="2200" dirty="0"/>
              <a:t>(</a:t>
            </a:r>
            <a:r>
              <a:rPr lang="zh-TW" altLang="en-US" sz="2200" dirty="0"/>
              <a:t>相對，相對於上層元素的位置</a:t>
            </a:r>
            <a:r>
              <a:rPr lang="en-US" altLang="zh-TW" sz="2200" dirty="0"/>
              <a:t>) </a:t>
            </a:r>
          </a:p>
          <a:p>
            <a:pPr lvl="1"/>
            <a:r>
              <a:rPr lang="en-US" altLang="zh-TW" sz="2200" dirty="0"/>
              <a:t>absolute</a:t>
            </a:r>
            <a:r>
              <a:rPr lang="zh-TW" altLang="en-US" sz="2200" dirty="0"/>
              <a:t> </a:t>
            </a:r>
            <a:r>
              <a:rPr lang="en-US" altLang="zh-TW" sz="2200" dirty="0"/>
              <a:t>(</a:t>
            </a:r>
            <a:r>
              <a:rPr lang="zh-TW" altLang="en-US" sz="2200" dirty="0"/>
              <a:t>絕對，上層必須為</a:t>
            </a:r>
            <a:r>
              <a:rPr lang="en-US" altLang="zh-TW" sz="2200" dirty="0"/>
              <a:t>relative)</a:t>
            </a:r>
          </a:p>
          <a:p>
            <a:pPr lvl="1"/>
            <a:r>
              <a:rPr lang="en-US" altLang="zh-TW" sz="2200" dirty="0"/>
              <a:t>fixed (</a:t>
            </a:r>
            <a:r>
              <a:rPr lang="zh-TW" altLang="en-US" sz="2200" dirty="0"/>
              <a:t>固定，永遠在固定位置，不會因捲動改變</a:t>
            </a:r>
            <a:r>
              <a:rPr lang="en-US" altLang="zh-TW" sz="2200" dirty="0"/>
              <a:t>)</a:t>
            </a:r>
          </a:p>
          <a:p>
            <a:pPr lvl="1"/>
            <a:r>
              <a:rPr lang="en-US" altLang="zh-TW" sz="2200" dirty="0"/>
              <a:t>sticky (</a:t>
            </a:r>
            <a:r>
              <a:rPr lang="zh-TW" altLang="en-US" sz="2200" dirty="0"/>
              <a:t>便利貼模式，只能設置</a:t>
            </a:r>
            <a:r>
              <a:rPr lang="en-US" altLang="zh-TW" sz="2200" dirty="0"/>
              <a:t>top)</a:t>
            </a:r>
          </a:p>
          <a:p>
            <a:r>
              <a:rPr lang="en-US" altLang="zh-TW" sz="2400" dirty="0"/>
              <a:t>top/bottom/left/right</a:t>
            </a:r>
          </a:p>
          <a:p>
            <a:pPr lvl="1"/>
            <a:r>
              <a:rPr lang="zh-TW" altLang="en-US" dirty="0"/>
              <a:t>控制相對位置</a:t>
            </a:r>
            <a:endParaRPr lang="en-US" altLang="zh-TW" dirty="0"/>
          </a:p>
          <a:p>
            <a:r>
              <a:rPr lang="en-US" altLang="zh-TW" dirty="0"/>
              <a:t>margin </a:t>
            </a:r>
            <a:r>
              <a:rPr lang="zh-TW" altLang="en-US" dirty="0"/>
              <a:t>邊緣</a:t>
            </a:r>
          </a:p>
        </p:txBody>
      </p:sp>
    </p:spTree>
    <p:extLst>
      <p:ext uri="{BB962C8B-B14F-4D97-AF65-F5344CB8AC3E}">
        <p14:creationId xmlns:p14="http://schemas.microsoft.com/office/powerpoint/2010/main" val="38419600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730</TotalTime>
  <Words>509</Words>
  <Application>Microsoft Office PowerPoint</Application>
  <PresentationFormat>如螢幕大小 (4:3)</PresentationFormat>
  <Paragraphs>90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source-code-pro</vt:lpstr>
      <vt:lpstr>Arial</vt:lpstr>
      <vt:lpstr>Georgia</vt:lpstr>
      <vt:lpstr>Segoe UI</vt:lpstr>
      <vt:lpstr>Times New Roman</vt:lpstr>
      <vt:lpstr>Verdana</vt:lpstr>
      <vt:lpstr>Wingdings 2</vt:lpstr>
      <vt:lpstr>都會</vt:lpstr>
      <vt:lpstr>Lesson 5 CSS</vt:lpstr>
      <vt:lpstr>基本概念</vt:lpstr>
      <vt:lpstr>CSS基本結構</vt:lpstr>
      <vt:lpstr>Selector 選擇器</vt:lpstr>
      <vt:lpstr>選擇器合成(Selector Combinator)</vt:lpstr>
      <vt:lpstr>CSS基本結構</vt:lpstr>
      <vt:lpstr>屬性&amp;值</vt:lpstr>
      <vt:lpstr>屬性&amp;值 (顏色)</vt:lpstr>
      <vt:lpstr>屬性&amp;值</vt:lpstr>
      <vt:lpstr>屬性&amp;值 (文字)</vt:lpstr>
      <vt:lpstr>屬性&amp;值 (控制位置)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102</cp:revision>
  <dcterms:created xsi:type="dcterms:W3CDTF">2024-11-18T05:57:07Z</dcterms:created>
  <dcterms:modified xsi:type="dcterms:W3CDTF">2025-03-18T06:27:52Z</dcterms:modified>
</cp:coreProperties>
</file>