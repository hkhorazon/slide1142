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7" r:id="rId3"/>
    <p:sldId id="26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7" r:id="rId19"/>
    <p:sldId id="286" r:id="rId20"/>
    <p:sldId id="284" r:id="rId21"/>
    <p:sldId id="285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660"/>
  </p:normalViewPr>
  <p:slideViewPr>
    <p:cSldViewPr>
      <p:cViewPr varScale="1">
        <p:scale>
          <a:sx n="108" d="100"/>
          <a:sy n="108" d="100"/>
        </p:scale>
        <p:origin x="20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11</a:t>
            </a:r>
            <a:br>
              <a:rPr lang="en-US" altLang="zh-TW" dirty="0"/>
            </a:br>
            <a:r>
              <a:rPr lang="en-US" altLang="zh-TW" dirty="0"/>
              <a:t>Figma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4150A24-B957-CC91-C20C-5680849A5760}"/>
              </a:ext>
            </a:extLst>
          </p:cNvPr>
          <p:cNvSpPr/>
          <p:nvPr/>
        </p:nvSpPr>
        <p:spPr>
          <a:xfrm>
            <a:off x="2195736" y="1700846"/>
            <a:ext cx="6390344" cy="23135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D2CE5AE-D187-F837-FF56-7CF5E3FBA90F}"/>
              </a:ext>
            </a:extLst>
          </p:cNvPr>
          <p:cNvSpPr/>
          <p:nvPr/>
        </p:nvSpPr>
        <p:spPr>
          <a:xfrm>
            <a:off x="2267744" y="4199021"/>
            <a:ext cx="6390344" cy="21102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821903A-47D5-1D09-B23B-710CC0F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36712"/>
            <a:ext cx="8229600" cy="1066800"/>
          </a:xfrm>
        </p:spPr>
        <p:txBody>
          <a:bodyPr/>
          <a:lstStyle/>
          <a:p>
            <a:r>
              <a:rPr lang="zh-TW" altLang="en-US" dirty="0"/>
              <a:t>網站製作流程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C2AFF1-C8EE-342F-E9E9-0BC0598AC61C}"/>
              </a:ext>
            </a:extLst>
          </p:cNvPr>
          <p:cNvSpPr txBox="1"/>
          <p:nvPr/>
        </p:nvSpPr>
        <p:spPr>
          <a:xfrm>
            <a:off x="251520" y="3645024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網站規劃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1FDB12-BE6A-7EBE-507E-27650F910ABE}"/>
              </a:ext>
            </a:extLst>
          </p:cNvPr>
          <p:cNvSpPr txBox="1"/>
          <p:nvPr/>
        </p:nvSpPr>
        <p:spPr>
          <a:xfrm>
            <a:off x="4553632" y="4770440"/>
            <a:ext cx="136815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資料庫設計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BF9AFC-1788-D590-BDF2-F1DDA94B9758}"/>
              </a:ext>
            </a:extLst>
          </p:cNvPr>
          <p:cNvSpPr txBox="1"/>
          <p:nvPr/>
        </p:nvSpPr>
        <p:spPr>
          <a:xfrm>
            <a:off x="6804248" y="4770440"/>
            <a:ext cx="136815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後端程式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9D5623-07AC-3CEB-ECEB-B735971083DF}"/>
              </a:ext>
            </a:extLst>
          </p:cNvPr>
          <p:cNvSpPr txBox="1"/>
          <p:nvPr/>
        </p:nvSpPr>
        <p:spPr>
          <a:xfrm>
            <a:off x="2393392" y="4770440"/>
            <a:ext cx="161047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商業邏輯規劃</a:t>
            </a: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178245EB-3193-2683-F455-29E086CDF1F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763688" y="3829690"/>
            <a:ext cx="629704" cy="1125416"/>
          </a:xfrm>
          <a:prstGeom prst="bentConnector3">
            <a:avLst>
              <a:gd name="adj1" fmla="val 4564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A88EDD1-DB1B-A4A6-CC7C-641F2526D2D7}"/>
              </a:ext>
            </a:extLst>
          </p:cNvPr>
          <p:cNvSpPr txBox="1"/>
          <p:nvPr/>
        </p:nvSpPr>
        <p:spPr>
          <a:xfrm>
            <a:off x="260704" y="2317522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網站需求</a:t>
            </a: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F3716FF-6889-C88B-9ABE-83DB5746DDB6}"/>
              </a:ext>
            </a:extLst>
          </p:cNvPr>
          <p:cNvCxnSpPr>
            <a:cxnSpLocks/>
            <a:stCxn id="13" idx="2"/>
            <a:endCxn id="4" idx="0"/>
          </p:cNvCxnSpPr>
          <p:nvPr/>
        </p:nvCxnSpPr>
        <p:spPr>
          <a:xfrm rot="5400000">
            <a:off x="533111" y="3161347"/>
            <a:ext cx="958170" cy="918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601E66E3-C573-95D6-8FF9-3491CBBB96CA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4003864" y="4955106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CCB9BF5B-EE2C-897C-A41D-EC23849F4AD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921784" y="4955106"/>
            <a:ext cx="8824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429A318-CEE5-3FB4-145C-9BC731A4B427}"/>
              </a:ext>
            </a:extLst>
          </p:cNvPr>
          <p:cNvSpPr txBox="1"/>
          <p:nvPr/>
        </p:nvSpPr>
        <p:spPr>
          <a:xfrm>
            <a:off x="2267744" y="549662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後端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E16BF78-6F42-2FBE-B05B-A80A7F60BCBC}"/>
              </a:ext>
            </a:extLst>
          </p:cNvPr>
          <p:cNvSpPr txBox="1"/>
          <p:nvPr/>
        </p:nvSpPr>
        <p:spPr>
          <a:xfrm>
            <a:off x="2333332" y="1963030"/>
            <a:ext cx="1610472" cy="800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UI / UX</a:t>
            </a:r>
            <a:r>
              <a:rPr lang="zh-TW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規劃</a:t>
            </a:r>
            <a:endParaRPr lang="en-US" altLang="zh-TW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Canva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Figma</a:t>
            </a:r>
            <a:endParaRPr lang="zh-TW" alt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F754EE95-0772-C1FA-2992-0342C4743C5D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 flipV="1">
            <a:off x="1763688" y="2363140"/>
            <a:ext cx="569644" cy="14665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1F8A6D5-3948-5828-ED8B-9695BCBAE207}"/>
              </a:ext>
            </a:extLst>
          </p:cNvPr>
          <p:cNvSpPr txBox="1"/>
          <p:nvPr/>
        </p:nvSpPr>
        <p:spPr>
          <a:xfrm>
            <a:off x="6560712" y="1963030"/>
            <a:ext cx="1610472" cy="1231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前端程式</a:t>
            </a:r>
            <a:endParaRPr lang="en-US" altLang="zh-TW" sz="1400" b="1" dirty="0"/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JS,Jquery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React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Angular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Vue</a:t>
            </a:r>
            <a:endParaRPr lang="zh-TW" alt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B87074E-9815-0579-0F34-9699E1234E6D}"/>
              </a:ext>
            </a:extLst>
          </p:cNvPr>
          <p:cNvSpPr txBox="1"/>
          <p:nvPr/>
        </p:nvSpPr>
        <p:spPr>
          <a:xfrm>
            <a:off x="2253556" y="366452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前端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CE5A332-C09C-0AC1-4485-9FED647D3894}"/>
              </a:ext>
            </a:extLst>
          </p:cNvPr>
          <p:cNvSpPr txBox="1"/>
          <p:nvPr/>
        </p:nvSpPr>
        <p:spPr>
          <a:xfrm>
            <a:off x="4457182" y="1953660"/>
            <a:ext cx="1610472" cy="1231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前端畫面</a:t>
            </a:r>
            <a:endParaRPr lang="en-US" altLang="zh-TW" sz="1400" b="1" dirty="0"/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HTML+CSS</a:t>
            </a:r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BootStrap</a:t>
            </a:r>
            <a:b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GoogleSite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Wix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74A9FA0D-5288-B6B6-770E-AE39F2494EB7}"/>
              </a:ext>
            </a:extLst>
          </p:cNvPr>
          <p:cNvCxnSpPr>
            <a:cxnSpLocks/>
          </p:cNvCxnSpPr>
          <p:nvPr/>
        </p:nvCxnSpPr>
        <p:spPr>
          <a:xfrm>
            <a:off x="4493572" y="2682208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CCE68011-1D06-0C01-F49C-F0FBBC6EEE11}"/>
              </a:ext>
            </a:extLst>
          </p:cNvPr>
          <p:cNvCxnSpPr>
            <a:cxnSpLocks/>
          </p:cNvCxnSpPr>
          <p:nvPr/>
        </p:nvCxnSpPr>
        <p:spPr>
          <a:xfrm>
            <a:off x="4457182" y="2496069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34D5F8C9-891C-6CFA-33DD-2CB9D9F04944}"/>
              </a:ext>
            </a:extLst>
          </p:cNvPr>
          <p:cNvCxnSpPr>
            <a:cxnSpLocks/>
          </p:cNvCxnSpPr>
          <p:nvPr/>
        </p:nvCxnSpPr>
        <p:spPr>
          <a:xfrm>
            <a:off x="6569856" y="2466184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983EEB99-4093-148F-4394-D7D16555C8A6}"/>
              </a:ext>
            </a:extLst>
          </p:cNvPr>
          <p:cNvCxnSpPr/>
          <p:nvPr/>
        </p:nvCxnSpPr>
        <p:spPr>
          <a:xfrm>
            <a:off x="3943804" y="2322168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387CF210-9884-326A-D3C9-D445BFCC1798}"/>
              </a:ext>
            </a:extLst>
          </p:cNvPr>
          <p:cNvCxnSpPr/>
          <p:nvPr/>
        </p:nvCxnSpPr>
        <p:spPr>
          <a:xfrm>
            <a:off x="6067654" y="2271384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CB834A9-FC42-695F-58B9-4AE446C3E64E}"/>
              </a:ext>
            </a:extLst>
          </p:cNvPr>
          <p:cNvSpPr txBox="1"/>
          <p:nvPr/>
        </p:nvSpPr>
        <p:spPr>
          <a:xfrm>
            <a:off x="6749868" y="5730591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架設網站</a:t>
            </a:r>
          </a:p>
        </p:txBody>
      </p:sp>
      <p:cxnSp>
        <p:nvCxnSpPr>
          <p:cNvPr id="58" name="接點: 肘形 57">
            <a:extLst>
              <a:ext uri="{FF2B5EF4-FFF2-40B4-BE49-F238E27FC236}">
                <a16:creationId xmlns:a16="http://schemas.microsoft.com/office/drawing/2014/main" id="{27B2235C-8733-BC6B-F56A-618FC346432C}"/>
              </a:ext>
            </a:extLst>
          </p:cNvPr>
          <p:cNvCxnSpPr>
            <a:stCxn id="38" idx="3"/>
            <a:endCxn id="53" idx="3"/>
          </p:cNvCxnSpPr>
          <p:nvPr/>
        </p:nvCxnSpPr>
        <p:spPr>
          <a:xfrm>
            <a:off x="8171184" y="2578583"/>
            <a:ext cx="90852" cy="3336674"/>
          </a:xfrm>
          <a:prstGeom prst="bentConnector3">
            <a:avLst>
              <a:gd name="adj1" fmla="val 83472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3B75ED31-A2D6-3565-3C78-C485B82E2BA2}"/>
              </a:ext>
            </a:extLst>
          </p:cNvPr>
          <p:cNvCxnSpPr>
            <a:cxnSpLocks/>
          </p:cNvCxnSpPr>
          <p:nvPr/>
        </p:nvCxnSpPr>
        <p:spPr>
          <a:xfrm>
            <a:off x="8171184" y="4955106"/>
            <a:ext cx="7933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8C96AE98-575A-5A9E-52E2-CFE390201A8D}"/>
              </a:ext>
            </a:extLst>
          </p:cNvPr>
          <p:cNvSpPr/>
          <p:nvPr/>
        </p:nvSpPr>
        <p:spPr>
          <a:xfrm>
            <a:off x="2267744" y="1903512"/>
            <a:ext cx="1732770" cy="941298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40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Figma</a:t>
            </a:r>
            <a:r>
              <a:rPr lang="zh-TW" altLang="en-US" dirty="0"/>
              <a:t>的特點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UI / UX</a:t>
            </a:r>
            <a:r>
              <a:rPr lang="zh-TW" altLang="en-US" dirty="0"/>
              <a:t>設計</a:t>
            </a:r>
            <a:endParaRPr lang="en-US" altLang="zh-TW" dirty="0"/>
          </a:p>
          <a:p>
            <a:pPr lvl="1"/>
            <a:r>
              <a:rPr lang="zh-TW" altLang="en-US" dirty="0"/>
              <a:t>原型製作</a:t>
            </a:r>
            <a:r>
              <a:rPr lang="en-US" altLang="zh-TW" dirty="0"/>
              <a:t>(prototype)</a:t>
            </a:r>
          </a:p>
          <a:p>
            <a:endParaRPr lang="en-US" altLang="zh-TW" dirty="0"/>
          </a:p>
          <a:p>
            <a:r>
              <a:rPr lang="zh-TW" altLang="en-US" dirty="0"/>
              <a:t>特點</a:t>
            </a:r>
            <a:endParaRPr lang="en-US" altLang="zh-TW" dirty="0"/>
          </a:p>
          <a:p>
            <a:pPr lvl="1"/>
            <a:r>
              <a:rPr lang="zh-TW" altLang="en-US" dirty="0"/>
              <a:t>雲端儲存  </a:t>
            </a:r>
            <a:r>
              <a:rPr lang="en-US" altLang="zh-TW" dirty="0"/>
              <a:t>(</a:t>
            </a:r>
            <a:r>
              <a:rPr lang="zh-TW" altLang="en-US" dirty="0"/>
              <a:t>缺點：無法下載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即時共同協作</a:t>
            </a:r>
            <a:endParaRPr lang="en-US" altLang="zh-TW" dirty="0"/>
          </a:p>
          <a:p>
            <a:pPr lvl="1"/>
            <a:r>
              <a:rPr lang="zh-TW" altLang="en-US" dirty="0"/>
              <a:t>在網頁上即可操作</a:t>
            </a:r>
            <a:endParaRPr lang="en-US" altLang="zh-TW" dirty="0"/>
          </a:p>
          <a:p>
            <a:pPr lvl="1"/>
            <a:r>
              <a:rPr lang="zh-TW" altLang="en-US" dirty="0"/>
              <a:t>向量圖型</a:t>
            </a:r>
            <a:r>
              <a:rPr lang="en-US" altLang="zh-TW" dirty="0"/>
              <a:t>(vector graphic)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開始使用</a:t>
            </a:r>
            <a:r>
              <a:rPr lang="en-US" altLang="zh-TW" dirty="0" err="1"/>
              <a:t>Figma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https://www.figma.com/</a:t>
            </a:r>
            <a:endParaRPr lang="en-US" altLang="zh-TW" dirty="0"/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註冊帳號、開始使用</a:t>
            </a:r>
            <a:endParaRPr lang="en-US" altLang="zh-TW" dirty="0"/>
          </a:p>
          <a:p>
            <a:pPr lvl="1"/>
            <a:r>
              <a:rPr lang="zh-TW" altLang="en-US" dirty="0"/>
              <a:t>免費版在功能上或略少一些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也可以下載軟體方便使用</a:t>
            </a:r>
            <a:endParaRPr lang="en-US" altLang="zh-TW" dirty="0"/>
          </a:p>
          <a:p>
            <a:pPr lvl="1"/>
            <a:r>
              <a:rPr lang="en-US" altLang="zh-TW" dirty="0"/>
              <a:t>https://www.figma.com/downloads/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61A0A2-105E-59CE-726F-E0126122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新建專案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CD9EEC-65F8-C6E0-7661-39949254E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Design File</a:t>
            </a:r>
          </a:p>
          <a:p>
            <a:pPr lvl="1"/>
            <a:r>
              <a:rPr lang="zh-TW" altLang="en-US" dirty="0"/>
              <a:t>設計檔、適合網頁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目標功能，但我們最後再來看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 err="1"/>
              <a:t>FigJam</a:t>
            </a:r>
            <a:r>
              <a:rPr lang="en-US" altLang="zh-TW" dirty="0"/>
              <a:t> Board</a:t>
            </a:r>
          </a:p>
          <a:p>
            <a:pPr lvl="1"/>
            <a:r>
              <a:rPr lang="zh-TW" altLang="en-US" dirty="0"/>
              <a:t>數位白板</a:t>
            </a:r>
            <a:endParaRPr lang="en-US" altLang="zh-TW" dirty="0"/>
          </a:p>
          <a:p>
            <a:pPr lvl="1"/>
            <a:r>
              <a:rPr lang="zh-TW" altLang="en-US" dirty="0"/>
              <a:t>適合頭腦風暴、會議</a:t>
            </a:r>
            <a:endParaRPr lang="en-US" altLang="zh-TW" dirty="0"/>
          </a:p>
          <a:p>
            <a:r>
              <a:rPr lang="en-US" altLang="zh-TW" dirty="0"/>
              <a:t>Slide Deck</a:t>
            </a:r>
          </a:p>
          <a:p>
            <a:pPr lvl="1"/>
            <a:r>
              <a:rPr lang="zh-TW" altLang="en-US" dirty="0"/>
              <a:t>投影片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70136DC-68FE-486B-49E3-4B057B433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140" y="2348880"/>
            <a:ext cx="2714739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76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D05856-5FC6-8BCD-9B3E-D216104B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FigJam</a:t>
            </a:r>
            <a:r>
              <a:rPr lang="en-US" altLang="zh-TW" dirty="0"/>
              <a:t> Board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F33B51-9B05-9B32-E848-2F7AA98E2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16" y="2924943"/>
            <a:ext cx="3682752" cy="3669801"/>
          </a:xfrm>
        </p:spPr>
        <p:txBody>
          <a:bodyPr/>
          <a:lstStyle/>
          <a:p>
            <a:r>
              <a:rPr lang="zh-TW" altLang="en-US" dirty="0"/>
              <a:t>詢問</a:t>
            </a:r>
            <a:r>
              <a:rPr lang="en-US" altLang="zh-TW" dirty="0"/>
              <a:t>AI</a:t>
            </a:r>
          </a:p>
          <a:p>
            <a:pPr lvl="1"/>
            <a:r>
              <a:rPr lang="zh-TW" altLang="en-US" dirty="0"/>
              <a:t>也可使用模板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8F79A3-A545-A478-0F2B-C2F424C5A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818151"/>
            <a:ext cx="2659476" cy="38445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4585F6D-B1BC-8EF3-7479-092916B31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448" y="2329213"/>
            <a:ext cx="3419952" cy="476316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C071EB7-A00F-63DE-FC49-E63DA1D9469F}"/>
              </a:ext>
            </a:extLst>
          </p:cNvPr>
          <p:cNvSpPr/>
          <p:nvPr/>
        </p:nvSpPr>
        <p:spPr>
          <a:xfrm>
            <a:off x="2229330" y="6148506"/>
            <a:ext cx="648072" cy="648072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5DB2E89-750D-3C22-BEF1-E471036C047D}"/>
              </a:ext>
            </a:extLst>
          </p:cNvPr>
          <p:cNvSpPr/>
          <p:nvPr/>
        </p:nvSpPr>
        <p:spPr>
          <a:xfrm>
            <a:off x="5508104" y="2217164"/>
            <a:ext cx="648072" cy="648072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4E8AD189-CC4D-4F2D-3EF2-005A9A896DFA}"/>
              </a:ext>
            </a:extLst>
          </p:cNvPr>
          <p:cNvSpPr txBox="1">
            <a:spLocks/>
          </p:cNvSpPr>
          <p:nvPr/>
        </p:nvSpPr>
        <p:spPr>
          <a:xfrm>
            <a:off x="609600" y="2401824"/>
            <a:ext cx="3682752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/>
              <a:t>從模板開始</a:t>
            </a:r>
            <a:endParaRPr lang="en-US" altLang="zh-TW"/>
          </a:p>
          <a:p>
            <a:endParaRPr lang="en-US" altLang="zh-TW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41471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9B66F-0A0D-1CA5-7925-14331874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FigJam</a:t>
            </a:r>
            <a:r>
              <a:rPr lang="zh-TW" altLang="en-US" dirty="0"/>
              <a:t> 操作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A7DF70-B37E-1FB1-1FA5-02C2BB478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重要快捷鍵</a:t>
            </a:r>
            <a:endParaRPr lang="en-US" altLang="zh-TW" dirty="0"/>
          </a:p>
          <a:p>
            <a:pPr lvl="1"/>
            <a:r>
              <a:rPr lang="en-US" altLang="zh-TW"/>
              <a:t>V</a:t>
            </a:r>
            <a:r>
              <a:rPr lang="zh-TW" altLang="en-US"/>
              <a:t> </a:t>
            </a:r>
            <a:r>
              <a:rPr lang="zh-TW" altLang="en-US" dirty="0"/>
              <a:t>：選擇</a:t>
            </a:r>
            <a:endParaRPr lang="en-US" altLang="zh-TW" dirty="0"/>
          </a:p>
          <a:p>
            <a:pPr lvl="1"/>
            <a:r>
              <a:rPr lang="en-US" altLang="zh-TW" dirty="0"/>
              <a:t>H</a:t>
            </a:r>
            <a:r>
              <a:rPr lang="zh-TW" altLang="en-US" dirty="0"/>
              <a:t> ：移動</a:t>
            </a:r>
            <a:endParaRPr lang="en-US" altLang="zh-TW" dirty="0"/>
          </a:p>
          <a:p>
            <a:pPr lvl="1"/>
            <a:r>
              <a:rPr lang="en-US" altLang="zh-TW" dirty="0"/>
              <a:t>Ctrl+</a:t>
            </a:r>
            <a:r>
              <a:rPr lang="zh-TW" altLang="en-US" dirty="0"/>
              <a:t>滾輪：縮放</a:t>
            </a:r>
            <a:endParaRPr lang="en-US" altLang="zh-TW" dirty="0"/>
          </a:p>
          <a:p>
            <a:pPr lvl="1"/>
            <a:r>
              <a:rPr lang="en-US" altLang="zh-TW" dirty="0"/>
              <a:t>Alt+</a:t>
            </a:r>
            <a:r>
              <a:rPr lang="zh-TW" altLang="en-US" dirty="0"/>
              <a:t>拖拉物件：複製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</a:t>
            </a:r>
          </a:p>
        </p:txBody>
      </p:sp>
    </p:spTree>
    <p:extLst>
      <p:ext uri="{BB962C8B-B14F-4D97-AF65-F5344CB8AC3E}">
        <p14:creationId xmlns:p14="http://schemas.microsoft.com/office/powerpoint/2010/main" val="157155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C43250-6C96-92A7-D70F-0F63C9BC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FigJam</a:t>
            </a:r>
            <a:r>
              <a:rPr lang="zh-TW" altLang="en-US" dirty="0"/>
              <a:t> 輸出檔案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16EAF72-6ECF-A8CF-79B1-6249DB2A4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48" y="2852936"/>
            <a:ext cx="4420217" cy="331516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2A27395-9D9E-6773-EABC-B261B143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745" y="2626905"/>
            <a:ext cx="3572374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23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AB927-7F64-2690-FC1B-ECF0BD48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Deck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78DEB1-E1FA-E232-A004-FEF66674B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2818656" cy="4325112"/>
          </a:xfrm>
        </p:spPr>
        <p:txBody>
          <a:bodyPr/>
          <a:lstStyle/>
          <a:p>
            <a:r>
              <a:rPr lang="zh-TW" altLang="en-US" dirty="0"/>
              <a:t>投影片製作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選擇模板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從</a:t>
            </a:r>
            <a:r>
              <a:rPr lang="en-US" altLang="zh-TW" dirty="0" err="1"/>
              <a:t>FigJam</a:t>
            </a:r>
            <a:r>
              <a:rPr lang="zh-TW" altLang="en-US" dirty="0"/>
              <a:t> </a:t>
            </a:r>
            <a:r>
              <a:rPr lang="en-US" altLang="zh-TW" dirty="0"/>
              <a:t>Board</a:t>
            </a:r>
            <a:r>
              <a:rPr lang="zh-TW" altLang="en-US" dirty="0"/>
              <a:t> 匯入資料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4C3988B-0B3E-1D6D-21D5-830A3E75E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2113886"/>
            <a:ext cx="5796136" cy="485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5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22763-3096-74CA-71AA-4DDEB7E7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Deck</a:t>
            </a:r>
            <a:r>
              <a:rPr lang="zh-TW" altLang="en-US" dirty="0"/>
              <a:t> 操作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5D168A-F96C-6BC4-37C3-E7CA8276F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快捷鍵</a:t>
            </a:r>
            <a:endParaRPr lang="en-US" altLang="zh-TW" dirty="0"/>
          </a:p>
          <a:p>
            <a:pPr lvl="1"/>
            <a:r>
              <a:rPr lang="zh-TW" altLang="en-US" dirty="0"/>
              <a:t>與</a:t>
            </a:r>
            <a:r>
              <a:rPr lang="en-US" altLang="zh-TW" dirty="0" err="1"/>
              <a:t>FigJam</a:t>
            </a:r>
            <a:r>
              <a:rPr lang="zh-TW" altLang="en-US" dirty="0"/>
              <a:t> </a:t>
            </a:r>
            <a:r>
              <a:rPr lang="en-US" altLang="zh-TW" dirty="0"/>
              <a:t>Board</a:t>
            </a:r>
            <a:r>
              <a:rPr lang="zh-TW" altLang="en-US" dirty="0"/>
              <a:t> 差不多相同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切換視角</a:t>
            </a:r>
            <a:endParaRPr lang="en-US" altLang="zh-TW" dirty="0"/>
          </a:p>
          <a:p>
            <a:pPr lvl="1"/>
            <a:r>
              <a:rPr lang="en-US" altLang="zh-TW" dirty="0"/>
              <a:t>Slide View</a:t>
            </a:r>
          </a:p>
          <a:p>
            <a:pPr lvl="1"/>
            <a:r>
              <a:rPr lang="en-US" altLang="zh-TW" dirty="0"/>
              <a:t>Grid View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D82AEC-ADD8-79A7-8352-D9243C1DA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645024"/>
            <a:ext cx="752580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7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E7047D-384C-C7AE-2286-CA08FE40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Deck</a:t>
            </a:r>
            <a:r>
              <a:rPr lang="zh-TW" altLang="en-US" dirty="0"/>
              <a:t> 元件屬性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9116DF-6FEC-B250-8105-1E5537DAC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338936" cy="4325112"/>
          </a:xfrm>
        </p:spPr>
        <p:txBody>
          <a:bodyPr/>
          <a:lstStyle/>
          <a:p>
            <a:r>
              <a:rPr lang="zh-TW" altLang="en-US" dirty="0"/>
              <a:t>當你點選一個物件後，就能調整它的細節屬性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D3135A5-4BBE-FAA0-9E34-A25F9E45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1898303"/>
            <a:ext cx="2305372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48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AD2D-9ECD-7C0C-7EF1-50BCF9CD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Slide Deck</a:t>
            </a:r>
            <a:r>
              <a:rPr lang="zh-TW" altLang="en-US" dirty="0"/>
              <a:t> 使用與輸出檔案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3648E-FB2E-6AA1-59B7-C7D55810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右上角可播放投影片</a:t>
            </a:r>
            <a:endParaRPr lang="en-US" altLang="zh-TW" dirty="0"/>
          </a:p>
          <a:p>
            <a:r>
              <a:rPr lang="zh-TW" altLang="en-US" dirty="0"/>
              <a:t>左上角可輸出投影片</a:t>
            </a:r>
            <a:endParaRPr lang="en-US" altLang="zh-TW" dirty="0"/>
          </a:p>
          <a:p>
            <a:pPr lvl="1"/>
            <a:r>
              <a:rPr lang="zh-TW" altLang="en-US" dirty="0"/>
              <a:t>小心字型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13502A-7D2E-197B-FDC9-876FF470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312" y="2348880"/>
            <a:ext cx="971686" cy="43821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94A9ECA-2B7F-C1E9-526D-50FAF44A8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717032"/>
            <a:ext cx="3781476" cy="299467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2D764B5-7169-0588-BB37-53AC29A97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994" y="4790946"/>
            <a:ext cx="307700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9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7DB17-4D8C-FE52-FBAD-277805640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Design File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A1A086-81F6-CE59-FD91-DEE2B0E47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與前兩段功能類似，但這部分的使用上更自由</a:t>
            </a:r>
            <a:endParaRPr lang="en-US" altLang="zh-TW" dirty="0"/>
          </a:p>
          <a:p>
            <a:pPr lvl="1"/>
            <a:r>
              <a:rPr lang="zh-TW" altLang="en-US" dirty="0"/>
              <a:t>用來做網頁的</a:t>
            </a:r>
            <a:r>
              <a:rPr lang="en-US" altLang="zh-TW" dirty="0"/>
              <a:t>UI</a:t>
            </a:r>
            <a:r>
              <a:rPr lang="zh-TW" altLang="en-US" dirty="0"/>
              <a:t>、</a:t>
            </a:r>
            <a:r>
              <a:rPr lang="en-US" altLang="zh-TW" dirty="0"/>
              <a:t>UX</a:t>
            </a:r>
            <a:r>
              <a:rPr lang="zh-TW" altLang="en-US" dirty="0"/>
              <a:t>規劃</a:t>
            </a:r>
            <a:endParaRPr lang="en-US" altLang="zh-TW" dirty="0"/>
          </a:p>
          <a:p>
            <a:pPr lvl="1"/>
            <a:r>
              <a:rPr lang="zh-TW" altLang="en-US" dirty="0"/>
              <a:t>也可以用來做其他功能的</a:t>
            </a:r>
            <a:r>
              <a:rPr lang="en-US" altLang="zh-TW" dirty="0"/>
              <a:t>UI</a:t>
            </a:r>
            <a:r>
              <a:rPr lang="zh-TW" altLang="en-US" dirty="0"/>
              <a:t>、</a:t>
            </a:r>
            <a:r>
              <a:rPr lang="en-US" altLang="zh-TW" dirty="0"/>
              <a:t>UX</a:t>
            </a:r>
            <a:r>
              <a:rPr lang="zh-TW" altLang="en-US" dirty="0"/>
              <a:t>規劃</a:t>
            </a:r>
          </a:p>
        </p:txBody>
      </p:sp>
    </p:spTree>
    <p:extLst>
      <p:ext uri="{BB962C8B-B14F-4D97-AF65-F5344CB8AC3E}">
        <p14:creationId xmlns:p14="http://schemas.microsoft.com/office/powerpoint/2010/main" val="177450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4475D-0B8F-9F5A-8129-38846F20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File </a:t>
            </a:r>
            <a:r>
              <a:rPr lang="zh-TW" altLang="en-US" dirty="0"/>
              <a:t>操作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2D1FD2-D5C0-08D3-F06A-4631887D6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添加元件</a:t>
            </a:r>
            <a:endParaRPr lang="en-US" altLang="zh-TW" dirty="0"/>
          </a:p>
          <a:p>
            <a:pPr lvl="1"/>
            <a:r>
              <a:rPr lang="zh-TW" altLang="en-US" dirty="0"/>
              <a:t>圖形</a:t>
            </a:r>
            <a:endParaRPr lang="en-US" altLang="zh-TW" dirty="0"/>
          </a:p>
          <a:p>
            <a:pPr lvl="1"/>
            <a:r>
              <a:rPr lang="zh-TW" altLang="en-US" dirty="0"/>
              <a:t>繪圖</a:t>
            </a:r>
            <a:endParaRPr lang="en-US" altLang="zh-TW" dirty="0"/>
          </a:p>
          <a:p>
            <a:pPr lvl="1"/>
            <a:r>
              <a:rPr lang="zh-TW" altLang="en-US" dirty="0"/>
              <a:t>文字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564A22-136E-8387-978A-161710FD8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5805264"/>
            <a:ext cx="1957987" cy="80099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1CAC777-BC6F-0F70-DD6B-CE8668B36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5114220"/>
            <a:ext cx="2000529" cy="65731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BE36BD0-F2A7-AEA4-100C-7E3F2890B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785" y="3908006"/>
            <a:ext cx="2429214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23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4475D-0B8F-9F5A-8129-38846F20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File </a:t>
            </a:r>
            <a:r>
              <a:rPr lang="zh-TW" altLang="en-US" dirty="0"/>
              <a:t>操作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2D1FD2-D5C0-08D3-F06A-4631887D6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快捷鍵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添加元件</a:t>
            </a:r>
            <a:endParaRPr lang="en-US" altLang="zh-TW" dirty="0"/>
          </a:p>
          <a:p>
            <a:pPr lvl="1"/>
            <a:r>
              <a:rPr lang="zh-TW" altLang="en-US" dirty="0"/>
              <a:t>圖形</a:t>
            </a:r>
            <a:endParaRPr lang="en-US" altLang="zh-TW" dirty="0"/>
          </a:p>
          <a:p>
            <a:pPr lvl="1"/>
            <a:r>
              <a:rPr lang="zh-TW" altLang="en-US" dirty="0"/>
              <a:t>繪圖</a:t>
            </a:r>
            <a:endParaRPr lang="en-US" altLang="zh-TW" dirty="0"/>
          </a:p>
          <a:p>
            <a:pPr lvl="1"/>
            <a:r>
              <a:rPr lang="zh-TW" altLang="en-US" dirty="0"/>
              <a:t>文字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564A22-136E-8387-978A-161710FD8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5805264"/>
            <a:ext cx="1957987" cy="80099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1CAC777-BC6F-0F70-DD6B-CE8668B36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5114220"/>
            <a:ext cx="2000529" cy="65731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BE36BD0-F2A7-AEA4-100C-7E3F2890B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785" y="3908006"/>
            <a:ext cx="2429214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55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9E93E-F242-C0F8-A0FF-153688A3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File </a:t>
            </a:r>
            <a:r>
              <a:rPr lang="zh-TW" altLang="en-US" dirty="0"/>
              <a:t>操作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176611-611E-B779-6BB7-419ACC8A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Frame</a:t>
            </a:r>
          </a:p>
          <a:p>
            <a:pPr lvl="1"/>
            <a:r>
              <a:rPr lang="en-US" altLang="zh-TW" dirty="0"/>
              <a:t>“</a:t>
            </a:r>
            <a:r>
              <a:rPr lang="zh-TW" altLang="en-US" dirty="0"/>
              <a:t>畫面</a:t>
            </a:r>
            <a:r>
              <a:rPr lang="en-US" altLang="zh-TW" dirty="0"/>
              <a:t>”</a:t>
            </a:r>
            <a:r>
              <a:rPr lang="zh-TW" altLang="en-US" dirty="0"/>
              <a:t>的概念</a:t>
            </a:r>
            <a:endParaRPr lang="en-US" altLang="zh-TW" dirty="0"/>
          </a:p>
          <a:p>
            <a:pPr lvl="1"/>
            <a:r>
              <a:rPr lang="zh-TW" altLang="en-US" sz="2400" dirty="0"/>
              <a:t>可做為單一個螢幕畫面，也可做為小區域的畫面使用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Section</a:t>
            </a:r>
          </a:p>
          <a:p>
            <a:pPr lvl="1"/>
            <a:r>
              <a:rPr lang="zh-TW" altLang="en-US" dirty="0"/>
              <a:t>分區、整理畫面用</a:t>
            </a:r>
            <a:endParaRPr lang="en-US" altLang="zh-TW" dirty="0"/>
          </a:p>
          <a:p>
            <a:pPr marL="411480" lvl="1" indent="0">
              <a:buNone/>
            </a:pPr>
            <a:endParaRPr lang="en-US" altLang="zh-TW" dirty="0"/>
          </a:p>
          <a:p>
            <a:r>
              <a:rPr lang="en-US" altLang="zh-TW" dirty="0"/>
              <a:t>Slice</a:t>
            </a:r>
          </a:p>
          <a:p>
            <a:pPr lvl="1"/>
            <a:r>
              <a:rPr lang="zh-TW" altLang="en-US" dirty="0"/>
              <a:t>切割，通常做匯出時使用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C1DB187-AB97-8ECF-362F-2227C39AB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4005064"/>
            <a:ext cx="2536613" cy="1066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27E9E0A-42D0-EE8F-288B-ECE7E04D1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5080572"/>
            <a:ext cx="60968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95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D73842-BB0C-B5BD-B059-909BC4D6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File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元件屬性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4BF6221-2C7B-E083-B2CB-AAAF38A197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5762" y="116632"/>
            <a:ext cx="2545163" cy="765553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967873-7073-895C-2C7B-080607173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060848"/>
            <a:ext cx="2399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01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CB534-AE0C-06CC-3545-93E6F1F3D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File</a:t>
            </a:r>
            <a:r>
              <a:rPr lang="zh-TW" altLang="en-US" dirty="0"/>
              <a:t>：頁面與元件瀏覽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755F51-13D7-EE0F-0CCC-ACD0E9E6E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338936" cy="4325112"/>
          </a:xfrm>
        </p:spPr>
        <p:txBody>
          <a:bodyPr/>
          <a:lstStyle/>
          <a:p>
            <a:r>
              <a:rPr lang="zh-TW" altLang="en-US" dirty="0"/>
              <a:t>免費版只能使用</a:t>
            </a:r>
            <a:r>
              <a:rPr lang="en-US" altLang="zh-TW" dirty="0"/>
              <a:t>3</a:t>
            </a:r>
            <a:r>
              <a:rPr lang="zh-TW" altLang="en-US" dirty="0"/>
              <a:t>頁，但通常不需太多頁面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元件瀏覽，有階層概念，但不是所有物件都能成為父輩</a:t>
            </a:r>
            <a:endParaRPr lang="en-US" altLang="zh-TW" dirty="0"/>
          </a:p>
          <a:p>
            <a:pPr lvl="1"/>
            <a:r>
              <a:rPr lang="en-US" altLang="zh-TW" dirty="0" err="1"/>
              <a:t>Ctrl+R</a:t>
            </a:r>
            <a:r>
              <a:rPr lang="zh-TW" altLang="en-US" dirty="0"/>
              <a:t>可改名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88B9B31-754B-86B8-5DA3-6BE8051F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633" y="1971472"/>
            <a:ext cx="2276793" cy="145752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EEC7961-B2A7-9B1C-75B9-1FC8C8707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3573017"/>
            <a:ext cx="2267266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42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74444B-7986-5D93-6465-E21ADCCD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 </a:t>
            </a:r>
            <a:r>
              <a:rPr lang="en-US" altLang="zh-TW" dirty="0"/>
              <a:t>/ </a:t>
            </a:r>
            <a:r>
              <a:rPr lang="zh-TW" altLang="en-US" dirty="0"/>
              <a:t>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B25B8E-3BE4-4A74-62D6-B80383DB3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創建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使用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F93E2CF-62B2-0B44-F57D-1D7FF0E3B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018791"/>
            <a:ext cx="2952328" cy="455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2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98ED2-81F8-5699-A020-C5C1880C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排版 </a:t>
            </a:r>
            <a:r>
              <a:rPr lang="en-US" altLang="zh-TW" dirty="0"/>
              <a:t>Frame : Layout Grid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3CBFCD-0FD9-A3D7-D79D-C8826AECD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Frame</a:t>
            </a:r>
            <a:r>
              <a:rPr lang="zh-TW" altLang="en-US" dirty="0"/>
              <a:t>的屬性中，可建立</a:t>
            </a:r>
            <a:r>
              <a:rPr lang="en-US" altLang="zh-TW" dirty="0" err="1"/>
              <a:t>LayoutGrid</a:t>
            </a:r>
            <a:r>
              <a:rPr lang="zh-TW" altLang="en-US" dirty="0"/>
              <a:t>方便排版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可維持該顏色，點選眼睛可關閉顯示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A54FFA3-7A66-44DE-0E73-84D5D0EE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212976"/>
            <a:ext cx="3145492" cy="10162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A5F28A8-44D3-E0B3-BD95-94855FDC3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3140968"/>
            <a:ext cx="2429214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775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647E0-0807-AF6C-2488-97852CA1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排版 </a:t>
            </a:r>
            <a:r>
              <a:rPr lang="en-US" altLang="zh-TW" dirty="0" err="1"/>
              <a:t>AutoLayout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7E268D-E3B3-2E6C-DEF2-ADEFED0EA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</a:t>
            </a:r>
            <a:r>
              <a:rPr lang="en-US" altLang="zh-TW" dirty="0"/>
              <a:t>Frame</a:t>
            </a:r>
            <a:r>
              <a:rPr lang="zh-TW" altLang="en-US" dirty="0"/>
              <a:t>切換為</a:t>
            </a:r>
            <a:r>
              <a:rPr lang="en-US" altLang="zh-TW" dirty="0" err="1"/>
              <a:t>AutoLayout</a:t>
            </a:r>
            <a:endParaRPr lang="en-US" altLang="zh-TW" dirty="0"/>
          </a:p>
          <a:p>
            <a:pPr lvl="1"/>
            <a:r>
              <a:rPr lang="en-US" altLang="zh-TW" dirty="0" err="1"/>
              <a:t>Shift+A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其</a:t>
            </a:r>
            <a:r>
              <a:rPr lang="zh-TW" altLang="en-US" b="1" dirty="0"/>
              <a:t>內部</a:t>
            </a:r>
            <a:r>
              <a:rPr lang="zh-TW" altLang="en-US" dirty="0"/>
              <a:t>的元件會自動被排版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8EAD40-B9AE-0AEE-960E-284F2884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556792"/>
            <a:ext cx="2543530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88396"/>
      </p:ext>
    </p:extLst>
  </p:cSld>
  <p:clrMapOvr>
    <a:masterClrMapping/>
  </p:clrMapOvr>
</p:sld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440</TotalTime>
  <Words>453</Words>
  <Application>Microsoft Office PowerPoint</Application>
  <PresentationFormat>如螢幕大小 (4:3)</PresentationFormat>
  <Paragraphs>138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微軟正黑體</vt:lpstr>
      <vt:lpstr>Arial</vt:lpstr>
      <vt:lpstr>Georgia</vt:lpstr>
      <vt:lpstr>Times New Roman</vt:lpstr>
      <vt:lpstr>Wingdings 2</vt:lpstr>
      <vt:lpstr>都會</vt:lpstr>
      <vt:lpstr>Lesson 11 Figma 1</vt:lpstr>
      <vt:lpstr>網站製作流程</vt:lpstr>
      <vt:lpstr>Figma的特點</vt:lpstr>
      <vt:lpstr>開始使用Figma</vt:lpstr>
      <vt:lpstr>新建專案</vt:lpstr>
      <vt:lpstr>FigJam Board</vt:lpstr>
      <vt:lpstr>FigJam 操作</vt:lpstr>
      <vt:lpstr>FigJam 輸出檔案</vt:lpstr>
      <vt:lpstr>Slide Deck</vt:lpstr>
      <vt:lpstr>Slide Deck 操作</vt:lpstr>
      <vt:lpstr>Slide Deck 元件屬性</vt:lpstr>
      <vt:lpstr>Slide Deck 使用與輸出檔案</vt:lpstr>
      <vt:lpstr>Design File</vt:lpstr>
      <vt:lpstr>Design File 操作1</vt:lpstr>
      <vt:lpstr>Design File 操作2</vt:lpstr>
      <vt:lpstr>Design File 操作3</vt:lpstr>
      <vt:lpstr>Design File : 元件屬性</vt:lpstr>
      <vt:lpstr>Design File：頁面與元件瀏覽</vt:lpstr>
      <vt:lpstr>變數 / 樣式</vt:lpstr>
      <vt:lpstr>排版 Frame : Layout Grid</vt:lpstr>
      <vt:lpstr>排版 AutoLayout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57</cp:revision>
  <dcterms:created xsi:type="dcterms:W3CDTF">2024-11-18T05:57:07Z</dcterms:created>
  <dcterms:modified xsi:type="dcterms:W3CDTF">2025-04-08T08:00:45Z</dcterms:modified>
</cp:coreProperties>
</file>