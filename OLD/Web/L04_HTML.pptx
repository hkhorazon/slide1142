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75" r:id="rId3"/>
    <p:sldId id="272" r:id="rId4"/>
    <p:sldId id="276" r:id="rId5"/>
    <p:sldId id="278" r:id="rId6"/>
    <p:sldId id="274" r:id="rId7"/>
    <p:sldId id="273" r:id="rId8"/>
    <p:sldId id="279" r:id="rId9"/>
    <p:sldId id="284" r:id="rId10"/>
    <p:sldId id="280" r:id="rId11"/>
    <p:sldId id="285" r:id="rId12"/>
    <p:sldId id="286" r:id="rId13"/>
    <p:sldId id="287" r:id="rId14"/>
    <p:sldId id="290" r:id="rId15"/>
    <p:sldId id="288" r:id="rId16"/>
    <p:sldId id="281" r:id="rId17"/>
    <p:sldId id="282" r:id="rId18"/>
    <p:sldId id="283" r:id="rId19"/>
    <p:sldId id="289" r:id="rId2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47" autoAdjust="0"/>
  </p:normalViewPr>
  <p:slideViewPr>
    <p:cSldViewPr>
      <p:cViewPr varScale="1">
        <p:scale>
          <a:sx n="105" d="100"/>
          <a:sy n="105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tel:+886(04)26318652" TargetMode="External"/><Relationship Id="rId2" Type="http://schemas.openxmlformats.org/officeDocument/2006/relationships/hyperlink" Target="mailto:horazon@hk.edu.tw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Lesson 4</a:t>
            </a:r>
            <a:br>
              <a:rPr lang="en-US" altLang="zh-TW" dirty="0"/>
            </a:br>
            <a:r>
              <a:rPr lang="en-US" altLang="zh-TW" dirty="0"/>
              <a:t>HTML-1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新</a:t>
            </a:r>
            <a:r>
              <a:rPr lang="en-US" altLang="zh-TW" dirty="0"/>
              <a:t>html</a:t>
            </a:r>
            <a:r>
              <a:rPr lang="zh-TW" altLang="en-US" dirty="0"/>
              <a:t>檔案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143248"/>
            <a:ext cx="8409312" cy="2819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第一行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&lt;!</a:t>
            </a:r>
            <a:r>
              <a:rPr lang="en-US" altLang="zh-TW" dirty="0" err="1"/>
              <a:t>doctype</a:t>
            </a:r>
            <a:r>
              <a:rPr lang="en-US" altLang="zh-TW" dirty="0"/>
              <a:t> html&gt;</a:t>
            </a:r>
          </a:p>
          <a:p>
            <a:pPr lvl="1"/>
            <a:r>
              <a:rPr lang="zh-TW" altLang="en-US" dirty="0"/>
              <a:t>告知瀏覽器，這是</a:t>
            </a:r>
            <a:r>
              <a:rPr lang="en-US" altLang="zh-TW" dirty="0"/>
              <a:t>html</a:t>
            </a:r>
            <a:r>
              <a:rPr lang="zh-TW" altLang="en-US" dirty="0"/>
              <a:t>檔案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過去的版本</a:t>
            </a:r>
            <a:endParaRPr lang="en-US" altLang="zh-TW" dirty="0"/>
          </a:p>
          <a:p>
            <a:pPr lvl="1"/>
            <a:r>
              <a:rPr lang="en-US" sz="2400" dirty="0"/>
              <a:t>&lt;!DOCTYPE HTML PUBLIC "-//W3C//DTD HTML 4.01//EN" "http://www.w3.org/TR/html4/strict.dtd"&gt;</a:t>
            </a:r>
            <a:endParaRPr lang="en-US" altLang="zh-TW" sz="2400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標籤結構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html</a:t>
            </a:r>
            <a:r>
              <a:rPr lang="zh-TW" altLang="en-US" dirty="0"/>
              <a:t>的結構稱為</a:t>
            </a:r>
            <a:r>
              <a:rPr lang="en-US" altLang="zh-TW" dirty="0"/>
              <a:t>DOM</a:t>
            </a:r>
          </a:p>
          <a:p>
            <a:pPr lvl="1"/>
            <a:r>
              <a:rPr lang="en-US" altLang="zh-TW" dirty="0"/>
              <a:t>Document Object Model </a:t>
            </a:r>
            <a:r>
              <a:rPr lang="zh-TW" altLang="en-US" dirty="0"/>
              <a:t>文件物件類型</a:t>
            </a:r>
            <a:endParaRPr lang="en-US" altLang="zh-TW" dirty="0"/>
          </a:p>
          <a:p>
            <a:pPr lvl="1"/>
            <a:r>
              <a:rPr lang="en-US" altLang="zh-TW" dirty="0"/>
              <a:t>HTML, XML, SVG </a:t>
            </a:r>
            <a:r>
              <a:rPr lang="zh-TW" altLang="en-US" dirty="0"/>
              <a:t>等</a:t>
            </a:r>
            <a:endParaRPr lang="en-US" altLang="zh-TW" dirty="0"/>
          </a:p>
          <a:p>
            <a:pPr lvl="1"/>
            <a:r>
              <a:rPr lang="zh-TW" altLang="en-US" dirty="0"/>
              <a:t>可以轉換為「樹狀」結構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大多數的標籤以 </a:t>
            </a:r>
            <a:r>
              <a:rPr lang="en-US" altLang="zh-TW" dirty="0"/>
              <a:t>&lt;XXX&gt; </a:t>
            </a:r>
            <a:r>
              <a:rPr lang="zh-TW" altLang="en-US" dirty="0"/>
              <a:t>開頭，以</a:t>
            </a:r>
            <a:r>
              <a:rPr lang="en-US" altLang="zh-TW" dirty="0"/>
              <a:t>&lt;/XXX&gt;</a:t>
            </a:r>
            <a:r>
              <a:rPr lang="zh-TW" altLang="en-US" dirty="0"/>
              <a:t>結尾</a:t>
            </a:r>
            <a:endParaRPr lang="en-US" altLang="zh-TW" dirty="0"/>
          </a:p>
          <a:p>
            <a:pPr lvl="1"/>
            <a:r>
              <a:rPr lang="zh-TW" altLang="en-US" dirty="0"/>
              <a:t>部分的標籤沒有分開頭結尾，如</a:t>
            </a:r>
            <a:r>
              <a:rPr lang="en-US" altLang="zh-TW" dirty="0"/>
              <a:t>&lt;</a:t>
            </a:r>
            <a:r>
              <a:rPr lang="en-US" altLang="zh-TW" dirty="0" err="1"/>
              <a:t>img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/>
              <a:t>&lt;</a:t>
            </a:r>
            <a:r>
              <a:rPr lang="en-US" altLang="zh-TW" dirty="0" err="1"/>
              <a:t>br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/>
              <a:t>&lt;hr&gt;</a:t>
            </a:r>
            <a:endParaRPr lang="zh-TW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8926" y="5572140"/>
            <a:ext cx="6094442" cy="966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html</a:t>
            </a:r>
            <a:r>
              <a:rPr lang="zh-TW" altLang="en-US" dirty="0"/>
              <a:t>空白檔案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空白檔案標籤說明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2786058"/>
            <a:ext cx="8409312" cy="28194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4714884"/>
            <a:ext cx="4132996" cy="1938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註解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可以在</a:t>
            </a:r>
            <a:r>
              <a:rPr lang="en-US" altLang="zh-TW" dirty="0"/>
              <a:t>html</a:t>
            </a:r>
            <a:r>
              <a:rPr lang="zh-TW" altLang="en-US" dirty="0"/>
              <a:t>中書寫註解</a:t>
            </a:r>
            <a:endParaRPr lang="en-US" altLang="zh-TW" dirty="0"/>
          </a:p>
          <a:p>
            <a:r>
              <a:rPr lang="zh-TW" altLang="en-US" dirty="0"/>
              <a:t>以</a:t>
            </a:r>
            <a:r>
              <a:rPr lang="en-US" altLang="zh-TW" dirty="0"/>
              <a:t>&lt;!--</a:t>
            </a:r>
            <a:r>
              <a:rPr lang="zh-TW" altLang="en-US" dirty="0"/>
              <a:t> 開始，以</a:t>
            </a:r>
            <a:r>
              <a:rPr lang="en-US" altLang="zh-TW" dirty="0"/>
              <a:t>--&gt;</a:t>
            </a:r>
            <a:r>
              <a:rPr lang="zh-TW" altLang="en-US" dirty="0"/>
              <a:t>結束</a:t>
            </a:r>
            <a:endParaRPr lang="en-US" altLang="zh-TW" dirty="0"/>
          </a:p>
          <a:p>
            <a:pPr lvl="1"/>
            <a:r>
              <a:rPr lang="en-US" altLang="zh-TW" dirty="0"/>
              <a:t>&lt;!--</a:t>
            </a:r>
            <a:r>
              <a:rPr lang="zh-TW" altLang="en-US" dirty="0"/>
              <a:t>註解內容</a:t>
            </a:r>
            <a:r>
              <a:rPr lang="en-US" altLang="zh-TW" dirty="0"/>
              <a:t>--&gt;</a:t>
            </a: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文字內容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&lt;h1&gt;</a:t>
            </a:r>
            <a:r>
              <a:rPr lang="zh-TW" altLang="en-US" dirty="0"/>
              <a:t> 標題</a:t>
            </a:r>
            <a:r>
              <a:rPr lang="en-US" altLang="zh-TW" dirty="0"/>
              <a:t>&lt;/h1&gt;</a:t>
            </a:r>
          </a:p>
          <a:p>
            <a:r>
              <a:rPr lang="en-US" altLang="zh-TW" dirty="0"/>
              <a:t>&lt;p&gt; </a:t>
            </a:r>
            <a:r>
              <a:rPr lang="zh-TW" altLang="en-US" dirty="0"/>
              <a:t>段落 </a:t>
            </a:r>
            <a:r>
              <a:rPr lang="en-US" altLang="zh-TW" dirty="0"/>
              <a:t>&lt;/p&gt;</a:t>
            </a:r>
          </a:p>
          <a:p>
            <a:endParaRPr lang="en-US" altLang="zh-TW" dirty="0"/>
          </a:p>
          <a:p>
            <a:r>
              <a:rPr lang="en-US" altLang="zh-TW" dirty="0"/>
              <a:t>&amp;</a:t>
            </a:r>
            <a:r>
              <a:rPr lang="en-US" altLang="zh-TW" dirty="0" err="1"/>
              <a:t>nbsp</a:t>
            </a:r>
            <a:r>
              <a:rPr lang="en-US" altLang="zh-TW" dirty="0"/>
              <a:t>;</a:t>
            </a:r>
            <a:r>
              <a:rPr lang="zh-TW" altLang="en-US" dirty="0"/>
              <a:t> </a:t>
            </a:r>
            <a:endParaRPr lang="en-US" altLang="zh-TW" dirty="0"/>
          </a:p>
          <a:p>
            <a:pPr lvl="1"/>
            <a:r>
              <a:rPr lang="zh-TW" altLang="en-US" dirty="0"/>
              <a:t>半形空白字元</a:t>
            </a:r>
            <a:endParaRPr lang="en-US" altLang="zh-TW" dirty="0"/>
          </a:p>
          <a:p>
            <a:r>
              <a:rPr lang="en-US" altLang="zh-TW" dirty="0"/>
              <a:t>&lt;</a:t>
            </a:r>
            <a:r>
              <a:rPr lang="en-US" altLang="zh-TW" dirty="0" err="1"/>
              <a:t>br</a:t>
            </a:r>
            <a:r>
              <a:rPr lang="en-US" altLang="zh-TW" dirty="0"/>
              <a:t>&gt;</a:t>
            </a:r>
            <a:r>
              <a:rPr lang="zh-TW" altLang="en-US" dirty="0"/>
              <a:t> 或 </a:t>
            </a:r>
            <a:r>
              <a:rPr lang="en-US" altLang="zh-TW" dirty="0"/>
              <a:t>&lt;</a:t>
            </a:r>
            <a:r>
              <a:rPr lang="en-US" altLang="zh-TW" dirty="0" err="1"/>
              <a:t>br</a:t>
            </a:r>
            <a:r>
              <a:rPr lang="en-US" altLang="zh-TW" dirty="0"/>
              <a:t>/&gt;</a:t>
            </a:r>
          </a:p>
          <a:p>
            <a:pPr lvl="1"/>
            <a:r>
              <a:rPr lang="zh-TW" altLang="en-US" dirty="0"/>
              <a:t>換行</a:t>
            </a:r>
            <a:endParaRPr lang="en-US" altLang="zh-TW" dirty="0"/>
          </a:p>
          <a:p>
            <a:r>
              <a:rPr lang="en-US" altLang="zh-TW" dirty="0"/>
              <a:t>&lt;p&gt;&amp;</a:t>
            </a:r>
            <a:r>
              <a:rPr lang="en-US" altLang="zh-TW" dirty="0" err="1"/>
              <a:t>nbsp</a:t>
            </a:r>
            <a:r>
              <a:rPr lang="en-US" altLang="zh-TW" dirty="0"/>
              <a:t>&lt;/p&gt;</a:t>
            </a:r>
          </a:p>
          <a:p>
            <a:pPr lvl="1"/>
            <a:r>
              <a:rPr lang="zh-TW" altLang="en-US" dirty="0"/>
              <a:t>另一種換行方式，相對不建議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文字內容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項目清單</a:t>
            </a:r>
            <a:endParaRPr lang="en-US" altLang="zh-TW" dirty="0"/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ul</a:t>
            </a:r>
            <a:r>
              <a:rPr lang="en-US" altLang="zh-TW" dirty="0"/>
              <a:t>&gt; &lt;/</a:t>
            </a:r>
            <a:r>
              <a:rPr lang="en-US" altLang="zh-TW" dirty="0" err="1"/>
              <a:t>ul</a:t>
            </a:r>
            <a:r>
              <a:rPr lang="en-US" altLang="zh-TW" dirty="0"/>
              <a:t>&gt;</a:t>
            </a:r>
          </a:p>
          <a:p>
            <a:r>
              <a:rPr lang="zh-TW" altLang="en-US" dirty="0"/>
              <a:t>編號清單</a:t>
            </a:r>
            <a:endParaRPr lang="en-US" altLang="zh-TW" dirty="0"/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ol</a:t>
            </a:r>
            <a:r>
              <a:rPr lang="en-US" altLang="zh-TW" dirty="0"/>
              <a:t>&gt; &lt;/</a:t>
            </a:r>
            <a:r>
              <a:rPr lang="en-US" altLang="zh-TW" dirty="0" err="1"/>
              <a:t>ol</a:t>
            </a:r>
            <a:r>
              <a:rPr lang="en-US" altLang="zh-TW" dirty="0"/>
              <a:t>&gt;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清單項目</a:t>
            </a:r>
            <a:endParaRPr lang="en-US" altLang="zh-TW" dirty="0"/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li</a:t>
            </a:r>
            <a:r>
              <a:rPr lang="en-US" altLang="zh-TW" dirty="0"/>
              <a:t>&gt; &lt;/</a:t>
            </a:r>
            <a:r>
              <a:rPr lang="en-US" altLang="zh-TW" dirty="0" err="1"/>
              <a:t>li</a:t>
            </a:r>
            <a:r>
              <a:rPr lang="en-US" altLang="zh-TW" dirty="0"/>
              <a:t>&gt;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01178" y="2857496"/>
            <a:ext cx="3742822" cy="1914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DC431D-B57F-AE84-E992-7DD9B496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文字</a:t>
            </a:r>
            <a:r>
              <a:rPr lang="en-US" altLang="zh-TW" dirty="0"/>
              <a:t>(</a:t>
            </a:r>
            <a:r>
              <a:rPr lang="zh-TW" altLang="en-US" dirty="0"/>
              <a:t>其他屬性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C4CD62-30E4-59FD-21B1-05C9B70172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4F5069F-1DAC-0FF0-9B85-93ED74C8B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556639"/>
            <a:ext cx="7240592" cy="174472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8AF23B8-111E-2FF1-B1D7-9FA023612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4608575"/>
            <a:ext cx="5517621" cy="82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797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文字的</a:t>
            </a:r>
            <a:r>
              <a:rPr lang="en-US" altLang="zh-TW" dirty="0"/>
              <a:t>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style=“</a:t>
            </a:r>
            <a:r>
              <a:rPr lang="zh-TW" altLang="en-US" dirty="0"/>
              <a:t>屬性</a:t>
            </a:r>
            <a:r>
              <a:rPr lang="en-US" altLang="zh-TW" dirty="0"/>
              <a:t>1:</a:t>
            </a:r>
            <a:r>
              <a:rPr lang="zh-TW" altLang="en-US" dirty="0"/>
              <a:t>值</a:t>
            </a:r>
            <a:r>
              <a:rPr lang="en-US" altLang="zh-TW" dirty="0"/>
              <a:t>1; </a:t>
            </a:r>
            <a:r>
              <a:rPr lang="zh-TW" altLang="en-US" dirty="0"/>
              <a:t>屬性</a:t>
            </a:r>
            <a:r>
              <a:rPr lang="en-US" altLang="zh-TW" dirty="0"/>
              <a:t>2:</a:t>
            </a:r>
            <a:r>
              <a:rPr lang="zh-TW" altLang="en-US" dirty="0"/>
              <a:t>值</a:t>
            </a:r>
            <a:r>
              <a:rPr lang="en-US" altLang="zh-TW" dirty="0"/>
              <a:t>2;”</a:t>
            </a:r>
          </a:p>
          <a:p>
            <a:endParaRPr lang="en-US" altLang="zh-TW" dirty="0"/>
          </a:p>
          <a:p>
            <a:r>
              <a:rPr lang="en-US" altLang="zh-TW" dirty="0" err="1"/>
              <a:t>color:red</a:t>
            </a:r>
            <a:r>
              <a:rPr lang="en-US" altLang="zh-TW" dirty="0"/>
              <a:t>;</a:t>
            </a:r>
          </a:p>
          <a:p>
            <a:r>
              <a:rPr lang="en-US" altLang="zh-TW" dirty="0" err="1"/>
              <a:t>background-color:aqua</a:t>
            </a:r>
            <a:r>
              <a:rPr lang="en-US" altLang="zh-TW" dirty="0"/>
              <a:t>;</a:t>
            </a:r>
          </a:p>
          <a:p>
            <a:r>
              <a:rPr lang="en-US" altLang="zh-TW" dirty="0"/>
              <a:t>font-weight: bold;</a:t>
            </a:r>
          </a:p>
          <a:p>
            <a:r>
              <a:rPr lang="en-US" altLang="zh-TW" dirty="0"/>
              <a:t>font-style: italic;</a:t>
            </a:r>
          </a:p>
          <a:p>
            <a:endParaRPr lang="en-US" altLang="zh-TW" dirty="0"/>
          </a:p>
          <a:p>
            <a:r>
              <a:rPr lang="zh-TW" altLang="en-US" dirty="0"/>
              <a:t>屬性會被最近的影響</a:t>
            </a:r>
            <a:endParaRPr lang="en-US" altLang="zh-TW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B62D5C-4688-1E38-34D8-3E77C4CA3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圖片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915B48-3D7C-E13F-9AB5-EA879E5F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</a:t>
            </a:r>
            <a:r>
              <a:rPr lang="en-US" altLang="zh-TW" dirty="0" err="1"/>
              <a:t>img</a:t>
            </a:r>
            <a:r>
              <a:rPr lang="en-US" altLang="zh-TW" dirty="0"/>
              <a:t> </a:t>
            </a:r>
            <a:r>
              <a:rPr lang="en-US" altLang="zh-TW" dirty="0" err="1"/>
              <a:t>src</a:t>
            </a:r>
            <a:r>
              <a:rPr lang="en-US" altLang="zh-TW" dirty="0"/>
              <a:t>=“XXX.png” width=“74” height=“74” alt=“”</a:t>
            </a:r>
            <a:r>
              <a:rPr lang="zh-TW" altLang="en-US" dirty="0"/>
              <a:t> </a:t>
            </a:r>
            <a:r>
              <a:rPr lang="en-US" altLang="zh-TW" dirty="0"/>
              <a:t>title=“”/&gt;</a:t>
            </a:r>
          </a:p>
          <a:p>
            <a:pPr lvl="1"/>
            <a:r>
              <a:rPr lang="zh-TW" altLang="en-US" dirty="0"/>
              <a:t>不需要結束標籤</a:t>
            </a:r>
            <a:endParaRPr lang="en-US" altLang="zh-TW" dirty="0"/>
          </a:p>
          <a:p>
            <a:pPr lvl="1"/>
            <a:r>
              <a:rPr lang="en-US" altLang="zh-TW" dirty="0"/>
              <a:t>alt </a:t>
            </a:r>
            <a:r>
              <a:rPr lang="zh-TW" altLang="en-US" dirty="0"/>
              <a:t>替代文字 </a:t>
            </a:r>
            <a:r>
              <a:rPr lang="en-US" altLang="zh-TW" dirty="0"/>
              <a:t>(</a:t>
            </a:r>
            <a:r>
              <a:rPr lang="zh-TW" altLang="en-US" dirty="0"/>
              <a:t>網速太慢的取代文字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title </a:t>
            </a:r>
            <a:r>
              <a:rPr lang="zh-TW" altLang="en-US" dirty="0"/>
              <a:t>懸浮標題文字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建議能填寫完整的</a:t>
            </a:r>
            <a:r>
              <a:rPr lang="en-US" altLang="zh-TW" dirty="0"/>
              <a:t>alt</a:t>
            </a:r>
            <a:r>
              <a:rPr lang="zh-TW" altLang="en-US" dirty="0"/>
              <a:t>文字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968615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A8DFD2-C66F-FC81-BEFD-7D44FC27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超連結 </a:t>
            </a:r>
            <a:r>
              <a:rPr lang="en-US" altLang="zh-TW" dirty="0"/>
              <a:t>(hyperlink)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BAFCE6-5E47-5D37-619B-F72430E35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&lt;a </a:t>
            </a:r>
            <a:r>
              <a:rPr lang="en-US" altLang="zh-TW" dirty="0" err="1"/>
              <a:t>href</a:t>
            </a:r>
            <a:r>
              <a:rPr lang="en-US" altLang="zh-TW" dirty="0"/>
              <a:t>="Page1.html" target="_self"&gt;Page1&lt;/a&gt;</a:t>
            </a:r>
          </a:p>
          <a:p>
            <a:endParaRPr lang="en-US" altLang="zh-TW" dirty="0"/>
          </a:p>
          <a:p>
            <a:r>
              <a:rPr lang="en-US" altLang="zh-TW" dirty="0" err="1"/>
              <a:t>href</a:t>
            </a:r>
            <a:r>
              <a:rPr lang="zh-TW" altLang="en-US" dirty="0"/>
              <a:t>屬性</a:t>
            </a:r>
            <a:endParaRPr lang="en-US" altLang="zh-TW" dirty="0"/>
          </a:p>
          <a:p>
            <a:pPr lvl="1"/>
            <a:r>
              <a:rPr lang="zh-TW" altLang="en-US" dirty="0"/>
              <a:t>相對位址 </a:t>
            </a:r>
            <a:endParaRPr lang="en-US" altLang="zh-TW" dirty="0"/>
          </a:p>
          <a:p>
            <a:pPr lvl="2"/>
            <a:r>
              <a:rPr lang="en-US" altLang="zh-TW" dirty="0"/>
              <a:t>//  Scheme (</a:t>
            </a:r>
            <a:r>
              <a:rPr lang="zh-TW" altLang="en-US" dirty="0"/>
              <a:t>使用</a:t>
            </a:r>
            <a:r>
              <a:rPr lang="en-US" altLang="zh-TW" dirty="0"/>
              <a:t>html:// </a:t>
            </a:r>
            <a:r>
              <a:rPr lang="zh-TW" altLang="en-US" dirty="0"/>
              <a:t>或</a:t>
            </a:r>
            <a:r>
              <a:rPr lang="en-US" altLang="zh-TW" dirty="0"/>
              <a:t>htmls://)</a:t>
            </a:r>
          </a:p>
          <a:p>
            <a:pPr lvl="2"/>
            <a:r>
              <a:rPr lang="en-US" altLang="zh-TW" dirty="0"/>
              <a:t>/    </a:t>
            </a:r>
            <a:r>
              <a:rPr lang="zh-TW" altLang="en-US" dirty="0"/>
              <a:t>當前目錄</a:t>
            </a:r>
            <a:endParaRPr lang="en-US" altLang="zh-TW" dirty="0"/>
          </a:p>
          <a:p>
            <a:pPr lvl="2"/>
            <a:r>
              <a:rPr lang="en-US" altLang="zh-TW" dirty="0"/>
              <a:t>../</a:t>
            </a:r>
            <a:r>
              <a:rPr lang="zh-TW" altLang="en-US" dirty="0"/>
              <a:t>  往上一個目錄</a:t>
            </a:r>
            <a:endParaRPr lang="en-US" altLang="zh-TW" dirty="0"/>
          </a:p>
          <a:p>
            <a:pPr lvl="1"/>
            <a:r>
              <a:rPr lang="zh-TW" altLang="en-US" dirty="0"/>
              <a:t>絕對位址</a:t>
            </a:r>
            <a:endParaRPr lang="en-US" altLang="zh-TW" dirty="0"/>
          </a:p>
          <a:p>
            <a:pPr lvl="2"/>
            <a:r>
              <a:rPr lang="en-US" altLang="zh-TW" dirty="0"/>
              <a:t>http://www.google.com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6902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A8DFD2-C66F-FC81-BEFD-7D44FC27A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超連結 </a:t>
            </a:r>
            <a:r>
              <a:rPr lang="en-US" altLang="zh-TW" dirty="0"/>
              <a:t>(hyperlink)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BAFCE6-5E47-5D37-619B-F72430E35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href</a:t>
            </a:r>
            <a:r>
              <a:rPr lang="zh-TW" altLang="en-US" dirty="0"/>
              <a:t>屬性</a:t>
            </a:r>
            <a:endParaRPr lang="en-US" altLang="zh-TW" dirty="0"/>
          </a:p>
          <a:p>
            <a:pPr lvl="1"/>
            <a:r>
              <a:rPr lang="zh-TW" altLang="en-US" dirty="0"/>
              <a:t>信件</a:t>
            </a:r>
            <a:endParaRPr lang="en-US" altLang="zh-TW" dirty="0"/>
          </a:p>
          <a:p>
            <a:pPr lvl="2"/>
            <a:r>
              <a:rPr lang="en-US" altLang="zh-TW" dirty="0">
                <a:hlinkClick r:id="rId2"/>
              </a:rPr>
              <a:t>mailto:horazon@hk.edu.tw</a:t>
            </a:r>
            <a:endParaRPr lang="en-US" altLang="zh-TW" dirty="0"/>
          </a:p>
          <a:p>
            <a:pPr lvl="1"/>
            <a:r>
              <a:rPr lang="zh-TW" altLang="en-US" dirty="0"/>
              <a:t>電話</a:t>
            </a:r>
            <a:endParaRPr lang="en-US" altLang="zh-TW" dirty="0"/>
          </a:p>
          <a:p>
            <a:pPr lvl="2"/>
            <a:r>
              <a:rPr lang="en-US" altLang="zh-TW" dirty="0" err="1">
                <a:hlinkClick r:id="rId3"/>
              </a:rPr>
              <a:t>tel</a:t>
            </a:r>
            <a:r>
              <a:rPr lang="en-US" altLang="zh-TW" dirty="0">
                <a:hlinkClick r:id="rId3"/>
              </a:rPr>
              <a:t>:+886(04)26318652</a:t>
            </a:r>
            <a:endParaRPr lang="en-US" altLang="zh-TW" dirty="0"/>
          </a:p>
          <a:p>
            <a:pPr lvl="2"/>
            <a:endParaRPr lang="en-US" altLang="zh-TW" dirty="0"/>
          </a:p>
          <a:p>
            <a:pPr lvl="1"/>
            <a:r>
              <a:rPr lang="zh-TW" altLang="en-US" dirty="0"/>
              <a:t>同頁面內元素</a:t>
            </a:r>
            <a:endParaRPr lang="en-US" altLang="zh-TW" dirty="0"/>
          </a:p>
          <a:p>
            <a:pPr lvl="2"/>
            <a:r>
              <a:rPr lang="en-US" altLang="zh-TW" dirty="0"/>
              <a:t>#item-id</a:t>
            </a:r>
          </a:p>
          <a:p>
            <a:r>
              <a:rPr lang="zh-TW" altLang="en-US" dirty="0"/>
              <a:t>使用圖片作為超連結</a:t>
            </a:r>
          </a:p>
        </p:txBody>
      </p:sp>
    </p:spTree>
    <p:extLst>
      <p:ext uri="{BB962C8B-B14F-4D97-AF65-F5344CB8AC3E}">
        <p14:creationId xmlns:p14="http://schemas.microsoft.com/office/powerpoint/2010/main" val="1955101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6CEA8-2B7A-5A8E-340D-44484113A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meta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989E58-E921-BB8E-4071-B0CA8A66F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通常放在標頭</a:t>
            </a:r>
            <a:r>
              <a:rPr lang="en-US" altLang="zh-TW" dirty="0"/>
              <a:t>&lt;head&gt;</a:t>
            </a:r>
          </a:p>
          <a:p>
            <a:r>
              <a:rPr lang="en-US" altLang="zh-TW" dirty="0"/>
              <a:t>&lt;meta charset="utf-8" /&gt;</a:t>
            </a:r>
          </a:p>
          <a:p>
            <a:pPr lvl="1"/>
            <a:r>
              <a:rPr lang="zh-TW" altLang="en-US" dirty="0"/>
              <a:t>指定文字語系</a:t>
            </a:r>
            <a:endParaRPr lang="en-US" altLang="zh-TW" dirty="0"/>
          </a:p>
          <a:p>
            <a:r>
              <a:rPr lang="en-US" altLang="zh-TW" dirty="0"/>
              <a:t>&lt;meta http-</a:t>
            </a:r>
            <a:r>
              <a:rPr lang="en-US" altLang="zh-TW" dirty="0" err="1"/>
              <a:t>equiv</a:t>
            </a:r>
            <a:r>
              <a:rPr lang="en-US" altLang="zh-TW" dirty="0"/>
              <a:t>="refresh" content="3;url=https://www.mozilla.org" /&gt;</a:t>
            </a:r>
          </a:p>
          <a:p>
            <a:pPr lvl="1"/>
            <a:r>
              <a:rPr lang="en-US" altLang="zh-TW" dirty="0"/>
              <a:t>3</a:t>
            </a:r>
            <a:r>
              <a:rPr lang="zh-TW" altLang="en-US" dirty="0"/>
              <a:t>秒後自動轉移至其他網頁</a:t>
            </a:r>
            <a:endParaRPr lang="en-US" altLang="zh-TW" dirty="0"/>
          </a:p>
          <a:p>
            <a:r>
              <a:rPr lang="en-US" altLang="zh-TW" sz="2400" dirty="0"/>
              <a:t>&lt;meta name=“keywords” content=“</a:t>
            </a:r>
            <a:r>
              <a:rPr lang="zh-TW" altLang="en-US" sz="2400" dirty="0"/>
              <a:t>遊戲 多媒體</a:t>
            </a:r>
            <a:r>
              <a:rPr lang="en-US" altLang="zh-TW" sz="2400" dirty="0"/>
              <a:t>”</a:t>
            </a:r>
            <a:r>
              <a:rPr lang="zh-TW" altLang="en-US" sz="2400" dirty="0"/>
              <a:t> </a:t>
            </a:r>
            <a:r>
              <a:rPr lang="en-US" altLang="zh-TW" sz="2400" dirty="0"/>
              <a:t>/&gt;</a:t>
            </a:r>
          </a:p>
          <a:p>
            <a:r>
              <a:rPr lang="en-US" altLang="zh-TW" sz="2400" dirty="0"/>
              <a:t>&lt;meta name=“description” content=“</a:t>
            </a:r>
            <a:r>
              <a:rPr lang="zh-TW" altLang="en-US" sz="2400" dirty="0"/>
              <a:t>遊戲網站</a:t>
            </a:r>
            <a:r>
              <a:rPr lang="en-US" altLang="zh-TW" sz="2400" dirty="0"/>
              <a:t>"&gt;</a:t>
            </a:r>
          </a:p>
          <a:p>
            <a:pPr lvl="1"/>
            <a:r>
              <a:rPr lang="zh-TW" altLang="en-US" dirty="0"/>
              <a:t>關鍵字、描述，給搜尋引擎看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0405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795928-0FC7-C7B7-BA6D-76EF319E4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其他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1D25F3-9313-0D9F-3729-E820CAAA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&lt;figure&gt;</a:t>
            </a:r>
          </a:p>
          <a:p>
            <a:pPr lvl="1"/>
            <a:r>
              <a:rPr lang="zh-TW" altLang="en-US" dirty="0"/>
              <a:t>有說明欄的圖片</a:t>
            </a:r>
            <a:endParaRPr lang="en-US" altLang="zh-TW" dirty="0"/>
          </a:p>
          <a:p>
            <a:r>
              <a:rPr lang="en-US" altLang="zh-TW" dirty="0"/>
              <a:t>&lt;footer&gt;</a:t>
            </a:r>
          </a:p>
          <a:p>
            <a:pPr lvl="1"/>
            <a:r>
              <a:rPr lang="zh-TW" altLang="en-US" dirty="0"/>
              <a:t>頁尾</a:t>
            </a:r>
            <a:endParaRPr lang="en-US" altLang="zh-TW" dirty="0"/>
          </a:p>
          <a:p>
            <a:r>
              <a:rPr lang="en-US" altLang="zh-TW" dirty="0"/>
              <a:t>&lt;audio&gt;</a:t>
            </a:r>
          </a:p>
          <a:p>
            <a:pPr lvl="1"/>
            <a:r>
              <a:rPr lang="zh-TW" altLang="en-US" dirty="0"/>
              <a:t>聲音</a:t>
            </a:r>
            <a:endParaRPr lang="en-US" altLang="zh-TW" dirty="0"/>
          </a:p>
          <a:p>
            <a:r>
              <a:rPr lang="en-US" altLang="zh-TW" dirty="0"/>
              <a:t>&lt;video&gt;</a:t>
            </a:r>
          </a:p>
          <a:p>
            <a:pPr lvl="1"/>
            <a:r>
              <a:rPr lang="zh-TW" altLang="en-US" dirty="0"/>
              <a:t>影片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6237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表格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&lt;table&gt;&lt;/table&gt;</a:t>
            </a:r>
          </a:p>
          <a:p>
            <a:r>
              <a:rPr lang="zh-TW" altLang="en-US" dirty="0"/>
              <a:t>區域</a:t>
            </a:r>
            <a:endParaRPr lang="en-US" altLang="zh-TW" dirty="0"/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thead</a:t>
            </a:r>
            <a:r>
              <a:rPr lang="en-US" altLang="zh-TW" dirty="0"/>
              <a:t>&gt;</a:t>
            </a:r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tbody</a:t>
            </a:r>
            <a:r>
              <a:rPr lang="en-US" altLang="zh-TW" dirty="0"/>
              <a:t>&gt;</a:t>
            </a:r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tfoot</a:t>
            </a:r>
            <a:r>
              <a:rPr lang="en-US" altLang="zh-TW" dirty="0"/>
              <a:t>&gt;</a:t>
            </a:r>
          </a:p>
          <a:p>
            <a:pPr lvl="1"/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2714620"/>
            <a:ext cx="3357586" cy="3886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36594" y="5500702"/>
            <a:ext cx="2411660" cy="1081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表格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row (</a:t>
            </a:r>
            <a:r>
              <a:rPr lang="zh-TW" altLang="en-US" dirty="0"/>
              <a:t>橫列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tr</a:t>
            </a:r>
            <a:r>
              <a:rPr lang="en-US" altLang="zh-TW" dirty="0"/>
              <a:t>&gt; &lt;/</a:t>
            </a:r>
            <a:r>
              <a:rPr lang="en-US" altLang="zh-TW" dirty="0" err="1"/>
              <a:t>tr</a:t>
            </a:r>
            <a:r>
              <a:rPr lang="en-US" altLang="zh-TW" dirty="0"/>
              <a:t>&gt;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欄位內容</a:t>
            </a:r>
            <a:endParaRPr lang="en-US" altLang="zh-TW" dirty="0"/>
          </a:p>
          <a:p>
            <a:pPr lvl="1"/>
            <a:r>
              <a:rPr lang="en-US" altLang="zh-TW" dirty="0"/>
              <a:t>&lt;</a:t>
            </a:r>
            <a:r>
              <a:rPr lang="en-US" altLang="zh-TW" dirty="0" err="1"/>
              <a:t>th</a:t>
            </a:r>
            <a:r>
              <a:rPr lang="en-US" altLang="zh-TW" dirty="0"/>
              <a:t>&gt; &lt;/</a:t>
            </a:r>
            <a:r>
              <a:rPr lang="en-US" altLang="zh-TW" dirty="0" err="1"/>
              <a:t>th</a:t>
            </a:r>
            <a:r>
              <a:rPr lang="en-US" altLang="zh-TW" dirty="0"/>
              <a:t>&gt;</a:t>
            </a:r>
          </a:p>
          <a:p>
            <a:pPr lvl="1"/>
            <a:r>
              <a:rPr lang="en-US" altLang="zh-TW" dirty="0"/>
              <a:t>&lt;td&gt; &lt;/td&gt;</a:t>
            </a:r>
            <a:endParaRPr lang="zh-TW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6414" y="2643182"/>
            <a:ext cx="3357586" cy="3886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5419426"/>
            <a:ext cx="2433609" cy="10909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表格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合併儲存格</a:t>
            </a:r>
            <a:endParaRPr lang="en-US" altLang="zh-TW" dirty="0"/>
          </a:p>
          <a:p>
            <a:pPr lvl="1"/>
            <a:r>
              <a:rPr lang="en-US" altLang="zh-TW" dirty="0" err="1"/>
              <a:t>rowspan</a:t>
            </a:r>
            <a:r>
              <a:rPr lang="en-US" altLang="zh-TW" dirty="0"/>
              <a:t>=“2”</a:t>
            </a:r>
          </a:p>
          <a:p>
            <a:pPr lvl="1"/>
            <a:r>
              <a:rPr lang="en-US" altLang="zh-TW" dirty="0" err="1"/>
              <a:t>colspan</a:t>
            </a:r>
            <a:r>
              <a:rPr lang="en-US" altLang="zh-TW" dirty="0"/>
              <a:t>=“2”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504" y="3286124"/>
            <a:ext cx="3714776" cy="3335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39441" y="5572140"/>
            <a:ext cx="2227849" cy="1047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BD396C-3013-8E0A-643B-7DE97B0B2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DIV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F264E5-4508-B1A9-7BF0-F885DDCA5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古老的網頁會使用隱藏式表格來做排版，但現在已經很少使用，而改用</a:t>
            </a:r>
            <a:r>
              <a:rPr lang="en-US" altLang="zh-TW" dirty="0"/>
              <a:t>&lt;div&gt;</a:t>
            </a:r>
            <a:r>
              <a:rPr lang="zh-TW" altLang="en-US" dirty="0"/>
              <a:t>，他只是一種容器，無任何展示內容。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接下來介紹到的</a:t>
            </a:r>
            <a:r>
              <a:rPr lang="en-US" altLang="zh-TW" dirty="0"/>
              <a:t>CSS</a:t>
            </a:r>
            <a:r>
              <a:rPr lang="zh-TW" altLang="en-US" dirty="0"/>
              <a:t>會大量使用</a:t>
            </a:r>
            <a:r>
              <a:rPr lang="en-US" altLang="zh-TW"/>
              <a:t>DIV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32242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614</TotalTime>
  <Words>578</Words>
  <Application>Microsoft Office PowerPoint</Application>
  <PresentationFormat>如螢幕大小 (4:3)</PresentationFormat>
  <Paragraphs>120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4" baseType="lpstr">
      <vt:lpstr>Arial</vt:lpstr>
      <vt:lpstr>Georgia</vt:lpstr>
      <vt:lpstr>Times New Roman</vt:lpstr>
      <vt:lpstr>Wingdings 2</vt:lpstr>
      <vt:lpstr>都會</vt:lpstr>
      <vt:lpstr>Lesson 4 HTML-1</vt:lpstr>
      <vt:lpstr>新html檔案</vt:lpstr>
      <vt:lpstr>第一行</vt:lpstr>
      <vt:lpstr>標籤結構</vt:lpstr>
      <vt:lpstr>html空白檔案</vt:lpstr>
      <vt:lpstr>註解</vt:lpstr>
      <vt:lpstr>文字內容</vt:lpstr>
      <vt:lpstr>文字內容</vt:lpstr>
      <vt:lpstr>文字(其他屬性)</vt:lpstr>
      <vt:lpstr>文字的style</vt:lpstr>
      <vt:lpstr>圖片</vt:lpstr>
      <vt:lpstr>超連結 (hyperlink)</vt:lpstr>
      <vt:lpstr>超連結 (hyperlink)</vt:lpstr>
      <vt:lpstr>meta</vt:lpstr>
      <vt:lpstr>其他</vt:lpstr>
      <vt:lpstr>表格</vt:lpstr>
      <vt:lpstr>表格</vt:lpstr>
      <vt:lpstr>表格</vt:lpstr>
      <vt:lpstr>DIV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87</cp:revision>
  <dcterms:created xsi:type="dcterms:W3CDTF">2024-11-18T05:57:07Z</dcterms:created>
  <dcterms:modified xsi:type="dcterms:W3CDTF">2025-02-14T01:31:10Z</dcterms:modified>
</cp:coreProperties>
</file>