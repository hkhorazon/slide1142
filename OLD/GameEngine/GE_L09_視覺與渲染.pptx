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35"/>
  </p:notesMasterIdLst>
  <p:sldIdLst>
    <p:sldId id="256" r:id="rId2"/>
    <p:sldId id="281" r:id="rId3"/>
    <p:sldId id="348" r:id="rId4"/>
    <p:sldId id="378" r:id="rId5"/>
    <p:sldId id="379" r:id="rId6"/>
    <p:sldId id="368" r:id="rId7"/>
    <p:sldId id="369" r:id="rId8"/>
    <p:sldId id="370" r:id="rId9"/>
    <p:sldId id="372" r:id="rId10"/>
    <p:sldId id="371" r:id="rId11"/>
    <p:sldId id="261" r:id="rId12"/>
    <p:sldId id="265" r:id="rId13"/>
    <p:sldId id="266" r:id="rId14"/>
    <p:sldId id="356" r:id="rId15"/>
    <p:sldId id="380" r:id="rId16"/>
    <p:sldId id="381" r:id="rId17"/>
    <p:sldId id="286" r:id="rId18"/>
    <p:sldId id="287" r:id="rId19"/>
    <p:sldId id="360" r:id="rId20"/>
    <p:sldId id="357" r:id="rId21"/>
    <p:sldId id="359" r:id="rId22"/>
    <p:sldId id="358" r:id="rId23"/>
    <p:sldId id="373" r:id="rId24"/>
    <p:sldId id="361" r:id="rId25"/>
    <p:sldId id="273" r:id="rId26"/>
    <p:sldId id="362" r:id="rId27"/>
    <p:sldId id="352" r:id="rId28"/>
    <p:sldId id="355" r:id="rId29"/>
    <p:sldId id="363" r:id="rId30"/>
    <p:sldId id="365" r:id="rId31"/>
    <p:sldId id="354" r:id="rId32"/>
    <p:sldId id="364" r:id="rId33"/>
    <p:sldId id="367" r:id="rId34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4" d="100"/>
          <a:sy n="104" d="100"/>
        </p:scale>
        <p:origin x="182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3C9FCE-891E-4FA8-B27C-BC1E1C1F9399}" type="datetimeFigureOut">
              <a:rPr lang="zh-TW" altLang="en-US" smtClean="0"/>
              <a:pPr/>
              <a:t>2025/10/23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0E6E02-D2A9-43CD-B3AE-9FA57BF55ABD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0E6E02-D2A9-43CD-B3AE-9FA57BF55ABD}" type="slidenum">
              <a:rPr lang="zh-TW" altLang="en-US" smtClean="0"/>
              <a:pPr/>
              <a:t>29</a:t>
            </a:fld>
            <a:endParaRPr lang="zh-TW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/>
          <p:cNvSpPr/>
          <p:nvPr/>
        </p:nvSpPr>
        <p:spPr>
          <a:xfrm flipV="1">
            <a:off x="5410182" y="3810000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4" name="矩形 23"/>
          <p:cNvSpPr/>
          <p:nvPr/>
        </p:nvSpPr>
        <p:spPr>
          <a:xfrm flipV="1">
            <a:off x="5410200" y="3897010"/>
            <a:ext cx="3733801" cy="192024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5" name="矩形 24"/>
          <p:cNvSpPr/>
          <p:nvPr/>
        </p:nvSpPr>
        <p:spPr>
          <a:xfrm flipV="1">
            <a:off x="5410200" y="4115167"/>
            <a:ext cx="3733801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6" name="矩形 25"/>
          <p:cNvSpPr/>
          <p:nvPr/>
        </p:nvSpPr>
        <p:spPr>
          <a:xfrm flipV="1">
            <a:off x="5410200" y="4164403"/>
            <a:ext cx="1965960" cy="18288"/>
          </a:xfrm>
          <a:prstGeom prst="rect">
            <a:avLst/>
          </a:prstGeom>
          <a:solidFill>
            <a:schemeClr val="accent2">
              <a:alpha val="6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7" name="矩形 26"/>
          <p:cNvSpPr/>
          <p:nvPr/>
        </p:nvSpPr>
        <p:spPr>
          <a:xfrm flipV="1">
            <a:off x="5410200" y="4199572"/>
            <a:ext cx="1965960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0" name="圓角矩形 29"/>
          <p:cNvSpPr/>
          <p:nvPr/>
        </p:nvSpPr>
        <p:spPr bwMode="white">
          <a:xfrm>
            <a:off x="5410200" y="3962400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1" name="圓角矩形 30"/>
          <p:cNvSpPr/>
          <p:nvPr/>
        </p:nvSpPr>
        <p:spPr bwMode="white">
          <a:xfrm>
            <a:off x="7376507" y="406098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矩形 6"/>
          <p:cNvSpPr/>
          <p:nvPr/>
        </p:nvSpPr>
        <p:spPr>
          <a:xfrm>
            <a:off x="1" y="3649662"/>
            <a:ext cx="9144000" cy="244170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矩形 9"/>
          <p:cNvSpPr/>
          <p:nvPr/>
        </p:nvSpPr>
        <p:spPr>
          <a:xfrm>
            <a:off x="0" y="3675527"/>
            <a:ext cx="9144001" cy="14067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矩形 10"/>
          <p:cNvSpPr/>
          <p:nvPr/>
        </p:nvSpPr>
        <p:spPr>
          <a:xfrm flipV="1">
            <a:off x="6414051" y="3643090"/>
            <a:ext cx="2729950" cy="2484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矩形 18"/>
          <p:cNvSpPr/>
          <p:nvPr/>
        </p:nvSpPr>
        <p:spPr>
          <a:xfrm>
            <a:off x="0" y="0"/>
            <a:ext cx="9144000" cy="3701700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標題 7"/>
          <p:cNvSpPr>
            <a:spLocks noGrp="1"/>
          </p:cNvSpPr>
          <p:nvPr>
            <p:ph type="ctrTitle"/>
          </p:nvPr>
        </p:nvSpPr>
        <p:spPr>
          <a:xfrm>
            <a:off x="457200" y="2401887"/>
            <a:ext cx="8458200" cy="1470025"/>
          </a:xfrm>
        </p:spPr>
        <p:txBody>
          <a:bodyPr anchor="b"/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9" name="副標題 8"/>
          <p:cNvSpPr>
            <a:spLocks noGrp="1"/>
          </p:cNvSpPr>
          <p:nvPr>
            <p:ph type="subTitle" idx="1"/>
          </p:nvPr>
        </p:nvSpPr>
        <p:spPr>
          <a:xfrm>
            <a:off x="457200" y="3899938"/>
            <a:ext cx="4953000" cy="1752600"/>
          </a:xfrm>
        </p:spPr>
        <p:txBody>
          <a:bodyPr/>
          <a:lstStyle>
            <a:lvl1pPr marL="64008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zh-TW" altLang="en-US"/>
              <a:t>按一下以編輯母片副標題樣式</a:t>
            </a:r>
            <a:endParaRPr kumimoji="0" lang="en-US"/>
          </a:p>
        </p:txBody>
      </p:sp>
      <p:sp>
        <p:nvSpPr>
          <p:cNvPr id="28" name="日期版面配置區 27"/>
          <p:cNvSpPr>
            <a:spLocks noGrp="1"/>
          </p:cNvSpPr>
          <p:nvPr>
            <p:ph type="dt" sz="half" idx="10"/>
          </p:nvPr>
        </p:nvSpPr>
        <p:spPr>
          <a:xfrm>
            <a:off x="6705600" y="4206240"/>
            <a:ext cx="960120" cy="457200"/>
          </a:xfrm>
        </p:spPr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2025/10/23</a:t>
            </a:fld>
            <a:endParaRPr lang="zh-TW" altLang="en-US"/>
          </a:p>
        </p:txBody>
      </p:sp>
      <p:sp>
        <p:nvSpPr>
          <p:cNvPr id="17" name="頁尾版面配置區 16"/>
          <p:cNvSpPr>
            <a:spLocks noGrp="1"/>
          </p:cNvSpPr>
          <p:nvPr>
            <p:ph type="ftr" sz="quarter" idx="11"/>
          </p:nvPr>
        </p:nvSpPr>
        <p:spPr>
          <a:xfrm>
            <a:off x="5410200" y="4205288"/>
            <a:ext cx="1295400" cy="457200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29" name="投影片編號版面配置區 28"/>
          <p:cNvSpPr>
            <a:spLocks noGrp="1"/>
          </p:cNvSpPr>
          <p:nvPr>
            <p:ph type="sldNum" sz="quarter" idx="12"/>
          </p:nvPr>
        </p:nvSpPr>
        <p:spPr>
          <a:xfrm>
            <a:off x="8320088" y="1136"/>
            <a:ext cx="747712" cy="365760"/>
          </a:xfrm>
        </p:spPr>
        <p:txBody>
          <a:bodyPr/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2025/10/23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1981200"/>
            <a:ext cx="7772400" cy="1362075"/>
          </a:xfrm>
        </p:spPr>
        <p:txBody>
          <a:bodyPr anchor="b">
            <a:noAutofit/>
          </a:bodyPr>
          <a:lstStyle>
            <a:lvl1pPr algn="l">
              <a:buNone/>
              <a:defRPr sz="4300" b="1" cap="none" baseline="0">
                <a:ln w="12700">
                  <a:solidFill>
                    <a:schemeClr val="accent2">
                      <a:shade val="90000"/>
                      <a:satMod val="150000"/>
                    </a:schemeClr>
                  </a:solidFill>
                </a:ln>
                <a:solidFill>
                  <a:srgbClr val="FFFFFF"/>
                </a:solidFill>
                <a:effectLst>
                  <a:outerShdw blurRad="38100" dist="381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3367088"/>
            <a:ext cx="7772400" cy="1509712"/>
          </a:xfrm>
        </p:spPr>
        <p:txBody>
          <a:bodyPr anchor="t"/>
          <a:lstStyle>
            <a:lvl1pPr marL="45720" indent="0">
              <a:buNone/>
              <a:defRPr sz="2100" b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2025/10/23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2025/10/23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81000" y="1143000"/>
            <a:ext cx="8382000" cy="1069848"/>
          </a:xfrm>
        </p:spPr>
        <p:txBody>
          <a:bodyPr anchor="ctr"/>
          <a:lstStyle>
            <a:lvl1pPr>
              <a:defRPr sz="4000" b="0" i="0" cap="none" baseline="0"/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381000" y="2244970"/>
            <a:ext cx="4041648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3"/>
          </p:nvPr>
        </p:nvSpPr>
        <p:spPr>
          <a:xfrm>
            <a:off x="4721225" y="2244970"/>
            <a:ext cx="4041775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5" name="內容版面配置區 4"/>
          <p:cNvSpPr>
            <a:spLocks noGrp="1"/>
          </p:cNvSpPr>
          <p:nvPr>
            <p:ph sz="quarter" idx="2"/>
          </p:nvPr>
        </p:nvSpPr>
        <p:spPr>
          <a:xfrm>
            <a:off x="381000" y="2708519"/>
            <a:ext cx="4041648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718304" y="2708519"/>
            <a:ext cx="4041775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26" name="日期版面配置區 2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5BBEAD13-0566-4C6C-97E7-55F17F24B09F}" type="datetimeFigureOut">
              <a:rPr lang="zh-TW" altLang="en-US" smtClean="0"/>
              <a:pPr/>
              <a:t>2025/10/23</a:t>
            </a:fld>
            <a:endParaRPr lang="zh-TW" altLang="en-US"/>
          </a:p>
        </p:txBody>
      </p:sp>
      <p:sp>
        <p:nvSpPr>
          <p:cNvPr id="27" name="投影片編號版面配置區 2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28" name="頁尾版面配置區 2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9848"/>
          </a:xfrm>
        </p:spPr>
        <p:txBody>
          <a:bodyPr anchor="ctr"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>
          <a:xfrm>
            <a:off x="6583680" y="612648"/>
            <a:ext cx="957264" cy="457200"/>
          </a:xfrm>
        </p:spPr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2025/10/23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>
          <a:xfrm>
            <a:off x="5257800" y="612648"/>
            <a:ext cx="1325880" cy="457200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>
          <a:xfrm>
            <a:off x="8174736" y="2272"/>
            <a:ext cx="762000" cy="365760"/>
          </a:xfrm>
        </p:spPr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2025/10/23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353496" y="1101970"/>
            <a:ext cx="3383280" cy="877824"/>
          </a:xfrm>
        </p:spPr>
        <p:txBody>
          <a:bodyPr anchor="b"/>
          <a:lstStyle>
            <a:lvl1pPr algn="l">
              <a:buNone/>
              <a:defRPr sz="1800" b="1"/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2"/>
          </p:nvPr>
        </p:nvSpPr>
        <p:spPr>
          <a:xfrm>
            <a:off x="5353496" y="2010727"/>
            <a:ext cx="3383280" cy="4617720"/>
          </a:xfrm>
        </p:spPr>
        <p:txBody>
          <a:bodyPr/>
          <a:lstStyle>
            <a:lvl1pPr marL="9144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1"/>
          </p:nvPr>
        </p:nvSpPr>
        <p:spPr>
          <a:xfrm>
            <a:off x="152400" y="776287"/>
            <a:ext cx="5102352" cy="58521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2025/10/23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440434" y="1109160"/>
            <a:ext cx="586803" cy="4681637"/>
          </a:xfrm>
        </p:spPr>
        <p:txBody>
          <a:bodyPr vert="vert270" lIns="45720" tIns="0" rIns="45720" anchor="t"/>
          <a:lstStyle>
            <a:lvl1pPr algn="ctr">
              <a:buNone/>
              <a:defRPr sz="2000" b="1"/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403671" y="1143000"/>
            <a:ext cx="4572000" cy="4572000"/>
          </a:xfrm>
          <a:solidFill>
            <a:srgbClr val="EAEAEA"/>
          </a:solidFill>
          <a:ln w="50800">
            <a:solidFill>
              <a:srgbClr val="FFFFFF"/>
            </a:solidFill>
            <a:miter lim="800000"/>
          </a:ln>
          <a:effectLst>
            <a:outerShdw blurRad="57150" dist="31750" dir="4800000" algn="tl" rotWithShape="0">
              <a:srgbClr val="000000">
                <a:alpha val="2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2540">
            <a:bevelT w="25400" h="19050"/>
            <a:contourClr>
              <a:srgbClr val="AEAEAE"/>
            </a:contourClr>
          </a:sp3d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zh-TW" altLang="en-US"/>
              <a:t>按一下圖示以新增圖片</a:t>
            </a:r>
            <a:endParaRPr kumimoji="0" 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88443" y="3274308"/>
            <a:ext cx="2590800" cy="2516489"/>
          </a:xfrm>
        </p:spPr>
        <p:txBody>
          <a:bodyPr lIns="0" tIns="0" rIns="45720" anchor="t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2025/10/23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2025/10/23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781800" y="1143000"/>
            <a:ext cx="1905000" cy="5486400"/>
          </a:xfrm>
        </p:spPr>
        <p:txBody>
          <a:bodyPr vert="eaVert"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1143000"/>
            <a:ext cx="6248400" cy="5486400"/>
          </a:xfrm>
        </p:spPr>
        <p:txBody>
          <a:bodyPr vert="eaVert"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2025/10/23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/>
          <p:cNvSpPr/>
          <p:nvPr/>
        </p:nvSpPr>
        <p:spPr>
          <a:xfrm>
            <a:off x="1" y="366818"/>
            <a:ext cx="9144000" cy="84407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9" name="矩形 28"/>
          <p:cNvSpPr/>
          <p:nvPr/>
        </p:nvSpPr>
        <p:spPr>
          <a:xfrm>
            <a:off x="0" y="-1"/>
            <a:ext cx="9144000" cy="310663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0" name="矩形 29"/>
          <p:cNvSpPr/>
          <p:nvPr/>
        </p:nvSpPr>
        <p:spPr>
          <a:xfrm>
            <a:off x="0" y="308276"/>
            <a:ext cx="9144001" cy="91441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1" name="矩形 30"/>
          <p:cNvSpPr/>
          <p:nvPr/>
        </p:nvSpPr>
        <p:spPr>
          <a:xfrm flipV="1">
            <a:off x="5410182" y="360246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矩形 31"/>
          <p:cNvSpPr/>
          <p:nvPr/>
        </p:nvSpPr>
        <p:spPr>
          <a:xfrm flipV="1">
            <a:off x="5410200" y="440112"/>
            <a:ext cx="3733801" cy="180035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3" name="圓角矩形 32"/>
          <p:cNvSpPr/>
          <p:nvPr/>
        </p:nvSpPr>
        <p:spPr bwMode="white">
          <a:xfrm>
            <a:off x="5407339" y="497504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4" name="圓角矩形 33"/>
          <p:cNvSpPr/>
          <p:nvPr/>
        </p:nvSpPr>
        <p:spPr bwMode="white">
          <a:xfrm>
            <a:off x="7373646" y="58894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5" name="矩形 34"/>
          <p:cNvSpPr/>
          <p:nvPr/>
        </p:nvSpPr>
        <p:spPr bwMode="invGray">
          <a:xfrm>
            <a:off x="9084966" y="-2001"/>
            <a:ext cx="57626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6" name="矩形 35"/>
          <p:cNvSpPr/>
          <p:nvPr/>
        </p:nvSpPr>
        <p:spPr bwMode="invGray">
          <a:xfrm>
            <a:off x="9044481" y="-2001"/>
            <a:ext cx="27432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7" name="矩形 36"/>
          <p:cNvSpPr/>
          <p:nvPr/>
        </p:nvSpPr>
        <p:spPr bwMode="invGray">
          <a:xfrm>
            <a:off x="9025428" y="-2001"/>
            <a:ext cx="9144" cy="621792"/>
          </a:xfrm>
          <a:prstGeom prst="rect">
            <a:avLst/>
          </a:prstGeom>
          <a:solidFill>
            <a:srgbClr val="FFFFFF">
              <a:alpha val="6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8" name="矩形 37"/>
          <p:cNvSpPr/>
          <p:nvPr/>
        </p:nvSpPr>
        <p:spPr bwMode="invGray">
          <a:xfrm>
            <a:off x="8975423" y="-2001"/>
            <a:ext cx="27432" cy="621792"/>
          </a:xfrm>
          <a:prstGeom prst="rect">
            <a:avLst/>
          </a:prstGeom>
          <a:solidFill>
            <a:srgbClr val="FFFFFF">
              <a:alpha val="4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9" name="矩形 38"/>
          <p:cNvSpPr/>
          <p:nvPr/>
        </p:nvSpPr>
        <p:spPr bwMode="invGray">
          <a:xfrm>
            <a:off x="8915677" y="380"/>
            <a:ext cx="54864" cy="585216"/>
          </a:xfrm>
          <a:prstGeom prst="rect">
            <a:avLst/>
          </a:prstGeom>
          <a:solidFill>
            <a:srgbClr val="FFFFFF">
              <a:alpha val="2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40" name="矩形 39"/>
          <p:cNvSpPr/>
          <p:nvPr/>
        </p:nvSpPr>
        <p:spPr bwMode="invGray">
          <a:xfrm>
            <a:off x="8873475" y="380"/>
            <a:ext cx="9144" cy="585216"/>
          </a:xfrm>
          <a:prstGeom prst="rect">
            <a:avLst/>
          </a:prstGeom>
          <a:solidFill>
            <a:srgbClr val="FFFFFF">
              <a:alpha val="30196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標題版面配置區 2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68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13" name="文字版面配置區 12"/>
          <p:cNvSpPr>
            <a:spLocks noGrp="1"/>
          </p:cNvSpPr>
          <p:nvPr>
            <p:ph type="body" idx="1"/>
          </p:nvPr>
        </p:nvSpPr>
        <p:spPr>
          <a:xfrm>
            <a:off x="457200" y="2249424"/>
            <a:ext cx="8229600" cy="432511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  <a:p>
            <a:pPr lvl="1" eaLnBrk="1" latinLnBrk="0" hangingPunct="1"/>
            <a:r>
              <a:rPr kumimoji="0" lang="zh-TW" altLang="en-US"/>
              <a:t>第二層</a:t>
            </a:r>
          </a:p>
          <a:p>
            <a:pPr lvl="2" eaLnBrk="1" latinLnBrk="0" hangingPunct="1"/>
            <a:r>
              <a:rPr kumimoji="0" lang="zh-TW" altLang="en-US"/>
              <a:t>第三層</a:t>
            </a:r>
          </a:p>
          <a:p>
            <a:pPr lvl="3" eaLnBrk="1" latinLnBrk="0" hangingPunct="1"/>
            <a:r>
              <a:rPr kumimoji="0" lang="zh-TW" altLang="en-US"/>
              <a:t>第四層</a:t>
            </a:r>
          </a:p>
          <a:p>
            <a:pPr lvl="4" eaLnBrk="1" latinLnBrk="0" hangingPunct="1"/>
            <a:r>
              <a:rPr kumimoji="0" lang="zh-TW" altLang="en-US"/>
              <a:t>第五層</a:t>
            </a:r>
            <a:endParaRPr kumimoji="0" lang="en-US"/>
          </a:p>
        </p:txBody>
      </p:sp>
      <p:sp>
        <p:nvSpPr>
          <p:cNvPr id="14" name="日期版面配置區 13"/>
          <p:cNvSpPr>
            <a:spLocks noGrp="1"/>
          </p:cNvSpPr>
          <p:nvPr>
            <p:ph type="dt" sz="half" idx="2"/>
          </p:nvPr>
        </p:nvSpPr>
        <p:spPr>
          <a:xfrm>
            <a:off x="6586536" y="612648"/>
            <a:ext cx="957264" cy="45720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fld id="{5BBEAD13-0566-4C6C-97E7-55F17F24B09F}" type="datetimeFigureOut">
              <a:rPr lang="zh-TW" altLang="en-US" smtClean="0"/>
              <a:pPr/>
              <a:t>2025/10/23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3"/>
          </p:nvPr>
        </p:nvSpPr>
        <p:spPr>
          <a:xfrm>
            <a:off x="5257800" y="612648"/>
            <a:ext cx="1325880" cy="45720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23" name="投影片編號版面配置區 22"/>
          <p:cNvSpPr>
            <a:spLocks noGrp="1"/>
          </p:cNvSpPr>
          <p:nvPr>
            <p:ph type="sldNum" sz="quarter" idx="4"/>
          </p:nvPr>
        </p:nvSpPr>
        <p:spPr>
          <a:xfrm>
            <a:off x="8174736" y="2272"/>
            <a:ext cx="762000" cy="365760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800">
                <a:solidFill>
                  <a:srgbClr val="FFFFFF"/>
                </a:solidFill>
              </a:defRPr>
            </a:lvl1pPr>
          </a:lstStyle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65760" indent="-256032" algn="l" rtl="0" eaLnBrk="1" latinLnBrk="0" hangingPunct="1">
        <a:spcBef>
          <a:spcPts val="300"/>
        </a:spcBef>
        <a:buClr>
          <a:schemeClr val="accent3"/>
        </a:buClr>
        <a:buFont typeface="Georgia"/>
        <a:buChar char="•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58368" indent="-246888" algn="l" rtl="0" eaLnBrk="1" latinLnBrk="0" hangingPunct="1">
        <a:spcBef>
          <a:spcPts val="300"/>
        </a:spcBef>
        <a:buClr>
          <a:schemeClr val="accent2"/>
        </a:buClr>
        <a:buFont typeface="Georgia"/>
        <a:buChar char="▫"/>
        <a:defRPr kumimoji="0" sz="2600" kern="1200">
          <a:solidFill>
            <a:schemeClr val="accent2"/>
          </a:solidFill>
          <a:latin typeface="+mn-lt"/>
          <a:ea typeface="+mn-ea"/>
          <a:cs typeface="+mn-cs"/>
        </a:defRPr>
      </a:lvl2pPr>
      <a:lvl3pPr marL="923544" indent="-219456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4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179576" indent="-201168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2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38988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2000" kern="1200">
          <a:solidFill>
            <a:schemeClr val="accent3"/>
          </a:solidFill>
          <a:latin typeface="+mn-lt"/>
          <a:ea typeface="+mn-ea"/>
          <a:cs typeface="+mn-cs"/>
        </a:defRPr>
      </a:lvl5pPr>
      <a:lvl6pPr marL="1609344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800" kern="1200">
          <a:solidFill>
            <a:schemeClr val="accent3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600" kern="1200">
          <a:solidFill>
            <a:schemeClr val="accent3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500" kern="1200">
          <a:solidFill>
            <a:schemeClr val="accent3"/>
          </a:solidFill>
          <a:latin typeface="+mn-lt"/>
          <a:ea typeface="+mn-ea"/>
          <a:cs typeface="+mn-cs"/>
        </a:defRPr>
      </a:lvl8pPr>
      <a:lvl9pPr marL="224028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400" kern="1200" baseline="0">
          <a:solidFill>
            <a:schemeClr val="accent3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hyperlink" Target="https://youtu.be/hv2CUi2eeBY?t=340" TargetMode="Externa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unity3d.com/6000.2/Documentation/Manual/PostProcessingOverview.html" TargetMode="Externa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Lesson 9</a:t>
            </a:r>
            <a:br>
              <a:rPr lang="en-US" altLang="zh-TW" dirty="0"/>
            </a:br>
            <a:r>
              <a:rPr lang="zh-TW" altLang="en-US" dirty="0"/>
              <a:t>視覺與渲染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zh-TW" dirty="0"/>
          </a:p>
          <a:p>
            <a:r>
              <a:rPr lang="en-US" altLang="zh-TW" dirty="0"/>
              <a:t>Horazon</a:t>
            </a:r>
          </a:p>
          <a:p>
            <a:r>
              <a:rPr lang="zh-TW" altLang="en-US" dirty="0">
                <a:solidFill>
                  <a:srgbClr val="003399"/>
                </a:solidFill>
                <a:latin typeface="Times New Roman" panose="02020603050405020304" pitchFamily="18" charset="0"/>
              </a:rPr>
              <a:t>基礎遊戲引擎應用</a:t>
            </a:r>
            <a:endParaRPr lang="zh-TW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[</a:t>
            </a:r>
            <a:r>
              <a:rPr lang="zh-TW" altLang="en-US" dirty="0"/>
              <a:t>通用</a:t>
            </a:r>
            <a:r>
              <a:rPr lang="en-US" altLang="zh-TW" dirty="0"/>
              <a:t>]</a:t>
            </a:r>
            <a:r>
              <a:rPr lang="zh-TW" altLang="en-US" dirty="0"/>
              <a:t>遊戲引擎功能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b="1" u="sng" dirty="0">
                <a:solidFill>
                  <a:srgbClr val="00B050"/>
                </a:solidFill>
              </a:rPr>
              <a:t>視覺與渲染</a:t>
            </a:r>
            <a:endParaRPr lang="en-US" altLang="zh-TW" b="1" u="sng" dirty="0">
              <a:solidFill>
                <a:srgbClr val="00B050"/>
              </a:solidFill>
            </a:endParaRPr>
          </a:p>
          <a:p>
            <a:r>
              <a:rPr lang="zh-TW" altLang="en-US" dirty="0"/>
              <a:t>物理模擬</a:t>
            </a:r>
            <a:endParaRPr lang="en-US" altLang="zh-TW" dirty="0"/>
          </a:p>
          <a:p>
            <a:r>
              <a:rPr lang="zh-TW" altLang="en-US" dirty="0"/>
              <a:t>動畫系統</a:t>
            </a:r>
            <a:endParaRPr lang="en-US" altLang="zh-TW" dirty="0"/>
          </a:p>
          <a:p>
            <a:r>
              <a:rPr lang="zh-TW" altLang="en-US" dirty="0"/>
              <a:t>音效與音樂</a:t>
            </a:r>
            <a:endParaRPr lang="en-US" altLang="zh-TW" dirty="0"/>
          </a:p>
          <a:p>
            <a:r>
              <a:rPr lang="zh-TW" altLang="en-US" dirty="0"/>
              <a:t>使用者互動 </a:t>
            </a:r>
            <a:r>
              <a:rPr lang="en-US" altLang="zh-TW" dirty="0"/>
              <a:t>(</a:t>
            </a:r>
            <a:r>
              <a:rPr lang="zh-TW" altLang="en-US" dirty="0"/>
              <a:t>輸入</a:t>
            </a:r>
            <a:r>
              <a:rPr lang="en-US" altLang="zh-TW" dirty="0"/>
              <a:t>&amp;</a:t>
            </a:r>
            <a:r>
              <a:rPr lang="zh-TW" altLang="en-US" dirty="0"/>
              <a:t>回應</a:t>
            </a:r>
            <a:r>
              <a:rPr lang="en-US" altLang="zh-TW" dirty="0"/>
              <a:t>)</a:t>
            </a:r>
          </a:p>
          <a:p>
            <a:r>
              <a:rPr lang="zh-TW" altLang="en-US" dirty="0"/>
              <a:t>使用者介面 </a:t>
            </a:r>
            <a:r>
              <a:rPr lang="en-US" altLang="zh-TW" dirty="0"/>
              <a:t>(UI)</a:t>
            </a:r>
          </a:p>
          <a:p>
            <a:r>
              <a:rPr lang="zh-TW" altLang="en-US" dirty="0"/>
              <a:t>場景與資源管理 </a:t>
            </a:r>
            <a:r>
              <a:rPr lang="en-US" altLang="zh-TW" dirty="0"/>
              <a:t>	</a:t>
            </a:r>
          </a:p>
          <a:p>
            <a:r>
              <a:rPr lang="zh-TW" altLang="en-US" dirty="0"/>
              <a:t>遊戲邏輯與腳本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DBD9446-5B42-1823-4830-0388E70A72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982" y="910711"/>
            <a:ext cx="8229600" cy="1066800"/>
          </a:xfrm>
        </p:spPr>
        <p:txBody>
          <a:bodyPr/>
          <a:lstStyle/>
          <a:p>
            <a:r>
              <a:rPr lang="en-US" altLang="zh-TW" dirty="0"/>
              <a:t>Render</a:t>
            </a:r>
            <a:r>
              <a:rPr lang="zh-TW" altLang="en-US" dirty="0"/>
              <a:t>與</a:t>
            </a:r>
            <a:r>
              <a:rPr lang="en-US" altLang="zh-TW" dirty="0"/>
              <a:t>Shader</a:t>
            </a:r>
            <a:r>
              <a:rPr lang="zh-TW" altLang="en-US" dirty="0"/>
              <a:t>相關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84CDDAF0-D373-5069-0A1C-31D5DC8D0D69}"/>
              </a:ext>
            </a:extLst>
          </p:cNvPr>
          <p:cNvGraphicFramePr>
            <a:graphicFrameLocks noGrp="1"/>
          </p:cNvGraphicFramePr>
          <p:nvPr/>
        </p:nvGraphicFramePr>
        <p:xfrm>
          <a:off x="611560" y="1988840"/>
          <a:ext cx="8075240" cy="4455908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872208">
                  <a:extLst>
                    <a:ext uri="{9D8B030D-6E8A-4147-A177-3AD203B41FA5}">
                      <a16:colId xmlns:a16="http://schemas.microsoft.com/office/drawing/2014/main" val="1731637400"/>
                    </a:ext>
                  </a:extLst>
                </a:gridCol>
                <a:gridCol w="1872208">
                  <a:extLst>
                    <a:ext uri="{9D8B030D-6E8A-4147-A177-3AD203B41FA5}">
                      <a16:colId xmlns:a16="http://schemas.microsoft.com/office/drawing/2014/main" val="202426916"/>
                    </a:ext>
                  </a:extLst>
                </a:gridCol>
                <a:gridCol w="4330824">
                  <a:extLst>
                    <a:ext uri="{9D8B030D-6E8A-4147-A177-3AD203B41FA5}">
                      <a16:colId xmlns:a16="http://schemas.microsoft.com/office/drawing/2014/main" val="1836957082"/>
                    </a:ext>
                  </a:extLst>
                </a:gridCol>
              </a:tblGrid>
              <a:tr h="571128">
                <a:tc>
                  <a:txBody>
                    <a:bodyPr/>
                    <a:lstStyle/>
                    <a:p>
                      <a:pPr lvl="0" algn="ctr"/>
                      <a:r>
                        <a:rPr lang="en-US" altLang="zh-TW" sz="1800" b="1" dirty="0">
                          <a:latin typeface="+mj-ea"/>
                          <a:ea typeface="+mj-ea"/>
                        </a:rPr>
                        <a:t>Render</a:t>
                      </a:r>
                      <a:endParaRPr lang="zh-TW" altLang="en-US" sz="1800" b="1" dirty="0">
                        <a:latin typeface="+mj-ea"/>
                        <a:ea typeface="+mj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zh-TW" altLang="en-US" sz="1800" b="0" dirty="0">
                          <a:latin typeface="+mj-ea"/>
                          <a:ea typeface="+mj-ea"/>
                        </a:rPr>
                        <a:t>渲染</a:t>
                      </a:r>
                      <a:r>
                        <a:rPr lang="en-US" altLang="zh-TW" sz="1800" b="0" dirty="0">
                          <a:latin typeface="+mj-ea"/>
                          <a:ea typeface="+mj-ea"/>
                        </a:rPr>
                        <a:t>/</a:t>
                      </a:r>
                      <a:r>
                        <a:rPr lang="zh-TW" altLang="en-US" sz="1800" b="0" dirty="0">
                          <a:latin typeface="+mj-ea"/>
                          <a:ea typeface="+mj-ea"/>
                        </a:rPr>
                        <a:t>彩現</a:t>
                      </a:r>
                      <a:r>
                        <a:rPr lang="en-US" altLang="zh-TW" sz="1800" b="0" dirty="0">
                          <a:latin typeface="+mj-ea"/>
                          <a:ea typeface="+mj-ea"/>
                        </a:rPr>
                        <a:t>/</a:t>
                      </a:r>
                      <a:r>
                        <a:rPr lang="zh-TW" altLang="en-US" sz="1800" b="0" dirty="0">
                          <a:latin typeface="+mj-ea"/>
                          <a:ea typeface="+mj-ea"/>
                        </a:rPr>
                        <a:t>算圖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2000" b="0" kern="120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指電腦將畫面呈現在螢幕的方式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24294642"/>
                  </a:ext>
                </a:extLst>
              </a:tr>
              <a:tr h="531980">
                <a:tc>
                  <a:txBody>
                    <a:bodyPr/>
                    <a:lstStyle/>
                    <a:p>
                      <a:pPr lvl="0" algn="ctr"/>
                      <a:r>
                        <a:rPr kumimoji="0" lang="en-US" altLang="zh-TW" sz="1800" b="1" kern="120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Renderer</a:t>
                      </a:r>
                      <a:endParaRPr lang="zh-TW" altLang="en-US" sz="1800" b="1" dirty="0">
                        <a:latin typeface="+mj-ea"/>
                        <a:ea typeface="+mj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zh-TW" altLang="en-US" sz="1800" b="0" dirty="0">
                          <a:latin typeface="+mj-ea"/>
                          <a:ea typeface="+mj-ea"/>
                        </a:rPr>
                        <a:t>渲染器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/>
                      <a:r>
                        <a:rPr lang="en-US" altLang="zh-TW" sz="2000" b="0" dirty="0">
                          <a:latin typeface="+mj-ea"/>
                          <a:ea typeface="+mj-ea"/>
                        </a:rPr>
                        <a:t>Unity</a:t>
                      </a:r>
                      <a:r>
                        <a:rPr lang="zh-TW" altLang="en-US" sz="2000" b="0" dirty="0">
                          <a:latin typeface="+mj-ea"/>
                          <a:ea typeface="+mj-ea"/>
                        </a:rPr>
                        <a:t>的原件，用來將該遊戲物件繪製出來的方式，有多種不同的元件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38589204"/>
                  </a:ext>
                </a:extLst>
              </a:tr>
              <a:tr h="531980">
                <a:tc>
                  <a:txBody>
                    <a:bodyPr/>
                    <a:lstStyle/>
                    <a:p>
                      <a:pPr lvl="0" algn="ctr"/>
                      <a:r>
                        <a:rPr lang="en-US" altLang="zh-TW" sz="1800" b="1" dirty="0" err="1">
                          <a:latin typeface="+mj-ea"/>
                          <a:ea typeface="+mj-ea"/>
                        </a:rPr>
                        <a:t>Shader</a:t>
                      </a:r>
                      <a:endParaRPr lang="zh-TW" altLang="en-US" sz="1800" b="1" dirty="0">
                        <a:latin typeface="+mj-ea"/>
                        <a:ea typeface="+mj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zh-TW" altLang="en-US" sz="1800" b="0" dirty="0">
                          <a:latin typeface="+mj-ea"/>
                          <a:ea typeface="+mj-ea"/>
                        </a:rPr>
                        <a:t>著色器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b="1" dirty="0" err="1"/>
                        <a:t>Shader</a:t>
                      </a:r>
                      <a:r>
                        <a:rPr lang="zh-TW" altLang="en-US" sz="2000" b="1" dirty="0"/>
                        <a:t>（著色器）</a:t>
                      </a:r>
                      <a:r>
                        <a:rPr lang="zh-TW" altLang="en-US" sz="2000" dirty="0"/>
                        <a:t> 是一段在 顯示卡</a:t>
                      </a:r>
                      <a:r>
                        <a:rPr lang="en-US" altLang="zh-TW" sz="2000" dirty="0"/>
                        <a:t>GPU </a:t>
                      </a:r>
                      <a:r>
                        <a:rPr lang="zh-TW" altLang="en-US" sz="2000" dirty="0"/>
                        <a:t>上運行的程式，用來控制「一個像素或頂點應該怎麼被繪製出來」。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35265624"/>
                  </a:ext>
                </a:extLst>
              </a:tr>
              <a:tr h="531980">
                <a:tc>
                  <a:txBody>
                    <a:bodyPr/>
                    <a:lstStyle/>
                    <a:p>
                      <a:pPr lvl="0" algn="ctr"/>
                      <a:r>
                        <a:rPr lang="en-US" altLang="zh-TW" sz="1800" b="1" dirty="0">
                          <a:latin typeface="+mj-ea"/>
                          <a:ea typeface="+mj-ea"/>
                        </a:rPr>
                        <a:t>Material</a:t>
                      </a:r>
                      <a:endParaRPr lang="zh-TW" altLang="en-US" sz="1800" b="1" dirty="0">
                        <a:latin typeface="+mj-ea"/>
                        <a:ea typeface="+mj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zh-TW" altLang="en-US" sz="1800" b="0" dirty="0">
                          <a:latin typeface="+mj-ea"/>
                          <a:ea typeface="+mj-ea"/>
                        </a:rPr>
                        <a:t>材質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/>
                      <a:r>
                        <a:rPr lang="en-US" altLang="zh-TW" sz="2000" dirty="0"/>
                        <a:t>Unity </a:t>
                      </a:r>
                      <a:r>
                        <a:rPr lang="zh-TW" altLang="en-US" sz="2000" dirty="0"/>
                        <a:t>的材質是讓 </a:t>
                      </a:r>
                      <a:r>
                        <a:rPr lang="en-US" altLang="zh-TW" sz="2000" dirty="0"/>
                        <a:t>3D </a:t>
                      </a:r>
                      <a:r>
                        <a:rPr lang="zh-TW" altLang="en-US" sz="2000" dirty="0"/>
                        <a:t>模型看起來真實或特效化的外皮設定，靠著 </a:t>
                      </a:r>
                      <a:r>
                        <a:rPr lang="en-US" altLang="zh-TW" sz="2000" dirty="0" err="1"/>
                        <a:t>shader</a:t>
                      </a:r>
                      <a:r>
                        <a:rPr lang="en-US" altLang="zh-TW" sz="2000" dirty="0"/>
                        <a:t> </a:t>
                      </a:r>
                      <a:r>
                        <a:rPr lang="zh-TW" altLang="en-US" sz="2000" dirty="0"/>
                        <a:t>和貼圖來運作。</a:t>
                      </a:r>
                      <a:endParaRPr lang="zh-TW" altLang="en-US" sz="2000" b="0" dirty="0">
                        <a:latin typeface="+mj-ea"/>
                        <a:ea typeface="+mj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96584998"/>
                  </a:ext>
                </a:extLst>
              </a:tr>
              <a:tr h="531980">
                <a:tc>
                  <a:txBody>
                    <a:bodyPr/>
                    <a:lstStyle/>
                    <a:p>
                      <a:pPr lvl="0" algn="ctr"/>
                      <a:r>
                        <a:rPr lang="en-US" altLang="zh-TW" sz="1800" b="1" dirty="0">
                          <a:latin typeface="+mj-ea"/>
                          <a:ea typeface="+mj-ea"/>
                        </a:rPr>
                        <a:t>Texture</a:t>
                      </a:r>
                      <a:endParaRPr lang="zh-TW" altLang="en-US" sz="1800" b="1" dirty="0">
                        <a:latin typeface="+mj-ea"/>
                        <a:ea typeface="+mj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zh-TW" altLang="en-US" sz="1800" b="0" dirty="0">
                          <a:latin typeface="+mj-ea"/>
                          <a:ea typeface="+mj-ea"/>
                        </a:rPr>
                        <a:t>貼圖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800" dirty="0"/>
                        <a:t>將一張</a:t>
                      </a:r>
                      <a:r>
                        <a:rPr lang="en-US" altLang="zh-TW" sz="1800" dirty="0"/>
                        <a:t>2D</a:t>
                      </a:r>
                      <a:r>
                        <a:rPr lang="zh-TW" altLang="en-US" sz="1800" dirty="0"/>
                        <a:t>圖片（貼圖）依照</a:t>
                      </a:r>
                      <a:r>
                        <a:rPr lang="en-US" altLang="zh-TW" sz="1800" dirty="0"/>
                        <a:t>UV</a:t>
                      </a:r>
                      <a:r>
                        <a:rPr lang="zh-TW" altLang="en-US" sz="1800" dirty="0"/>
                        <a:t>座標貼附到</a:t>
                      </a:r>
                      <a:r>
                        <a:rPr lang="en-US" altLang="zh-TW" sz="1800" dirty="0"/>
                        <a:t>3D</a:t>
                      </a:r>
                      <a:r>
                        <a:rPr lang="zh-TW" altLang="en-US" sz="1800" dirty="0"/>
                        <a:t>模型表面</a:t>
                      </a:r>
                      <a:endParaRPr kumimoji="0" lang="zh-TW" altLang="en-US" sz="1800" b="0" kern="1200" dirty="0">
                        <a:solidFill>
                          <a:schemeClr val="dk1"/>
                        </a:solidFill>
                        <a:latin typeface="+mj-ea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02872403"/>
                  </a:ext>
                </a:extLst>
              </a:tr>
              <a:tr h="531980">
                <a:tc>
                  <a:txBody>
                    <a:bodyPr/>
                    <a:lstStyle/>
                    <a:p>
                      <a:pPr lvl="0" algn="ctr"/>
                      <a:endParaRPr lang="zh-TW" altLang="en-US" sz="1800" b="1" dirty="0">
                        <a:latin typeface="+mj-ea"/>
                        <a:ea typeface="+mj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/>
                      <a:endParaRPr lang="zh-TW" altLang="en-US" sz="1800" b="0" dirty="0">
                        <a:latin typeface="+mj-ea"/>
                        <a:ea typeface="+mj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800" b="0" kern="1200" dirty="0">
                        <a:solidFill>
                          <a:schemeClr val="dk1"/>
                        </a:solidFill>
                        <a:latin typeface="+mj-ea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798462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36780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3600" dirty="0"/>
              <a:t>渲染管線 </a:t>
            </a:r>
            <a:r>
              <a:rPr lang="en-US" altLang="zh-TW" sz="3600" dirty="0"/>
              <a:t>(Render Pipeline)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2249424"/>
            <a:ext cx="6019800" cy="4325112"/>
          </a:xfrm>
        </p:spPr>
        <p:txBody>
          <a:bodyPr/>
          <a:lstStyle/>
          <a:p>
            <a:r>
              <a:rPr lang="zh-TW" altLang="en-US" dirty="0"/>
              <a:t>渲染：電腦顯示畫面的動作 </a:t>
            </a:r>
            <a:r>
              <a:rPr lang="en-US" altLang="zh-TW" dirty="0"/>
              <a:t>(</a:t>
            </a:r>
            <a:r>
              <a:rPr lang="zh-TW" altLang="en-US" dirty="0"/>
              <a:t>通常是三維世界畫到二維螢幕上</a:t>
            </a:r>
            <a:r>
              <a:rPr lang="en-US" altLang="zh-TW" dirty="0"/>
              <a:t>)</a:t>
            </a:r>
          </a:p>
          <a:p>
            <a:endParaRPr lang="en-US" altLang="zh-TW" dirty="0"/>
          </a:p>
          <a:p>
            <a:r>
              <a:rPr lang="zh-TW" altLang="en-US" dirty="0"/>
              <a:t>渲染管線：以上動作的「過程」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與這邊最相關的是</a:t>
            </a:r>
            <a:r>
              <a:rPr lang="en-US" altLang="zh-TW" dirty="0" err="1"/>
              <a:t>Shader</a:t>
            </a:r>
            <a:r>
              <a:rPr lang="zh-TW" altLang="en-US" dirty="0"/>
              <a:t>著色器</a:t>
            </a:r>
          </a:p>
        </p:txBody>
      </p:sp>
      <p:pic>
        <p:nvPicPr>
          <p:cNvPr id="4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400800" y="685800"/>
            <a:ext cx="2471435" cy="5952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Unity</a:t>
            </a:r>
            <a:r>
              <a:rPr lang="zh-TW" altLang="en-US" dirty="0"/>
              <a:t> 中的渲染管線 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內建 </a:t>
            </a:r>
            <a:r>
              <a:rPr lang="en-US" altLang="zh-TW" dirty="0"/>
              <a:t>Build-in Render Pipeline</a:t>
            </a:r>
          </a:p>
          <a:p>
            <a:pPr lvl="1"/>
            <a:r>
              <a:rPr lang="zh-TW" altLang="en-US" dirty="0"/>
              <a:t>可擴充性差，</a:t>
            </a:r>
            <a:r>
              <a:rPr lang="en-US" altLang="zh-TW" dirty="0" err="1"/>
              <a:t>Shader</a:t>
            </a:r>
            <a:r>
              <a:rPr lang="en-US" altLang="zh-TW" dirty="0"/>
              <a:t> </a:t>
            </a:r>
            <a:r>
              <a:rPr lang="zh-TW" altLang="en-US" dirty="0"/>
              <a:t>結構較舊</a:t>
            </a:r>
            <a:endParaRPr lang="en-US" altLang="zh-TW" dirty="0"/>
          </a:p>
          <a:p>
            <a:pPr lvl="1"/>
            <a:r>
              <a:rPr lang="zh-TW" altLang="en-US" dirty="0"/>
              <a:t>無法輕易自訂渲染流程</a:t>
            </a:r>
            <a:endParaRPr lang="en-US" altLang="zh-TW" dirty="0"/>
          </a:p>
          <a:p>
            <a:r>
              <a:rPr lang="zh-TW" altLang="en-US" dirty="0"/>
              <a:t>通用 </a:t>
            </a:r>
            <a:r>
              <a:rPr lang="en-US" altLang="zh-TW" dirty="0"/>
              <a:t>Universal Render Pipeline</a:t>
            </a:r>
          </a:p>
          <a:p>
            <a:pPr lvl="1"/>
            <a:r>
              <a:rPr lang="zh-TW" altLang="en-US" dirty="0"/>
              <a:t>通用，結構模組化，可插入自訂渲染步驟</a:t>
            </a:r>
            <a:endParaRPr lang="en-US" altLang="zh-TW" dirty="0"/>
          </a:p>
          <a:p>
            <a:pPr lvl="1"/>
            <a:r>
              <a:rPr lang="zh-TW" altLang="en-US" dirty="0"/>
              <a:t>光照與材質效果比 </a:t>
            </a:r>
            <a:r>
              <a:rPr lang="en-US" dirty="0"/>
              <a:t>Built-in </a:t>
            </a:r>
            <a:r>
              <a:rPr lang="zh-TW" altLang="en-US" dirty="0"/>
              <a:t>現代化許多。</a:t>
            </a:r>
            <a:endParaRPr lang="en-US" altLang="zh-TW" dirty="0"/>
          </a:p>
          <a:p>
            <a:r>
              <a:rPr lang="zh-TW" altLang="en-US" dirty="0"/>
              <a:t>高畫質 </a:t>
            </a:r>
            <a:r>
              <a:rPr lang="en-US" altLang="zh-TW" dirty="0"/>
              <a:t>High</a:t>
            </a:r>
            <a:r>
              <a:rPr lang="zh-TW" altLang="en-US" dirty="0"/>
              <a:t> </a:t>
            </a:r>
            <a:r>
              <a:rPr lang="en-US" dirty="0"/>
              <a:t>Definition </a:t>
            </a:r>
            <a:r>
              <a:rPr lang="en-US" altLang="zh-TW" dirty="0"/>
              <a:t>Render Pipeline</a:t>
            </a:r>
          </a:p>
          <a:p>
            <a:pPr lvl="1"/>
            <a:r>
              <a:rPr lang="zh-TW" altLang="en-US" dirty="0"/>
              <a:t>高階電腦、影片使用</a:t>
            </a:r>
            <a:endParaRPr lang="en-US" altLang="zh-TW" dirty="0"/>
          </a:p>
          <a:p>
            <a:pPr lvl="1"/>
            <a:r>
              <a:rPr lang="en-US" altLang="zh-TW" dirty="0"/>
              <a:t>PBR</a:t>
            </a:r>
            <a:r>
              <a:rPr lang="zh-TW" altLang="en-US" dirty="0"/>
              <a:t>、後製、光追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再談</a:t>
            </a:r>
            <a:r>
              <a:rPr lang="en-US" altLang="zh-TW" dirty="0"/>
              <a:t>Renderer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2249424"/>
            <a:ext cx="5410200" cy="4325112"/>
          </a:xfrm>
        </p:spPr>
        <p:txBody>
          <a:bodyPr>
            <a:normAutofit/>
          </a:bodyPr>
          <a:lstStyle/>
          <a:p>
            <a:r>
              <a:rPr lang="en-US" altLang="zh-TW" dirty="0"/>
              <a:t>Unity</a:t>
            </a:r>
            <a:r>
              <a:rPr lang="zh-TW" altLang="en-US" dirty="0"/>
              <a:t>當中的</a:t>
            </a:r>
            <a:r>
              <a:rPr lang="en-US" altLang="zh-TW" dirty="0"/>
              <a:t>Renderer</a:t>
            </a:r>
            <a:r>
              <a:rPr lang="zh-TW" altLang="en-US" dirty="0"/>
              <a:t>至少有這些種類。</a:t>
            </a:r>
            <a:endParaRPr lang="en-US" altLang="zh-TW" dirty="0"/>
          </a:p>
          <a:p>
            <a:endParaRPr lang="en-US" altLang="zh-TW" dirty="0"/>
          </a:p>
          <a:p>
            <a:r>
              <a:rPr lang="en-US" altLang="zh-TW" dirty="0"/>
              <a:t>Renderer</a:t>
            </a:r>
            <a:r>
              <a:rPr lang="zh-TW" altLang="en-US" dirty="0"/>
              <a:t>是負責</a:t>
            </a:r>
            <a:r>
              <a:rPr lang="en-US" altLang="zh-TW" dirty="0"/>
              <a:t>Render</a:t>
            </a:r>
            <a:r>
              <a:rPr lang="zh-TW" altLang="en-US" dirty="0"/>
              <a:t>的元件，依照不同狀況需要使用不同的版本。</a:t>
            </a:r>
            <a:endParaRPr lang="en-US" altLang="zh-TW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019800" y="2590800"/>
            <a:ext cx="2857500" cy="4029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Renderer</a:t>
            </a:r>
            <a:r>
              <a:rPr lang="zh-TW" altLang="en-US" dirty="0"/>
              <a:t>：</a:t>
            </a:r>
            <a:r>
              <a:rPr lang="en-US" altLang="zh-TW" dirty="0"/>
              <a:t>3D</a:t>
            </a:r>
            <a:r>
              <a:rPr lang="zh-TW" altLang="en-US" dirty="0"/>
              <a:t>相關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Mesh Renderer</a:t>
            </a:r>
          </a:p>
          <a:p>
            <a:pPr lvl="1"/>
            <a:r>
              <a:rPr lang="en-US" altLang="zh-TW" dirty="0"/>
              <a:t>3D Mesh </a:t>
            </a:r>
            <a:r>
              <a:rPr lang="zh-TW" altLang="en-US" dirty="0"/>
              <a:t>使用</a:t>
            </a:r>
            <a:endParaRPr lang="en-US" altLang="zh-TW" dirty="0"/>
          </a:p>
          <a:p>
            <a:pPr lvl="1"/>
            <a:endParaRPr lang="en-US" altLang="zh-TW" dirty="0"/>
          </a:p>
          <a:p>
            <a:pPr lvl="1"/>
            <a:endParaRPr lang="en-US" altLang="zh-TW" dirty="0"/>
          </a:p>
          <a:p>
            <a:r>
              <a:rPr lang="en-US" altLang="zh-TW" dirty="0"/>
              <a:t>Skinned Mesh Renderer</a:t>
            </a:r>
            <a:endParaRPr lang="zh-TW" altLang="en-US" dirty="0"/>
          </a:p>
          <a:p>
            <a:pPr lvl="1"/>
            <a:r>
              <a:rPr lang="zh-TW" altLang="en-US" dirty="0"/>
              <a:t>帶著皮膚的</a:t>
            </a:r>
            <a:r>
              <a:rPr lang="en-US" altLang="zh-TW" dirty="0"/>
              <a:t>Mesh Renderer</a:t>
            </a:r>
          </a:p>
          <a:p>
            <a:pPr lvl="1"/>
            <a:r>
              <a:rPr lang="zh-TW" altLang="en-US" dirty="0"/>
              <a:t>通常是有骨架</a:t>
            </a:r>
            <a:r>
              <a:rPr lang="en-US" altLang="zh-TW" dirty="0"/>
              <a:t>+</a:t>
            </a:r>
            <a:r>
              <a:rPr lang="zh-TW" altLang="en-US" dirty="0"/>
              <a:t>皮膚的</a:t>
            </a:r>
            <a:r>
              <a:rPr lang="en-US" altLang="zh-TW" dirty="0"/>
              <a:t>3D</a:t>
            </a:r>
            <a:r>
              <a:rPr lang="zh-TW" altLang="en-US" dirty="0"/>
              <a:t>模型</a:t>
            </a:r>
            <a:endParaRPr lang="en-US" altLang="zh-TW" dirty="0"/>
          </a:p>
          <a:p>
            <a:pPr lvl="1">
              <a:buNone/>
            </a:pPr>
            <a:endParaRPr lang="zh-TW" altLang="en-US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553200" y="3657600"/>
            <a:ext cx="2453101" cy="30671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086600" y="838200"/>
            <a:ext cx="1533525" cy="2647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Renderer</a:t>
            </a:r>
            <a:r>
              <a:rPr lang="zh-TW" altLang="en-US" dirty="0"/>
              <a:t>：</a:t>
            </a:r>
            <a:r>
              <a:rPr lang="en-US" altLang="zh-TW" dirty="0"/>
              <a:t>2D</a:t>
            </a:r>
            <a:r>
              <a:rPr lang="zh-TW" altLang="en-US" dirty="0"/>
              <a:t>相關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Sprite Renderer</a:t>
            </a:r>
          </a:p>
          <a:p>
            <a:pPr lvl="1"/>
            <a:r>
              <a:rPr lang="zh-TW" altLang="en-US" dirty="0"/>
              <a:t>用來在</a:t>
            </a:r>
            <a:r>
              <a:rPr lang="en-US" altLang="zh-TW" dirty="0"/>
              <a:t>3D</a:t>
            </a:r>
            <a:r>
              <a:rPr lang="zh-TW" altLang="en-US" dirty="0"/>
              <a:t>世界中顯示一張圖片</a:t>
            </a:r>
            <a:endParaRPr lang="en-US" altLang="zh-TW" dirty="0"/>
          </a:p>
          <a:p>
            <a:pPr lvl="1"/>
            <a:endParaRPr lang="en-US" altLang="zh-TW" dirty="0"/>
          </a:p>
          <a:p>
            <a:r>
              <a:rPr lang="en-US" altLang="zh-TW" dirty="0"/>
              <a:t>Shaped Sprite Renderer</a:t>
            </a:r>
          </a:p>
          <a:p>
            <a:pPr lvl="1"/>
            <a:r>
              <a:rPr lang="zh-TW" altLang="en-US" dirty="0"/>
              <a:t>圖片，但可以利用節點等方式</a:t>
            </a:r>
            <a:endParaRPr lang="en-US" altLang="zh-TW" dirty="0"/>
          </a:p>
          <a:p>
            <a:pPr lvl="1">
              <a:buNone/>
            </a:pPr>
            <a:r>
              <a:rPr lang="zh-TW" altLang="en-US" dirty="0"/>
              <a:t>   來產生可變形的圖片</a:t>
            </a:r>
            <a:endParaRPr lang="en-US" altLang="zh-TW" dirty="0"/>
          </a:p>
          <a:p>
            <a:pPr lvl="1"/>
            <a:endParaRPr lang="en-US" altLang="zh-TW" dirty="0"/>
          </a:p>
          <a:p>
            <a:r>
              <a:rPr lang="en-US" altLang="zh-TW" dirty="0" err="1"/>
              <a:t>Tilemap</a:t>
            </a:r>
            <a:r>
              <a:rPr lang="en-US" altLang="zh-TW" dirty="0"/>
              <a:t> Renderer</a:t>
            </a:r>
          </a:p>
          <a:p>
            <a:pPr lvl="1"/>
            <a:r>
              <a:rPr lang="zh-TW" altLang="en-US" dirty="0"/>
              <a:t>一種</a:t>
            </a:r>
            <a:r>
              <a:rPr lang="en-US" altLang="zh-TW" dirty="0" err="1"/>
              <a:t>Tilemap</a:t>
            </a:r>
            <a:r>
              <a:rPr lang="zh-TW" altLang="en-US" dirty="0"/>
              <a:t>專用的顯示</a:t>
            </a:r>
            <a:endParaRPr lang="en-US" altLang="zh-TW" dirty="0"/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516732" y="3048576"/>
            <a:ext cx="2322468" cy="19044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334000" y="5029200"/>
            <a:ext cx="3732728" cy="17793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781800" y="953391"/>
            <a:ext cx="2063110" cy="19422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Renderer</a:t>
            </a:r>
            <a:r>
              <a:rPr lang="zh-TW" altLang="en-US" dirty="0"/>
              <a:t>：</a:t>
            </a:r>
            <a:r>
              <a:rPr lang="en-US" altLang="zh-TW" dirty="0"/>
              <a:t>2D</a:t>
            </a:r>
            <a:r>
              <a:rPr lang="zh-TW" altLang="en-US" dirty="0"/>
              <a:t> </a:t>
            </a:r>
            <a:r>
              <a:rPr lang="en-US" altLang="zh-TW" dirty="0"/>
              <a:t>/ </a:t>
            </a:r>
            <a:r>
              <a:rPr lang="zh-TW" altLang="en-US" dirty="0"/>
              <a:t>特效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Billboard Renderer</a:t>
            </a:r>
          </a:p>
          <a:p>
            <a:pPr lvl="1"/>
            <a:r>
              <a:rPr lang="zh-TW" altLang="en-US" dirty="0"/>
              <a:t>圖片，會面向鏡頭，通常是遠方的</a:t>
            </a:r>
            <a:r>
              <a:rPr lang="en-US" altLang="zh-TW" dirty="0"/>
              <a:t>3D</a:t>
            </a:r>
            <a:r>
              <a:rPr lang="zh-TW" altLang="en-US" dirty="0"/>
              <a:t>物件退化成的</a:t>
            </a:r>
            <a:r>
              <a:rPr lang="en-US" altLang="zh-TW" dirty="0"/>
              <a:t>2D</a:t>
            </a:r>
            <a:r>
              <a:rPr lang="zh-TW" altLang="en-US" dirty="0"/>
              <a:t>圖片</a:t>
            </a:r>
          </a:p>
          <a:p>
            <a:endParaRPr lang="en-US" altLang="zh-TW" dirty="0"/>
          </a:p>
          <a:p>
            <a:r>
              <a:rPr lang="en-US" altLang="zh-TW" dirty="0"/>
              <a:t>Line Renderer</a:t>
            </a:r>
          </a:p>
          <a:p>
            <a:pPr lvl="1"/>
            <a:r>
              <a:rPr lang="zh-TW" altLang="en-US" dirty="0"/>
              <a:t>「線」</a:t>
            </a:r>
            <a:endParaRPr lang="en-US" altLang="zh-TW" dirty="0"/>
          </a:p>
          <a:p>
            <a:r>
              <a:rPr lang="en-US" altLang="zh-TW" dirty="0"/>
              <a:t>Trail Renderer</a:t>
            </a:r>
          </a:p>
          <a:p>
            <a:pPr lvl="1"/>
            <a:r>
              <a:rPr lang="zh-TW" altLang="en-US" dirty="0"/>
              <a:t>「尾巴路徑」，通常用在殘影</a:t>
            </a:r>
          </a:p>
        </p:txBody>
      </p:sp>
      <p:pic>
        <p:nvPicPr>
          <p:cNvPr id="3074" name="Picture 2" descr="Line Renderer Editor -- UWA问答| 开源库| 帮助开发者发现更好的解决方案| 侑虎科技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010400" y="3886200"/>
            <a:ext cx="1887957" cy="1066801"/>
          </a:xfrm>
          <a:prstGeom prst="rect">
            <a:avLst/>
          </a:prstGeom>
          <a:noFill/>
        </p:spPr>
      </p:pic>
      <p:pic>
        <p:nvPicPr>
          <p:cNvPr id="3076" name="Picture 4" descr="Unity Shader Graph - Stylized Trails Tutorial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756400" y="5181600"/>
            <a:ext cx="2235200" cy="16764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Renderer</a:t>
            </a:r>
            <a:r>
              <a:rPr lang="zh-TW" altLang="en-US" dirty="0"/>
              <a:t>：</a:t>
            </a:r>
            <a:r>
              <a:rPr lang="en-US" altLang="zh-TW" dirty="0"/>
              <a:t>UI</a:t>
            </a:r>
            <a:r>
              <a:rPr lang="zh-TW" altLang="en-US" dirty="0"/>
              <a:t>相關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Canvas Renderer</a:t>
            </a:r>
          </a:p>
          <a:p>
            <a:pPr lvl="1"/>
            <a:r>
              <a:rPr lang="zh-TW" altLang="en-US" dirty="0"/>
              <a:t>用來顯示</a:t>
            </a:r>
            <a:r>
              <a:rPr lang="en-US" altLang="zh-TW" dirty="0"/>
              <a:t>Canvas (UI) </a:t>
            </a:r>
            <a:r>
              <a:rPr lang="zh-TW" altLang="en-US" dirty="0"/>
              <a:t>的物件</a:t>
            </a:r>
            <a:endParaRPr lang="en-US" altLang="zh-TW" dirty="0"/>
          </a:p>
          <a:p>
            <a:pPr lvl="1"/>
            <a:r>
              <a:rPr lang="zh-TW" altLang="en-US" dirty="0"/>
              <a:t>無任何細節，實際上各自的顯示規則在</a:t>
            </a:r>
            <a:r>
              <a:rPr lang="en-US" altLang="zh-TW" dirty="0"/>
              <a:t>UI</a:t>
            </a:r>
            <a:r>
              <a:rPr lang="zh-TW" altLang="en-US" dirty="0"/>
              <a:t>元件上</a:t>
            </a:r>
            <a:endParaRPr lang="en-US" altLang="zh-TW" dirty="0"/>
          </a:p>
          <a:p>
            <a:pPr lvl="1"/>
            <a:r>
              <a:rPr lang="zh-TW" altLang="en-US" dirty="0"/>
              <a:t>等之後的</a:t>
            </a:r>
            <a:r>
              <a:rPr lang="en-US" altLang="zh-TW" dirty="0"/>
              <a:t>UI</a:t>
            </a:r>
            <a:r>
              <a:rPr lang="zh-TW" altLang="en-US" dirty="0"/>
              <a:t>單元再談</a:t>
            </a:r>
            <a:endParaRPr lang="en-US" altLang="zh-TW" dirty="0"/>
          </a:p>
        </p:txBody>
      </p:sp>
      <p:pic>
        <p:nvPicPr>
          <p:cNvPr id="4097" name="Picture 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43000" y="4876800"/>
            <a:ext cx="7028175" cy="828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Light (</a:t>
            </a:r>
            <a:r>
              <a:rPr lang="zh-TW" altLang="en-US" dirty="0"/>
              <a:t>燈光</a:t>
            </a:r>
            <a:r>
              <a:rPr lang="en-US" altLang="zh-TW" dirty="0"/>
              <a:t>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Directional Light</a:t>
            </a:r>
          </a:p>
          <a:p>
            <a:pPr lvl="1"/>
            <a:r>
              <a:rPr lang="zh-TW" altLang="en-US" dirty="0"/>
              <a:t>太陽光、月光</a:t>
            </a:r>
            <a:endParaRPr lang="en-US" altLang="zh-TW" dirty="0"/>
          </a:p>
          <a:p>
            <a:r>
              <a:rPr lang="en-US" altLang="zh-TW" dirty="0"/>
              <a:t>Point Light</a:t>
            </a:r>
          </a:p>
          <a:p>
            <a:pPr lvl="1"/>
            <a:r>
              <a:rPr lang="zh-TW" altLang="en-US" dirty="0"/>
              <a:t>路燈、火把、蠟燭</a:t>
            </a:r>
            <a:endParaRPr lang="en-US" altLang="zh-TW" dirty="0"/>
          </a:p>
          <a:p>
            <a:r>
              <a:rPr lang="en-US" altLang="zh-TW" dirty="0"/>
              <a:t>Spot Light</a:t>
            </a:r>
          </a:p>
          <a:p>
            <a:pPr lvl="1"/>
            <a:r>
              <a:rPr lang="zh-TW" altLang="en-US" dirty="0"/>
              <a:t>探照燈、手電筒、舞台燈</a:t>
            </a:r>
            <a:endParaRPr lang="en-US" altLang="zh-TW" dirty="0"/>
          </a:p>
          <a:p>
            <a:r>
              <a:rPr lang="en-US" altLang="zh-TW" dirty="0"/>
              <a:t>Area Light</a:t>
            </a:r>
          </a:p>
          <a:p>
            <a:pPr lvl="1"/>
            <a:r>
              <a:rPr lang="zh-TW" altLang="en-US" dirty="0"/>
              <a:t>天花板壁燈、背光燈</a:t>
            </a:r>
            <a:endParaRPr lang="en-US" altLang="zh-TW" dirty="0"/>
          </a:p>
          <a:p>
            <a:pPr lvl="1"/>
            <a:r>
              <a:rPr lang="zh-TW" altLang="en-US" dirty="0"/>
              <a:t>必須要烘焙成光照貼圖 </a:t>
            </a:r>
            <a:r>
              <a:rPr lang="en-US" altLang="zh-TW" dirty="0"/>
              <a:t>(baked</a:t>
            </a:r>
            <a:r>
              <a:rPr lang="zh-TW" altLang="en-US" dirty="0"/>
              <a:t> </a:t>
            </a:r>
            <a:r>
              <a:rPr lang="en-US" altLang="zh-TW" dirty="0" err="1"/>
              <a:t>lightmap</a:t>
            </a:r>
            <a:endParaRPr lang="zh-TW" alt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Light (</a:t>
            </a:r>
            <a:r>
              <a:rPr lang="zh-TW" altLang="en-US" dirty="0"/>
              <a:t>燈光</a:t>
            </a:r>
            <a:r>
              <a:rPr lang="en-US" altLang="zh-TW" dirty="0"/>
              <a:t>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Mode</a:t>
            </a:r>
            <a:r>
              <a:rPr lang="zh-TW" altLang="en-US" dirty="0"/>
              <a:t>：</a:t>
            </a:r>
            <a:r>
              <a:rPr lang="en-US" altLang="zh-TW" dirty="0" err="1"/>
              <a:t>Realtime</a:t>
            </a:r>
            <a:r>
              <a:rPr lang="en-US" altLang="zh-TW" dirty="0"/>
              <a:t> / </a:t>
            </a:r>
            <a:r>
              <a:rPr lang="en-US" altLang="zh-TW" b="1" dirty="0"/>
              <a:t>Mixed </a:t>
            </a:r>
            <a:r>
              <a:rPr lang="en-US" altLang="zh-TW" dirty="0"/>
              <a:t>/ Baked</a:t>
            </a:r>
          </a:p>
          <a:p>
            <a:r>
              <a:rPr lang="en-US" altLang="zh-TW" dirty="0"/>
              <a:t>Color (</a:t>
            </a:r>
            <a:r>
              <a:rPr lang="zh-TW" altLang="en-US" dirty="0"/>
              <a:t>顏色</a:t>
            </a:r>
            <a:r>
              <a:rPr lang="en-US" altLang="zh-TW" dirty="0"/>
              <a:t>)</a:t>
            </a:r>
          </a:p>
          <a:p>
            <a:r>
              <a:rPr lang="en-US" altLang="zh-TW" dirty="0"/>
              <a:t>Intensity (</a:t>
            </a:r>
            <a:r>
              <a:rPr lang="zh-TW" altLang="en-US" dirty="0"/>
              <a:t>強度</a:t>
            </a:r>
            <a:r>
              <a:rPr lang="en-US" altLang="zh-TW" dirty="0"/>
              <a:t>)</a:t>
            </a:r>
          </a:p>
          <a:p>
            <a:r>
              <a:rPr lang="en-US" altLang="zh-TW" dirty="0"/>
              <a:t>Indirect Multiplier (</a:t>
            </a:r>
            <a:r>
              <a:rPr lang="zh-TW" altLang="en-US" dirty="0"/>
              <a:t>間接強度</a:t>
            </a:r>
            <a:r>
              <a:rPr lang="en-US" altLang="zh-TW" dirty="0"/>
              <a:t>)</a:t>
            </a:r>
          </a:p>
          <a:p>
            <a:pPr lvl="1"/>
            <a:r>
              <a:rPr lang="en-US" altLang="zh-TW" dirty="0"/>
              <a:t>Global Illumination</a:t>
            </a:r>
            <a:r>
              <a:rPr lang="zh-TW" altLang="en-US" dirty="0"/>
              <a:t> 全局光照</a:t>
            </a:r>
            <a:endParaRPr lang="en-US" altLang="zh-TW" dirty="0"/>
          </a:p>
          <a:p>
            <a:pPr lvl="1"/>
            <a:r>
              <a:rPr lang="zh-TW" altLang="en-US" dirty="0"/>
              <a:t>大於</a:t>
            </a:r>
            <a:r>
              <a:rPr lang="en-US" altLang="zh-TW" dirty="0"/>
              <a:t>1</a:t>
            </a:r>
            <a:r>
              <a:rPr lang="zh-TW" altLang="en-US" dirty="0"/>
              <a:t>表示反射後增亮</a:t>
            </a:r>
            <a:endParaRPr lang="en-US" altLang="zh-TW" dirty="0"/>
          </a:p>
          <a:p>
            <a:r>
              <a:rPr lang="en-US" altLang="zh-TW" dirty="0"/>
              <a:t>Range (</a:t>
            </a:r>
            <a:r>
              <a:rPr lang="zh-TW" altLang="en-US" dirty="0"/>
              <a:t>距離</a:t>
            </a:r>
            <a:r>
              <a:rPr lang="en-US" altLang="zh-TW" dirty="0"/>
              <a:t>)</a:t>
            </a:r>
          </a:p>
          <a:p>
            <a:r>
              <a:rPr lang="en-US" altLang="zh-TW" dirty="0"/>
              <a:t>Cookie (</a:t>
            </a:r>
            <a:r>
              <a:rPr lang="zh-TW" altLang="en-US" dirty="0"/>
              <a:t>剪影</a:t>
            </a:r>
            <a:r>
              <a:rPr lang="en-US" altLang="zh-TW" dirty="0"/>
              <a:t>)</a:t>
            </a:r>
          </a:p>
          <a:p>
            <a:endParaRPr lang="zh-TW" alt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Light (</a:t>
            </a:r>
            <a:r>
              <a:rPr lang="zh-TW" altLang="en-US" dirty="0"/>
              <a:t>燈光</a:t>
            </a:r>
            <a:r>
              <a:rPr lang="en-US" altLang="zh-TW" dirty="0"/>
              <a:t>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Window&gt;Rendering&gt;Light </a:t>
            </a:r>
            <a:r>
              <a:rPr lang="en-US" altLang="zh-TW" dirty="0" err="1"/>
              <a:t>Exploerer</a:t>
            </a:r>
            <a:endParaRPr lang="en-US" altLang="zh-TW" dirty="0"/>
          </a:p>
          <a:p>
            <a:pPr lvl="1"/>
            <a:r>
              <a:rPr lang="zh-TW" altLang="en-US" dirty="0"/>
              <a:t>整合型修改</a:t>
            </a:r>
            <a:endParaRPr lang="en-US" altLang="zh-TW" dirty="0"/>
          </a:p>
          <a:p>
            <a:pPr lvl="1">
              <a:buNone/>
            </a:pPr>
            <a:endParaRPr lang="en-US" altLang="zh-TW" dirty="0"/>
          </a:p>
          <a:p>
            <a:r>
              <a:rPr lang="zh-TW" altLang="en-US" dirty="0"/>
              <a:t>將物件改為</a:t>
            </a:r>
            <a:r>
              <a:rPr lang="en-US" altLang="zh-TW" dirty="0"/>
              <a:t>Static (</a:t>
            </a:r>
            <a:r>
              <a:rPr lang="zh-TW" altLang="en-US" dirty="0"/>
              <a:t>靜態燈光 靜態物件</a:t>
            </a:r>
            <a:r>
              <a:rPr lang="en-US" altLang="zh-TW" dirty="0"/>
              <a:t>)</a:t>
            </a:r>
          </a:p>
          <a:p>
            <a:r>
              <a:rPr lang="en-US" altLang="zh-TW" dirty="0"/>
              <a:t>Window&gt;Rendering&gt;Light</a:t>
            </a:r>
          </a:p>
          <a:p>
            <a:pPr lvl="1"/>
            <a:r>
              <a:rPr lang="en-US" altLang="zh-TW" dirty="0"/>
              <a:t>Environment/Ambient Light (</a:t>
            </a:r>
            <a:r>
              <a:rPr lang="zh-TW" altLang="en-US" dirty="0"/>
              <a:t>環境光</a:t>
            </a:r>
            <a:r>
              <a:rPr lang="en-US" altLang="zh-TW" dirty="0"/>
              <a:t>)</a:t>
            </a:r>
          </a:p>
          <a:p>
            <a:pPr lvl="1"/>
            <a:r>
              <a:rPr lang="en-US" altLang="zh-TW" dirty="0"/>
              <a:t>Baked </a:t>
            </a:r>
            <a:r>
              <a:rPr lang="en-US" altLang="zh-TW" dirty="0" err="1"/>
              <a:t>Lightmap</a:t>
            </a:r>
            <a:r>
              <a:rPr lang="en-US" altLang="zh-TW" dirty="0"/>
              <a:t> (</a:t>
            </a:r>
            <a:r>
              <a:rPr lang="zh-TW" altLang="en-US" dirty="0"/>
              <a:t>烘焙 光照貼圖</a:t>
            </a:r>
            <a:r>
              <a:rPr lang="en-US" altLang="zh-TW" dirty="0"/>
              <a:t>)</a:t>
            </a:r>
          </a:p>
          <a:p>
            <a:pPr lvl="1"/>
            <a:endParaRPr lang="zh-TW" alt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0A7B1C7-1B99-ADB9-9278-B7F5C9AA3F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Bake</a:t>
            </a:r>
            <a:r>
              <a:rPr lang="zh-TW" altLang="en-US" dirty="0"/>
              <a:t> </a:t>
            </a:r>
            <a:r>
              <a:rPr lang="en-US" altLang="zh-TW" dirty="0"/>
              <a:t>/ Baked (</a:t>
            </a:r>
            <a:r>
              <a:rPr lang="zh-TW" altLang="en-US" dirty="0"/>
              <a:t>烘焙</a:t>
            </a:r>
            <a:r>
              <a:rPr lang="en-US" altLang="zh-TW" dirty="0"/>
              <a:t>)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658432D-2AA1-2CDB-7E03-7043A1926A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這個詞會在遊戲引擎中常常聽到，主要是指「預先計算」，主要目的都是為了「效能」，以空間換取時間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以前段為例，光影運算在</a:t>
            </a:r>
            <a:r>
              <a:rPr lang="en-US" altLang="zh-TW" dirty="0"/>
              <a:t>3D</a:t>
            </a:r>
            <a:r>
              <a:rPr lang="zh-TW" altLang="en-US" dirty="0"/>
              <a:t>圖學屬於非常耗效能的，所以需要做</a:t>
            </a:r>
            <a:r>
              <a:rPr lang="en-US" altLang="zh-TW" dirty="0"/>
              <a:t>baked</a:t>
            </a:r>
            <a:r>
              <a:rPr lang="zh-TW" altLang="en-US" dirty="0"/>
              <a:t> </a:t>
            </a:r>
            <a:r>
              <a:rPr lang="en-US" altLang="zh-TW" dirty="0"/>
              <a:t>lightmap</a:t>
            </a:r>
          </a:p>
          <a:p>
            <a:r>
              <a:rPr lang="zh-TW" altLang="en-US" dirty="0"/>
              <a:t>目前即使有</a:t>
            </a:r>
            <a:r>
              <a:rPr lang="en-US" altLang="zh-TW" dirty="0"/>
              <a:t>Ray Tracing(</a:t>
            </a:r>
            <a:r>
              <a:rPr lang="zh-TW" altLang="en-US" dirty="0"/>
              <a:t>光線追蹤</a:t>
            </a:r>
            <a:r>
              <a:rPr lang="en-US" altLang="zh-TW" dirty="0"/>
              <a:t>)</a:t>
            </a:r>
            <a:r>
              <a:rPr lang="zh-TW" altLang="en-US" dirty="0"/>
              <a:t>，在遊戲中仍然會混合使用</a:t>
            </a:r>
            <a:r>
              <a:rPr lang="en-US" altLang="zh-TW" dirty="0"/>
              <a:t>baked lightmap</a:t>
            </a:r>
          </a:p>
          <a:p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15903436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Shadow (</a:t>
            </a:r>
            <a:r>
              <a:rPr lang="zh-TW" altLang="en-US" dirty="0"/>
              <a:t>陰影</a:t>
            </a:r>
            <a:r>
              <a:rPr lang="en-US" altLang="zh-TW" dirty="0"/>
              <a:t>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陰影的整體強度設定</a:t>
            </a:r>
            <a:endParaRPr lang="en-US" altLang="zh-TW" dirty="0"/>
          </a:p>
          <a:p>
            <a:pPr lvl="1"/>
            <a:r>
              <a:rPr lang="en-US" dirty="0"/>
              <a:t>Edit → Project Settings → Quality → Shadows</a:t>
            </a:r>
          </a:p>
          <a:p>
            <a:pPr lvl="1"/>
            <a:endParaRPr lang="en-US" altLang="zh-TW" dirty="0"/>
          </a:p>
          <a:p>
            <a:pPr lvl="1"/>
            <a:endParaRPr lang="en-US" altLang="zh-TW" dirty="0"/>
          </a:p>
          <a:p>
            <a:r>
              <a:rPr lang="zh-TW" altLang="en-US" dirty="0"/>
              <a:t>陰影的設定與 </a:t>
            </a:r>
            <a:r>
              <a:rPr lang="en-US" altLang="zh-TW" dirty="0"/>
              <a:t>Light</a:t>
            </a:r>
            <a:r>
              <a:rPr lang="zh-TW" altLang="en-US" dirty="0"/>
              <a:t> 及 </a:t>
            </a:r>
            <a:r>
              <a:rPr lang="en-US" altLang="zh-TW" dirty="0"/>
              <a:t>Renderer</a:t>
            </a:r>
            <a:r>
              <a:rPr lang="zh-TW" altLang="en-US" dirty="0"/>
              <a:t> 都有關聯</a:t>
            </a:r>
            <a:endParaRPr lang="en-US" altLang="zh-TW" dirty="0"/>
          </a:p>
          <a:p>
            <a:pPr lvl="1"/>
            <a:r>
              <a:rPr lang="zh-TW" altLang="en-US" dirty="0"/>
              <a:t>影子的種類由燈決定 </a:t>
            </a:r>
            <a:r>
              <a:rPr lang="en-US" altLang="zh-TW" dirty="0"/>
              <a:t>(</a:t>
            </a:r>
            <a:r>
              <a:rPr lang="zh-TW" altLang="en-US" dirty="0"/>
              <a:t>也可以關閉</a:t>
            </a:r>
            <a:r>
              <a:rPr lang="en-US" altLang="zh-TW" dirty="0"/>
              <a:t>)</a:t>
            </a:r>
          </a:p>
          <a:p>
            <a:pPr lvl="1"/>
            <a:r>
              <a:rPr lang="zh-TW" altLang="en-US" dirty="0"/>
              <a:t>是否被照出影子由</a:t>
            </a:r>
            <a:r>
              <a:rPr lang="en-US" altLang="zh-TW" dirty="0"/>
              <a:t>Renderer</a:t>
            </a:r>
            <a:r>
              <a:rPr lang="zh-TW" altLang="en-US" dirty="0"/>
              <a:t>決定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Shadow (</a:t>
            </a:r>
            <a:r>
              <a:rPr lang="zh-TW" altLang="en-US" dirty="0"/>
              <a:t>陰影</a:t>
            </a:r>
            <a:r>
              <a:rPr lang="en-US" altLang="zh-TW" dirty="0"/>
              <a:t>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Light &gt; Shadow Type</a:t>
            </a:r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r>
              <a:rPr lang="en-US" altLang="zh-TW" dirty="0"/>
              <a:t>Renderer</a:t>
            </a:r>
          </a:p>
          <a:p>
            <a:endParaRPr lang="zh-TW" alt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505200" y="4648200"/>
            <a:ext cx="5152241" cy="1847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724400" y="2895600"/>
            <a:ext cx="4152900" cy="1114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進階內容： </a:t>
            </a:r>
            <a:r>
              <a:rPr lang="en-US" altLang="zh-TW" dirty="0"/>
              <a:t>Light Probe Group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光照探針</a:t>
            </a:r>
            <a:endParaRPr lang="en-US" altLang="zh-TW" dirty="0"/>
          </a:p>
          <a:p>
            <a:pPr lvl="1"/>
            <a:r>
              <a:rPr lang="zh-TW" altLang="en-US" dirty="0"/>
              <a:t>使用靜態烘焙燈光時，使用</a:t>
            </a:r>
            <a:r>
              <a:rPr lang="en-US" altLang="zh-TW" dirty="0"/>
              <a:t>Light Probe</a:t>
            </a:r>
            <a:r>
              <a:rPr lang="zh-TW" altLang="en-US" dirty="0"/>
              <a:t>儲存烘焙光資訊，並藉此影響動態物件。</a:t>
            </a:r>
            <a:endParaRPr lang="en-US" altLang="zh-TW" dirty="0"/>
          </a:p>
          <a:p>
            <a:pPr>
              <a:buNone/>
            </a:pPr>
            <a:endParaRPr lang="en-US" altLang="zh-TW" dirty="0"/>
          </a:p>
        </p:txBody>
      </p:sp>
      <p:pic>
        <p:nvPicPr>
          <p:cNvPr id="3074" name="Picture 2" descr="Light Probes placed with varying density around a simple Scene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643042" y="3571876"/>
            <a:ext cx="6048375" cy="316230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進階內容：</a:t>
            </a:r>
            <a:r>
              <a:rPr lang="en-US" altLang="zh-TW" dirty="0"/>
              <a:t>Reflection Probe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反射探針</a:t>
            </a:r>
            <a:endParaRPr lang="en-US" altLang="zh-TW" dirty="0"/>
          </a:p>
          <a:p>
            <a:pPr lvl="1"/>
            <a:r>
              <a:rPr lang="zh-TW" altLang="en-US" dirty="0"/>
              <a:t>以攝影機形式將附近拍下來，再以光的形式來模擬反射效果。</a:t>
            </a:r>
          </a:p>
          <a:p>
            <a:endParaRPr lang="zh-TW" altLang="en-US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929058" y="3952875"/>
            <a:ext cx="5067300" cy="290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Lesson 9.2</a:t>
            </a:r>
            <a:br>
              <a:rPr lang="en-US" altLang="zh-TW" dirty="0"/>
            </a:br>
            <a:r>
              <a:rPr lang="zh-TW" altLang="en-US" dirty="0"/>
              <a:t>攝影機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zh-TW" dirty="0"/>
          </a:p>
          <a:p>
            <a:r>
              <a:rPr lang="en-US" altLang="zh-TW" dirty="0"/>
              <a:t>Horazon</a:t>
            </a:r>
          </a:p>
          <a:p>
            <a:r>
              <a:rPr lang="zh-TW" altLang="en-US" dirty="0">
                <a:solidFill>
                  <a:srgbClr val="003399"/>
                </a:solidFill>
                <a:latin typeface="Times New Roman" panose="02020603050405020304" pitchFamily="18" charset="0"/>
              </a:rPr>
              <a:t>基礎遊戲引擎應用</a:t>
            </a:r>
            <a:endParaRPr lang="zh-TW" alt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F5DFF1B-640D-44D1-B90C-E45ACF0E6F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Camera (</a:t>
            </a:r>
            <a:r>
              <a:rPr lang="zh-TW" altLang="en-US" dirty="0"/>
              <a:t>攝影機</a:t>
            </a:r>
            <a:r>
              <a:rPr lang="en-US" altLang="zh-TW" dirty="0"/>
              <a:t>)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B2EAD25-06FD-2657-B404-8009BCD84F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249424"/>
            <a:ext cx="4191000" cy="4325112"/>
          </a:xfrm>
        </p:spPr>
        <p:txBody>
          <a:bodyPr/>
          <a:lstStyle/>
          <a:p>
            <a:r>
              <a:rPr lang="zh-TW" altLang="en-US" dirty="0"/>
              <a:t>遊戲中的「眼睛」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攝影機在</a:t>
            </a:r>
            <a:r>
              <a:rPr lang="en-US" altLang="zh-TW" dirty="0"/>
              <a:t>Unity</a:t>
            </a:r>
            <a:r>
              <a:rPr lang="zh-TW" altLang="en-US" dirty="0"/>
              <a:t>中是一個元件，預設場景中會掛在Ｍ</a:t>
            </a:r>
            <a:r>
              <a:rPr lang="en-US" altLang="zh-TW" dirty="0" err="1"/>
              <a:t>ain</a:t>
            </a:r>
            <a:r>
              <a:rPr lang="zh-TW" altLang="en-US" dirty="0"/>
              <a:t> </a:t>
            </a:r>
            <a:r>
              <a:rPr lang="en-US" altLang="zh-TW" dirty="0"/>
              <a:t>Camera</a:t>
            </a:r>
            <a:r>
              <a:rPr lang="zh-TW" altLang="en-US" dirty="0"/>
              <a:t>物件。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在場景中允許多個攝影機元件。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577A1D96-873D-10E7-77F7-861942F6B2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0200" y="1447800"/>
            <a:ext cx="3352800" cy="3330448"/>
          </a:xfrm>
          <a:prstGeom prst="rect">
            <a:avLst/>
          </a:prstGeom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800600" y="5105400"/>
            <a:ext cx="4223731" cy="1238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6473177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F5DFF1B-640D-44D1-B90C-E45ACF0E6F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Camera (</a:t>
            </a:r>
            <a:r>
              <a:rPr lang="zh-TW" altLang="en-US" dirty="0"/>
              <a:t>攝影機</a:t>
            </a:r>
            <a:r>
              <a:rPr lang="en-US" altLang="zh-TW" dirty="0"/>
              <a:t>)</a:t>
            </a:r>
            <a:r>
              <a:rPr lang="zh-TW" altLang="en-US" dirty="0"/>
              <a:t>：</a:t>
            </a:r>
            <a:r>
              <a:rPr lang="en-US" altLang="zh-TW" dirty="0"/>
              <a:t> Orthographic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B2EAD25-06FD-2657-B404-8009BCD84F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Projection</a:t>
            </a:r>
            <a:r>
              <a:rPr lang="zh-TW" altLang="en-US" dirty="0"/>
              <a:t>：</a:t>
            </a:r>
            <a:r>
              <a:rPr lang="en-US" altLang="zh-TW" dirty="0"/>
              <a:t>Orthographic</a:t>
            </a:r>
            <a:r>
              <a:rPr lang="zh-TW" altLang="en-US" dirty="0"/>
              <a:t>　正交</a:t>
            </a:r>
            <a:endParaRPr lang="en-US" altLang="zh-TW" dirty="0"/>
          </a:p>
          <a:p>
            <a:pPr lvl="1"/>
            <a:r>
              <a:rPr lang="zh-TW" altLang="en-US" dirty="0"/>
              <a:t>無遠近透視感</a:t>
            </a:r>
            <a:endParaRPr lang="en-US" altLang="zh-TW" dirty="0"/>
          </a:p>
          <a:p>
            <a:pPr lvl="1"/>
            <a:r>
              <a:rPr lang="en-US" altLang="zh-TW" dirty="0"/>
              <a:t>2D </a:t>
            </a:r>
            <a:r>
              <a:rPr lang="zh-TW" altLang="en-US" dirty="0"/>
              <a:t>遊戲、等角視角、</a:t>
            </a:r>
            <a:r>
              <a:rPr lang="en-US" altLang="zh-TW" dirty="0"/>
              <a:t>UI</a:t>
            </a:r>
            <a:r>
              <a:rPr lang="zh-TW" altLang="en-US" dirty="0"/>
              <a:t>、策略遊戲</a:t>
            </a:r>
            <a:endParaRPr lang="en-US" altLang="zh-TW" dirty="0"/>
          </a:p>
          <a:p>
            <a:pPr lvl="1"/>
            <a:r>
              <a:rPr lang="zh-TW" altLang="en-US" dirty="0"/>
              <a:t>以</a:t>
            </a:r>
            <a:r>
              <a:rPr lang="en-US" altLang="zh-TW" dirty="0"/>
              <a:t>size</a:t>
            </a:r>
            <a:r>
              <a:rPr lang="zh-TW" altLang="en-US" dirty="0"/>
              <a:t>控制顯示的範圍</a:t>
            </a:r>
            <a:endParaRPr lang="en-US" altLang="zh-TW" dirty="0"/>
          </a:p>
          <a:p>
            <a:pPr lvl="1"/>
            <a:endParaRPr lang="en-US" altLang="zh-TW" dirty="0"/>
          </a:p>
          <a:p>
            <a:pPr lvl="1"/>
            <a:endParaRPr lang="zh-TW" altLang="en-US" dirty="0"/>
          </a:p>
        </p:txBody>
      </p:sp>
      <p:pic>
        <p:nvPicPr>
          <p:cNvPr id="15361" name="Picture 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343400" y="4114800"/>
            <a:ext cx="4430713" cy="471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5363" name="Picture 3" descr="Comparing Orthographic and Perspective Cameras - Questions &amp; Answers - Unity  Discussions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733800" y="4800600"/>
            <a:ext cx="5030186" cy="19812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6473177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F5DFF1B-640D-44D1-B90C-E45ACF0E6F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Camera (</a:t>
            </a:r>
            <a:r>
              <a:rPr lang="zh-TW" altLang="en-US" dirty="0"/>
              <a:t>攝影機</a:t>
            </a:r>
            <a:r>
              <a:rPr lang="en-US" altLang="zh-TW" dirty="0"/>
              <a:t>)</a:t>
            </a:r>
            <a:r>
              <a:rPr lang="zh-TW" altLang="en-US" dirty="0"/>
              <a:t>：</a:t>
            </a:r>
            <a:r>
              <a:rPr lang="en-US" altLang="zh-TW" dirty="0"/>
              <a:t> Perspective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B2EAD25-06FD-2657-B404-8009BCD84F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Projection</a:t>
            </a:r>
            <a:r>
              <a:rPr lang="zh-TW" altLang="en-US" dirty="0"/>
              <a:t>：</a:t>
            </a:r>
            <a:r>
              <a:rPr lang="en-US" altLang="zh-TW" dirty="0"/>
              <a:t>Perspective</a:t>
            </a:r>
            <a:r>
              <a:rPr lang="zh-TW" altLang="en-US" dirty="0"/>
              <a:t>　透視</a:t>
            </a:r>
            <a:endParaRPr lang="en-US" altLang="zh-TW" dirty="0"/>
          </a:p>
          <a:p>
            <a:pPr lvl="1"/>
            <a:r>
              <a:rPr lang="zh-TW" altLang="en-US" dirty="0"/>
              <a:t>有遠近透視感</a:t>
            </a:r>
            <a:endParaRPr lang="en-US" altLang="zh-TW" dirty="0"/>
          </a:p>
          <a:p>
            <a:pPr lvl="1"/>
            <a:r>
              <a:rPr lang="en-US" altLang="zh-TW" dirty="0"/>
              <a:t>3D </a:t>
            </a:r>
            <a:r>
              <a:rPr lang="zh-TW" altLang="en-US" dirty="0"/>
              <a:t>遊戲（如射擊、冒險、開放世界）</a:t>
            </a:r>
            <a:endParaRPr lang="en-US" altLang="zh-TW" dirty="0"/>
          </a:p>
          <a:p>
            <a:pPr lvl="1"/>
            <a:r>
              <a:rPr lang="zh-TW" altLang="en-US" dirty="0"/>
              <a:t>以</a:t>
            </a:r>
            <a:r>
              <a:rPr lang="en-US" altLang="zh-TW" dirty="0"/>
              <a:t>FOV</a:t>
            </a:r>
            <a:r>
              <a:rPr lang="zh-TW" altLang="en-US" dirty="0"/>
              <a:t>控制可視範圍</a:t>
            </a:r>
          </a:p>
        </p:txBody>
      </p:sp>
      <p:pic>
        <p:nvPicPr>
          <p:cNvPr id="14337" name="Picture 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48000" y="3962400"/>
            <a:ext cx="5849937" cy="7597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" name="Picture 3" descr="Comparing Orthographic and Perspective Cameras - Questions &amp; Answers - Unity  Discussions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733800" y="4800600"/>
            <a:ext cx="5030186" cy="1981200"/>
          </a:xfrm>
          <a:prstGeom prst="rect">
            <a:avLst/>
          </a:prstGeom>
          <a:noFill/>
        </p:spPr>
      </p:pic>
      <p:pic>
        <p:nvPicPr>
          <p:cNvPr id="14339" name="Picture 3" descr="Unity学习笔记关于Unity相机的FOV以及水平FOV和垂直FOV之间的转换-CSDN博客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96142" y="4724400"/>
            <a:ext cx="3132858" cy="20574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6473177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Camera</a:t>
            </a:r>
            <a:r>
              <a:rPr lang="zh-TW" altLang="en-US" dirty="0"/>
              <a:t>：</a:t>
            </a:r>
            <a:r>
              <a:rPr lang="en-US" altLang="zh-TW" dirty="0"/>
              <a:t> Clipping Planes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在</a:t>
            </a:r>
            <a:r>
              <a:rPr lang="en-US" altLang="zh-TW" dirty="0"/>
              <a:t>Orthographic</a:t>
            </a:r>
            <a:r>
              <a:rPr lang="zh-TW" altLang="en-US" dirty="0"/>
              <a:t>與</a:t>
            </a:r>
            <a:r>
              <a:rPr lang="en-US" altLang="zh-TW" dirty="0"/>
              <a:t>Perspective</a:t>
            </a:r>
            <a:r>
              <a:rPr lang="zh-TW" altLang="en-US" dirty="0"/>
              <a:t>兩種模式下都可以設定</a:t>
            </a:r>
            <a:r>
              <a:rPr lang="en-US" altLang="zh-TW" dirty="0"/>
              <a:t>Clipping Planes</a:t>
            </a:r>
          </a:p>
          <a:p>
            <a:pPr lvl="1"/>
            <a:r>
              <a:rPr lang="zh-TW" altLang="en-US" dirty="0"/>
              <a:t>可以被畫出來的物件，必須在這兩個範圍之間</a:t>
            </a:r>
            <a:endParaRPr lang="en-US" altLang="zh-TW" dirty="0"/>
          </a:p>
          <a:p>
            <a:pPr lvl="2">
              <a:buNone/>
            </a:pPr>
            <a:r>
              <a:rPr lang="en-US" altLang="zh-TW" dirty="0"/>
              <a:t>(Near</a:t>
            </a:r>
            <a:r>
              <a:rPr lang="zh-TW" altLang="en-US" dirty="0"/>
              <a:t>近 </a:t>
            </a:r>
            <a:r>
              <a:rPr lang="en-US" altLang="zh-TW" dirty="0"/>
              <a:t>0.3 ~ Far</a:t>
            </a:r>
            <a:r>
              <a:rPr lang="zh-TW" altLang="en-US" dirty="0"/>
              <a:t>遠 </a:t>
            </a:r>
            <a:r>
              <a:rPr lang="en-US" altLang="zh-TW" dirty="0"/>
              <a:t>1000)</a:t>
            </a:r>
          </a:p>
          <a:p>
            <a:pPr lvl="1"/>
            <a:r>
              <a:rPr lang="zh-TW" altLang="en-US" dirty="0"/>
              <a:t>近：</a:t>
            </a:r>
            <a:r>
              <a:rPr lang="en-US" altLang="zh-TW" dirty="0"/>
              <a:t>0.3</a:t>
            </a:r>
            <a:r>
              <a:rPr lang="zh-TW" altLang="en-US" dirty="0"/>
              <a:t>是常見的設定，讓在眼前的東西不會畫出</a:t>
            </a:r>
          </a:p>
        </p:txBody>
      </p:sp>
      <p:pic>
        <p:nvPicPr>
          <p:cNvPr id="4403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676400" y="4800600"/>
            <a:ext cx="5181600" cy="5290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背景 </a:t>
            </a:r>
            <a:r>
              <a:rPr lang="en-US" altLang="zh-TW" dirty="0"/>
              <a:t>(Background Type)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在</a:t>
            </a:r>
            <a:r>
              <a:rPr lang="en-US" altLang="zh-TW" dirty="0"/>
              <a:t>Unity</a:t>
            </a:r>
            <a:r>
              <a:rPr lang="zh-TW" altLang="en-US" dirty="0"/>
              <a:t>中，所有的畫面都是由</a:t>
            </a:r>
            <a:r>
              <a:rPr lang="en-US" altLang="zh-TW" dirty="0"/>
              <a:t>Camera</a:t>
            </a:r>
            <a:r>
              <a:rPr lang="zh-TW" altLang="en-US" dirty="0"/>
              <a:t>「看見」的東西所組成的。</a:t>
            </a:r>
            <a:endParaRPr lang="en-US" altLang="zh-TW" dirty="0"/>
          </a:p>
          <a:p>
            <a:r>
              <a:rPr lang="zh-TW" altLang="en-US" dirty="0"/>
              <a:t>而沒有物件的地方，會有幾個方式去填滿</a:t>
            </a:r>
            <a:endParaRPr lang="en-US" altLang="zh-TW" dirty="0"/>
          </a:p>
          <a:p>
            <a:pPr lvl="1"/>
            <a:r>
              <a:rPr lang="en-US" altLang="zh-TW" dirty="0"/>
              <a:t>Uninitialized</a:t>
            </a:r>
          </a:p>
          <a:p>
            <a:pPr lvl="2"/>
            <a:r>
              <a:rPr lang="zh-TW" altLang="en-US" dirty="0"/>
              <a:t>未設定的，單一攝影機不會使用這個</a:t>
            </a:r>
            <a:r>
              <a:rPr lang="en-US" altLang="zh-TW" dirty="0"/>
              <a:t>	</a:t>
            </a:r>
          </a:p>
          <a:p>
            <a:pPr lvl="1"/>
            <a:r>
              <a:rPr lang="en-US" altLang="zh-TW" dirty="0"/>
              <a:t>Solid Color</a:t>
            </a:r>
          </a:p>
          <a:p>
            <a:pPr lvl="2"/>
            <a:r>
              <a:rPr lang="zh-TW" altLang="en-US" dirty="0"/>
              <a:t>單一顏色，可調整顏色</a:t>
            </a:r>
            <a:r>
              <a:rPr lang="en-US" altLang="zh-TW" dirty="0"/>
              <a:t> </a:t>
            </a:r>
          </a:p>
          <a:p>
            <a:pPr lvl="1"/>
            <a:r>
              <a:rPr lang="en-US" altLang="zh-TW" dirty="0"/>
              <a:t>Skybox </a:t>
            </a:r>
          </a:p>
          <a:p>
            <a:pPr lvl="2"/>
            <a:r>
              <a:rPr lang="zh-TW" altLang="en-US" dirty="0"/>
              <a:t>天空盒，預設值，可以調整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進階： </a:t>
            </a:r>
            <a:r>
              <a:rPr lang="en-US" altLang="zh-TW" dirty="0"/>
              <a:t>Skybox</a:t>
            </a:r>
            <a:r>
              <a:rPr lang="zh-TW" altLang="en-US" dirty="0"/>
              <a:t> </a:t>
            </a:r>
            <a:r>
              <a:rPr lang="en-US" altLang="zh-TW" dirty="0"/>
              <a:t>(</a:t>
            </a:r>
            <a:r>
              <a:rPr lang="zh-TW" altLang="en-US" dirty="0"/>
              <a:t>天空盒</a:t>
            </a:r>
            <a:r>
              <a:rPr lang="en-US" altLang="zh-TW" dirty="0"/>
              <a:t>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創建</a:t>
            </a:r>
            <a:r>
              <a:rPr lang="en-US" altLang="zh-TW" dirty="0"/>
              <a:t>skybox</a:t>
            </a:r>
            <a:r>
              <a:rPr lang="zh-TW" altLang="en-US"/>
              <a:t>材質</a:t>
            </a:r>
            <a:endParaRPr lang="en-US" altLang="zh-TW" dirty="0"/>
          </a:p>
          <a:p>
            <a:pPr lvl="1"/>
            <a:r>
              <a:rPr lang="en-US" altLang="zh-TW" dirty="0"/>
              <a:t>Project</a:t>
            </a:r>
            <a:r>
              <a:rPr lang="zh-TW" altLang="en-US" dirty="0"/>
              <a:t>中</a:t>
            </a:r>
            <a:r>
              <a:rPr lang="en-US" altLang="zh-TW" dirty="0"/>
              <a:t>Create Material</a:t>
            </a:r>
          </a:p>
          <a:p>
            <a:pPr lvl="1"/>
            <a:r>
              <a:rPr lang="zh-TW" altLang="en-US" dirty="0"/>
              <a:t>改為某種</a:t>
            </a:r>
            <a:r>
              <a:rPr lang="en-US" altLang="zh-TW" dirty="0"/>
              <a:t>skybox </a:t>
            </a:r>
            <a:r>
              <a:rPr lang="en-US" altLang="zh-TW" dirty="0" err="1"/>
              <a:t>shader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修改環境天空</a:t>
            </a:r>
            <a:endParaRPr lang="en-US" altLang="zh-TW" dirty="0"/>
          </a:p>
          <a:p>
            <a:pPr lvl="1"/>
            <a:r>
              <a:rPr lang="zh-TW" altLang="en-US" dirty="0"/>
              <a:t>工具列 </a:t>
            </a:r>
            <a:r>
              <a:rPr lang="en-US" altLang="zh-TW" dirty="0"/>
              <a:t>&gt;</a:t>
            </a:r>
            <a:r>
              <a:rPr lang="zh-TW" altLang="en-US" dirty="0"/>
              <a:t> </a:t>
            </a:r>
            <a:r>
              <a:rPr lang="en-US" altLang="zh-TW" dirty="0"/>
              <a:t>window &gt; rendering &gt; lighting</a:t>
            </a:r>
          </a:p>
          <a:p>
            <a:pPr lvl="1"/>
            <a:r>
              <a:rPr lang="en-US" altLang="zh-TW" dirty="0" err="1"/>
              <a:t>Enviroment</a:t>
            </a:r>
            <a:r>
              <a:rPr lang="en-US" altLang="zh-TW" dirty="0"/>
              <a:t> </a:t>
            </a:r>
            <a:r>
              <a:rPr lang="zh-TW" altLang="en-US" dirty="0"/>
              <a:t>中修改</a:t>
            </a:r>
            <a:r>
              <a:rPr lang="en-US" altLang="zh-TW" dirty="0"/>
              <a:t> skybox material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進階：攝影機輸出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Viewport </a:t>
            </a:r>
            <a:r>
              <a:rPr lang="en-US" altLang="zh-TW" dirty="0" err="1"/>
              <a:t>Rect</a:t>
            </a:r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調整數值可以使畫面只顯示在一個小區域內</a:t>
            </a:r>
            <a:endParaRPr lang="en-US" altLang="zh-TW" dirty="0"/>
          </a:p>
          <a:p>
            <a:endParaRPr lang="en-US" altLang="zh-TW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971800" y="2819400"/>
            <a:ext cx="5010150" cy="571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895600" y="4226222"/>
            <a:ext cx="5029200" cy="23949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54EFAAF-CC61-E4CA-27F5-809F8A668B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進階內容：</a:t>
            </a:r>
            <a:r>
              <a:rPr lang="en-US" altLang="zh-TW" dirty="0"/>
              <a:t>LOD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1E208CE-1783-D562-C542-1DE851AAE4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Level Of Detail </a:t>
            </a:r>
            <a:r>
              <a:rPr lang="zh-TW" altLang="en-US" dirty="0"/>
              <a:t>多層次細節</a:t>
            </a:r>
            <a:endParaRPr lang="en-US" altLang="zh-TW" dirty="0"/>
          </a:p>
          <a:p>
            <a:r>
              <a:rPr lang="zh-TW" altLang="en-US" dirty="0"/>
              <a:t>在相機距離不同的狀況下，顯示不同細節來增加效能，遠方的甚至可以改成一個平面</a:t>
            </a:r>
            <a:endParaRPr lang="en-US" altLang="zh-TW" dirty="0"/>
          </a:p>
          <a:p>
            <a:r>
              <a:rPr lang="zh-TW" altLang="en-US" dirty="0"/>
              <a:t>可以手動設置</a:t>
            </a:r>
            <a:r>
              <a:rPr lang="en-US" altLang="zh-TW" dirty="0"/>
              <a:t>(LOD</a:t>
            </a:r>
            <a:r>
              <a:rPr lang="zh-TW" altLang="en-US" dirty="0"/>
              <a:t> </a:t>
            </a:r>
            <a:r>
              <a:rPr lang="en-US" altLang="zh-TW" dirty="0"/>
              <a:t>Group)</a:t>
            </a:r>
            <a:r>
              <a:rPr lang="zh-TW" altLang="en-US" dirty="0"/>
              <a:t>或自動設置</a:t>
            </a:r>
            <a:endParaRPr lang="en-US" altLang="zh-TW" dirty="0"/>
          </a:p>
          <a:p>
            <a:endParaRPr lang="zh-TW" altLang="en-US" dirty="0"/>
          </a:p>
        </p:txBody>
      </p:sp>
      <p:pic>
        <p:nvPicPr>
          <p:cNvPr id="1026" name="Picture 2" descr="gamedevelopment #unity3d #lod #performanceoptimization #levelofdetail  #gamedevtips | mohamed dhia werteteni">
            <a:extLst>
              <a:ext uri="{FF2B5EF4-FFF2-40B4-BE49-F238E27FC236}">
                <a16:creationId xmlns:a16="http://schemas.microsoft.com/office/drawing/2014/main" id="{D7F73ADF-B459-22DD-37AF-FC785DC13B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4800" y="4123243"/>
            <a:ext cx="4544291" cy="2556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969021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F377963-A67A-8588-81C3-8AB09412B0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進階內容：</a:t>
            </a:r>
            <a:r>
              <a:rPr lang="en-US" altLang="zh-TW" dirty="0"/>
              <a:t>Occlusion Culling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92BE051-1D7C-09C8-0641-1F44757C6D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遮擋剔除</a:t>
            </a:r>
            <a:endParaRPr lang="en-US" altLang="zh-TW" dirty="0"/>
          </a:p>
          <a:p>
            <a:r>
              <a:rPr lang="zh-TW" altLang="en-US" dirty="0"/>
              <a:t>將攝影機沒有拍到的部分，自動</a:t>
            </a:r>
            <a:r>
              <a:rPr lang="zh-TW" altLang="en-US" b="1" u="sng" dirty="0"/>
              <a:t>關閉</a:t>
            </a:r>
            <a:r>
              <a:rPr lang="zh-TW" altLang="en-US" dirty="0"/>
              <a:t>掉，未作此處理的，只是單純不顯示在畫面上，在效能上還是有差異。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通常需要</a:t>
            </a:r>
            <a:r>
              <a:rPr lang="zh-TW" altLang="en-US" b="1" u="sng" dirty="0"/>
              <a:t>靜態</a:t>
            </a:r>
            <a:r>
              <a:rPr lang="en-US" altLang="zh-TW" b="1" u="sng" dirty="0"/>
              <a:t>static</a:t>
            </a:r>
            <a:r>
              <a:rPr lang="zh-TW" altLang="en-US" b="1" u="sng" dirty="0"/>
              <a:t>物件</a:t>
            </a:r>
            <a:r>
              <a:rPr lang="zh-TW" altLang="en-US" dirty="0"/>
              <a:t>，並且需要做烘焙</a:t>
            </a:r>
            <a:r>
              <a:rPr lang="en-US" altLang="zh-TW" dirty="0"/>
              <a:t>(bake)</a:t>
            </a:r>
          </a:p>
          <a:p>
            <a:pPr marL="109728" indent="0">
              <a:buNone/>
            </a:pPr>
            <a:endParaRPr lang="en-US" altLang="zh-TW" dirty="0"/>
          </a:p>
          <a:p>
            <a:r>
              <a:rPr lang="zh-TW" altLang="en-US" dirty="0">
                <a:hlinkClick r:id="rId2"/>
              </a:rPr>
              <a:t>展示範例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83498437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進階：多攝影機輸出 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TW" dirty="0"/>
              <a:t>Rendering Path + Depth / Camera Stack</a:t>
            </a:r>
          </a:p>
          <a:p>
            <a:pPr lvl="1"/>
            <a:r>
              <a:rPr lang="zh-TW" altLang="en-US" dirty="0"/>
              <a:t>用來排序多個攝影機的畫面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如果你用到了多個攝影機，你必須去思考如何堆疊攝影機的畫面。</a:t>
            </a:r>
            <a:endParaRPr lang="en-US" altLang="zh-TW" dirty="0"/>
          </a:p>
          <a:p>
            <a:r>
              <a:rPr lang="en-US" altLang="zh-TW" dirty="0"/>
              <a:t>Unity6</a:t>
            </a:r>
            <a:r>
              <a:rPr lang="zh-TW" altLang="en-US" dirty="0"/>
              <a:t>版</a:t>
            </a:r>
            <a:r>
              <a:rPr lang="en-US" altLang="zh-TW" dirty="0"/>
              <a:t>(URP)</a:t>
            </a:r>
            <a:r>
              <a:rPr lang="zh-TW" altLang="en-US" dirty="0"/>
              <a:t>建議使用</a:t>
            </a:r>
            <a:r>
              <a:rPr lang="en-US" altLang="zh-TW" dirty="0"/>
              <a:t>Camera Stack</a:t>
            </a:r>
            <a:r>
              <a:rPr lang="zh-TW" altLang="en-US" dirty="0"/>
              <a:t>的方式</a:t>
            </a:r>
            <a:endParaRPr lang="en-US" altLang="zh-TW" dirty="0"/>
          </a:p>
          <a:p>
            <a:r>
              <a:rPr lang="zh-TW" altLang="en-US" dirty="0"/>
              <a:t>常用功能：</a:t>
            </a:r>
            <a:endParaRPr lang="en-US" altLang="zh-TW" dirty="0"/>
          </a:p>
          <a:p>
            <a:pPr lvl="1"/>
            <a:r>
              <a:rPr lang="zh-TW" altLang="en-US" dirty="0"/>
              <a:t>小地圖</a:t>
            </a:r>
            <a:endParaRPr lang="en-US" altLang="zh-TW" dirty="0"/>
          </a:p>
          <a:p>
            <a:pPr lvl="1"/>
            <a:r>
              <a:rPr lang="zh-TW" altLang="en-US" dirty="0"/>
              <a:t>持槍、駕駛艙</a:t>
            </a:r>
            <a:endParaRPr lang="en-US" altLang="zh-TW" dirty="0"/>
          </a:p>
          <a:p>
            <a:pPr lvl="1"/>
            <a:r>
              <a:rPr lang="zh-TW" altLang="en-US" dirty="0"/>
              <a:t>將</a:t>
            </a:r>
            <a:r>
              <a:rPr lang="en-US" altLang="zh-TW" dirty="0"/>
              <a:t>3D</a:t>
            </a:r>
            <a:r>
              <a:rPr lang="zh-TW" altLang="en-US" dirty="0"/>
              <a:t>物件放入</a:t>
            </a:r>
            <a:r>
              <a:rPr lang="en-US" altLang="zh-TW" dirty="0"/>
              <a:t>2D UI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進階：</a:t>
            </a:r>
            <a:r>
              <a:rPr lang="en-US" altLang="zh-TW" dirty="0"/>
              <a:t>Render Texture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他是一種</a:t>
            </a:r>
            <a:r>
              <a:rPr lang="en-US" altLang="zh-TW" dirty="0"/>
              <a:t>Texture</a:t>
            </a:r>
            <a:r>
              <a:rPr lang="zh-TW" altLang="en-US" dirty="0"/>
              <a:t>，但不是素材，而是從攝影機即時攝影來的。</a:t>
            </a:r>
            <a:endParaRPr lang="en-US" altLang="zh-TW" dirty="0"/>
          </a:p>
          <a:p>
            <a:pPr lvl="1"/>
            <a:r>
              <a:rPr lang="zh-TW" altLang="en-US" dirty="0"/>
              <a:t>平常攝影機是寫入遊戲畫面，改為寫入一張貼圖</a:t>
            </a:r>
            <a:endParaRPr lang="en-US" altLang="zh-TW" dirty="0"/>
          </a:p>
          <a:p>
            <a:r>
              <a:rPr lang="zh-TW" altLang="en-US" dirty="0"/>
              <a:t>常見運用</a:t>
            </a:r>
            <a:endParaRPr lang="en-US" altLang="zh-TW" dirty="0"/>
          </a:p>
          <a:p>
            <a:pPr lvl="1"/>
            <a:r>
              <a:rPr lang="zh-TW" altLang="en-US" dirty="0"/>
              <a:t>小地圖</a:t>
            </a:r>
            <a:endParaRPr lang="en-US" altLang="zh-TW" dirty="0"/>
          </a:p>
          <a:p>
            <a:pPr lvl="1"/>
            <a:r>
              <a:rPr lang="zh-TW" altLang="en-US" dirty="0"/>
              <a:t>電視牆、攝影機畫面</a:t>
            </a:r>
            <a:endParaRPr lang="en-US" altLang="zh-TW" dirty="0"/>
          </a:p>
          <a:p>
            <a:pPr lvl="1"/>
            <a:r>
              <a:rPr lang="zh-TW" altLang="en-US" dirty="0"/>
              <a:t>鏡子反射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E90A221-EB7A-78D2-B88E-EA0808D8AA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進階：</a:t>
            </a:r>
            <a:r>
              <a:rPr lang="en-US" altLang="zh-TW" dirty="0"/>
              <a:t>Post Processing </a:t>
            </a:r>
            <a:r>
              <a:rPr lang="zh-TW" altLang="en-US" dirty="0"/>
              <a:t>後製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BCB6857-785C-B60F-A75A-E43AE1BB2E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後製處理</a:t>
            </a:r>
            <a:endParaRPr lang="en-US" altLang="zh-TW" dirty="0"/>
          </a:p>
          <a:p>
            <a:r>
              <a:rPr lang="zh-TW" altLang="en-US" dirty="0"/>
              <a:t>你可以想成</a:t>
            </a:r>
            <a:r>
              <a:rPr lang="en-US" altLang="zh-TW" dirty="0"/>
              <a:t>IG</a:t>
            </a:r>
            <a:r>
              <a:rPr lang="zh-TW" altLang="en-US" dirty="0"/>
              <a:t>的相片濾鏡，但這效果是即時的</a:t>
            </a:r>
            <a:endParaRPr lang="en-US" altLang="zh-TW" dirty="0"/>
          </a:p>
          <a:p>
            <a:r>
              <a:rPr lang="zh-TW" altLang="en-US" dirty="0"/>
              <a:t>全螢幕畫面 </a:t>
            </a:r>
            <a:r>
              <a:rPr lang="en-US" altLang="zh-TW" dirty="0"/>
              <a:t>(</a:t>
            </a:r>
            <a:r>
              <a:rPr lang="zh-TW" altLang="en-US" dirty="0"/>
              <a:t>或者說對</a:t>
            </a:r>
            <a:r>
              <a:rPr lang="en-US" altLang="zh-TW" dirty="0"/>
              <a:t>Camera</a:t>
            </a:r>
            <a:r>
              <a:rPr lang="zh-TW" altLang="en-US" dirty="0"/>
              <a:t>的結果做處理</a:t>
            </a:r>
            <a:r>
              <a:rPr lang="en-US" altLang="zh-TW" dirty="0"/>
              <a:t>)</a:t>
            </a:r>
          </a:p>
          <a:p>
            <a:r>
              <a:rPr lang="zh-TW" altLang="en-US" dirty="0"/>
              <a:t>部分效果耗效能 </a:t>
            </a:r>
            <a:r>
              <a:rPr lang="en-US" altLang="zh-TW" dirty="0"/>
              <a:t>(ex.</a:t>
            </a:r>
            <a:r>
              <a:rPr lang="zh-TW" altLang="en-US" dirty="0"/>
              <a:t>模糊</a:t>
            </a:r>
            <a:r>
              <a:rPr lang="en-US" altLang="zh-TW" dirty="0"/>
              <a:t>)</a:t>
            </a:r>
          </a:p>
          <a:p>
            <a:endParaRPr lang="en-US" altLang="zh-TW" dirty="0"/>
          </a:p>
          <a:p>
            <a:endParaRPr lang="en-US" altLang="zh-TW" dirty="0"/>
          </a:p>
          <a:p>
            <a:r>
              <a:rPr lang="en-US" altLang="zh-TW" dirty="0">
                <a:hlinkClick r:id="rId2"/>
              </a:rPr>
              <a:t>https://docs.unity3d.com/6000.2/Documentation/Manual/PostProcessingOverview.html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67700638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進階：</a:t>
            </a:r>
            <a:r>
              <a:rPr lang="en-US" altLang="zh-TW" dirty="0"/>
              <a:t>Post Processing </a:t>
            </a:r>
            <a:r>
              <a:rPr lang="zh-TW" altLang="en-US" dirty="0"/>
              <a:t>後製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可以想像成 </a:t>
            </a:r>
            <a:r>
              <a:rPr lang="en-US" altLang="zh-TW" dirty="0" err="1"/>
              <a:t>Instagram</a:t>
            </a:r>
            <a:r>
              <a:rPr lang="en-US" altLang="zh-TW" dirty="0"/>
              <a:t>/</a:t>
            </a:r>
            <a:r>
              <a:rPr lang="zh-TW" altLang="en-US" dirty="0"/>
              <a:t>照片 上的濾鏡功能</a:t>
            </a:r>
            <a:endParaRPr lang="en-US" altLang="zh-TW" dirty="0"/>
          </a:p>
          <a:p>
            <a:pPr lvl="1"/>
            <a:r>
              <a:rPr lang="zh-TW" altLang="en-US" dirty="0"/>
              <a:t>是將照相機拍到的畫面做調整</a:t>
            </a:r>
            <a:endParaRPr lang="en-US" altLang="zh-TW" dirty="0"/>
          </a:p>
          <a:p>
            <a:pPr lvl="1"/>
            <a:r>
              <a:rPr lang="zh-TW" altLang="en-US" dirty="0"/>
              <a:t>如：改變色調，轉換顏色等</a:t>
            </a:r>
            <a:endParaRPr lang="en-US" altLang="zh-TW" dirty="0"/>
          </a:p>
          <a:p>
            <a:pPr lvl="1"/>
            <a:r>
              <a:rPr lang="zh-TW" altLang="en-US" dirty="0"/>
              <a:t>部分功能很耗效能 </a:t>
            </a:r>
            <a:r>
              <a:rPr lang="en-US" altLang="zh-TW" dirty="0"/>
              <a:t>(ex.</a:t>
            </a:r>
            <a:r>
              <a:rPr lang="zh-TW" altLang="en-US" dirty="0"/>
              <a:t>模糊</a:t>
            </a:r>
            <a:r>
              <a:rPr lang="en-US" altLang="zh-TW" dirty="0"/>
              <a:t>)</a:t>
            </a:r>
          </a:p>
          <a:p>
            <a:pPr lvl="1"/>
            <a:r>
              <a:rPr lang="zh-TW" altLang="en-US" dirty="0"/>
              <a:t>可以客制化規則</a:t>
            </a:r>
          </a:p>
        </p:txBody>
      </p:sp>
      <p:pic>
        <p:nvPicPr>
          <p:cNvPr id="7170" name="Picture 2" descr="POST PROCESSING in URP (Universal Render Pipeline)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419600" y="4319588"/>
            <a:ext cx="4267200" cy="24003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進階：</a:t>
            </a:r>
            <a:r>
              <a:rPr lang="en-US" altLang="zh-TW" dirty="0" err="1"/>
              <a:t>Cinemachine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2249424"/>
            <a:ext cx="6172200" cy="4325112"/>
          </a:xfrm>
        </p:spPr>
        <p:txBody>
          <a:bodyPr/>
          <a:lstStyle/>
          <a:p>
            <a:r>
              <a:rPr lang="en-US" altLang="zh-TW" dirty="0" err="1"/>
              <a:t>Cinemachine</a:t>
            </a:r>
            <a:r>
              <a:rPr lang="zh-TW" altLang="en-US" dirty="0"/>
              <a:t> 是一個</a:t>
            </a:r>
            <a:r>
              <a:rPr lang="en-US" altLang="zh-TW" dirty="0"/>
              <a:t>Unity</a:t>
            </a:r>
            <a:r>
              <a:rPr lang="zh-TW" altLang="en-US" dirty="0"/>
              <a:t>官方套件，可以想像成電影拍攝的攝影機。</a:t>
            </a:r>
            <a:endParaRPr lang="en-US" altLang="zh-TW" dirty="0"/>
          </a:p>
          <a:p>
            <a:pPr lvl="1"/>
            <a:r>
              <a:rPr lang="zh-TW" altLang="en-US" dirty="0"/>
              <a:t>擁有</a:t>
            </a:r>
            <a:r>
              <a:rPr lang="en-US" altLang="zh-TW" dirty="0"/>
              <a:t>2D</a:t>
            </a:r>
            <a:r>
              <a:rPr lang="zh-TW" altLang="en-US" dirty="0"/>
              <a:t>、</a:t>
            </a:r>
            <a:r>
              <a:rPr lang="en-US" altLang="zh-TW" dirty="0"/>
              <a:t>3D</a:t>
            </a:r>
            <a:r>
              <a:rPr lang="zh-TW" altLang="en-US" dirty="0"/>
              <a:t>等多種自動運鏡的功能</a:t>
            </a:r>
            <a:endParaRPr lang="en-US" altLang="zh-TW" dirty="0"/>
          </a:p>
          <a:p>
            <a:pPr lvl="1"/>
            <a:r>
              <a:rPr lang="zh-TW" altLang="en-US" dirty="0"/>
              <a:t>功能非常齊全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建議未來任何想要製作遊戲、動畫，會要用到運鏡的人都能查詢一下這個功能</a:t>
            </a:r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zh-TW" altLang="en-US" dirty="0"/>
          </a:p>
        </p:txBody>
      </p:sp>
      <p:pic>
        <p:nvPicPr>
          <p:cNvPr id="6145" name="Picture 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705600" y="3429000"/>
            <a:ext cx="2339340" cy="1949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都會">
  <a:themeElements>
    <a:clrScheme name="自訂 2">
      <a:dk1>
        <a:sysClr val="windowText" lastClr="000000"/>
      </a:dk1>
      <a:lt1>
        <a:sysClr val="window" lastClr="FFFFFF"/>
      </a:lt1>
      <a:dk2>
        <a:srgbClr val="424456"/>
      </a:dk2>
      <a:lt2>
        <a:srgbClr val="DEDEDE"/>
      </a:lt2>
      <a:accent1>
        <a:srgbClr val="53548A"/>
      </a:accent1>
      <a:accent2>
        <a:srgbClr val="53548A"/>
      </a:accent2>
      <a:accent3>
        <a:srgbClr val="A04DA3"/>
      </a:accent3>
      <a:accent4>
        <a:srgbClr val="C4652D"/>
      </a:accent4>
      <a:accent5>
        <a:srgbClr val="8B5D3D"/>
      </a:accent5>
      <a:accent6>
        <a:srgbClr val="5C92B5"/>
      </a:accent6>
      <a:hlink>
        <a:srgbClr val="67AFBD"/>
      </a:hlink>
      <a:folHlink>
        <a:srgbClr val="C2A874"/>
      </a:folHlink>
    </a:clrScheme>
    <a:fontScheme name="自訂 1">
      <a:majorFont>
        <a:latin typeface="Arial"/>
        <a:ea typeface="微軟正黑體"/>
        <a:cs typeface=""/>
      </a:majorFont>
      <a:minorFont>
        <a:latin typeface="Arial"/>
        <a:ea typeface="微軟正黑體"/>
        <a:cs typeface=""/>
      </a:minorFont>
    </a:fontScheme>
    <a:fmtScheme name="都會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255000"/>
              </a:schemeClr>
            </a:gs>
            <a:gs pos="55000">
              <a:schemeClr val="phClr">
                <a:tint val="12000"/>
                <a:satMod val="255000"/>
              </a:schemeClr>
            </a:gs>
            <a:gs pos="100000">
              <a:schemeClr val="phClr">
                <a:tint val="45000"/>
                <a:satMod val="250000"/>
              </a:schemeClr>
            </a:gs>
          </a:gsLst>
          <a:path path="circle">
            <a:fillToRect l="-40000" t="-90000" r="140000" b="190000"/>
          </a:path>
        </a:gradFill>
        <a:gradFill rotWithShape="1">
          <a:gsLst>
            <a:gs pos="0">
              <a:schemeClr val="phClr">
                <a:tint val="43000"/>
                <a:satMod val="165000"/>
              </a:schemeClr>
            </a:gs>
            <a:gs pos="55000">
              <a:schemeClr val="phClr">
                <a:tint val="83000"/>
                <a:satMod val="155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-40000" t="-90000" r="140000" b="19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15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flat" dir="t">
              <a:rot lat="0" lon="0" rev="20040000"/>
            </a:lightRig>
          </a:scene3d>
          <a:sp3d contourW="12700" prstMaterial="dkEdge">
            <a:bevelT w="25400" h="38100" prst="convex"/>
            <a:contourClr>
              <a:schemeClr val="phClr">
                <a:satMod val="115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100000">
              <a:schemeClr val="phClr">
                <a:tint val="80000"/>
                <a:satMod val="250000"/>
              </a:schemeClr>
            </a:gs>
            <a:gs pos="60000">
              <a:schemeClr val="phClr">
                <a:shade val="38000"/>
                <a:satMod val="175000"/>
              </a:schemeClr>
            </a:gs>
            <a:gs pos="0">
              <a:schemeClr val="phClr">
                <a:shade val="30000"/>
                <a:satMod val="175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</a:schemeClr>
              <a:schemeClr val="phClr">
                <a:tint val="96000"/>
                <a:satMod val="15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Urban</Template>
  <TotalTime>945</TotalTime>
  <Words>1423</Words>
  <Application>Microsoft Office PowerPoint</Application>
  <PresentationFormat>如螢幕大小 (4:3)</PresentationFormat>
  <Paragraphs>231</Paragraphs>
  <Slides>33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33</vt:i4>
      </vt:variant>
    </vt:vector>
  </HeadingPairs>
  <TitlesOfParts>
    <vt:vector size="39" baseType="lpstr">
      <vt:lpstr>Arial</vt:lpstr>
      <vt:lpstr>Calibri</vt:lpstr>
      <vt:lpstr>Georgia</vt:lpstr>
      <vt:lpstr>Times New Roman</vt:lpstr>
      <vt:lpstr>Wingdings 2</vt:lpstr>
      <vt:lpstr>都會</vt:lpstr>
      <vt:lpstr>Lesson 9 視覺與渲染</vt:lpstr>
      <vt:lpstr>[通用]遊戲引擎功能</vt:lpstr>
      <vt:lpstr>Render與Shader相關</vt:lpstr>
      <vt:lpstr>渲染管線 (Render Pipeline)</vt:lpstr>
      <vt:lpstr>Unity 中的渲染管線 </vt:lpstr>
      <vt:lpstr>再談Renderer</vt:lpstr>
      <vt:lpstr>Renderer：3D相關</vt:lpstr>
      <vt:lpstr>Renderer：2D相關</vt:lpstr>
      <vt:lpstr>Renderer：2D / 特效</vt:lpstr>
      <vt:lpstr>Renderer：UI相關</vt:lpstr>
      <vt:lpstr>Light (燈光)</vt:lpstr>
      <vt:lpstr>Light (燈光)</vt:lpstr>
      <vt:lpstr>Light (燈光)</vt:lpstr>
      <vt:lpstr>Bake / Baked (烘焙)</vt:lpstr>
      <vt:lpstr>Shadow (陰影)</vt:lpstr>
      <vt:lpstr>Shadow (陰影)</vt:lpstr>
      <vt:lpstr>進階內容： Light Probe Group</vt:lpstr>
      <vt:lpstr>進階內容：Reflection Probe</vt:lpstr>
      <vt:lpstr>Lesson 9.2 攝影機</vt:lpstr>
      <vt:lpstr>Camera (攝影機)</vt:lpstr>
      <vt:lpstr>Camera (攝影機)： Orthographic</vt:lpstr>
      <vt:lpstr>Camera (攝影機)： Perspective</vt:lpstr>
      <vt:lpstr>Camera： Clipping Planes</vt:lpstr>
      <vt:lpstr>背景 (Background Type)</vt:lpstr>
      <vt:lpstr>進階： Skybox (天空盒)</vt:lpstr>
      <vt:lpstr>進階：攝影機輸出</vt:lpstr>
      <vt:lpstr>進階內容：LOD</vt:lpstr>
      <vt:lpstr>進階內容：Occlusion Culling</vt:lpstr>
      <vt:lpstr>進階：多攝影機輸出 </vt:lpstr>
      <vt:lpstr>進階：Render Texture</vt:lpstr>
      <vt:lpstr>進階：Post Processing 後製</vt:lpstr>
      <vt:lpstr>進階：Post Processing 後製</vt:lpstr>
      <vt:lpstr>進階：Cinemachine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1 遊戲引擎概論</dc:title>
  <dc:creator>user</dc:creator>
  <cp:lastModifiedBy>User</cp:lastModifiedBy>
  <cp:revision>100</cp:revision>
  <dcterms:created xsi:type="dcterms:W3CDTF">2024-11-18T05:57:07Z</dcterms:created>
  <dcterms:modified xsi:type="dcterms:W3CDTF">2025-10-23T12:20:11Z</dcterms:modified>
</cp:coreProperties>
</file>