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92" r:id="rId3"/>
    <p:sldId id="294" r:id="rId4"/>
    <p:sldId id="295" r:id="rId5"/>
    <p:sldId id="264" r:id="rId6"/>
    <p:sldId id="296" r:id="rId7"/>
    <p:sldId id="297" r:id="rId8"/>
    <p:sldId id="298" r:id="rId9"/>
    <p:sldId id="293" r:id="rId10"/>
    <p:sldId id="299" r:id="rId11"/>
    <p:sldId id="301" r:id="rId12"/>
    <p:sldId id="291" r:id="rId13"/>
    <p:sldId id="302" r:id="rId14"/>
    <p:sldId id="303" r:id="rId15"/>
    <p:sldId id="305" r:id="rId16"/>
    <p:sldId id="307" r:id="rId17"/>
    <p:sldId id="306" r:id="rId18"/>
    <p:sldId id="308" r:id="rId19"/>
    <p:sldId id="309" r:id="rId20"/>
    <p:sldId id="311" r:id="rId21"/>
    <p:sldId id="310" r:id="rId22"/>
    <p:sldId id="315" r:id="rId23"/>
    <p:sldId id="317" r:id="rId24"/>
    <p:sldId id="316" r:id="rId25"/>
    <p:sldId id="304" r:id="rId26"/>
    <p:sldId id="312" r:id="rId27"/>
    <p:sldId id="313" r:id="rId28"/>
    <p:sldId id="314" r:id="rId29"/>
    <p:sldId id="300" r:id="rId30"/>
    <p:sldId id="290" r:id="rId31"/>
    <p:sldId id="267" r:id="rId32"/>
    <p:sldId id="262" r:id="rId33"/>
    <p:sldId id="280" r:id="rId34"/>
    <p:sldId id="268" r:id="rId35"/>
    <p:sldId id="270" r:id="rId36"/>
    <p:sldId id="271" r:id="rId37"/>
    <p:sldId id="278" r:id="rId38"/>
    <p:sldId id="277" r:id="rId39"/>
    <p:sldId id="284" r:id="rId40"/>
    <p:sldId id="259" r:id="rId41"/>
    <p:sldId id="289" r:id="rId42"/>
    <p:sldId id="288" r:id="rId43"/>
    <p:sldId id="261" r:id="rId44"/>
    <p:sldId id="265" r:id="rId45"/>
    <p:sldId id="266" r:id="rId46"/>
    <p:sldId id="286" r:id="rId47"/>
    <p:sldId id="287" r:id="rId48"/>
    <p:sldId id="260" r:id="rId49"/>
    <p:sldId id="272" r:id="rId50"/>
    <p:sldId id="273" r:id="rId51"/>
    <p:sldId id="269" r:id="rId52"/>
    <p:sldId id="263" r:id="rId53"/>
    <p:sldId id="274" r:id="rId54"/>
    <p:sldId id="276" r:id="rId55"/>
    <p:sldId id="285" r:id="rId5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2025/6/12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2025/6/12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2025/6/12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2025/6/12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2025/6/12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2025/6/12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2025/6/12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2025/6/12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2025/6/12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2025/6/12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2025/6/12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2025/6/12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s://assetstore.unity.com/?publisher=Unity%20Technologies&amp;orderBy=1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5</a:t>
            </a:r>
            <a:br>
              <a:rPr lang="en-US" altLang="zh-TW" dirty="0"/>
            </a:br>
            <a:r>
              <a:rPr lang="en-US" altLang="zh-TW" dirty="0"/>
              <a:t>3D</a:t>
            </a:r>
            <a:r>
              <a:rPr lang="zh-TW" altLang="en-US" dirty="0"/>
              <a:t>物件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b="0" i="0" dirty="0">
                <a:solidFill>
                  <a:srgbClr val="003399"/>
                </a:solidFill>
                <a:effectLst/>
                <a:latin typeface="Times New Roman" panose="02020603050405020304" pitchFamily="18" charset="0"/>
              </a:rPr>
              <a:t>遊戲程式設計</a:t>
            </a:r>
            <a:endParaRPr lang="zh-TW" altLang="en-US" dirty="0"/>
          </a:p>
          <a:p>
            <a:endParaRPr lang="zh-TW" altLang="en-US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4FB9A7-15B3-E818-46BA-67F095205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建立一個立方體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6F4EE75-5F2C-4FB2-1792-6F55013C4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5122912" cy="4325112"/>
          </a:xfrm>
        </p:spPr>
        <p:txBody>
          <a:bodyPr/>
          <a:lstStyle/>
          <a:p>
            <a:r>
              <a:rPr lang="en-US" altLang="zh-TW" dirty="0" err="1"/>
              <a:t>Hierachy</a:t>
            </a:r>
            <a:r>
              <a:rPr lang="zh-TW" altLang="en-US" dirty="0"/>
              <a:t>中按下右鍵，選擇</a:t>
            </a:r>
            <a:r>
              <a:rPr lang="en-US" altLang="zh-TW" dirty="0"/>
              <a:t>3D</a:t>
            </a:r>
            <a:r>
              <a:rPr lang="zh-TW" altLang="en-US" dirty="0"/>
              <a:t> </a:t>
            </a:r>
            <a:r>
              <a:rPr lang="en-US" altLang="zh-TW" dirty="0"/>
              <a:t>Object &gt; Cube</a:t>
            </a:r>
          </a:p>
          <a:p>
            <a:pPr marL="109728" indent="0">
              <a:buNone/>
            </a:pPr>
            <a:endParaRPr lang="en-US" altLang="zh-TW" dirty="0"/>
          </a:p>
          <a:p>
            <a:r>
              <a:rPr lang="zh-TW" altLang="en-US" dirty="0"/>
              <a:t>要在遊戲場景中建立新</a:t>
            </a:r>
            <a:r>
              <a:rPr lang="en-US" altLang="zh-TW" dirty="0"/>
              <a:t>[</a:t>
            </a:r>
            <a:r>
              <a:rPr lang="en-US" altLang="zh-TW" dirty="0" err="1"/>
              <a:t>GameObject</a:t>
            </a:r>
            <a:r>
              <a:rPr lang="zh-TW" altLang="en-US" dirty="0"/>
              <a:t>遊戲物件</a:t>
            </a:r>
            <a:r>
              <a:rPr lang="en-US" altLang="zh-TW" dirty="0"/>
              <a:t>]</a:t>
            </a:r>
            <a:r>
              <a:rPr lang="zh-TW" altLang="en-US" dirty="0"/>
              <a:t>時，通常經由此方法建立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613D167-C3B5-078F-B644-585E86A87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166" y="476672"/>
            <a:ext cx="3104818" cy="3789040"/>
          </a:xfrm>
          <a:prstGeom prst="rect">
            <a:avLst/>
          </a:prstGeom>
        </p:spPr>
      </p:pic>
      <p:pic>
        <p:nvPicPr>
          <p:cNvPr id="8" name="內容版面配置區 4">
            <a:extLst>
              <a:ext uri="{FF2B5EF4-FFF2-40B4-BE49-F238E27FC236}">
                <a16:creationId xmlns:a16="http://schemas.microsoft.com/office/drawing/2014/main" id="{403CD3F0-5730-DF74-B6C9-BDF5415E2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80" y="4411980"/>
            <a:ext cx="3716959" cy="242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476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7EF5C5-DC2F-9B7E-CB31-26940680F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/>
              <a:t>Game Object </a:t>
            </a:r>
            <a:r>
              <a:rPr lang="zh-TW" altLang="en-US" sz="3200" dirty="0"/>
              <a:t>遊戲物件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049E6BFB-64AF-6962-253D-A52C72F5164D}"/>
              </a:ext>
            </a:extLst>
          </p:cNvPr>
          <p:cNvSpPr txBox="1">
            <a:spLocks/>
          </p:cNvSpPr>
          <p:nvPr/>
        </p:nvSpPr>
        <p:spPr>
          <a:xfrm>
            <a:off x="457200" y="2249424"/>
            <a:ext cx="4330824" cy="43251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此時的</a:t>
            </a:r>
            <a:r>
              <a:rPr lang="en-US" altLang="zh-TW" dirty="0"/>
              <a:t>[Cube</a:t>
            </a:r>
            <a:r>
              <a:rPr lang="zh-TW" altLang="en-US" dirty="0"/>
              <a:t>立方體</a:t>
            </a:r>
            <a:r>
              <a:rPr lang="en-US" altLang="zh-TW" dirty="0"/>
              <a:t>]</a:t>
            </a:r>
            <a:r>
              <a:rPr lang="zh-TW" altLang="en-US" dirty="0"/>
              <a:t>為一個</a:t>
            </a:r>
            <a:r>
              <a:rPr lang="en-US" altLang="zh-TW" dirty="0"/>
              <a:t>[</a:t>
            </a:r>
            <a:r>
              <a:rPr lang="en-US" altLang="zh-TW" dirty="0" err="1"/>
              <a:t>GameObject</a:t>
            </a:r>
            <a:r>
              <a:rPr lang="zh-TW" altLang="en-US" dirty="0"/>
              <a:t> 遊戲物件</a:t>
            </a:r>
            <a:r>
              <a:rPr lang="en-US" altLang="zh-TW" dirty="0"/>
              <a:t>]</a:t>
            </a:r>
          </a:p>
          <a:p>
            <a:endParaRPr lang="en-US" altLang="zh-TW" dirty="0"/>
          </a:p>
          <a:p>
            <a:r>
              <a:rPr lang="zh-TW" altLang="en-US" dirty="0"/>
              <a:t>當你點擊</a:t>
            </a:r>
            <a:r>
              <a:rPr lang="en-US" altLang="zh-TW" dirty="0"/>
              <a:t>[Cube</a:t>
            </a:r>
            <a:r>
              <a:rPr lang="zh-TW" altLang="en-US" dirty="0"/>
              <a:t>立方體</a:t>
            </a:r>
            <a:r>
              <a:rPr lang="en-US" altLang="zh-TW" dirty="0"/>
              <a:t>]</a:t>
            </a:r>
            <a:r>
              <a:rPr lang="zh-TW" altLang="en-US" dirty="0"/>
              <a:t>時，</a:t>
            </a:r>
            <a:r>
              <a:rPr lang="en-US" altLang="zh-TW" dirty="0"/>
              <a:t>Inspector</a:t>
            </a:r>
            <a:r>
              <a:rPr lang="zh-TW" altLang="en-US" dirty="0"/>
              <a:t>會顯示它的詳細資訊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9E70092B-F45C-CD90-F08E-FA1F966C9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1148540"/>
            <a:ext cx="4169009" cy="5304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197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7EF5C5-DC2F-9B7E-CB31-26940680F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/>
              <a:t>Component </a:t>
            </a:r>
            <a:r>
              <a:rPr lang="zh-TW" altLang="en-US" sz="3200" dirty="0"/>
              <a:t>元件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049E6BFB-64AF-6962-253D-A52C72F5164D}"/>
              </a:ext>
            </a:extLst>
          </p:cNvPr>
          <p:cNvSpPr txBox="1">
            <a:spLocks/>
          </p:cNvSpPr>
          <p:nvPr/>
        </p:nvSpPr>
        <p:spPr>
          <a:xfrm>
            <a:off x="457200" y="2249424"/>
            <a:ext cx="4330824" cy="43251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此時的</a:t>
            </a:r>
            <a:r>
              <a:rPr lang="en-US" altLang="zh-TW" dirty="0"/>
              <a:t>[Cube</a:t>
            </a:r>
            <a:r>
              <a:rPr lang="zh-TW" altLang="en-US" dirty="0"/>
              <a:t>立方體</a:t>
            </a:r>
            <a:r>
              <a:rPr lang="en-US" altLang="zh-TW" dirty="0"/>
              <a:t>]</a:t>
            </a:r>
            <a:r>
              <a:rPr lang="zh-TW" altLang="en-US" dirty="0"/>
              <a:t>有</a:t>
            </a:r>
            <a:r>
              <a:rPr lang="en-US" altLang="zh-TW" dirty="0"/>
              <a:t>4</a:t>
            </a:r>
            <a:r>
              <a:rPr lang="zh-TW" altLang="en-US" dirty="0"/>
              <a:t>個</a:t>
            </a:r>
            <a:r>
              <a:rPr lang="en-US" altLang="zh-TW" dirty="0"/>
              <a:t>[Component</a:t>
            </a:r>
            <a:r>
              <a:rPr lang="zh-TW" altLang="en-US" dirty="0"/>
              <a:t>元件</a:t>
            </a:r>
            <a:r>
              <a:rPr lang="en-US" altLang="zh-TW" dirty="0"/>
              <a:t>]</a:t>
            </a:r>
            <a:r>
              <a:rPr lang="zh-TW" altLang="en-US" dirty="0"/>
              <a:t>，又稱為</a:t>
            </a:r>
            <a:r>
              <a:rPr lang="en-US" altLang="zh-TW" dirty="0"/>
              <a:t>[</a:t>
            </a:r>
            <a:r>
              <a:rPr lang="en-US" altLang="zh-TW" dirty="0" err="1"/>
              <a:t>Behaviour</a:t>
            </a:r>
            <a:r>
              <a:rPr lang="zh-TW" altLang="en-US" dirty="0"/>
              <a:t>行為</a:t>
            </a:r>
            <a:r>
              <a:rPr lang="en-US" altLang="zh-TW" dirty="0"/>
              <a:t>]</a:t>
            </a:r>
          </a:p>
          <a:p>
            <a:pPr lvl="1"/>
            <a:r>
              <a:rPr lang="en-US" altLang="zh-TW" dirty="0"/>
              <a:t>Transform</a:t>
            </a:r>
          </a:p>
          <a:p>
            <a:pPr lvl="1"/>
            <a:r>
              <a:rPr lang="en-US" altLang="zh-TW" dirty="0"/>
              <a:t>Mesh Filter</a:t>
            </a:r>
          </a:p>
          <a:p>
            <a:pPr lvl="1"/>
            <a:r>
              <a:rPr lang="en-US" altLang="zh-TW" dirty="0"/>
              <a:t>Mesh Renderer</a:t>
            </a:r>
          </a:p>
          <a:p>
            <a:pPr lvl="1"/>
            <a:r>
              <a:rPr lang="en-US" altLang="zh-TW" dirty="0"/>
              <a:t>Box Collider</a:t>
            </a:r>
            <a:endParaRPr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9E70092B-F45C-CD90-F08E-FA1F966C9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1148540"/>
            <a:ext cx="4169009" cy="5304796"/>
          </a:xfrm>
          <a:prstGeom prst="rect">
            <a:avLst/>
          </a:prstGeom>
        </p:spPr>
      </p:pic>
      <p:sp>
        <p:nvSpPr>
          <p:cNvPr id="5" name="矩形: 圓角 4">
            <a:extLst>
              <a:ext uri="{FF2B5EF4-FFF2-40B4-BE49-F238E27FC236}">
                <a16:creationId xmlns:a16="http://schemas.microsoft.com/office/drawing/2014/main" id="{91E3120F-1C93-FDBF-62A4-73D93FE7D68C}"/>
              </a:ext>
            </a:extLst>
          </p:cNvPr>
          <p:cNvSpPr/>
          <p:nvPr/>
        </p:nvSpPr>
        <p:spPr>
          <a:xfrm>
            <a:off x="4780926" y="1484784"/>
            <a:ext cx="4306710" cy="569137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F05CC4E8-5DB2-A6A8-0DDD-50DFB1C04BD7}"/>
              </a:ext>
            </a:extLst>
          </p:cNvPr>
          <p:cNvSpPr/>
          <p:nvPr/>
        </p:nvSpPr>
        <p:spPr>
          <a:xfrm>
            <a:off x="4791305" y="2053921"/>
            <a:ext cx="4296329" cy="438975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089C78E7-7231-CB30-DB35-02B0BC207999}"/>
              </a:ext>
            </a:extLst>
          </p:cNvPr>
          <p:cNvSpPr/>
          <p:nvPr/>
        </p:nvSpPr>
        <p:spPr>
          <a:xfrm>
            <a:off x="4774610" y="2504441"/>
            <a:ext cx="4313025" cy="1860664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B26C5EF4-4983-A4CA-0BD4-C048F300320E}"/>
              </a:ext>
            </a:extLst>
          </p:cNvPr>
          <p:cNvSpPr/>
          <p:nvPr/>
        </p:nvSpPr>
        <p:spPr>
          <a:xfrm>
            <a:off x="4788024" y="4411980"/>
            <a:ext cx="4313025" cy="1681316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7849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GameObject</a:t>
            </a:r>
            <a:r>
              <a:rPr lang="en-US" altLang="zh-TW" dirty="0"/>
              <a:t> </a:t>
            </a:r>
            <a:r>
              <a:rPr lang="zh-TW" altLang="en-US" dirty="0"/>
              <a:t>與 </a:t>
            </a:r>
            <a:r>
              <a:rPr lang="en-US" altLang="zh-TW" dirty="0"/>
              <a:t>Component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err="1"/>
              <a:t>GameObject</a:t>
            </a:r>
            <a:r>
              <a:rPr lang="zh-TW" altLang="en-US" dirty="0"/>
              <a:t>：遊戲物件</a:t>
            </a:r>
            <a:endParaRPr lang="en-US" altLang="zh-TW" dirty="0"/>
          </a:p>
          <a:p>
            <a:pPr lvl="1"/>
            <a:r>
              <a:rPr lang="zh-TW" altLang="en-US" dirty="0"/>
              <a:t>表示一個遊戲物件</a:t>
            </a:r>
            <a:endParaRPr lang="en-US" altLang="zh-TW" dirty="0"/>
          </a:p>
          <a:p>
            <a:pPr lvl="1"/>
            <a:r>
              <a:rPr lang="zh-TW" altLang="en-US" dirty="0"/>
              <a:t>可擁有若干個</a:t>
            </a:r>
            <a:r>
              <a:rPr lang="en-US" altLang="zh-TW" dirty="0" err="1"/>
              <a:t>Componet</a:t>
            </a:r>
            <a:endParaRPr lang="en-US" altLang="zh-TW" dirty="0"/>
          </a:p>
          <a:p>
            <a:pPr lvl="1"/>
            <a:r>
              <a:rPr lang="zh-TW" altLang="en-US" dirty="0"/>
              <a:t>會有</a:t>
            </a:r>
            <a:r>
              <a:rPr lang="en-US" altLang="zh-TW" dirty="0"/>
              <a:t>Transform</a:t>
            </a:r>
            <a:r>
              <a:rPr lang="zh-TW" altLang="en-US" dirty="0"/>
              <a:t>或</a:t>
            </a:r>
            <a:r>
              <a:rPr lang="en-US" altLang="zh-TW" dirty="0" err="1"/>
              <a:t>RectTransform</a:t>
            </a:r>
            <a:r>
              <a:rPr lang="en-US" altLang="zh-TW" dirty="0"/>
              <a:t>(UI)</a:t>
            </a:r>
            <a:r>
              <a:rPr lang="zh-TW" altLang="en-US" dirty="0"/>
              <a:t>其中一個元件</a:t>
            </a:r>
            <a:endParaRPr lang="en-US" altLang="zh-TW" dirty="0"/>
          </a:p>
          <a:p>
            <a:r>
              <a:rPr lang="en-US" altLang="zh-TW" dirty="0"/>
              <a:t>Component</a:t>
            </a:r>
            <a:r>
              <a:rPr lang="zh-TW" altLang="en-US" dirty="0"/>
              <a:t>：元件</a:t>
            </a:r>
            <a:endParaRPr lang="en-US" altLang="zh-TW" dirty="0"/>
          </a:p>
          <a:p>
            <a:pPr lvl="1"/>
            <a:r>
              <a:rPr lang="zh-TW" altLang="en-US" sz="2400" dirty="0"/>
              <a:t>某些種類會有相斥，某些種類元件在同一個</a:t>
            </a:r>
            <a:r>
              <a:rPr lang="en-US" altLang="zh-TW" sz="2400" dirty="0"/>
              <a:t>GO</a:t>
            </a:r>
            <a:r>
              <a:rPr lang="zh-TW" altLang="en-US" sz="2400" dirty="0"/>
              <a:t>中只能有一個</a:t>
            </a:r>
            <a:endParaRPr lang="en-US" altLang="zh-TW" sz="2400" dirty="0"/>
          </a:p>
          <a:p>
            <a:pPr lvl="1"/>
            <a:r>
              <a:rPr lang="zh-TW" altLang="en-US" dirty="0"/>
              <a:t>如：</a:t>
            </a:r>
            <a:r>
              <a:rPr lang="en-US" altLang="zh-TW" dirty="0"/>
              <a:t>Transform</a:t>
            </a:r>
            <a:r>
              <a:rPr lang="zh-TW" altLang="en-US" dirty="0"/>
              <a:t>、</a:t>
            </a:r>
            <a:r>
              <a:rPr lang="en-US" altLang="zh-TW" dirty="0"/>
              <a:t>Mesh</a:t>
            </a:r>
            <a:r>
              <a:rPr lang="zh-TW" altLang="en-US" dirty="0"/>
              <a:t>、</a:t>
            </a:r>
            <a:r>
              <a:rPr lang="en-US" altLang="zh-TW" dirty="0"/>
              <a:t>Renderer</a:t>
            </a:r>
            <a:r>
              <a:rPr lang="zh-TW" altLang="en-US" dirty="0"/>
              <a:t>、</a:t>
            </a:r>
            <a:r>
              <a:rPr lang="en-US" altLang="zh-TW" dirty="0"/>
              <a:t>Light</a:t>
            </a:r>
            <a:r>
              <a:rPr lang="zh-TW" altLang="en-US" dirty="0"/>
              <a:t>、</a:t>
            </a:r>
            <a:r>
              <a:rPr lang="en-US" altLang="zh-TW" dirty="0"/>
              <a:t>Camera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830D55-0AD4-9303-002B-ED4E145F2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Transform</a:t>
            </a:r>
            <a:r>
              <a:rPr lang="zh-TW" altLang="en-US" dirty="0"/>
              <a:t> 變換元件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7032D00-15A8-7092-CB09-AECFC92BE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[</a:t>
            </a:r>
            <a:r>
              <a:rPr lang="zh-TW" altLang="en-US" dirty="0"/>
              <a:t> </a:t>
            </a:r>
            <a:r>
              <a:rPr lang="en-US" altLang="zh-TW" dirty="0" err="1"/>
              <a:t>GameObject</a:t>
            </a:r>
            <a:r>
              <a:rPr lang="en-US" altLang="zh-TW" dirty="0"/>
              <a:t> </a:t>
            </a:r>
            <a:r>
              <a:rPr lang="zh-TW" altLang="en-US" dirty="0"/>
              <a:t>遊戲物件</a:t>
            </a:r>
            <a:r>
              <a:rPr lang="en-US" altLang="zh-TW" dirty="0"/>
              <a:t>]</a:t>
            </a:r>
            <a:r>
              <a:rPr lang="zh-TW" altLang="en-US" dirty="0"/>
              <a:t>必定會有的</a:t>
            </a:r>
            <a:r>
              <a:rPr lang="en-US" altLang="zh-TW" dirty="0"/>
              <a:t>[Component</a:t>
            </a:r>
            <a:r>
              <a:rPr lang="zh-TW" altLang="en-US" dirty="0"/>
              <a:t> 元件</a:t>
            </a:r>
            <a:r>
              <a:rPr lang="en-US" altLang="zh-TW" dirty="0"/>
              <a:t>]</a:t>
            </a:r>
            <a:r>
              <a:rPr lang="zh-TW" altLang="en-US" dirty="0"/>
              <a:t> </a:t>
            </a:r>
            <a:r>
              <a:rPr lang="en-US" altLang="zh-TW" dirty="0"/>
              <a:t>(UI</a:t>
            </a:r>
            <a:r>
              <a:rPr lang="zh-TW" altLang="en-US" dirty="0"/>
              <a:t>除外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en-US" altLang="zh-TW" dirty="0"/>
              <a:t>Position</a:t>
            </a:r>
            <a:r>
              <a:rPr lang="zh-TW" altLang="en-US" dirty="0"/>
              <a:t> 位置</a:t>
            </a:r>
            <a:endParaRPr lang="en-US" altLang="zh-TW" dirty="0"/>
          </a:p>
          <a:p>
            <a:pPr lvl="1"/>
            <a:r>
              <a:rPr lang="en-US" altLang="zh-TW" dirty="0"/>
              <a:t>Vector 3 (</a:t>
            </a:r>
            <a:r>
              <a:rPr lang="zh-TW" altLang="en-US" dirty="0"/>
              <a:t>三維向量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Rotation</a:t>
            </a:r>
            <a:r>
              <a:rPr lang="zh-TW" altLang="en-US" dirty="0"/>
              <a:t> 轉動</a:t>
            </a:r>
            <a:endParaRPr lang="en-US" altLang="zh-TW" dirty="0"/>
          </a:p>
          <a:p>
            <a:pPr lvl="1"/>
            <a:r>
              <a:rPr lang="en-US" altLang="zh-TW" dirty="0"/>
              <a:t>Quaternion (</a:t>
            </a:r>
            <a:r>
              <a:rPr lang="zh-TW" altLang="en-US" dirty="0"/>
              <a:t>四元數、歐拉角顯示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Scale</a:t>
            </a:r>
            <a:r>
              <a:rPr lang="zh-TW" altLang="en-US"/>
              <a:t> 縮放</a:t>
            </a:r>
            <a:endParaRPr lang="en-US" altLang="zh-TW" dirty="0"/>
          </a:p>
          <a:p>
            <a:pPr lvl="1"/>
            <a:r>
              <a:rPr lang="en-US" altLang="zh-TW" dirty="0"/>
              <a:t>Vector 3 (</a:t>
            </a:r>
            <a:r>
              <a:rPr lang="zh-TW" altLang="en-US" dirty="0"/>
              <a:t>三維向量</a:t>
            </a:r>
            <a:r>
              <a:rPr lang="en-US" altLang="zh-TW" dirty="0"/>
              <a:t>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59559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286701-822A-F2C9-BCAD-1EB94AB80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Postion</a:t>
            </a:r>
            <a:r>
              <a:rPr lang="en-US" altLang="zh-TW" dirty="0"/>
              <a:t> </a:t>
            </a:r>
            <a:r>
              <a:rPr lang="zh-TW" altLang="en-US" dirty="0"/>
              <a:t>位置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58BF60-420F-6A98-3709-23C28C0BC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Unity</a:t>
            </a:r>
            <a:r>
              <a:rPr lang="zh-TW" altLang="en-US" dirty="0"/>
              <a:t>：左手座標系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x</a:t>
            </a:r>
          </a:p>
          <a:p>
            <a:r>
              <a:rPr lang="en-US" altLang="zh-TW" dirty="0"/>
              <a:t>y:</a:t>
            </a:r>
            <a:r>
              <a:rPr lang="zh-TW" altLang="en-US" dirty="0"/>
              <a:t>高度</a:t>
            </a:r>
            <a:endParaRPr lang="en-US" altLang="zh-TW" dirty="0"/>
          </a:p>
          <a:p>
            <a:r>
              <a:rPr lang="en-US" altLang="zh-TW" dirty="0"/>
              <a:t>z:</a:t>
            </a:r>
            <a:r>
              <a:rPr lang="zh-TW" altLang="en-US" dirty="0"/>
              <a:t>深度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3FC76C-3E02-EB61-7134-969A092E9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89008" y="3174324"/>
            <a:ext cx="3643338" cy="3691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3E88C5-D70D-A90F-5C02-4B6B05A10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31840" y="2907202"/>
            <a:ext cx="2398579" cy="3979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00952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調整物件</a:t>
            </a:r>
            <a:r>
              <a:rPr lang="en-US" altLang="zh-TW" dirty="0"/>
              <a:t>Transform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變換組件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Position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位置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Rotation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旋轉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Scale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大小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4243410"/>
            <a:ext cx="7507287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29058" y="3286124"/>
            <a:ext cx="5214942" cy="870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45119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BD9446-5B42-1823-4830-0388E70A7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982" y="910711"/>
            <a:ext cx="8229600" cy="1066800"/>
          </a:xfrm>
        </p:spPr>
        <p:txBody>
          <a:bodyPr/>
          <a:lstStyle/>
          <a:p>
            <a:r>
              <a:rPr lang="zh-TW" altLang="en-US" dirty="0"/>
              <a:t>英文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4CDDAF0-D373-5069-0A1C-31D5DC8D0D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347305"/>
              </p:ext>
            </p:extLst>
          </p:nvPr>
        </p:nvGraphicFramePr>
        <p:xfrm>
          <a:off x="611560" y="1988840"/>
          <a:ext cx="8075240" cy="47963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17316374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2426916"/>
                    </a:ext>
                  </a:extLst>
                </a:gridCol>
                <a:gridCol w="4330824">
                  <a:extLst>
                    <a:ext uri="{9D8B030D-6E8A-4147-A177-3AD203B41FA5}">
                      <a16:colId xmlns:a16="http://schemas.microsoft.com/office/drawing/2014/main" val="1836957082"/>
                    </a:ext>
                  </a:extLst>
                </a:gridCol>
              </a:tblGrid>
              <a:tr h="571128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Game Object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遊戲物件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kumimoji="0" lang="en-US" altLang="zh-TW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Unity</a:t>
                      </a:r>
                      <a:r>
                        <a:rPr kumimoji="0" lang="zh-TW" altLang="en-US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在場景中運作的基本單位，可在</a:t>
                      </a:r>
                      <a:r>
                        <a:rPr kumimoji="0" lang="en-US" altLang="zh-TW" sz="1800" b="0" kern="120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Hierachy</a:t>
                      </a:r>
                      <a:r>
                        <a:rPr kumimoji="0" lang="zh-TW" altLang="en-US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或</a:t>
                      </a:r>
                      <a:r>
                        <a:rPr kumimoji="0" lang="en-US" altLang="zh-TW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Scene</a:t>
                      </a:r>
                      <a:r>
                        <a:rPr kumimoji="0" lang="zh-TW" altLang="en-US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介面中找到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4294642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Component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元件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影響</a:t>
                      </a:r>
                      <a:r>
                        <a:rPr lang="en-US" altLang="zh-TW" sz="1800" b="0" dirty="0">
                          <a:latin typeface="+mj-ea"/>
                          <a:ea typeface="+mj-ea"/>
                        </a:rPr>
                        <a:t>GO</a:t>
                      </a:r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中的行為，一個</a:t>
                      </a:r>
                      <a:r>
                        <a:rPr lang="en-US" altLang="zh-TW" sz="1800" b="0" dirty="0">
                          <a:latin typeface="+mj-ea"/>
                          <a:ea typeface="+mj-ea"/>
                        </a:rPr>
                        <a:t>GO</a:t>
                      </a:r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可擁有多個元件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8589204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Transform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變換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一般</a:t>
                      </a:r>
                      <a:r>
                        <a:rPr lang="en-US" altLang="zh-TW" sz="1800" b="0" dirty="0">
                          <a:latin typeface="+mj-ea"/>
                          <a:ea typeface="+mj-ea"/>
                        </a:rPr>
                        <a:t>GO</a:t>
                      </a:r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的基礎元件，表示其位置轉動縮放等等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5265624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Position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位置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表示</a:t>
                      </a:r>
                      <a:r>
                        <a:rPr lang="en-US" altLang="zh-TW" sz="1800" b="0" dirty="0">
                          <a:latin typeface="+mj-ea"/>
                          <a:ea typeface="+mj-ea"/>
                        </a:rPr>
                        <a:t>GO</a:t>
                      </a:r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的位置，儲存型態為</a:t>
                      </a:r>
                      <a:r>
                        <a:rPr lang="en-US" altLang="zh-TW" sz="1800" b="0" dirty="0">
                          <a:latin typeface="+mj-ea"/>
                          <a:ea typeface="+mj-ea"/>
                        </a:rPr>
                        <a:t>Vector3</a:t>
                      </a:r>
                      <a:endParaRPr lang="zh-TW" altLang="en-US" sz="1800" b="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6584998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Rotation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轉動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表示</a:t>
                      </a:r>
                      <a:r>
                        <a:rPr kumimoji="0" lang="en-US" altLang="zh-TW" sz="16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GO</a:t>
                      </a:r>
                      <a:r>
                        <a:rPr kumimoji="0" lang="zh-TW" altLang="en-US" sz="16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的轉動，儲存型態為</a:t>
                      </a:r>
                      <a:r>
                        <a:rPr kumimoji="0" lang="en-US" altLang="zh-TW" sz="16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Quaternion</a:t>
                      </a:r>
                      <a:endParaRPr kumimoji="0" lang="zh-TW" altLang="en-US" sz="1600" b="0" kern="120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2872403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Scale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縮放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表示</a:t>
                      </a:r>
                      <a:r>
                        <a:rPr kumimoji="0" lang="en-US" altLang="zh-TW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GO</a:t>
                      </a:r>
                      <a:r>
                        <a:rPr kumimoji="0" lang="zh-TW" altLang="en-US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的大小，儲存型態為</a:t>
                      </a:r>
                      <a:r>
                        <a:rPr kumimoji="0" lang="en-US" altLang="zh-TW" sz="18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Vector3</a:t>
                      </a:r>
                      <a:endParaRPr kumimoji="0" lang="zh-TW" altLang="en-US" sz="1800" b="0" kern="120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9846255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Vector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向量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多個實數組成的數組，代表一個有方向性的數值，通常為</a:t>
                      </a:r>
                      <a:r>
                        <a:rPr lang="en-US" altLang="zh-TW" sz="1800" b="0" dirty="0">
                          <a:latin typeface="+mj-ea"/>
                          <a:ea typeface="+mj-ea"/>
                        </a:rPr>
                        <a:t>3</a:t>
                      </a:r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個實數，如 </a:t>
                      </a:r>
                      <a:r>
                        <a:rPr lang="en-US" altLang="zh-TW" sz="1800" b="0" dirty="0">
                          <a:latin typeface="+mj-ea"/>
                          <a:ea typeface="+mj-ea"/>
                        </a:rPr>
                        <a:t>(0.5,1.5,2.5)</a:t>
                      </a:r>
                      <a:endParaRPr lang="zh-TW" altLang="en-US" sz="1800" b="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9957201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kumimoji="0" lang="en-US" altLang="zh-TW" sz="1800" b="1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Quaternion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四元數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由</a:t>
                      </a:r>
                      <a:r>
                        <a:rPr lang="en-US" altLang="zh-TW" sz="1800" b="0" dirty="0">
                          <a:latin typeface="+mj-ea"/>
                          <a:ea typeface="+mj-ea"/>
                        </a:rPr>
                        <a:t>4</a:t>
                      </a:r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個實數組成的數組，在數學中通常用來表示</a:t>
                      </a:r>
                      <a:r>
                        <a:rPr lang="en-US" altLang="zh-TW" sz="1800" b="0" dirty="0">
                          <a:latin typeface="+mj-ea"/>
                          <a:ea typeface="+mj-ea"/>
                        </a:rPr>
                        <a:t>3D</a:t>
                      </a:r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空間的轉動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7729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678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5.2</a:t>
            </a:r>
            <a:br>
              <a:rPr lang="en-US" altLang="zh-TW" dirty="0"/>
            </a:br>
            <a:r>
              <a:rPr lang="en-US" altLang="zh-TW" dirty="0"/>
              <a:t>Vector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dirty="0">
                <a:solidFill>
                  <a:srgbClr val="003399"/>
                </a:solidFill>
                <a:latin typeface="Times New Roman" panose="02020603050405020304" pitchFamily="18" charset="0"/>
              </a:rPr>
              <a:t>基礎遊戲引擎應用</a:t>
            </a:r>
            <a:r>
              <a:rPr lang="en-US" altLang="zh-TW" dirty="0">
                <a:solidFill>
                  <a:srgbClr val="003399"/>
                </a:solidFill>
                <a:latin typeface="Times New Roman" panose="02020603050405020304" pitchFamily="18" charset="0"/>
              </a:rPr>
              <a:t>(Y2)</a:t>
            </a:r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67955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830D55-0AD4-9303-002B-ED4E145F2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Transform</a:t>
            </a:r>
            <a:r>
              <a:rPr lang="zh-TW" altLang="en-US" dirty="0"/>
              <a:t> 變換元件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7032D00-15A8-7092-CB09-AECFC92BE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Position</a:t>
            </a:r>
            <a:r>
              <a:rPr lang="zh-TW" altLang="en-US" dirty="0"/>
              <a:t> 位置</a:t>
            </a:r>
            <a:endParaRPr lang="en-US" altLang="zh-TW" dirty="0"/>
          </a:p>
          <a:p>
            <a:pPr lvl="1"/>
            <a:r>
              <a:rPr lang="en-US" altLang="zh-TW" dirty="0"/>
              <a:t>Vector 3 (</a:t>
            </a:r>
            <a:r>
              <a:rPr lang="zh-TW" altLang="en-US" dirty="0"/>
              <a:t>三維向量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Rotation</a:t>
            </a:r>
            <a:r>
              <a:rPr lang="zh-TW" altLang="en-US" dirty="0"/>
              <a:t> 轉動</a:t>
            </a:r>
            <a:endParaRPr lang="en-US" altLang="zh-TW" dirty="0"/>
          </a:p>
          <a:p>
            <a:pPr lvl="1"/>
            <a:r>
              <a:rPr lang="en-US" altLang="zh-TW" dirty="0"/>
              <a:t>Quaternion (</a:t>
            </a:r>
            <a:r>
              <a:rPr lang="zh-TW" altLang="en-US" dirty="0"/>
              <a:t>四元數、歐拉角顯示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Scale</a:t>
            </a:r>
            <a:r>
              <a:rPr lang="zh-TW" altLang="en-US" dirty="0"/>
              <a:t> 縮放</a:t>
            </a:r>
            <a:endParaRPr lang="en-US" altLang="zh-TW" dirty="0"/>
          </a:p>
          <a:p>
            <a:pPr lvl="1"/>
            <a:r>
              <a:rPr lang="en-US" altLang="zh-TW" dirty="0"/>
              <a:t>Vector 3 (</a:t>
            </a:r>
            <a:r>
              <a:rPr lang="zh-TW" altLang="en-US" dirty="0"/>
              <a:t>三維向量</a:t>
            </a:r>
            <a:r>
              <a:rPr lang="en-US" altLang="zh-TW" dirty="0"/>
              <a:t>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92390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363292-EA0C-8693-3EAF-4A892F156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Vector3</a:t>
            </a:r>
            <a:r>
              <a:rPr lang="zh-TW" altLang="en-US" dirty="0"/>
              <a:t> </a:t>
            </a:r>
            <a:r>
              <a:rPr lang="en-US" altLang="zh-TW" dirty="0"/>
              <a:t>(3</a:t>
            </a:r>
            <a:r>
              <a:rPr lang="zh-TW" altLang="en-US" dirty="0"/>
              <a:t>維向量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4861CF-D99C-9059-DE11-B94799F5F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4524536" cy="4325112"/>
          </a:xfrm>
        </p:spPr>
        <p:txBody>
          <a:bodyPr/>
          <a:lstStyle/>
          <a:p>
            <a:r>
              <a:rPr lang="zh-TW" altLang="en-US" dirty="0"/>
              <a:t>在 </a:t>
            </a:r>
            <a:r>
              <a:rPr lang="en-US" altLang="zh-TW" dirty="0"/>
              <a:t>3D </a:t>
            </a:r>
            <a:r>
              <a:rPr lang="zh-TW" altLang="en-US" dirty="0"/>
              <a:t>空間中表示一個點或方向</a:t>
            </a:r>
            <a:endParaRPr lang="en-US" altLang="zh-TW" dirty="0"/>
          </a:p>
          <a:p>
            <a:r>
              <a:rPr lang="en-US" altLang="zh-TW" dirty="0"/>
              <a:t>Vector3 (</a:t>
            </a:r>
            <a:r>
              <a:rPr lang="en-US" altLang="zh-TW" dirty="0" err="1"/>
              <a:t>x,y,z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zh-TW" altLang="en-US" dirty="0"/>
              <a:t>在</a:t>
            </a:r>
            <a:r>
              <a:rPr lang="en-US" altLang="zh-TW" dirty="0"/>
              <a:t>Unity</a:t>
            </a:r>
            <a:r>
              <a:rPr lang="zh-TW" altLang="en-US" dirty="0"/>
              <a:t>中，使用單精度浮點數 </a:t>
            </a:r>
            <a:r>
              <a:rPr lang="en-US" altLang="zh-TW" dirty="0"/>
              <a:t>(</a:t>
            </a:r>
            <a:r>
              <a:rPr lang="zh-TW" altLang="en-US" dirty="0"/>
              <a:t>小數、</a:t>
            </a:r>
            <a:r>
              <a:rPr lang="en-US" altLang="zh-TW" dirty="0"/>
              <a:t>float)</a:t>
            </a:r>
            <a:r>
              <a:rPr lang="zh-TW" altLang="en-US" dirty="0"/>
              <a:t>來計算數值</a:t>
            </a:r>
            <a:endParaRPr lang="en-US" altLang="zh-TW" dirty="0"/>
          </a:p>
          <a:p>
            <a:endParaRPr lang="en-US" altLang="zh-TW" dirty="0"/>
          </a:p>
        </p:txBody>
      </p: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F36E88CD-2D32-FF01-E1EE-2E1481FF9E9C}"/>
              </a:ext>
            </a:extLst>
          </p:cNvPr>
          <p:cNvGrpSpPr/>
          <p:nvPr/>
        </p:nvGrpSpPr>
        <p:grpSpPr>
          <a:xfrm>
            <a:off x="5220072" y="3449247"/>
            <a:ext cx="3021144" cy="3245451"/>
            <a:chOff x="3423640" y="3256019"/>
            <a:chExt cx="3021144" cy="3245451"/>
          </a:xfrm>
        </p:grpSpPr>
        <p:grpSp>
          <p:nvGrpSpPr>
            <p:cNvPr id="52" name="群組 51">
              <a:extLst>
                <a:ext uri="{FF2B5EF4-FFF2-40B4-BE49-F238E27FC236}">
                  <a16:creationId xmlns:a16="http://schemas.microsoft.com/office/drawing/2014/main" id="{20D31C39-B328-2779-7336-6237E96B744D}"/>
                </a:ext>
              </a:extLst>
            </p:cNvPr>
            <p:cNvGrpSpPr/>
            <p:nvPr/>
          </p:nvGrpSpPr>
          <p:grpSpPr>
            <a:xfrm>
              <a:off x="3758177" y="3429000"/>
              <a:ext cx="2686607" cy="2751029"/>
              <a:chOff x="3758177" y="3429000"/>
              <a:chExt cx="2686607" cy="2751029"/>
            </a:xfrm>
          </p:grpSpPr>
          <p:cxnSp>
            <p:nvCxnSpPr>
              <p:cNvPr id="68" name="直線單箭頭接點 67">
                <a:extLst>
                  <a:ext uri="{FF2B5EF4-FFF2-40B4-BE49-F238E27FC236}">
                    <a16:creationId xmlns:a16="http://schemas.microsoft.com/office/drawing/2014/main" id="{42FC595F-92B5-5726-E498-35F40795BC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96513" y="6024657"/>
                <a:ext cx="2209935" cy="20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線單箭頭接點 68">
                <a:extLst>
                  <a:ext uri="{FF2B5EF4-FFF2-40B4-BE49-F238E27FC236}">
                    <a16:creationId xmlns:a16="http://schemas.microsoft.com/office/drawing/2014/main" id="{BF14E0AD-2F8F-4D23-A256-CBC6655E0AD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0113" y="3866481"/>
                <a:ext cx="0" cy="21786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線單箭頭接點 69">
                <a:extLst>
                  <a:ext uri="{FF2B5EF4-FFF2-40B4-BE49-F238E27FC236}">
                    <a16:creationId xmlns:a16="http://schemas.microsoft.com/office/drawing/2014/main" id="{F1FAE0B7-322D-529F-646A-8262FD01B7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96513" y="4955824"/>
                <a:ext cx="1800200" cy="108934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1D2BA5E9-C0AB-CE05-C6FC-E10BA4B9E783}"/>
                  </a:ext>
                </a:extLst>
              </p:cNvPr>
              <p:cNvSpPr txBox="1"/>
              <p:nvPr/>
            </p:nvSpPr>
            <p:spPr>
              <a:xfrm>
                <a:off x="6206448" y="5810697"/>
                <a:ext cx="238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x</a:t>
                </a:r>
                <a:endParaRPr lang="zh-TW" altLang="en-US" dirty="0"/>
              </a:p>
            </p:txBody>
          </p:sp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39683862-900E-2C7E-6818-29BD7F791DB6}"/>
                  </a:ext>
                </a:extLst>
              </p:cNvPr>
              <p:cNvSpPr txBox="1"/>
              <p:nvPr/>
            </p:nvSpPr>
            <p:spPr>
              <a:xfrm>
                <a:off x="3758177" y="3429000"/>
                <a:ext cx="238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y</a:t>
                </a:r>
                <a:endParaRPr lang="zh-TW" altLang="en-US" dirty="0"/>
              </a:p>
            </p:txBody>
          </p:sp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77DE062B-3896-75D7-1FC6-6B49D23B62E7}"/>
                  </a:ext>
                </a:extLst>
              </p:cNvPr>
              <p:cNvSpPr txBox="1"/>
              <p:nvPr/>
            </p:nvSpPr>
            <p:spPr>
              <a:xfrm>
                <a:off x="5790708" y="4649277"/>
                <a:ext cx="238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z</a:t>
                </a:r>
                <a:endParaRPr lang="zh-TW" altLang="en-US" dirty="0"/>
              </a:p>
            </p:txBody>
          </p:sp>
        </p:grpSp>
        <p:grpSp>
          <p:nvGrpSpPr>
            <p:cNvPr id="53" name="群組 52">
              <a:extLst>
                <a:ext uri="{FF2B5EF4-FFF2-40B4-BE49-F238E27FC236}">
                  <a16:creationId xmlns:a16="http://schemas.microsoft.com/office/drawing/2014/main" id="{55503736-F8A2-6DD7-B5D1-721E7E576883}"/>
                </a:ext>
              </a:extLst>
            </p:cNvPr>
            <p:cNvGrpSpPr/>
            <p:nvPr/>
          </p:nvGrpSpPr>
          <p:grpSpPr>
            <a:xfrm>
              <a:off x="3456453" y="5961681"/>
              <a:ext cx="1080119" cy="539789"/>
              <a:chOff x="3456453" y="5961681"/>
              <a:chExt cx="1080119" cy="539789"/>
            </a:xfrm>
          </p:grpSpPr>
          <p:sp>
            <p:nvSpPr>
              <p:cNvPr id="66" name="橢圓 65">
                <a:extLst>
                  <a:ext uri="{FF2B5EF4-FFF2-40B4-BE49-F238E27FC236}">
                    <a16:creationId xmlns:a16="http://schemas.microsoft.com/office/drawing/2014/main" id="{D1F5298D-844D-4314-9D3F-242876FA3760}"/>
                  </a:ext>
                </a:extLst>
              </p:cNvPr>
              <p:cNvSpPr/>
              <p:nvPr/>
            </p:nvSpPr>
            <p:spPr>
              <a:xfrm>
                <a:off x="3913347" y="5961681"/>
                <a:ext cx="166329" cy="176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CADF2E67-2DBE-F338-0AA3-7367560D0AA0}"/>
                  </a:ext>
                </a:extLst>
              </p:cNvPr>
              <p:cNvSpPr txBox="1"/>
              <p:nvPr/>
            </p:nvSpPr>
            <p:spPr>
              <a:xfrm>
                <a:off x="3456453" y="6132138"/>
                <a:ext cx="1080119" cy="36933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(0,0,0)</a:t>
                </a:r>
                <a:endParaRPr lang="zh-TW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54" name="橢圓 53">
              <a:extLst>
                <a:ext uri="{FF2B5EF4-FFF2-40B4-BE49-F238E27FC236}">
                  <a16:creationId xmlns:a16="http://schemas.microsoft.com/office/drawing/2014/main" id="{0C9902FF-632F-0C6F-E9B5-4BD7F79DE215}"/>
                </a:ext>
              </a:extLst>
            </p:cNvPr>
            <p:cNvSpPr/>
            <p:nvPr/>
          </p:nvSpPr>
          <p:spPr>
            <a:xfrm>
              <a:off x="3911642" y="4295146"/>
              <a:ext cx="166329" cy="176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BC1F3299-5FFF-077D-A343-EDD84EF4A306}"/>
                </a:ext>
              </a:extLst>
            </p:cNvPr>
            <p:cNvSpPr txBox="1"/>
            <p:nvPr/>
          </p:nvSpPr>
          <p:spPr>
            <a:xfrm>
              <a:off x="3423640" y="3920792"/>
              <a:ext cx="1080119" cy="369332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(0,1,0)</a:t>
              </a:r>
              <a:endPara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56" name="群組 55">
              <a:extLst>
                <a:ext uri="{FF2B5EF4-FFF2-40B4-BE49-F238E27FC236}">
                  <a16:creationId xmlns:a16="http://schemas.microsoft.com/office/drawing/2014/main" id="{7DBF33DF-1663-62D5-82EA-C31173BAEA4B}"/>
                </a:ext>
              </a:extLst>
            </p:cNvPr>
            <p:cNvGrpSpPr/>
            <p:nvPr/>
          </p:nvGrpSpPr>
          <p:grpSpPr>
            <a:xfrm>
              <a:off x="4644008" y="5251635"/>
              <a:ext cx="1080119" cy="539789"/>
              <a:chOff x="4644008" y="5251635"/>
              <a:chExt cx="1080119" cy="539789"/>
            </a:xfrm>
          </p:grpSpPr>
          <p:sp>
            <p:nvSpPr>
              <p:cNvPr id="64" name="橢圓 63">
                <a:extLst>
                  <a:ext uri="{FF2B5EF4-FFF2-40B4-BE49-F238E27FC236}">
                    <a16:creationId xmlns:a16="http://schemas.microsoft.com/office/drawing/2014/main" id="{67133659-7401-AB7F-F543-A9275C924959}"/>
                  </a:ext>
                </a:extLst>
              </p:cNvPr>
              <p:cNvSpPr/>
              <p:nvPr/>
            </p:nvSpPr>
            <p:spPr>
              <a:xfrm>
                <a:off x="5100902" y="5251635"/>
                <a:ext cx="166329" cy="176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B7AE1152-CF67-34D8-E2CA-E06B34B05F25}"/>
                  </a:ext>
                </a:extLst>
              </p:cNvPr>
              <p:cNvSpPr txBox="1"/>
              <p:nvPr/>
            </p:nvSpPr>
            <p:spPr>
              <a:xfrm>
                <a:off x="4644008" y="5422092"/>
                <a:ext cx="1080119" cy="36933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(0,0,1)</a:t>
                </a:r>
                <a:endParaRPr lang="zh-TW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57" name="橢圓 56">
              <a:extLst>
                <a:ext uri="{FF2B5EF4-FFF2-40B4-BE49-F238E27FC236}">
                  <a16:creationId xmlns:a16="http://schemas.microsoft.com/office/drawing/2014/main" id="{2AB579ED-DC45-0DD9-F01C-3C640E49B1E8}"/>
                </a:ext>
              </a:extLst>
            </p:cNvPr>
            <p:cNvSpPr/>
            <p:nvPr/>
          </p:nvSpPr>
          <p:spPr>
            <a:xfrm>
              <a:off x="5100902" y="3637176"/>
              <a:ext cx="166329" cy="176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75F5F6C4-3938-4D86-5A5E-FDAF29E98B75}"/>
                </a:ext>
              </a:extLst>
            </p:cNvPr>
            <p:cNvSpPr txBox="1"/>
            <p:nvPr/>
          </p:nvSpPr>
          <p:spPr>
            <a:xfrm>
              <a:off x="4644008" y="3256019"/>
              <a:ext cx="1080119" cy="369332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(0,1,1)</a:t>
              </a:r>
              <a:endPara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4825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363292-EA0C-8693-3EAF-4A892F156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Vector3 </a:t>
            </a:r>
            <a:r>
              <a:rPr lang="zh-TW" altLang="en-US" dirty="0"/>
              <a:t> </a:t>
            </a:r>
            <a:r>
              <a:rPr lang="en-US" altLang="zh-TW" dirty="0"/>
              <a:t>(3</a:t>
            </a:r>
            <a:r>
              <a:rPr lang="zh-TW" altLang="en-US" dirty="0"/>
              <a:t>維向量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4861CF-D99C-9059-DE11-B94799F5F407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r>
              <a:rPr lang="zh-TW" altLang="en-US" dirty="0"/>
              <a:t>在 </a:t>
            </a:r>
            <a:r>
              <a:rPr lang="en-US" altLang="zh-TW" dirty="0"/>
              <a:t>3D </a:t>
            </a:r>
            <a:r>
              <a:rPr lang="zh-TW" altLang="en-US" dirty="0"/>
              <a:t>空間中表示一個點或方向</a:t>
            </a:r>
            <a:endParaRPr lang="en-US" altLang="zh-TW" dirty="0"/>
          </a:p>
          <a:p>
            <a:r>
              <a:rPr lang="en-US" altLang="zh-TW" dirty="0"/>
              <a:t>Vector3 (</a:t>
            </a:r>
            <a:r>
              <a:rPr lang="en-US" altLang="zh-TW" dirty="0" err="1"/>
              <a:t>x,y,z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  <p:sp>
        <p:nvSpPr>
          <p:cNvPr id="37" name="內容版面配置區 2">
            <a:extLst>
              <a:ext uri="{FF2B5EF4-FFF2-40B4-BE49-F238E27FC236}">
                <a16:creationId xmlns:a16="http://schemas.microsoft.com/office/drawing/2014/main" id="{2D5AD4D8-5B3E-3955-6E78-EE7F39BB2C8A}"/>
              </a:ext>
            </a:extLst>
          </p:cNvPr>
          <p:cNvSpPr txBox="1">
            <a:spLocks/>
          </p:cNvSpPr>
          <p:nvPr/>
        </p:nvSpPr>
        <p:spPr>
          <a:xfrm>
            <a:off x="3087709" y="4612112"/>
            <a:ext cx="2098576" cy="162628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en-US" altLang="zh-TW">
                <a:solidFill>
                  <a:srgbClr val="FF0000"/>
                </a:solidFill>
              </a:rPr>
              <a:t>(0,1,0)</a:t>
            </a:r>
          </a:p>
          <a:p>
            <a:pPr marL="109728" indent="0">
              <a:buFont typeface="Georgia"/>
              <a:buNone/>
            </a:pPr>
            <a:r>
              <a:rPr lang="en-US" altLang="zh-TW">
                <a:solidFill>
                  <a:srgbClr val="0070C0"/>
                </a:solidFill>
              </a:rPr>
              <a:t>(0,0,1)</a:t>
            </a:r>
          </a:p>
          <a:p>
            <a:pPr marL="109728" indent="0">
              <a:buFont typeface="Georgia"/>
              <a:buNone/>
            </a:pPr>
            <a:r>
              <a:rPr lang="en-US" altLang="zh-TW">
                <a:solidFill>
                  <a:srgbClr val="00B050"/>
                </a:solidFill>
              </a:rPr>
              <a:t>(0,1,1)</a:t>
            </a:r>
          </a:p>
          <a:p>
            <a:endParaRPr lang="zh-TW" altLang="en-US" dirty="0"/>
          </a:p>
        </p:txBody>
      </p: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0D927671-2176-4EF7-7609-BDD753B6CD18}"/>
              </a:ext>
            </a:extLst>
          </p:cNvPr>
          <p:cNvGrpSpPr/>
          <p:nvPr/>
        </p:nvGrpSpPr>
        <p:grpSpPr>
          <a:xfrm>
            <a:off x="5220072" y="3449247"/>
            <a:ext cx="3021144" cy="3245451"/>
            <a:chOff x="3423640" y="3256019"/>
            <a:chExt cx="3021144" cy="3245451"/>
          </a:xfrm>
        </p:grpSpPr>
        <p:grpSp>
          <p:nvGrpSpPr>
            <p:cNvPr id="39" name="群組 38">
              <a:extLst>
                <a:ext uri="{FF2B5EF4-FFF2-40B4-BE49-F238E27FC236}">
                  <a16:creationId xmlns:a16="http://schemas.microsoft.com/office/drawing/2014/main" id="{B27D57DD-5F7D-7658-3EC6-14CC5140139F}"/>
                </a:ext>
              </a:extLst>
            </p:cNvPr>
            <p:cNvGrpSpPr/>
            <p:nvPr/>
          </p:nvGrpSpPr>
          <p:grpSpPr>
            <a:xfrm>
              <a:off x="3758177" y="3429000"/>
              <a:ext cx="2686607" cy="2751029"/>
              <a:chOff x="3758177" y="3429000"/>
              <a:chExt cx="2686607" cy="2751029"/>
            </a:xfrm>
          </p:grpSpPr>
          <p:cxnSp>
            <p:nvCxnSpPr>
              <p:cNvPr id="55" name="直線單箭頭接點 54">
                <a:extLst>
                  <a:ext uri="{FF2B5EF4-FFF2-40B4-BE49-F238E27FC236}">
                    <a16:creationId xmlns:a16="http://schemas.microsoft.com/office/drawing/2014/main" id="{C2EFD3A3-011B-0CDE-525F-174F2A37AB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96513" y="6024657"/>
                <a:ext cx="2209935" cy="20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線單箭頭接點 55">
                <a:extLst>
                  <a:ext uri="{FF2B5EF4-FFF2-40B4-BE49-F238E27FC236}">
                    <a16:creationId xmlns:a16="http://schemas.microsoft.com/office/drawing/2014/main" id="{D3856A92-5835-6D0B-BEA9-A601DAA331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0113" y="3866481"/>
                <a:ext cx="0" cy="21786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線單箭頭接點 56">
                <a:extLst>
                  <a:ext uri="{FF2B5EF4-FFF2-40B4-BE49-F238E27FC236}">
                    <a16:creationId xmlns:a16="http://schemas.microsoft.com/office/drawing/2014/main" id="{DC3714CE-0131-6C00-C6A0-5046862503A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96513" y="4955824"/>
                <a:ext cx="1800200" cy="108934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5207E4FD-6FED-3C5A-6381-856D0585E060}"/>
                  </a:ext>
                </a:extLst>
              </p:cNvPr>
              <p:cNvSpPr txBox="1"/>
              <p:nvPr/>
            </p:nvSpPr>
            <p:spPr>
              <a:xfrm>
                <a:off x="6206448" y="5810697"/>
                <a:ext cx="238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x</a:t>
                </a:r>
                <a:endParaRPr lang="zh-TW" altLang="en-US" dirty="0"/>
              </a:p>
            </p:txBody>
          </p:sp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58606FC8-4E66-A38B-8360-B7347BA926C4}"/>
                  </a:ext>
                </a:extLst>
              </p:cNvPr>
              <p:cNvSpPr txBox="1"/>
              <p:nvPr/>
            </p:nvSpPr>
            <p:spPr>
              <a:xfrm>
                <a:off x="3758177" y="3429000"/>
                <a:ext cx="238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y</a:t>
                </a:r>
                <a:endParaRPr lang="zh-TW" altLang="en-US" dirty="0"/>
              </a:p>
            </p:txBody>
          </p:sp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57992D7F-6E18-1532-9E1B-072FA73CC259}"/>
                  </a:ext>
                </a:extLst>
              </p:cNvPr>
              <p:cNvSpPr txBox="1"/>
              <p:nvPr/>
            </p:nvSpPr>
            <p:spPr>
              <a:xfrm>
                <a:off x="5790708" y="4649277"/>
                <a:ext cx="238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z</a:t>
                </a:r>
                <a:endParaRPr lang="zh-TW" altLang="en-US" dirty="0"/>
              </a:p>
            </p:txBody>
          </p:sp>
        </p:grpSp>
        <p:grpSp>
          <p:nvGrpSpPr>
            <p:cNvPr id="40" name="群組 39">
              <a:extLst>
                <a:ext uri="{FF2B5EF4-FFF2-40B4-BE49-F238E27FC236}">
                  <a16:creationId xmlns:a16="http://schemas.microsoft.com/office/drawing/2014/main" id="{C4963C2E-4329-7CAF-87B1-91C5E77DBB96}"/>
                </a:ext>
              </a:extLst>
            </p:cNvPr>
            <p:cNvGrpSpPr/>
            <p:nvPr/>
          </p:nvGrpSpPr>
          <p:grpSpPr>
            <a:xfrm>
              <a:off x="3456453" y="5961681"/>
              <a:ext cx="1080119" cy="539789"/>
              <a:chOff x="3456453" y="5961681"/>
              <a:chExt cx="1080119" cy="539789"/>
            </a:xfrm>
          </p:grpSpPr>
          <p:sp>
            <p:nvSpPr>
              <p:cNvPr id="53" name="橢圓 52">
                <a:extLst>
                  <a:ext uri="{FF2B5EF4-FFF2-40B4-BE49-F238E27FC236}">
                    <a16:creationId xmlns:a16="http://schemas.microsoft.com/office/drawing/2014/main" id="{76A9615E-6209-E3DB-B2A7-90910F5A410D}"/>
                  </a:ext>
                </a:extLst>
              </p:cNvPr>
              <p:cNvSpPr/>
              <p:nvPr/>
            </p:nvSpPr>
            <p:spPr>
              <a:xfrm>
                <a:off x="3913347" y="5961681"/>
                <a:ext cx="166329" cy="176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7023E83F-ED3F-9F32-A5FB-562D20D77E8C}"/>
                  </a:ext>
                </a:extLst>
              </p:cNvPr>
              <p:cNvSpPr txBox="1"/>
              <p:nvPr/>
            </p:nvSpPr>
            <p:spPr>
              <a:xfrm>
                <a:off x="3456453" y="6132138"/>
                <a:ext cx="1080119" cy="36933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(0,0,0)</a:t>
                </a:r>
                <a:endParaRPr lang="zh-TW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1DD8D9CB-B655-F2A6-93B9-B279596BE637}"/>
                </a:ext>
              </a:extLst>
            </p:cNvPr>
            <p:cNvSpPr/>
            <p:nvPr/>
          </p:nvSpPr>
          <p:spPr>
            <a:xfrm>
              <a:off x="3911642" y="4295146"/>
              <a:ext cx="166329" cy="176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CF2E37B5-A270-2E5A-F908-35881184B759}"/>
                </a:ext>
              </a:extLst>
            </p:cNvPr>
            <p:cNvSpPr txBox="1"/>
            <p:nvPr/>
          </p:nvSpPr>
          <p:spPr>
            <a:xfrm>
              <a:off x="3423640" y="3920792"/>
              <a:ext cx="1080119" cy="369332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(0,1,0)</a:t>
              </a:r>
              <a:endPara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43" name="群組 42">
              <a:extLst>
                <a:ext uri="{FF2B5EF4-FFF2-40B4-BE49-F238E27FC236}">
                  <a16:creationId xmlns:a16="http://schemas.microsoft.com/office/drawing/2014/main" id="{B5552FE8-77F8-D353-F020-2F58D228B213}"/>
                </a:ext>
              </a:extLst>
            </p:cNvPr>
            <p:cNvGrpSpPr/>
            <p:nvPr/>
          </p:nvGrpSpPr>
          <p:grpSpPr>
            <a:xfrm>
              <a:off x="4644008" y="5251635"/>
              <a:ext cx="1080119" cy="539789"/>
              <a:chOff x="4644008" y="5251635"/>
              <a:chExt cx="1080119" cy="539789"/>
            </a:xfrm>
          </p:grpSpPr>
          <p:sp>
            <p:nvSpPr>
              <p:cNvPr id="51" name="橢圓 50">
                <a:extLst>
                  <a:ext uri="{FF2B5EF4-FFF2-40B4-BE49-F238E27FC236}">
                    <a16:creationId xmlns:a16="http://schemas.microsoft.com/office/drawing/2014/main" id="{0516AF54-F584-2F3B-5184-4EE613C5CBD0}"/>
                  </a:ext>
                </a:extLst>
              </p:cNvPr>
              <p:cNvSpPr/>
              <p:nvPr/>
            </p:nvSpPr>
            <p:spPr>
              <a:xfrm>
                <a:off x="5100902" y="5251635"/>
                <a:ext cx="166329" cy="176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07E11A71-A11D-7277-2CBC-A02114E74586}"/>
                  </a:ext>
                </a:extLst>
              </p:cNvPr>
              <p:cNvSpPr txBox="1"/>
              <p:nvPr/>
            </p:nvSpPr>
            <p:spPr>
              <a:xfrm>
                <a:off x="4644008" y="5422092"/>
                <a:ext cx="1080119" cy="36933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(0,0,1)</a:t>
                </a:r>
                <a:endParaRPr lang="zh-TW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44" name="橢圓 43">
              <a:extLst>
                <a:ext uri="{FF2B5EF4-FFF2-40B4-BE49-F238E27FC236}">
                  <a16:creationId xmlns:a16="http://schemas.microsoft.com/office/drawing/2014/main" id="{F4B92410-4382-76EB-2D24-D00BBF701459}"/>
                </a:ext>
              </a:extLst>
            </p:cNvPr>
            <p:cNvSpPr/>
            <p:nvPr/>
          </p:nvSpPr>
          <p:spPr>
            <a:xfrm>
              <a:off x="5100902" y="3637176"/>
              <a:ext cx="166329" cy="176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文字方塊 44">
              <a:extLst>
                <a:ext uri="{FF2B5EF4-FFF2-40B4-BE49-F238E27FC236}">
                  <a16:creationId xmlns:a16="http://schemas.microsoft.com/office/drawing/2014/main" id="{BB0658E9-8195-8666-672E-6F9EAE6C00CD}"/>
                </a:ext>
              </a:extLst>
            </p:cNvPr>
            <p:cNvSpPr txBox="1"/>
            <p:nvPr/>
          </p:nvSpPr>
          <p:spPr>
            <a:xfrm>
              <a:off x="4644008" y="3256019"/>
              <a:ext cx="1080119" cy="369332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(0,1,1)</a:t>
              </a:r>
              <a:endPara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46" name="直線單箭頭接點 45">
              <a:extLst>
                <a:ext uri="{FF2B5EF4-FFF2-40B4-BE49-F238E27FC236}">
                  <a16:creationId xmlns:a16="http://schemas.microsoft.com/office/drawing/2014/main" id="{B9B8C64A-0EF7-F826-6F28-709443E3B17E}"/>
                </a:ext>
              </a:extLst>
            </p:cNvPr>
            <p:cNvCxnSpPr/>
            <p:nvPr/>
          </p:nvCxnSpPr>
          <p:spPr>
            <a:xfrm flipV="1">
              <a:off x="3994806" y="4471546"/>
              <a:ext cx="0" cy="1482861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7" name="直線單箭頭接點 46">
              <a:extLst>
                <a:ext uri="{FF2B5EF4-FFF2-40B4-BE49-F238E27FC236}">
                  <a16:creationId xmlns:a16="http://schemas.microsoft.com/office/drawing/2014/main" id="{86C766E7-765A-C47B-76E1-B2CA93882E11}"/>
                </a:ext>
              </a:extLst>
            </p:cNvPr>
            <p:cNvCxnSpPr/>
            <p:nvPr/>
          </p:nvCxnSpPr>
          <p:spPr>
            <a:xfrm flipV="1">
              <a:off x="5184066" y="3768774"/>
              <a:ext cx="0" cy="1482861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8" name="直線單箭頭接點 47">
              <a:extLst>
                <a:ext uri="{FF2B5EF4-FFF2-40B4-BE49-F238E27FC236}">
                  <a16:creationId xmlns:a16="http://schemas.microsoft.com/office/drawing/2014/main" id="{B0460157-9A9F-DF47-84D2-B4BAD86103D9}"/>
                </a:ext>
              </a:extLst>
            </p:cNvPr>
            <p:cNvCxnSpPr>
              <a:cxnSpLocks/>
              <a:stCxn id="41" idx="6"/>
              <a:endCxn id="44" idx="3"/>
            </p:cNvCxnSpPr>
            <p:nvPr/>
          </p:nvCxnSpPr>
          <p:spPr>
            <a:xfrm flipV="1">
              <a:off x="4077971" y="3787743"/>
              <a:ext cx="1047289" cy="595603"/>
            </a:xfrm>
            <a:prstGeom prst="straightConnector1">
              <a:avLst/>
            </a:prstGeom>
            <a:ln w="57150">
              <a:solidFill>
                <a:srgbClr val="00B0F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9" name="直線單箭頭接點 48">
              <a:extLst>
                <a:ext uri="{FF2B5EF4-FFF2-40B4-BE49-F238E27FC236}">
                  <a16:creationId xmlns:a16="http://schemas.microsoft.com/office/drawing/2014/main" id="{8B2A6748-0C81-730B-FB35-B193497D7D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0187" y="5398001"/>
              <a:ext cx="1047289" cy="595603"/>
            </a:xfrm>
            <a:prstGeom prst="straightConnector1">
              <a:avLst/>
            </a:prstGeom>
            <a:ln w="57150">
              <a:solidFill>
                <a:srgbClr val="00B0F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0" name="直線單箭頭接點 49">
              <a:extLst>
                <a:ext uri="{FF2B5EF4-FFF2-40B4-BE49-F238E27FC236}">
                  <a16:creationId xmlns:a16="http://schemas.microsoft.com/office/drawing/2014/main" id="{0BAF73B6-60A1-BC34-05F0-5F821DF5EA26}"/>
                </a:ext>
              </a:extLst>
            </p:cNvPr>
            <p:cNvCxnSpPr>
              <a:cxnSpLocks/>
              <a:stCxn id="53" idx="7"/>
            </p:cNvCxnSpPr>
            <p:nvPr/>
          </p:nvCxnSpPr>
          <p:spPr>
            <a:xfrm flipV="1">
              <a:off x="4055318" y="3866481"/>
              <a:ext cx="1088570" cy="2121033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31166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3FF3D0-5F45-0035-064A-C15A52D68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Vector3</a:t>
            </a:r>
            <a:r>
              <a:rPr lang="zh-TW" altLang="en-US" dirty="0"/>
              <a:t>的加法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5B4424C-8ABF-0BDE-EF7B-F8F9E06E2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7709" y="4612112"/>
            <a:ext cx="2098576" cy="1626284"/>
          </a:xfrm>
        </p:spPr>
        <p:txBody>
          <a:bodyPr/>
          <a:lstStyle/>
          <a:p>
            <a:pPr marL="109728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(0,1,0)</a:t>
            </a:r>
          </a:p>
          <a:p>
            <a:pPr marL="109728" indent="0">
              <a:buNone/>
            </a:pPr>
            <a:r>
              <a:rPr lang="en-US" altLang="zh-TW" dirty="0">
                <a:solidFill>
                  <a:srgbClr val="0070C0"/>
                </a:solidFill>
              </a:rPr>
              <a:t>(0,0,1)</a:t>
            </a:r>
          </a:p>
          <a:p>
            <a:pPr marL="109728" indent="0">
              <a:buNone/>
            </a:pPr>
            <a:r>
              <a:rPr lang="en-US" altLang="zh-TW" dirty="0">
                <a:solidFill>
                  <a:srgbClr val="00B050"/>
                </a:solidFill>
              </a:rPr>
              <a:t>(0,1,1)</a:t>
            </a:r>
          </a:p>
          <a:p>
            <a:endParaRPr lang="zh-TW" altLang="en-US" dirty="0"/>
          </a:p>
        </p:txBody>
      </p: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5B735D54-CEA2-B8E0-F3CF-E01DB34C47E4}"/>
              </a:ext>
            </a:extLst>
          </p:cNvPr>
          <p:cNvGrpSpPr/>
          <p:nvPr/>
        </p:nvGrpSpPr>
        <p:grpSpPr>
          <a:xfrm>
            <a:off x="5220072" y="3449247"/>
            <a:ext cx="3021144" cy="3245451"/>
            <a:chOff x="3423640" y="3256019"/>
            <a:chExt cx="3021144" cy="3245451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5CB5A5B7-239B-2762-0ACC-AFF90D8EBF12}"/>
                </a:ext>
              </a:extLst>
            </p:cNvPr>
            <p:cNvGrpSpPr/>
            <p:nvPr/>
          </p:nvGrpSpPr>
          <p:grpSpPr>
            <a:xfrm>
              <a:off x="3758177" y="3429000"/>
              <a:ext cx="2686607" cy="2751029"/>
              <a:chOff x="3758177" y="3429000"/>
              <a:chExt cx="2686607" cy="2751029"/>
            </a:xfrm>
          </p:grpSpPr>
          <p:cxnSp>
            <p:nvCxnSpPr>
              <p:cNvPr id="27" name="直線單箭頭接點 26">
                <a:extLst>
                  <a:ext uri="{FF2B5EF4-FFF2-40B4-BE49-F238E27FC236}">
                    <a16:creationId xmlns:a16="http://schemas.microsoft.com/office/drawing/2014/main" id="{93D8B472-2DD5-0539-65A0-7298DB6AAD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96513" y="6024657"/>
                <a:ext cx="2209935" cy="20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線單箭頭接點 27">
                <a:extLst>
                  <a:ext uri="{FF2B5EF4-FFF2-40B4-BE49-F238E27FC236}">
                    <a16:creationId xmlns:a16="http://schemas.microsoft.com/office/drawing/2014/main" id="{9979C8FF-5B91-AA23-0981-CC764196452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0113" y="3866481"/>
                <a:ext cx="0" cy="21786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線單箭頭接點 28">
                <a:extLst>
                  <a:ext uri="{FF2B5EF4-FFF2-40B4-BE49-F238E27FC236}">
                    <a16:creationId xmlns:a16="http://schemas.microsoft.com/office/drawing/2014/main" id="{AE2C9F7E-EB8C-899C-A755-BB42C93EAF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96513" y="4955824"/>
                <a:ext cx="1800200" cy="108934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5661B4FF-E56C-6117-2C92-D50E9D4B430B}"/>
                  </a:ext>
                </a:extLst>
              </p:cNvPr>
              <p:cNvSpPr txBox="1"/>
              <p:nvPr/>
            </p:nvSpPr>
            <p:spPr>
              <a:xfrm>
                <a:off x="6206448" y="5810697"/>
                <a:ext cx="238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x</a:t>
                </a:r>
                <a:endParaRPr lang="zh-TW" altLang="en-US" dirty="0"/>
              </a:p>
            </p:txBody>
          </p:sp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1223FB47-F7F9-1FE1-53AC-EC8B62843516}"/>
                  </a:ext>
                </a:extLst>
              </p:cNvPr>
              <p:cNvSpPr txBox="1"/>
              <p:nvPr/>
            </p:nvSpPr>
            <p:spPr>
              <a:xfrm>
                <a:off x="3758177" y="3429000"/>
                <a:ext cx="238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y</a:t>
                </a:r>
                <a:endParaRPr lang="zh-TW" altLang="en-US" dirty="0"/>
              </a:p>
            </p:txBody>
          </p:sp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C0EBB338-1530-A02A-0531-F9A12CA128F5}"/>
                  </a:ext>
                </a:extLst>
              </p:cNvPr>
              <p:cNvSpPr txBox="1"/>
              <p:nvPr/>
            </p:nvSpPr>
            <p:spPr>
              <a:xfrm>
                <a:off x="5790708" y="4649277"/>
                <a:ext cx="238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z</a:t>
                </a:r>
                <a:endParaRPr lang="zh-TW" altLang="en-US" dirty="0"/>
              </a:p>
            </p:txBody>
          </p:sp>
        </p:grpSp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2F6295CF-4623-BD7C-A225-BBB3614C4F98}"/>
                </a:ext>
              </a:extLst>
            </p:cNvPr>
            <p:cNvGrpSpPr/>
            <p:nvPr/>
          </p:nvGrpSpPr>
          <p:grpSpPr>
            <a:xfrm>
              <a:off x="3456453" y="5961681"/>
              <a:ext cx="1080119" cy="539789"/>
              <a:chOff x="3456453" y="5961681"/>
              <a:chExt cx="1080119" cy="539789"/>
            </a:xfrm>
          </p:grpSpPr>
          <p:sp>
            <p:nvSpPr>
              <p:cNvPr id="34" name="橢圓 33">
                <a:extLst>
                  <a:ext uri="{FF2B5EF4-FFF2-40B4-BE49-F238E27FC236}">
                    <a16:creationId xmlns:a16="http://schemas.microsoft.com/office/drawing/2014/main" id="{106E9078-AF7B-0017-0C44-00F1B2E85A19}"/>
                  </a:ext>
                </a:extLst>
              </p:cNvPr>
              <p:cNvSpPr/>
              <p:nvPr/>
            </p:nvSpPr>
            <p:spPr>
              <a:xfrm>
                <a:off x="3913347" y="5961681"/>
                <a:ext cx="166329" cy="176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E9D9A4D3-906B-4799-D086-2C0E7FB49EA2}"/>
                  </a:ext>
                </a:extLst>
              </p:cNvPr>
              <p:cNvSpPr txBox="1"/>
              <p:nvPr/>
            </p:nvSpPr>
            <p:spPr>
              <a:xfrm>
                <a:off x="3456453" y="6132138"/>
                <a:ext cx="1080119" cy="36933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(0,0,0)</a:t>
                </a:r>
                <a:endParaRPr lang="zh-TW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36" name="橢圓 35">
              <a:extLst>
                <a:ext uri="{FF2B5EF4-FFF2-40B4-BE49-F238E27FC236}">
                  <a16:creationId xmlns:a16="http://schemas.microsoft.com/office/drawing/2014/main" id="{539CD196-C9A2-F011-CCD2-9BB24C32833C}"/>
                </a:ext>
              </a:extLst>
            </p:cNvPr>
            <p:cNvSpPr/>
            <p:nvPr/>
          </p:nvSpPr>
          <p:spPr>
            <a:xfrm>
              <a:off x="3911642" y="4295146"/>
              <a:ext cx="166329" cy="176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41171A48-7F45-F0CF-121F-744F29A36556}"/>
                </a:ext>
              </a:extLst>
            </p:cNvPr>
            <p:cNvSpPr txBox="1"/>
            <p:nvPr/>
          </p:nvSpPr>
          <p:spPr>
            <a:xfrm>
              <a:off x="3423640" y="3920792"/>
              <a:ext cx="1080119" cy="369332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(0,1,0)</a:t>
              </a:r>
              <a:endPara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1BE4A581-0393-FED7-9807-534259DEA0CE}"/>
                </a:ext>
              </a:extLst>
            </p:cNvPr>
            <p:cNvGrpSpPr/>
            <p:nvPr/>
          </p:nvGrpSpPr>
          <p:grpSpPr>
            <a:xfrm>
              <a:off x="4644008" y="5251635"/>
              <a:ext cx="1080119" cy="539789"/>
              <a:chOff x="4644008" y="5251635"/>
              <a:chExt cx="1080119" cy="539789"/>
            </a:xfrm>
          </p:grpSpPr>
          <p:sp>
            <p:nvSpPr>
              <p:cNvPr id="39" name="橢圓 38">
                <a:extLst>
                  <a:ext uri="{FF2B5EF4-FFF2-40B4-BE49-F238E27FC236}">
                    <a16:creationId xmlns:a16="http://schemas.microsoft.com/office/drawing/2014/main" id="{9310F362-84A7-5B78-A775-D477B176BDE3}"/>
                  </a:ext>
                </a:extLst>
              </p:cNvPr>
              <p:cNvSpPr/>
              <p:nvPr/>
            </p:nvSpPr>
            <p:spPr>
              <a:xfrm>
                <a:off x="5100902" y="5251635"/>
                <a:ext cx="166329" cy="176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F9BF407A-26F5-7120-704B-050DC0C3EAC0}"/>
                  </a:ext>
                </a:extLst>
              </p:cNvPr>
              <p:cNvSpPr txBox="1"/>
              <p:nvPr/>
            </p:nvSpPr>
            <p:spPr>
              <a:xfrm>
                <a:off x="4644008" y="5422092"/>
                <a:ext cx="1080119" cy="36933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(0,0,1)</a:t>
                </a:r>
                <a:endParaRPr lang="zh-TW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25E8CE5F-7967-B6EA-0010-9ABD9707D372}"/>
                </a:ext>
              </a:extLst>
            </p:cNvPr>
            <p:cNvSpPr/>
            <p:nvPr/>
          </p:nvSpPr>
          <p:spPr>
            <a:xfrm>
              <a:off x="5100902" y="3637176"/>
              <a:ext cx="166329" cy="176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7C384830-44CB-7006-9B1B-53239CAD2BFD}"/>
                </a:ext>
              </a:extLst>
            </p:cNvPr>
            <p:cNvSpPr txBox="1"/>
            <p:nvPr/>
          </p:nvSpPr>
          <p:spPr>
            <a:xfrm>
              <a:off x="4644008" y="3256019"/>
              <a:ext cx="1080119" cy="369332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(0,1,1)</a:t>
              </a:r>
              <a:endPara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43" name="直線單箭頭接點 42">
              <a:extLst>
                <a:ext uri="{FF2B5EF4-FFF2-40B4-BE49-F238E27FC236}">
                  <a16:creationId xmlns:a16="http://schemas.microsoft.com/office/drawing/2014/main" id="{4D2994E1-6643-D95E-903E-A44088309B4D}"/>
                </a:ext>
              </a:extLst>
            </p:cNvPr>
            <p:cNvCxnSpPr/>
            <p:nvPr/>
          </p:nvCxnSpPr>
          <p:spPr>
            <a:xfrm flipV="1">
              <a:off x="3994806" y="4471546"/>
              <a:ext cx="0" cy="1482861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4" name="直線單箭頭接點 43">
              <a:extLst>
                <a:ext uri="{FF2B5EF4-FFF2-40B4-BE49-F238E27FC236}">
                  <a16:creationId xmlns:a16="http://schemas.microsoft.com/office/drawing/2014/main" id="{012D4954-4CF3-0E05-D147-E8083BB40CB6}"/>
                </a:ext>
              </a:extLst>
            </p:cNvPr>
            <p:cNvCxnSpPr/>
            <p:nvPr/>
          </p:nvCxnSpPr>
          <p:spPr>
            <a:xfrm flipV="1">
              <a:off x="5184066" y="3768774"/>
              <a:ext cx="0" cy="1482861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5" name="直線單箭頭接點 44">
              <a:extLst>
                <a:ext uri="{FF2B5EF4-FFF2-40B4-BE49-F238E27FC236}">
                  <a16:creationId xmlns:a16="http://schemas.microsoft.com/office/drawing/2014/main" id="{BA1E294C-A28D-8E02-243A-4AF091DD8A70}"/>
                </a:ext>
              </a:extLst>
            </p:cNvPr>
            <p:cNvCxnSpPr>
              <a:cxnSpLocks/>
              <a:stCxn id="36" idx="6"/>
              <a:endCxn id="41" idx="3"/>
            </p:cNvCxnSpPr>
            <p:nvPr/>
          </p:nvCxnSpPr>
          <p:spPr>
            <a:xfrm flipV="1">
              <a:off x="4077971" y="3787743"/>
              <a:ext cx="1047289" cy="595603"/>
            </a:xfrm>
            <a:prstGeom prst="straightConnector1">
              <a:avLst/>
            </a:prstGeom>
            <a:ln w="57150">
              <a:solidFill>
                <a:srgbClr val="00B0F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6" name="直線單箭頭接點 45">
              <a:extLst>
                <a:ext uri="{FF2B5EF4-FFF2-40B4-BE49-F238E27FC236}">
                  <a16:creationId xmlns:a16="http://schemas.microsoft.com/office/drawing/2014/main" id="{D56B932A-5A91-859B-557F-7231C20866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0187" y="5398001"/>
              <a:ext cx="1047289" cy="595603"/>
            </a:xfrm>
            <a:prstGeom prst="straightConnector1">
              <a:avLst/>
            </a:prstGeom>
            <a:ln w="57150">
              <a:solidFill>
                <a:srgbClr val="00B0F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7" name="直線單箭頭接點 46">
              <a:extLst>
                <a:ext uri="{FF2B5EF4-FFF2-40B4-BE49-F238E27FC236}">
                  <a16:creationId xmlns:a16="http://schemas.microsoft.com/office/drawing/2014/main" id="{FBCE0D4D-CE16-C1BA-2A5F-4F0CE6AB2AA9}"/>
                </a:ext>
              </a:extLst>
            </p:cNvPr>
            <p:cNvCxnSpPr>
              <a:cxnSpLocks/>
              <a:stCxn id="34" idx="7"/>
            </p:cNvCxnSpPr>
            <p:nvPr/>
          </p:nvCxnSpPr>
          <p:spPr>
            <a:xfrm flipV="1">
              <a:off x="4055318" y="3866481"/>
              <a:ext cx="1088570" cy="2121033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52" name="內容版面配置區 2">
            <a:extLst>
              <a:ext uri="{FF2B5EF4-FFF2-40B4-BE49-F238E27FC236}">
                <a16:creationId xmlns:a16="http://schemas.microsoft.com/office/drawing/2014/main" id="{93FB9A5C-00BE-31CB-5F15-8EC0C7F955DF}"/>
              </a:ext>
            </a:extLst>
          </p:cNvPr>
          <p:cNvSpPr txBox="1">
            <a:spLocks/>
          </p:cNvSpPr>
          <p:nvPr/>
        </p:nvSpPr>
        <p:spPr>
          <a:xfrm>
            <a:off x="457200" y="2249424"/>
            <a:ext cx="8229600" cy="4325112"/>
          </a:xfrm>
          <a:prstGeom prst="rect">
            <a:avLst/>
          </a:prstGeom>
          <a:ln>
            <a:noFill/>
          </a:ln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向量相加：平行四邊形法</a:t>
            </a:r>
            <a:endParaRPr lang="en-US" altLang="zh-TW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(0,1,0)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+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0070C0"/>
                </a:solidFill>
              </a:rPr>
              <a:t>(0,0,1)</a:t>
            </a:r>
            <a:r>
              <a:rPr lang="zh-TW" altLang="en-US" dirty="0">
                <a:solidFill>
                  <a:srgbClr val="0070C0"/>
                </a:solidFill>
              </a:rPr>
              <a:t> 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=</a:t>
            </a:r>
            <a:r>
              <a:rPr lang="zh-TW" altLang="en-US" dirty="0">
                <a:solidFill>
                  <a:srgbClr val="0070C0"/>
                </a:solidFill>
              </a:rPr>
              <a:t> </a:t>
            </a:r>
            <a:r>
              <a:rPr lang="en-US" altLang="zh-TW" dirty="0">
                <a:solidFill>
                  <a:srgbClr val="00B050"/>
                </a:solidFill>
              </a:rPr>
              <a:t>(0,1,1)</a:t>
            </a:r>
          </a:p>
          <a:p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也可以視為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”</a:t>
            </a:r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移動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”</a:t>
            </a:r>
          </a:p>
          <a:p>
            <a:pPr lvl="1"/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(0,0,1)</a:t>
            </a:r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+</a:t>
            </a:r>
            <a:r>
              <a:rPr lang="en-US" altLang="zh-TW" dirty="0">
                <a:solidFill>
                  <a:srgbClr val="FF0000"/>
                </a:solidFill>
              </a:rPr>
              <a:t> (0,1,0)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=</a:t>
            </a:r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(0,1,1)</a:t>
            </a:r>
          </a:p>
          <a:p>
            <a:pPr marL="109728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	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205415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3FF3D0-5F45-0035-064A-C15A52D68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Vector3</a:t>
            </a:r>
            <a:r>
              <a:rPr lang="zh-TW" altLang="en-US" dirty="0"/>
              <a:t>與純數的乘法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5B4424C-8ABF-0BDE-EF7B-F8F9E06E2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5635" y="4444611"/>
            <a:ext cx="2098576" cy="1626284"/>
          </a:xfrm>
        </p:spPr>
        <p:txBody>
          <a:bodyPr/>
          <a:lstStyle/>
          <a:p>
            <a:pPr marL="109728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(0,1,0)</a:t>
            </a:r>
          </a:p>
          <a:p>
            <a:endParaRPr lang="zh-TW" altLang="en-US" dirty="0"/>
          </a:p>
        </p:txBody>
      </p: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5B735D54-CEA2-B8E0-F3CF-E01DB34C47E4}"/>
              </a:ext>
            </a:extLst>
          </p:cNvPr>
          <p:cNvGrpSpPr/>
          <p:nvPr/>
        </p:nvGrpSpPr>
        <p:grpSpPr>
          <a:xfrm>
            <a:off x="5508104" y="2469549"/>
            <a:ext cx="3021144" cy="3245451"/>
            <a:chOff x="3423640" y="3256019"/>
            <a:chExt cx="3021144" cy="3245451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5CB5A5B7-239B-2762-0ACC-AFF90D8EBF12}"/>
                </a:ext>
              </a:extLst>
            </p:cNvPr>
            <p:cNvGrpSpPr/>
            <p:nvPr/>
          </p:nvGrpSpPr>
          <p:grpSpPr>
            <a:xfrm>
              <a:off x="3758177" y="3429000"/>
              <a:ext cx="2686607" cy="2751029"/>
              <a:chOff x="3758177" y="3429000"/>
              <a:chExt cx="2686607" cy="2751029"/>
            </a:xfrm>
          </p:grpSpPr>
          <p:cxnSp>
            <p:nvCxnSpPr>
              <p:cNvPr id="27" name="直線單箭頭接點 26">
                <a:extLst>
                  <a:ext uri="{FF2B5EF4-FFF2-40B4-BE49-F238E27FC236}">
                    <a16:creationId xmlns:a16="http://schemas.microsoft.com/office/drawing/2014/main" id="{93D8B472-2DD5-0539-65A0-7298DB6AAD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96513" y="6024657"/>
                <a:ext cx="2209935" cy="20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線單箭頭接點 27">
                <a:extLst>
                  <a:ext uri="{FF2B5EF4-FFF2-40B4-BE49-F238E27FC236}">
                    <a16:creationId xmlns:a16="http://schemas.microsoft.com/office/drawing/2014/main" id="{9979C8FF-5B91-AA23-0981-CC764196452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0113" y="3866481"/>
                <a:ext cx="0" cy="21786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線單箭頭接點 28">
                <a:extLst>
                  <a:ext uri="{FF2B5EF4-FFF2-40B4-BE49-F238E27FC236}">
                    <a16:creationId xmlns:a16="http://schemas.microsoft.com/office/drawing/2014/main" id="{AE2C9F7E-EB8C-899C-A755-BB42C93EAF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96513" y="4955824"/>
                <a:ext cx="1800200" cy="108934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5661B4FF-E56C-6117-2C92-D50E9D4B430B}"/>
                  </a:ext>
                </a:extLst>
              </p:cNvPr>
              <p:cNvSpPr txBox="1"/>
              <p:nvPr/>
            </p:nvSpPr>
            <p:spPr>
              <a:xfrm>
                <a:off x="6206448" y="5810697"/>
                <a:ext cx="238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x</a:t>
                </a:r>
                <a:endParaRPr lang="zh-TW" altLang="en-US" dirty="0"/>
              </a:p>
            </p:txBody>
          </p:sp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1223FB47-F7F9-1FE1-53AC-EC8B62843516}"/>
                  </a:ext>
                </a:extLst>
              </p:cNvPr>
              <p:cNvSpPr txBox="1"/>
              <p:nvPr/>
            </p:nvSpPr>
            <p:spPr>
              <a:xfrm>
                <a:off x="3758177" y="3429000"/>
                <a:ext cx="238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y</a:t>
                </a:r>
                <a:endParaRPr lang="zh-TW" altLang="en-US" dirty="0"/>
              </a:p>
            </p:txBody>
          </p:sp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C0EBB338-1530-A02A-0531-F9A12CA128F5}"/>
                  </a:ext>
                </a:extLst>
              </p:cNvPr>
              <p:cNvSpPr txBox="1"/>
              <p:nvPr/>
            </p:nvSpPr>
            <p:spPr>
              <a:xfrm>
                <a:off x="5790708" y="4649277"/>
                <a:ext cx="238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z</a:t>
                </a:r>
                <a:endParaRPr lang="zh-TW" altLang="en-US" dirty="0"/>
              </a:p>
            </p:txBody>
          </p:sp>
        </p:grpSp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2F6295CF-4623-BD7C-A225-BBB3614C4F98}"/>
                </a:ext>
              </a:extLst>
            </p:cNvPr>
            <p:cNvGrpSpPr/>
            <p:nvPr/>
          </p:nvGrpSpPr>
          <p:grpSpPr>
            <a:xfrm>
              <a:off x="3456453" y="5961681"/>
              <a:ext cx="1080119" cy="539789"/>
              <a:chOff x="3456453" y="5961681"/>
              <a:chExt cx="1080119" cy="539789"/>
            </a:xfrm>
          </p:grpSpPr>
          <p:sp>
            <p:nvSpPr>
              <p:cNvPr id="34" name="橢圓 33">
                <a:extLst>
                  <a:ext uri="{FF2B5EF4-FFF2-40B4-BE49-F238E27FC236}">
                    <a16:creationId xmlns:a16="http://schemas.microsoft.com/office/drawing/2014/main" id="{106E9078-AF7B-0017-0C44-00F1B2E85A19}"/>
                  </a:ext>
                </a:extLst>
              </p:cNvPr>
              <p:cNvSpPr/>
              <p:nvPr/>
            </p:nvSpPr>
            <p:spPr>
              <a:xfrm>
                <a:off x="3913347" y="5961681"/>
                <a:ext cx="166329" cy="176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E9D9A4D3-906B-4799-D086-2C0E7FB49EA2}"/>
                  </a:ext>
                </a:extLst>
              </p:cNvPr>
              <p:cNvSpPr txBox="1"/>
              <p:nvPr/>
            </p:nvSpPr>
            <p:spPr>
              <a:xfrm>
                <a:off x="3456453" y="6132138"/>
                <a:ext cx="1080119" cy="36933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(0,0,0)</a:t>
                </a:r>
                <a:endParaRPr lang="zh-TW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36" name="橢圓 35">
              <a:extLst>
                <a:ext uri="{FF2B5EF4-FFF2-40B4-BE49-F238E27FC236}">
                  <a16:creationId xmlns:a16="http://schemas.microsoft.com/office/drawing/2014/main" id="{539CD196-C9A2-F011-CCD2-9BB24C32833C}"/>
                </a:ext>
              </a:extLst>
            </p:cNvPr>
            <p:cNvSpPr/>
            <p:nvPr/>
          </p:nvSpPr>
          <p:spPr>
            <a:xfrm>
              <a:off x="3911642" y="4295146"/>
              <a:ext cx="166329" cy="176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41171A48-7F45-F0CF-121F-744F29A36556}"/>
                </a:ext>
              </a:extLst>
            </p:cNvPr>
            <p:cNvSpPr txBox="1"/>
            <p:nvPr/>
          </p:nvSpPr>
          <p:spPr>
            <a:xfrm>
              <a:off x="3423640" y="3920792"/>
              <a:ext cx="1080119" cy="369332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(0,1,0)</a:t>
              </a:r>
              <a:endPara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1BE4A581-0393-FED7-9807-534259DEA0CE}"/>
                </a:ext>
              </a:extLst>
            </p:cNvPr>
            <p:cNvGrpSpPr/>
            <p:nvPr/>
          </p:nvGrpSpPr>
          <p:grpSpPr>
            <a:xfrm>
              <a:off x="4644008" y="5251635"/>
              <a:ext cx="1080119" cy="539789"/>
              <a:chOff x="4644008" y="5251635"/>
              <a:chExt cx="1080119" cy="539789"/>
            </a:xfrm>
          </p:grpSpPr>
          <p:sp>
            <p:nvSpPr>
              <p:cNvPr id="39" name="橢圓 38">
                <a:extLst>
                  <a:ext uri="{FF2B5EF4-FFF2-40B4-BE49-F238E27FC236}">
                    <a16:creationId xmlns:a16="http://schemas.microsoft.com/office/drawing/2014/main" id="{9310F362-84A7-5B78-A775-D477B176BDE3}"/>
                  </a:ext>
                </a:extLst>
              </p:cNvPr>
              <p:cNvSpPr/>
              <p:nvPr/>
            </p:nvSpPr>
            <p:spPr>
              <a:xfrm>
                <a:off x="5100902" y="5251635"/>
                <a:ext cx="166329" cy="176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F9BF407A-26F5-7120-704B-050DC0C3EAC0}"/>
                  </a:ext>
                </a:extLst>
              </p:cNvPr>
              <p:cNvSpPr txBox="1"/>
              <p:nvPr/>
            </p:nvSpPr>
            <p:spPr>
              <a:xfrm>
                <a:off x="4644008" y="5422092"/>
                <a:ext cx="1080119" cy="36933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(0,0,1)</a:t>
                </a:r>
                <a:endParaRPr lang="zh-TW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25E8CE5F-7967-B6EA-0010-9ABD9707D372}"/>
                </a:ext>
              </a:extLst>
            </p:cNvPr>
            <p:cNvSpPr/>
            <p:nvPr/>
          </p:nvSpPr>
          <p:spPr>
            <a:xfrm>
              <a:off x="5100902" y="3637176"/>
              <a:ext cx="166329" cy="176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7C384830-44CB-7006-9B1B-53239CAD2BFD}"/>
                </a:ext>
              </a:extLst>
            </p:cNvPr>
            <p:cNvSpPr txBox="1"/>
            <p:nvPr/>
          </p:nvSpPr>
          <p:spPr>
            <a:xfrm>
              <a:off x="4644008" y="3256019"/>
              <a:ext cx="1080119" cy="369332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(0,1,1)</a:t>
              </a:r>
              <a:endPara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43" name="直線單箭頭接點 42">
              <a:extLst>
                <a:ext uri="{FF2B5EF4-FFF2-40B4-BE49-F238E27FC236}">
                  <a16:creationId xmlns:a16="http://schemas.microsoft.com/office/drawing/2014/main" id="{4D2994E1-6643-D95E-903E-A44088309B4D}"/>
                </a:ext>
              </a:extLst>
            </p:cNvPr>
            <p:cNvCxnSpPr/>
            <p:nvPr/>
          </p:nvCxnSpPr>
          <p:spPr>
            <a:xfrm flipV="1">
              <a:off x="3994806" y="4471546"/>
              <a:ext cx="0" cy="1482861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52" name="內容版面配置區 2">
            <a:extLst>
              <a:ext uri="{FF2B5EF4-FFF2-40B4-BE49-F238E27FC236}">
                <a16:creationId xmlns:a16="http://schemas.microsoft.com/office/drawing/2014/main" id="{93FB9A5C-00BE-31CB-5F15-8EC0C7F955DF}"/>
              </a:ext>
            </a:extLst>
          </p:cNvPr>
          <p:cNvSpPr txBox="1">
            <a:spLocks/>
          </p:cNvSpPr>
          <p:nvPr/>
        </p:nvSpPr>
        <p:spPr>
          <a:xfrm>
            <a:off x="457200" y="2249424"/>
            <a:ext cx="8229600" cy="4325112"/>
          </a:xfrm>
          <a:prstGeom prst="rect">
            <a:avLst/>
          </a:prstGeom>
          <a:ln>
            <a:noFill/>
          </a:ln>
        </p:spPr>
        <p:txBody>
          <a:bodyPr vert="horz">
            <a:normAutofit fontScale="92500" lnSpcReduction="20000"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乘上正數</a:t>
            </a:r>
            <a:endParaRPr lang="en-US" altLang="zh-TW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zh-TW" altLang="en-US" dirty="0">
                <a:solidFill>
                  <a:schemeClr val="tx1"/>
                </a:solidFill>
              </a:rPr>
              <a:t>改變長度 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(1</a:t>
            </a:r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以外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endParaRPr lang="en-US" altLang="zh-TW" dirty="0">
              <a:solidFill>
                <a:schemeClr val="tx1"/>
              </a:solidFill>
            </a:endParaRPr>
          </a:p>
          <a:p>
            <a:pPr lvl="1"/>
            <a:r>
              <a:rPr lang="zh-TW" altLang="en-US" dirty="0">
                <a:solidFill>
                  <a:schemeClr val="tx1"/>
                </a:solidFill>
              </a:rPr>
              <a:t>方向不變</a:t>
            </a:r>
            <a:endParaRPr lang="en-US" altLang="zh-TW" dirty="0">
              <a:solidFill>
                <a:schemeClr val="tx1"/>
              </a:solidFill>
            </a:endParaRP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(0,1,0)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x 2 =</a:t>
            </a:r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dirty="0">
                <a:solidFill>
                  <a:srgbClr val="FFC000"/>
                </a:solidFill>
              </a:rPr>
              <a:t>(0,2,0)</a:t>
            </a:r>
          </a:p>
          <a:p>
            <a:pPr marL="411480" lvl="1" indent="0">
              <a:buNone/>
            </a:pPr>
            <a:endParaRPr lang="en-US" altLang="zh-TW" dirty="0">
              <a:solidFill>
                <a:srgbClr val="FFC000"/>
              </a:solidFill>
            </a:endParaRPr>
          </a:p>
          <a:p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乘上負數</a:t>
            </a:r>
            <a:endParaRPr lang="en-US" altLang="zh-TW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改變長度 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(1</a:t>
            </a:r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以外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  <a:p>
            <a:pPr lvl="1"/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方向反轉 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(reverse)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(0,1,0)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x -1 =</a:t>
            </a:r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dirty="0">
                <a:solidFill>
                  <a:schemeClr val="accent3"/>
                </a:solidFill>
              </a:rPr>
              <a:t>(0,-1,0)</a:t>
            </a:r>
          </a:p>
          <a:p>
            <a:endParaRPr lang="en-US" altLang="zh-TW" dirty="0">
              <a:solidFill>
                <a:schemeClr val="accent3"/>
              </a:solidFill>
            </a:endParaRPr>
          </a:p>
          <a:p>
            <a:r>
              <a:rPr lang="zh-TW" altLang="en-US" dirty="0"/>
              <a:t>乘上</a:t>
            </a:r>
            <a:r>
              <a:rPr lang="en-US" altLang="zh-TW" dirty="0"/>
              <a:t> 0 </a:t>
            </a:r>
          </a:p>
          <a:p>
            <a:pPr lvl="1"/>
            <a:r>
              <a:rPr lang="zh-TW" altLang="en-US" dirty="0">
                <a:solidFill>
                  <a:schemeClr val="tx1"/>
                </a:solidFill>
              </a:rPr>
              <a:t>一律變為</a:t>
            </a:r>
            <a:r>
              <a:rPr lang="en-US" altLang="zh-TW" dirty="0">
                <a:solidFill>
                  <a:schemeClr val="tx1"/>
                </a:solidFill>
              </a:rPr>
              <a:t>(0,0,0)</a:t>
            </a:r>
          </a:p>
          <a:p>
            <a:endParaRPr lang="en-US" altLang="zh-TW" dirty="0"/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BDF314B1-F05A-A823-314C-6F0DE199A410}"/>
              </a:ext>
            </a:extLst>
          </p:cNvPr>
          <p:cNvCxnSpPr>
            <a:cxnSpLocks/>
          </p:cNvCxnSpPr>
          <p:nvPr/>
        </p:nvCxnSpPr>
        <p:spPr>
          <a:xfrm flipV="1">
            <a:off x="6315509" y="1916832"/>
            <a:ext cx="0" cy="3179096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17137881-EF2B-792C-6D68-3561134EBEA7}"/>
              </a:ext>
            </a:extLst>
          </p:cNvPr>
          <p:cNvCxnSpPr>
            <a:cxnSpLocks/>
          </p:cNvCxnSpPr>
          <p:nvPr/>
        </p:nvCxnSpPr>
        <p:spPr>
          <a:xfrm flipH="1">
            <a:off x="6576304" y="3429000"/>
            <a:ext cx="11920" cy="1572677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4685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2A4C25-B1CD-25F9-42EE-9DC9B10F5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Unit Vector </a:t>
            </a:r>
            <a:r>
              <a:rPr lang="zh-TW" altLang="en-US" dirty="0"/>
              <a:t>單位向量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8BC782D-BFF1-479A-9CD6-9F4CDC8F7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4297889" cy="4325112"/>
          </a:xfrm>
        </p:spPr>
        <p:txBody>
          <a:bodyPr/>
          <a:lstStyle/>
          <a:p>
            <a:r>
              <a:rPr lang="zh-TW" altLang="en-US" dirty="0"/>
              <a:t>長度為</a:t>
            </a:r>
            <a:r>
              <a:rPr lang="en-US" altLang="zh-TW" dirty="0"/>
              <a:t>1</a:t>
            </a:r>
            <a:r>
              <a:rPr lang="zh-TW" altLang="en-US" dirty="0"/>
              <a:t>的向量，此時的紅藍向量皆為單位向量。</a:t>
            </a:r>
            <a:endParaRPr lang="en-US" altLang="zh-TW" dirty="0"/>
          </a:p>
          <a:p>
            <a:r>
              <a:rPr lang="en-US" altLang="zh-TW" dirty="0"/>
              <a:t>(0,1,1)</a:t>
            </a:r>
            <a:r>
              <a:rPr lang="zh-TW" altLang="en-US" dirty="0"/>
              <a:t>的單位向量為</a:t>
            </a:r>
            <a:endParaRPr lang="en-US" altLang="zh-TW" dirty="0"/>
          </a:p>
          <a:p>
            <a:pPr marL="109728" indent="0">
              <a:buNone/>
            </a:pPr>
            <a:r>
              <a:rPr lang="en-US" altLang="zh-TW" dirty="0"/>
              <a:t>     (0,0.707,0.707)</a:t>
            </a:r>
            <a:endParaRPr lang="zh-TW" altLang="en-US"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EC18CA2A-5802-3C79-B840-C019191A28F7}"/>
              </a:ext>
            </a:extLst>
          </p:cNvPr>
          <p:cNvGrpSpPr/>
          <p:nvPr/>
        </p:nvGrpSpPr>
        <p:grpSpPr>
          <a:xfrm>
            <a:off x="5148064" y="3140968"/>
            <a:ext cx="3021144" cy="3245451"/>
            <a:chOff x="3423640" y="3256019"/>
            <a:chExt cx="3021144" cy="3245451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E50A31DB-6C8C-79E7-9569-C8B2138078DA}"/>
                </a:ext>
              </a:extLst>
            </p:cNvPr>
            <p:cNvGrpSpPr/>
            <p:nvPr/>
          </p:nvGrpSpPr>
          <p:grpSpPr>
            <a:xfrm>
              <a:off x="3758177" y="3429000"/>
              <a:ext cx="2686607" cy="2751029"/>
              <a:chOff x="3758177" y="3429000"/>
              <a:chExt cx="2686607" cy="2751029"/>
            </a:xfrm>
          </p:grpSpPr>
          <p:cxnSp>
            <p:nvCxnSpPr>
              <p:cNvPr id="21" name="直線單箭頭接點 20">
                <a:extLst>
                  <a:ext uri="{FF2B5EF4-FFF2-40B4-BE49-F238E27FC236}">
                    <a16:creationId xmlns:a16="http://schemas.microsoft.com/office/drawing/2014/main" id="{91130E61-96B5-47B1-225F-8E1AB072F5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96513" y="6024657"/>
                <a:ext cx="2209935" cy="20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單箭頭接點 21">
                <a:extLst>
                  <a:ext uri="{FF2B5EF4-FFF2-40B4-BE49-F238E27FC236}">
                    <a16:creationId xmlns:a16="http://schemas.microsoft.com/office/drawing/2014/main" id="{AF0D96E6-0E23-86B2-BD32-65CB5A227A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0113" y="3866481"/>
                <a:ext cx="0" cy="21786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單箭頭接點 22">
                <a:extLst>
                  <a:ext uri="{FF2B5EF4-FFF2-40B4-BE49-F238E27FC236}">
                    <a16:creationId xmlns:a16="http://schemas.microsoft.com/office/drawing/2014/main" id="{2F3082FB-62FB-0C98-5264-254464C32CD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96513" y="4955824"/>
                <a:ext cx="1800200" cy="108934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356FFEC5-F4BB-BC14-10EA-D86A42E89890}"/>
                  </a:ext>
                </a:extLst>
              </p:cNvPr>
              <p:cNvSpPr txBox="1"/>
              <p:nvPr/>
            </p:nvSpPr>
            <p:spPr>
              <a:xfrm>
                <a:off x="6206448" y="5810697"/>
                <a:ext cx="238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x</a:t>
                </a:r>
                <a:endParaRPr lang="zh-TW" altLang="en-US" dirty="0"/>
              </a:p>
            </p:txBody>
          </p:sp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036A93AE-35C4-3F15-9E80-9672E0B8EA2A}"/>
                  </a:ext>
                </a:extLst>
              </p:cNvPr>
              <p:cNvSpPr txBox="1"/>
              <p:nvPr/>
            </p:nvSpPr>
            <p:spPr>
              <a:xfrm>
                <a:off x="3758177" y="3429000"/>
                <a:ext cx="238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y</a:t>
                </a:r>
                <a:endParaRPr lang="zh-TW" altLang="en-US" dirty="0"/>
              </a:p>
            </p:txBody>
          </p:sp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EF1AB435-941D-7EB4-8D52-5BB14BF5AC69}"/>
                  </a:ext>
                </a:extLst>
              </p:cNvPr>
              <p:cNvSpPr txBox="1"/>
              <p:nvPr/>
            </p:nvSpPr>
            <p:spPr>
              <a:xfrm>
                <a:off x="5790708" y="4649277"/>
                <a:ext cx="238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z</a:t>
                </a:r>
                <a:endParaRPr lang="zh-TW" altLang="en-US" dirty="0"/>
              </a:p>
            </p:txBody>
          </p:sp>
        </p:grp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BBD6DA55-8667-930A-D233-E863815EEF79}"/>
                </a:ext>
              </a:extLst>
            </p:cNvPr>
            <p:cNvGrpSpPr/>
            <p:nvPr/>
          </p:nvGrpSpPr>
          <p:grpSpPr>
            <a:xfrm>
              <a:off x="3456453" y="5961681"/>
              <a:ext cx="1080119" cy="539789"/>
              <a:chOff x="3456453" y="5961681"/>
              <a:chExt cx="1080119" cy="539789"/>
            </a:xfrm>
          </p:grpSpPr>
          <p:sp>
            <p:nvSpPr>
              <p:cNvPr id="19" name="橢圓 18">
                <a:extLst>
                  <a:ext uri="{FF2B5EF4-FFF2-40B4-BE49-F238E27FC236}">
                    <a16:creationId xmlns:a16="http://schemas.microsoft.com/office/drawing/2014/main" id="{B1CA329D-96D6-522A-7CAB-428841E0D3F1}"/>
                  </a:ext>
                </a:extLst>
              </p:cNvPr>
              <p:cNvSpPr/>
              <p:nvPr/>
            </p:nvSpPr>
            <p:spPr>
              <a:xfrm>
                <a:off x="3913347" y="5961681"/>
                <a:ext cx="166329" cy="176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7D0399D3-F101-5BF3-99E4-5CC3332D785E}"/>
                  </a:ext>
                </a:extLst>
              </p:cNvPr>
              <p:cNvSpPr txBox="1"/>
              <p:nvPr/>
            </p:nvSpPr>
            <p:spPr>
              <a:xfrm>
                <a:off x="3456453" y="6132138"/>
                <a:ext cx="1080119" cy="36933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(0,0,0)</a:t>
                </a:r>
                <a:endParaRPr lang="zh-TW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2DD5DC27-184C-196E-122A-411E3EBE18AE}"/>
                </a:ext>
              </a:extLst>
            </p:cNvPr>
            <p:cNvSpPr/>
            <p:nvPr/>
          </p:nvSpPr>
          <p:spPr>
            <a:xfrm>
              <a:off x="3911642" y="4295146"/>
              <a:ext cx="166329" cy="176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798DFD9D-0FA5-5F25-BA6E-8548ADE2BBC9}"/>
                </a:ext>
              </a:extLst>
            </p:cNvPr>
            <p:cNvSpPr txBox="1"/>
            <p:nvPr/>
          </p:nvSpPr>
          <p:spPr>
            <a:xfrm>
              <a:off x="3423640" y="3920792"/>
              <a:ext cx="1080119" cy="369332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(0,1,0)</a:t>
              </a:r>
              <a:endPara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94D51CE3-8FB5-E81C-6DD7-A1DC8BF466FB}"/>
                </a:ext>
              </a:extLst>
            </p:cNvPr>
            <p:cNvGrpSpPr/>
            <p:nvPr/>
          </p:nvGrpSpPr>
          <p:grpSpPr>
            <a:xfrm>
              <a:off x="4644008" y="5251635"/>
              <a:ext cx="1080119" cy="539789"/>
              <a:chOff x="4644008" y="5251635"/>
              <a:chExt cx="1080119" cy="539789"/>
            </a:xfrm>
          </p:grpSpPr>
          <p:sp>
            <p:nvSpPr>
              <p:cNvPr id="17" name="橢圓 16">
                <a:extLst>
                  <a:ext uri="{FF2B5EF4-FFF2-40B4-BE49-F238E27FC236}">
                    <a16:creationId xmlns:a16="http://schemas.microsoft.com/office/drawing/2014/main" id="{CFE3113E-E25B-3D29-9AEA-CD92C2E952BF}"/>
                  </a:ext>
                </a:extLst>
              </p:cNvPr>
              <p:cNvSpPr/>
              <p:nvPr/>
            </p:nvSpPr>
            <p:spPr>
              <a:xfrm>
                <a:off x="5100902" y="5251635"/>
                <a:ext cx="166329" cy="176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5479C8B2-82C2-91CF-9B75-FB4DC3DAB019}"/>
                  </a:ext>
                </a:extLst>
              </p:cNvPr>
              <p:cNvSpPr txBox="1"/>
              <p:nvPr/>
            </p:nvSpPr>
            <p:spPr>
              <a:xfrm>
                <a:off x="4644008" y="5422092"/>
                <a:ext cx="1080119" cy="36933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(0,0,1)</a:t>
                </a:r>
                <a:endParaRPr lang="zh-TW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524A2836-3A3D-D969-178B-9D31E7E33B89}"/>
                </a:ext>
              </a:extLst>
            </p:cNvPr>
            <p:cNvSpPr/>
            <p:nvPr/>
          </p:nvSpPr>
          <p:spPr>
            <a:xfrm>
              <a:off x="5100902" y="3637176"/>
              <a:ext cx="166329" cy="176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2F3119C5-5A8A-917F-B8A3-BB41979E6C08}"/>
                </a:ext>
              </a:extLst>
            </p:cNvPr>
            <p:cNvSpPr txBox="1"/>
            <p:nvPr/>
          </p:nvSpPr>
          <p:spPr>
            <a:xfrm>
              <a:off x="4644008" y="3256019"/>
              <a:ext cx="1080119" cy="369332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(0,1,1)</a:t>
              </a:r>
              <a:endPara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D4D6C960-ED0D-AD12-DE84-2F57A7883830}"/>
                </a:ext>
              </a:extLst>
            </p:cNvPr>
            <p:cNvCxnSpPr/>
            <p:nvPr/>
          </p:nvCxnSpPr>
          <p:spPr>
            <a:xfrm flipV="1">
              <a:off x="3994806" y="4471546"/>
              <a:ext cx="0" cy="1482861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7FB8EC3D-6330-EE46-D9C2-71EAE9286AF3}"/>
                </a:ext>
              </a:extLst>
            </p:cNvPr>
            <p:cNvCxnSpPr/>
            <p:nvPr/>
          </p:nvCxnSpPr>
          <p:spPr>
            <a:xfrm flipV="1">
              <a:off x="5184066" y="3768774"/>
              <a:ext cx="0" cy="1482861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54473844-591B-22E9-96CF-16C7ECF13B31}"/>
                </a:ext>
              </a:extLst>
            </p:cNvPr>
            <p:cNvCxnSpPr>
              <a:cxnSpLocks/>
              <a:stCxn id="7" idx="6"/>
              <a:endCxn id="10" idx="3"/>
            </p:cNvCxnSpPr>
            <p:nvPr/>
          </p:nvCxnSpPr>
          <p:spPr>
            <a:xfrm flipV="1">
              <a:off x="4077971" y="3787743"/>
              <a:ext cx="1047289" cy="595603"/>
            </a:xfrm>
            <a:prstGeom prst="straightConnector1">
              <a:avLst/>
            </a:prstGeom>
            <a:ln w="57150">
              <a:solidFill>
                <a:srgbClr val="00B0F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2FD693AF-7473-C8FD-A6EA-1CBBB8B6F0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0187" y="5398001"/>
              <a:ext cx="1047289" cy="595603"/>
            </a:xfrm>
            <a:prstGeom prst="straightConnector1">
              <a:avLst/>
            </a:prstGeom>
            <a:ln w="57150">
              <a:solidFill>
                <a:srgbClr val="00B0F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6" name="直線單箭頭接點 15">
              <a:extLst>
                <a:ext uri="{FF2B5EF4-FFF2-40B4-BE49-F238E27FC236}">
                  <a16:creationId xmlns:a16="http://schemas.microsoft.com/office/drawing/2014/main" id="{E3A6ECB2-8234-8143-B55C-390ED9F20704}"/>
                </a:ext>
              </a:extLst>
            </p:cNvPr>
            <p:cNvCxnSpPr>
              <a:cxnSpLocks/>
              <a:stCxn id="19" idx="7"/>
            </p:cNvCxnSpPr>
            <p:nvPr/>
          </p:nvCxnSpPr>
          <p:spPr>
            <a:xfrm flipV="1">
              <a:off x="4055318" y="3866481"/>
              <a:ext cx="1088570" cy="2121033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27" name="內容版面配置區 2">
            <a:extLst>
              <a:ext uri="{FF2B5EF4-FFF2-40B4-BE49-F238E27FC236}">
                <a16:creationId xmlns:a16="http://schemas.microsoft.com/office/drawing/2014/main" id="{6F8C25E6-31F0-2EDB-3F14-9D1902288D6E}"/>
              </a:ext>
            </a:extLst>
          </p:cNvPr>
          <p:cNvSpPr txBox="1">
            <a:spLocks/>
          </p:cNvSpPr>
          <p:nvPr/>
        </p:nvSpPr>
        <p:spPr>
          <a:xfrm>
            <a:off x="3945368" y="5110644"/>
            <a:ext cx="2098576" cy="162628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en-US" altLang="zh-TW" dirty="0">
                <a:solidFill>
                  <a:srgbClr val="FF0000"/>
                </a:solidFill>
              </a:rPr>
              <a:t>(0,1,0)</a:t>
            </a:r>
          </a:p>
          <a:p>
            <a:pPr marL="109728" indent="0">
              <a:buFont typeface="Georgia"/>
              <a:buNone/>
            </a:pPr>
            <a:r>
              <a:rPr lang="en-US" altLang="zh-TW" dirty="0">
                <a:solidFill>
                  <a:srgbClr val="0070C0"/>
                </a:solidFill>
              </a:rPr>
              <a:t>(0,0,1)</a:t>
            </a:r>
          </a:p>
          <a:p>
            <a:pPr marL="109728" indent="0">
              <a:buFont typeface="Georgia"/>
              <a:buNone/>
            </a:pPr>
            <a:r>
              <a:rPr lang="en-US" altLang="zh-TW" dirty="0">
                <a:solidFill>
                  <a:srgbClr val="00B050"/>
                </a:solidFill>
              </a:rPr>
              <a:t>(0,1,1)</a:t>
            </a:r>
          </a:p>
          <a:p>
            <a:endParaRPr lang="zh-TW" altLang="en-US" dirty="0"/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D0490228-BB04-17E8-E567-AD97F7C34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804" y="4539588"/>
            <a:ext cx="1923026" cy="86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6297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3FF3D0-5F45-0035-064A-C15A52D68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Vector3</a:t>
            </a:r>
            <a:r>
              <a:rPr lang="zh-TW" altLang="en-US" dirty="0"/>
              <a:t> 減法</a:t>
            </a:r>
          </a:p>
        </p:txBody>
      </p:sp>
      <p:sp>
        <p:nvSpPr>
          <p:cNvPr id="52" name="內容版面配置區 2">
            <a:extLst>
              <a:ext uri="{FF2B5EF4-FFF2-40B4-BE49-F238E27FC236}">
                <a16:creationId xmlns:a16="http://schemas.microsoft.com/office/drawing/2014/main" id="{93FB9A5C-00BE-31CB-5F15-8EC0C7F955DF}"/>
              </a:ext>
            </a:extLst>
          </p:cNvPr>
          <p:cNvSpPr txBox="1">
            <a:spLocks/>
          </p:cNvSpPr>
          <p:nvPr/>
        </p:nvSpPr>
        <p:spPr>
          <a:xfrm>
            <a:off x="457200" y="2249424"/>
            <a:ext cx="4385789" cy="4325112"/>
          </a:xfrm>
          <a:prstGeom prst="rect">
            <a:avLst/>
          </a:prstGeom>
          <a:ln>
            <a:noFill/>
          </a:ln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如同一般的加減法</a:t>
            </a:r>
            <a:endParaRPr lang="en-US" altLang="zh-TW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– B = A + (-1 * B)</a:t>
            </a:r>
          </a:p>
          <a:p>
            <a:pPr lvl="1"/>
            <a:endParaRPr lang="en-US" altLang="zh-TW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altLang="zh-TW" dirty="0">
                <a:solidFill>
                  <a:srgbClr val="00B050"/>
                </a:solidFill>
              </a:rPr>
              <a:t>(0,1,1) 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– </a:t>
            </a:r>
            <a:r>
              <a:rPr lang="en-US" altLang="zh-TW" dirty="0">
                <a:solidFill>
                  <a:srgbClr val="FF0000"/>
                </a:solidFill>
              </a:rPr>
              <a:t>(0,1,0) 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= </a:t>
            </a:r>
            <a:r>
              <a:rPr lang="en-US" altLang="zh-TW" dirty="0">
                <a:solidFill>
                  <a:srgbClr val="0070C0"/>
                </a:solidFill>
              </a:rPr>
              <a:t>(0,0,1)</a:t>
            </a:r>
          </a:p>
        </p:txBody>
      </p:sp>
      <p:sp>
        <p:nvSpPr>
          <p:cNvPr id="46" name="內容版面配置區 2">
            <a:extLst>
              <a:ext uri="{FF2B5EF4-FFF2-40B4-BE49-F238E27FC236}">
                <a16:creationId xmlns:a16="http://schemas.microsoft.com/office/drawing/2014/main" id="{7A160269-7E3B-B92D-2A2E-DD6C7821EA49}"/>
              </a:ext>
            </a:extLst>
          </p:cNvPr>
          <p:cNvSpPr txBox="1">
            <a:spLocks/>
          </p:cNvSpPr>
          <p:nvPr/>
        </p:nvSpPr>
        <p:spPr>
          <a:xfrm>
            <a:off x="3841576" y="4899060"/>
            <a:ext cx="2098576" cy="162628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en-US" altLang="zh-TW" dirty="0">
                <a:solidFill>
                  <a:srgbClr val="FF0000"/>
                </a:solidFill>
              </a:rPr>
              <a:t>(0,1,0)</a:t>
            </a:r>
          </a:p>
          <a:p>
            <a:pPr marL="109728" indent="0">
              <a:buFont typeface="Georgia"/>
              <a:buNone/>
            </a:pPr>
            <a:r>
              <a:rPr lang="en-US" altLang="zh-TW" dirty="0">
                <a:solidFill>
                  <a:srgbClr val="0070C0"/>
                </a:solidFill>
              </a:rPr>
              <a:t>(0,0,1)</a:t>
            </a:r>
          </a:p>
          <a:p>
            <a:pPr marL="109728" indent="0">
              <a:buFont typeface="Georgia"/>
              <a:buNone/>
            </a:pPr>
            <a:r>
              <a:rPr lang="en-US" altLang="zh-TW" dirty="0">
                <a:solidFill>
                  <a:srgbClr val="00B050"/>
                </a:solidFill>
              </a:rPr>
              <a:t>(0,1,1)</a:t>
            </a:r>
          </a:p>
          <a:p>
            <a:endParaRPr lang="zh-TW" altLang="en-US" dirty="0"/>
          </a:p>
        </p:txBody>
      </p:sp>
      <p:grpSp>
        <p:nvGrpSpPr>
          <p:cNvPr id="47" name="群組 46">
            <a:extLst>
              <a:ext uri="{FF2B5EF4-FFF2-40B4-BE49-F238E27FC236}">
                <a16:creationId xmlns:a16="http://schemas.microsoft.com/office/drawing/2014/main" id="{EED67151-8B79-343A-EE18-FE1F0637D74F}"/>
              </a:ext>
            </a:extLst>
          </p:cNvPr>
          <p:cNvGrpSpPr/>
          <p:nvPr/>
        </p:nvGrpSpPr>
        <p:grpSpPr>
          <a:xfrm>
            <a:off x="5372472" y="3212976"/>
            <a:ext cx="3021144" cy="3245451"/>
            <a:chOff x="3423640" y="3256019"/>
            <a:chExt cx="3021144" cy="3245451"/>
          </a:xfrm>
        </p:grpSpPr>
        <p:grpSp>
          <p:nvGrpSpPr>
            <p:cNvPr id="53" name="群組 52">
              <a:extLst>
                <a:ext uri="{FF2B5EF4-FFF2-40B4-BE49-F238E27FC236}">
                  <a16:creationId xmlns:a16="http://schemas.microsoft.com/office/drawing/2014/main" id="{269E6D06-3ADE-4133-BA64-A255D21165A9}"/>
                </a:ext>
              </a:extLst>
            </p:cNvPr>
            <p:cNvGrpSpPr/>
            <p:nvPr/>
          </p:nvGrpSpPr>
          <p:grpSpPr>
            <a:xfrm>
              <a:off x="3758177" y="3429000"/>
              <a:ext cx="2686607" cy="2751029"/>
              <a:chOff x="3758177" y="3429000"/>
              <a:chExt cx="2686607" cy="2751029"/>
            </a:xfrm>
          </p:grpSpPr>
          <p:cxnSp>
            <p:nvCxnSpPr>
              <p:cNvPr id="69" name="直線單箭頭接點 68">
                <a:extLst>
                  <a:ext uri="{FF2B5EF4-FFF2-40B4-BE49-F238E27FC236}">
                    <a16:creationId xmlns:a16="http://schemas.microsoft.com/office/drawing/2014/main" id="{532C0FCA-3AE7-34EA-C29A-D96E439ED2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96513" y="6024657"/>
                <a:ext cx="2209935" cy="20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線單箭頭接點 69">
                <a:extLst>
                  <a:ext uri="{FF2B5EF4-FFF2-40B4-BE49-F238E27FC236}">
                    <a16:creationId xmlns:a16="http://schemas.microsoft.com/office/drawing/2014/main" id="{4D2159C3-69CD-175A-F689-936841DD02B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0113" y="3866481"/>
                <a:ext cx="0" cy="21786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線單箭頭接點 70">
                <a:extLst>
                  <a:ext uri="{FF2B5EF4-FFF2-40B4-BE49-F238E27FC236}">
                    <a16:creationId xmlns:a16="http://schemas.microsoft.com/office/drawing/2014/main" id="{DD72D3AF-01EC-7756-BD7B-3E7FA5B4F0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96513" y="4955824"/>
                <a:ext cx="1800200" cy="108934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78F78232-0053-385D-5483-4ECDCAC11A41}"/>
                  </a:ext>
                </a:extLst>
              </p:cNvPr>
              <p:cNvSpPr txBox="1"/>
              <p:nvPr/>
            </p:nvSpPr>
            <p:spPr>
              <a:xfrm>
                <a:off x="6206448" y="5810697"/>
                <a:ext cx="238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x</a:t>
                </a:r>
                <a:endParaRPr lang="zh-TW" altLang="en-US" dirty="0"/>
              </a:p>
            </p:txBody>
          </p:sp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F9610A1B-B923-33A1-E2B1-671F8B904E4E}"/>
                  </a:ext>
                </a:extLst>
              </p:cNvPr>
              <p:cNvSpPr txBox="1"/>
              <p:nvPr/>
            </p:nvSpPr>
            <p:spPr>
              <a:xfrm>
                <a:off x="3758177" y="3429000"/>
                <a:ext cx="238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y</a:t>
                </a:r>
                <a:endParaRPr lang="zh-TW" altLang="en-US" dirty="0"/>
              </a:p>
            </p:txBody>
          </p:sp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27DEFA73-4EDD-4B84-4796-6796215407B6}"/>
                  </a:ext>
                </a:extLst>
              </p:cNvPr>
              <p:cNvSpPr txBox="1"/>
              <p:nvPr/>
            </p:nvSpPr>
            <p:spPr>
              <a:xfrm>
                <a:off x="5790708" y="4649277"/>
                <a:ext cx="238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z</a:t>
                </a:r>
                <a:endParaRPr lang="zh-TW" altLang="en-US" dirty="0"/>
              </a:p>
            </p:txBody>
          </p:sp>
        </p:grpSp>
        <p:grpSp>
          <p:nvGrpSpPr>
            <p:cNvPr id="54" name="群組 53">
              <a:extLst>
                <a:ext uri="{FF2B5EF4-FFF2-40B4-BE49-F238E27FC236}">
                  <a16:creationId xmlns:a16="http://schemas.microsoft.com/office/drawing/2014/main" id="{ECFEA8F1-A313-69BA-09F3-D0EEA69879B1}"/>
                </a:ext>
              </a:extLst>
            </p:cNvPr>
            <p:cNvGrpSpPr/>
            <p:nvPr/>
          </p:nvGrpSpPr>
          <p:grpSpPr>
            <a:xfrm>
              <a:off x="3456453" y="5961681"/>
              <a:ext cx="1080119" cy="539789"/>
              <a:chOff x="3456453" y="5961681"/>
              <a:chExt cx="1080119" cy="539789"/>
            </a:xfrm>
          </p:grpSpPr>
          <p:sp>
            <p:nvSpPr>
              <p:cNvPr id="67" name="橢圓 66">
                <a:extLst>
                  <a:ext uri="{FF2B5EF4-FFF2-40B4-BE49-F238E27FC236}">
                    <a16:creationId xmlns:a16="http://schemas.microsoft.com/office/drawing/2014/main" id="{44B25545-F1E1-BCAD-2379-982DD3FE35F0}"/>
                  </a:ext>
                </a:extLst>
              </p:cNvPr>
              <p:cNvSpPr/>
              <p:nvPr/>
            </p:nvSpPr>
            <p:spPr>
              <a:xfrm>
                <a:off x="3913347" y="5961681"/>
                <a:ext cx="166329" cy="176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D88F077B-B412-6E8C-5EF2-7866E9E3FC81}"/>
                  </a:ext>
                </a:extLst>
              </p:cNvPr>
              <p:cNvSpPr txBox="1"/>
              <p:nvPr/>
            </p:nvSpPr>
            <p:spPr>
              <a:xfrm>
                <a:off x="3456453" y="6132138"/>
                <a:ext cx="1080119" cy="36933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(0,0,0)</a:t>
                </a:r>
                <a:endParaRPr lang="zh-TW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55" name="橢圓 54">
              <a:extLst>
                <a:ext uri="{FF2B5EF4-FFF2-40B4-BE49-F238E27FC236}">
                  <a16:creationId xmlns:a16="http://schemas.microsoft.com/office/drawing/2014/main" id="{24957055-33C9-16B1-E78B-4B351FF60B22}"/>
                </a:ext>
              </a:extLst>
            </p:cNvPr>
            <p:cNvSpPr/>
            <p:nvPr/>
          </p:nvSpPr>
          <p:spPr>
            <a:xfrm>
              <a:off x="3911642" y="4295146"/>
              <a:ext cx="166329" cy="176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717889B4-985C-3C64-5D7C-317D3DECBBE8}"/>
                </a:ext>
              </a:extLst>
            </p:cNvPr>
            <p:cNvSpPr txBox="1"/>
            <p:nvPr/>
          </p:nvSpPr>
          <p:spPr>
            <a:xfrm>
              <a:off x="3423640" y="3920792"/>
              <a:ext cx="1080119" cy="369332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(0,1,0)</a:t>
              </a:r>
              <a:endPara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57" name="群組 56">
              <a:extLst>
                <a:ext uri="{FF2B5EF4-FFF2-40B4-BE49-F238E27FC236}">
                  <a16:creationId xmlns:a16="http://schemas.microsoft.com/office/drawing/2014/main" id="{4AC3E7E8-F2FC-A684-E4D5-3C37A2D1F006}"/>
                </a:ext>
              </a:extLst>
            </p:cNvPr>
            <p:cNvGrpSpPr/>
            <p:nvPr/>
          </p:nvGrpSpPr>
          <p:grpSpPr>
            <a:xfrm>
              <a:off x="4644008" y="5251635"/>
              <a:ext cx="1080119" cy="539789"/>
              <a:chOff x="4644008" y="5251635"/>
              <a:chExt cx="1080119" cy="539789"/>
            </a:xfrm>
          </p:grpSpPr>
          <p:sp>
            <p:nvSpPr>
              <p:cNvPr id="65" name="橢圓 64">
                <a:extLst>
                  <a:ext uri="{FF2B5EF4-FFF2-40B4-BE49-F238E27FC236}">
                    <a16:creationId xmlns:a16="http://schemas.microsoft.com/office/drawing/2014/main" id="{CD7D2BAF-33C2-126A-E276-8FDCB3CC2DB0}"/>
                  </a:ext>
                </a:extLst>
              </p:cNvPr>
              <p:cNvSpPr/>
              <p:nvPr/>
            </p:nvSpPr>
            <p:spPr>
              <a:xfrm>
                <a:off x="5100902" y="5251635"/>
                <a:ext cx="166329" cy="176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E0C334D8-15D4-0EFB-E3B6-C7B37C9147DB}"/>
                  </a:ext>
                </a:extLst>
              </p:cNvPr>
              <p:cNvSpPr txBox="1"/>
              <p:nvPr/>
            </p:nvSpPr>
            <p:spPr>
              <a:xfrm>
                <a:off x="4644008" y="5422092"/>
                <a:ext cx="1080119" cy="36933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(0,0,1)</a:t>
                </a:r>
                <a:endParaRPr lang="zh-TW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58" name="橢圓 57">
              <a:extLst>
                <a:ext uri="{FF2B5EF4-FFF2-40B4-BE49-F238E27FC236}">
                  <a16:creationId xmlns:a16="http://schemas.microsoft.com/office/drawing/2014/main" id="{0E2D3DB8-4EE9-25DB-9113-AF90013FDEF4}"/>
                </a:ext>
              </a:extLst>
            </p:cNvPr>
            <p:cNvSpPr/>
            <p:nvPr/>
          </p:nvSpPr>
          <p:spPr>
            <a:xfrm>
              <a:off x="5100902" y="3637176"/>
              <a:ext cx="166329" cy="176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B5A6F0B3-0E13-5218-6230-2BAEE4B933EE}"/>
                </a:ext>
              </a:extLst>
            </p:cNvPr>
            <p:cNvSpPr txBox="1"/>
            <p:nvPr/>
          </p:nvSpPr>
          <p:spPr>
            <a:xfrm>
              <a:off x="4644008" y="3256019"/>
              <a:ext cx="1080119" cy="369332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(0,1,1)</a:t>
              </a:r>
              <a:endPara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60" name="直線單箭頭接點 59">
              <a:extLst>
                <a:ext uri="{FF2B5EF4-FFF2-40B4-BE49-F238E27FC236}">
                  <a16:creationId xmlns:a16="http://schemas.microsoft.com/office/drawing/2014/main" id="{3455B072-929C-5697-7178-28EB5A6267C9}"/>
                </a:ext>
              </a:extLst>
            </p:cNvPr>
            <p:cNvCxnSpPr/>
            <p:nvPr/>
          </p:nvCxnSpPr>
          <p:spPr>
            <a:xfrm flipV="1">
              <a:off x="3994806" y="4471546"/>
              <a:ext cx="0" cy="1482861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1" name="直線單箭頭接點 60">
              <a:extLst>
                <a:ext uri="{FF2B5EF4-FFF2-40B4-BE49-F238E27FC236}">
                  <a16:creationId xmlns:a16="http://schemas.microsoft.com/office/drawing/2014/main" id="{DBB4F0DD-B171-F0A1-4C8C-65E6F260AF8C}"/>
                </a:ext>
              </a:extLst>
            </p:cNvPr>
            <p:cNvCxnSpPr/>
            <p:nvPr/>
          </p:nvCxnSpPr>
          <p:spPr>
            <a:xfrm flipV="1">
              <a:off x="5184066" y="3768774"/>
              <a:ext cx="0" cy="1482861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2" name="直線單箭頭接點 61">
              <a:extLst>
                <a:ext uri="{FF2B5EF4-FFF2-40B4-BE49-F238E27FC236}">
                  <a16:creationId xmlns:a16="http://schemas.microsoft.com/office/drawing/2014/main" id="{12245239-A56C-8BB0-B7BD-B4BDA52D5C75}"/>
                </a:ext>
              </a:extLst>
            </p:cNvPr>
            <p:cNvCxnSpPr>
              <a:cxnSpLocks/>
              <a:stCxn id="55" idx="6"/>
              <a:endCxn id="58" idx="3"/>
            </p:cNvCxnSpPr>
            <p:nvPr/>
          </p:nvCxnSpPr>
          <p:spPr>
            <a:xfrm flipV="1">
              <a:off x="4077971" y="3787743"/>
              <a:ext cx="1047289" cy="595603"/>
            </a:xfrm>
            <a:prstGeom prst="straightConnector1">
              <a:avLst/>
            </a:prstGeom>
            <a:ln w="57150">
              <a:solidFill>
                <a:srgbClr val="00B0F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3" name="直線單箭頭接點 62">
              <a:extLst>
                <a:ext uri="{FF2B5EF4-FFF2-40B4-BE49-F238E27FC236}">
                  <a16:creationId xmlns:a16="http://schemas.microsoft.com/office/drawing/2014/main" id="{F632E4C4-41B8-3C91-1159-A1330A1C55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0187" y="5398001"/>
              <a:ext cx="1047289" cy="595603"/>
            </a:xfrm>
            <a:prstGeom prst="straightConnector1">
              <a:avLst/>
            </a:prstGeom>
            <a:ln w="57150">
              <a:solidFill>
                <a:srgbClr val="00B0F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4" name="直線單箭頭接點 63">
              <a:extLst>
                <a:ext uri="{FF2B5EF4-FFF2-40B4-BE49-F238E27FC236}">
                  <a16:creationId xmlns:a16="http://schemas.microsoft.com/office/drawing/2014/main" id="{ED22B3EC-15BE-B3B9-B396-D2D61704ECB5}"/>
                </a:ext>
              </a:extLst>
            </p:cNvPr>
            <p:cNvCxnSpPr>
              <a:cxnSpLocks/>
              <a:stCxn id="67" idx="7"/>
            </p:cNvCxnSpPr>
            <p:nvPr/>
          </p:nvCxnSpPr>
          <p:spPr>
            <a:xfrm flipV="1">
              <a:off x="4055318" y="3866481"/>
              <a:ext cx="1088570" cy="2121033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91128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435023-B38E-46E7-8E51-1019BA8E7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向量外積 </a:t>
            </a:r>
            <a:r>
              <a:rPr lang="en-US" altLang="zh-TW" dirty="0"/>
              <a:t>(cross product)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E67F35-0C7C-64FF-F53D-8589C1E4A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5482952" cy="4325112"/>
          </a:xfrm>
        </p:spPr>
        <p:txBody>
          <a:bodyPr/>
          <a:lstStyle/>
          <a:p>
            <a:r>
              <a:rPr lang="zh-TW" altLang="en-US" dirty="0"/>
              <a:t>叉積</a:t>
            </a:r>
            <a:endParaRPr lang="en-US" altLang="zh-TW" dirty="0"/>
          </a:p>
          <a:p>
            <a:r>
              <a:rPr lang="en-US" altLang="zh-TW" dirty="0"/>
              <a:t>a x b  (</a:t>
            </a:r>
            <a:r>
              <a:rPr lang="en-US" altLang="zh-TW" dirty="0" err="1"/>
              <a:t>a,b</a:t>
            </a:r>
            <a:r>
              <a:rPr lang="zh-TW" altLang="en-US" dirty="0"/>
              <a:t>為三維向量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結果為一個向量</a:t>
            </a:r>
            <a:r>
              <a:rPr lang="en-US" altLang="zh-TW" dirty="0"/>
              <a:t>c</a:t>
            </a:r>
            <a:r>
              <a:rPr lang="zh-TW" altLang="en-US" dirty="0"/>
              <a:t>，必各自與</a:t>
            </a:r>
            <a:r>
              <a:rPr lang="en-US" altLang="zh-TW" dirty="0" err="1"/>
              <a:t>a,b</a:t>
            </a:r>
            <a:r>
              <a:rPr lang="zh-TW" altLang="en-US" dirty="0"/>
              <a:t>垂直。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不做太多說明，主要用法為計算</a:t>
            </a:r>
            <a:r>
              <a:rPr lang="en-US" altLang="zh-TW" dirty="0"/>
              <a:t>”</a:t>
            </a:r>
            <a:r>
              <a:rPr lang="zh-TW" altLang="en-US" dirty="0"/>
              <a:t>法向量</a:t>
            </a:r>
            <a:r>
              <a:rPr lang="en-US" altLang="zh-TW" dirty="0"/>
              <a:t>”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A837B94-6B27-472E-7872-BA3DDDB35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6634" y="976310"/>
            <a:ext cx="2438740" cy="562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12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8D8809-5950-C90A-D360-B192DCD88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向量內積 </a:t>
            </a:r>
            <a:r>
              <a:rPr lang="en-US" altLang="zh-TW" dirty="0"/>
              <a:t>(dot product)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104705-2E60-A08C-D3BB-640E932F7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5122912" cy="4325112"/>
          </a:xfrm>
        </p:spPr>
        <p:txBody>
          <a:bodyPr/>
          <a:lstStyle/>
          <a:p>
            <a:r>
              <a:rPr lang="zh-TW" altLang="en-US" dirty="0"/>
              <a:t>點積</a:t>
            </a:r>
            <a:endParaRPr lang="en-US" altLang="zh-TW" dirty="0"/>
          </a:p>
          <a:p>
            <a:r>
              <a:rPr lang="en-US" altLang="zh-TW" dirty="0"/>
              <a:t>a · b (</a:t>
            </a:r>
            <a:r>
              <a:rPr lang="en-US" altLang="zh-TW" dirty="0" err="1"/>
              <a:t>a,b</a:t>
            </a:r>
            <a:r>
              <a:rPr lang="zh-TW" altLang="en-US" dirty="0"/>
              <a:t>為同維向量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結果為小數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可以想成</a:t>
            </a:r>
            <a:r>
              <a:rPr lang="en-US" altLang="zh-TW" dirty="0"/>
              <a:t>a </a:t>
            </a:r>
            <a:r>
              <a:rPr lang="zh-TW" altLang="en-US" dirty="0"/>
              <a:t>在 </a:t>
            </a:r>
            <a:r>
              <a:rPr lang="en-US" altLang="zh-TW" dirty="0"/>
              <a:t>b</a:t>
            </a:r>
            <a:r>
              <a:rPr lang="zh-TW" altLang="en-US" dirty="0"/>
              <a:t>方向上的投影</a:t>
            </a:r>
            <a:endParaRPr lang="en-US" altLang="zh-TW" dirty="0"/>
          </a:p>
          <a:p>
            <a:r>
              <a:rPr lang="zh-TW" altLang="en-US" dirty="0"/>
              <a:t>可用來計算角度，如數值越大就代表</a:t>
            </a:r>
            <a:r>
              <a:rPr lang="en-US" altLang="zh-TW" dirty="0"/>
              <a:t>a</a:t>
            </a:r>
            <a:r>
              <a:rPr lang="zh-TW" altLang="en-US" dirty="0"/>
              <a:t>的角度越接近</a:t>
            </a:r>
            <a:r>
              <a:rPr lang="en-US" altLang="zh-TW" dirty="0"/>
              <a:t>b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B20E3EB-B127-7774-4A9A-9FBA63100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136" y="4149080"/>
            <a:ext cx="3069996" cy="222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3610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BD9446-5B42-1823-4830-0388E70A7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982" y="910711"/>
            <a:ext cx="8229600" cy="1066800"/>
          </a:xfrm>
        </p:spPr>
        <p:txBody>
          <a:bodyPr/>
          <a:lstStyle/>
          <a:p>
            <a:r>
              <a:rPr lang="zh-TW" altLang="en-US" dirty="0"/>
              <a:t>英文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4CDDAF0-D373-5069-0A1C-31D5DC8D0D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213533"/>
              </p:ext>
            </p:extLst>
          </p:nvPr>
        </p:nvGraphicFramePr>
        <p:xfrm>
          <a:off x="611560" y="1988840"/>
          <a:ext cx="8075240" cy="448308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088232">
                  <a:extLst>
                    <a:ext uri="{9D8B030D-6E8A-4147-A177-3AD203B41FA5}">
                      <a16:colId xmlns:a16="http://schemas.microsoft.com/office/drawing/2014/main" val="17316374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2426916"/>
                    </a:ext>
                  </a:extLst>
                </a:gridCol>
                <a:gridCol w="4330824">
                  <a:extLst>
                    <a:ext uri="{9D8B030D-6E8A-4147-A177-3AD203B41FA5}">
                      <a16:colId xmlns:a16="http://schemas.microsoft.com/office/drawing/2014/main" val="1836957082"/>
                    </a:ext>
                  </a:extLst>
                </a:gridCol>
              </a:tblGrid>
              <a:tr h="712088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Vector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向量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zh-TW" altLang="en-US" sz="1600" b="0" dirty="0">
                          <a:latin typeface="+mj-ea"/>
                          <a:ea typeface="+mj-ea"/>
                        </a:rPr>
                        <a:t>多個實數組成的數組，代表一個有方向性的數值，通常為</a:t>
                      </a:r>
                      <a:r>
                        <a:rPr lang="en-US" altLang="zh-TW" sz="1600" b="0" dirty="0">
                          <a:latin typeface="+mj-ea"/>
                          <a:ea typeface="+mj-ea"/>
                        </a:rPr>
                        <a:t>3</a:t>
                      </a:r>
                      <a:r>
                        <a:rPr lang="zh-TW" altLang="en-US" sz="1600" b="0" dirty="0">
                          <a:latin typeface="+mj-ea"/>
                          <a:ea typeface="+mj-ea"/>
                        </a:rPr>
                        <a:t>個實數，如 </a:t>
                      </a:r>
                      <a:r>
                        <a:rPr lang="en-US" altLang="zh-TW" sz="1600" b="0" dirty="0">
                          <a:latin typeface="+mj-ea"/>
                          <a:ea typeface="+mj-ea"/>
                        </a:rPr>
                        <a:t>(0.5,1.5,2.5)</a:t>
                      </a:r>
                      <a:endParaRPr lang="zh-TW" altLang="en-US" sz="1600" b="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4294642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Add/Plus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加法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zh-TW" altLang="en-US" sz="1600" b="0" dirty="0">
                          <a:latin typeface="+mj-ea"/>
                          <a:ea typeface="+mj-ea"/>
                        </a:rPr>
                        <a:t>加法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8589204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Minus/Subtract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減法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zh-TW" altLang="en-US" sz="1600" b="0" dirty="0">
                          <a:latin typeface="+mj-ea"/>
                          <a:ea typeface="+mj-ea"/>
                        </a:rPr>
                        <a:t>減法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5265624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Times/Multiply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乘法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zh-TW" altLang="en-US" sz="1600" b="0" dirty="0">
                          <a:latin typeface="+mj-ea"/>
                          <a:ea typeface="+mj-ea"/>
                        </a:rPr>
                        <a:t>乘法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6584998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Product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乘積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乘法的結果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2872403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Unit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單位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即「單位量詞」中的單位</a:t>
                      </a:r>
                      <a:br>
                        <a:rPr kumimoji="0" lang="en-US" altLang="zh-TW" sz="16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</a:br>
                      <a:r>
                        <a:rPr kumimoji="0" lang="zh-TW" altLang="en-US" sz="16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但英文中也可以視為「一單位」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9846255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Unit</a:t>
                      </a:r>
                      <a:r>
                        <a:rPr lang="zh-TW" altLang="en-US" sz="1800" b="1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Vector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單位向量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zh-TW" altLang="en-US" sz="1600" b="0" dirty="0">
                          <a:latin typeface="+mj-ea"/>
                          <a:ea typeface="+mj-ea"/>
                        </a:rPr>
                        <a:t>長度為</a:t>
                      </a:r>
                      <a:r>
                        <a:rPr lang="en-US" altLang="zh-TW" sz="1600" b="0" dirty="0">
                          <a:latin typeface="+mj-ea"/>
                          <a:ea typeface="+mj-ea"/>
                        </a:rPr>
                        <a:t>1(</a:t>
                      </a:r>
                      <a:r>
                        <a:rPr lang="zh-TW" altLang="en-US" sz="1600" b="0" dirty="0">
                          <a:latin typeface="+mj-ea"/>
                          <a:ea typeface="+mj-ea"/>
                        </a:rPr>
                        <a:t>單位</a:t>
                      </a:r>
                      <a:r>
                        <a:rPr lang="en-US" altLang="zh-TW" sz="1600" b="0" dirty="0">
                          <a:latin typeface="+mj-ea"/>
                          <a:ea typeface="+mj-ea"/>
                        </a:rPr>
                        <a:t>)</a:t>
                      </a:r>
                      <a:r>
                        <a:rPr lang="zh-TW" altLang="en-US" sz="1600" b="0" dirty="0">
                          <a:latin typeface="+mj-ea"/>
                          <a:ea typeface="+mj-ea"/>
                        </a:rPr>
                        <a:t>的向量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9957201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endParaRPr lang="zh-TW" altLang="en-US" sz="1800" b="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endParaRPr lang="zh-TW" altLang="en-US" sz="1800" b="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7729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40140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5.3</a:t>
            </a:r>
            <a:br>
              <a:rPr lang="en-US" altLang="zh-TW" dirty="0"/>
            </a:br>
            <a:r>
              <a:rPr lang="zh-TW" altLang="en-US" dirty="0"/>
              <a:t>位置、縮放、階層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dirty="0">
                <a:solidFill>
                  <a:srgbClr val="003399"/>
                </a:solidFill>
                <a:latin typeface="Times New Roman" panose="02020603050405020304" pitchFamily="18" charset="0"/>
              </a:rPr>
              <a:t>基礎遊戲引擎應用</a:t>
            </a:r>
            <a:r>
              <a:rPr lang="en-US" altLang="zh-TW" dirty="0">
                <a:solidFill>
                  <a:srgbClr val="003399"/>
                </a:solidFill>
                <a:latin typeface="Times New Roman" panose="02020603050405020304" pitchFamily="18" charset="0"/>
              </a:rPr>
              <a:t>(Y2)</a:t>
            </a:r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322508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調整物件</a:t>
            </a:r>
            <a:r>
              <a:rPr lang="en-US" altLang="zh-TW" dirty="0"/>
              <a:t>Transform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變換組件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Position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位置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Rotation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旋轉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Scale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大小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4243410"/>
            <a:ext cx="7507287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29058" y="3286124"/>
            <a:ext cx="5214942" cy="870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407595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E2AE52-5E76-C894-A622-4AAC94626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Position </a:t>
            </a:r>
            <a:r>
              <a:rPr lang="zh-TW" altLang="en-US" dirty="0"/>
              <a:t>位置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4CAAD3-B75A-D98C-DB69-0CAA84392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Vector3</a:t>
            </a:r>
            <a:r>
              <a:rPr lang="zh-TW" altLang="en-US" dirty="0"/>
              <a:t> 三維向量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手動修改數值</a:t>
            </a:r>
            <a:endParaRPr lang="en-US" altLang="zh-TW" dirty="0"/>
          </a:p>
          <a:p>
            <a:pPr lvl="1"/>
            <a:r>
              <a:rPr lang="zh-TW" altLang="en-US" dirty="0"/>
              <a:t>運算式</a:t>
            </a:r>
            <a:endParaRPr lang="en-US" altLang="zh-TW" dirty="0"/>
          </a:p>
          <a:p>
            <a:pPr lvl="1"/>
            <a:r>
              <a:rPr lang="zh-TW" altLang="en-US" dirty="0"/>
              <a:t>拖拉數值</a:t>
            </a:r>
            <a:endParaRPr lang="en-US" altLang="zh-TW" dirty="0"/>
          </a:p>
          <a:p>
            <a:r>
              <a:rPr lang="zh-TW" altLang="en-US" dirty="0"/>
              <a:t>在場景內修改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4E91AD0-8729-DB58-0644-55D017AC4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r="66287"/>
          <a:stretch/>
        </p:blipFill>
        <p:spPr bwMode="auto">
          <a:xfrm>
            <a:off x="6228184" y="4174236"/>
            <a:ext cx="2530948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126199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Scale (Vector3</a:t>
            </a:r>
            <a:r>
              <a:rPr lang="zh-TW" altLang="en-US" dirty="0"/>
              <a:t> 三維向量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Vector3</a:t>
            </a:r>
            <a:r>
              <a:rPr lang="zh-TW" altLang="en-US" dirty="0"/>
              <a:t> 三維向量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手動修改數值</a:t>
            </a:r>
            <a:endParaRPr lang="en-US" altLang="zh-TW" dirty="0"/>
          </a:p>
          <a:p>
            <a:pPr lvl="1"/>
            <a:r>
              <a:rPr lang="zh-TW" altLang="en-US" dirty="0"/>
              <a:t>運算式</a:t>
            </a:r>
            <a:endParaRPr lang="en-US" altLang="zh-TW" dirty="0"/>
          </a:p>
          <a:p>
            <a:pPr lvl="1"/>
            <a:r>
              <a:rPr lang="zh-TW" altLang="en-US" dirty="0"/>
              <a:t>等比縮放</a:t>
            </a:r>
            <a:endParaRPr lang="en-US" altLang="zh-TW" dirty="0"/>
          </a:p>
          <a:p>
            <a:pPr lvl="1"/>
            <a:r>
              <a:rPr lang="zh-TW" altLang="en-US" dirty="0"/>
              <a:t>拖拉數值</a:t>
            </a:r>
            <a:endParaRPr lang="en-US" altLang="zh-TW" dirty="0"/>
          </a:p>
          <a:p>
            <a:r>
              <a:rPr lang="zh-TW" altLang="en-US" dirty="0"/>
              <a:t>在場景內修改</a:t>
            </a:r>
          </a:p>
          <a:p>
            <a:endParaRPr lang="zh-TW" altLang="en-US" dirty="0"/>
          </a:p>
        </p:txBody>
      </p:sp>
      <p:pic>
        <p:nvPicPr>
          <p:cNvPr id="1843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43636" y="4071942"/>
            <a:ext cx="2613859" cy="2647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9450187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699BB1-8807-5A1C-DAE0-3189BF88E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D21AA3-CA00-1509-24C7-FF3F1E0E6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57422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699BB1-8807-5A1C-DAE0-3189BF88E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D21AA3-CA00-1509-24C7-FF3F1E0E6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15758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699BB1-8807-5A1C-DAE0-3189BF88E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D21AA3-CA00-1509-24C7-FF3F1E0E6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24586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699BB1-8807-5A1C-DAE0-3189BF88E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D21AA3-CA00-1509-24C7-FF3F1E0E6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03290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B060E1-0E63-5897-1C72-8F016B95D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26AB2A-D601-B81D-2675-AA14B6F0C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45341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16A7F7-1BF5-87B9-FC76-2727E9A17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在開始之前</a:t>
            </a:r>
            <a:r>
              <a:rPr lang="en-US" altLang="zh-TW" dirty="0"/>
              <a:t>..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BC5390-BDFA-6802-DD9F-DADA7D6F6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遊戲開發階段</a:t>
            </a:r>
            <a:endParaRPr lang="en-US" altLang="zh-TW" dirty="0"/>
          </a:p>
          <a:p>
            <a:pPr lvl="1"/>
            <a:r>
              <a:rPr lang="zh-TW" altLang="en-US" dirty="0"/>
              <a:t>雛型階段 </a:t>
            </a:r>
            <a:r>
              <a:rPr lang="en-US" altLang="zh-TW" dirty="0"/>
              <a:t>(prototype)</a:t>
            </a:r>
          </a:p>
          <a:p>
            <a:pPr lvl="1"/>
            <a:r>
              <a:rPr lang="zh-TW" altLang="en-US" dirty="0"/>
              <a:t>核心階段 </a:t>
            </a:r>
            <a:endParaRPr lang="en-US" altLang="zh-TW" dirty="0"/>
          </a:p>
          <a:p>
            <a:pPr lvl="1"/>
            <a:r>
              <a:rPr lang="zh-TW" altLang="en-US" dirty="0"/>
              <a:t>製作階段 </a:t>
            </a:r>
            <a:endParaRPr lang="en-US" altLang="zh-TW" dirty="0"/>
          </a:p>
          <a:p>
            <a:pPr lvl="1"/>
            <a:r>
              <a:rPr lang="zh-TW" altLang="en-US" dirty="0"/>
              <a:t>測試、完成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但這邊是初學課程，製作內容類似於雛型階段但主要目標為學習。</a:t>
            </a:r>
          </a:p>
        </p:txBody>
      </p:sp>
    </p:spTree>
    <p:extLst>
      <p:ext uri="{BB962C8B-B14F-4D97-AF65-F5344CB8AC3E}">
        <p14:creationId xmlns:p14="http://schemas.microsoft.com/office/powerpoint/2010/main" val="21920609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新增物件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Camera </a:t>
            </a:r>
            <a:r>
              <a:rPr lang="zh-TW" altLang="en-US" dirty="0"/>
              <a:t>攝影機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Light </a:t>
            </a:r>
            <a:r>
              <a:rPr lang="zh-TW" altLang="en-US" dirty="0"/>
              <a:t>燈光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3D</a:t>
            </a:r>
            <a:r>
              <a:rPr lang="zh-TW" altLang="en-US" dirty="0"/>
              <a:t> </a:t>
            </a:r>
            <a:r>
              <a:rPr lang="en-US" altLang="zh-TW" dirty="0"/>
              <a:t>Object 3D</a:t>
            </a:r>
            <a:r>
              <a:rPr lang="zh-TW" altLang="en-US" dirty="0"/>
              <a:t>物件</a:t>
            </a:r>
            <a:endParaRPr lang="en-US" altLang="zh-TW" dirty="0"/>
          </a:p>
          <a:p>
            <a:pPr lvl="1">
              <a:buNone/>
            </a:pPr>
            <a:endParaRPr lang="zh-TW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Unity</a:t>
            </a:r>
            <a:r>
              <a:rPr lang="zh-TW" altLang="en-US" dirty="0"/>
              <a:t>：左手座標系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2285992"/>
            <a:ext cx="2398579" cy="3979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14810" y="2500306"/>
            <a:ext cx="3643338" cy="3691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調整物件</a:t>
            </a:r>
            <a:r>
              <a:rPr lang="en-US" altLang="zh-TW" dirty="0"/>
              <a:t>Transform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變換組件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Position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位置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Rotation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旋轉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Scale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大小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4243410"/>
            <a:ext cx="7507287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29058" y="3286124"/>
            <a:ext cx="5214942" cy="870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Transform </a:t>
            </a:r>
            <a:r>
              <a:rPr lang="en-US" altLang="zh-TW" sz="2800" dirty="0"/>
              <a:t>(3D</a:t>
            </a:r>
            <a:r>
              <a:rPr lang="zh-TW" altLang="en-US" sz="2800" dirty="0"/>
              <a:t>物件的基本</a:t>
            </a:r>
            <a:r>
              <a:rPr lang="en-US" altLang="zh-TW" sz="2800" dirty="0"/>
              <a:t>Component)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Position</a:t>
            </a:r>
          </a:p>
          <a:p>
            <a:pPr lvl="1"/>
            <a:r>
              <a:rPr lang="en-US" altLang="zh-TW" dirty="0"/>
              <a:t>Vector 3 (</a:t>
            </a:r>
            <a:r>
              <a:rPr lang="zh-TW" altLang="en-US" dirty="0"/>
              <a:t>三維向量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Rotation</a:t>
            </a:r>
          </a:p>
          <a:p>
            <a:pPr lvl="1"/>
            <a:r>
              <a:rPr lang="en-US" altLang="zh-TW" dirty="0"/>
              <a:t>Quaternion (</a:t>
            </a:r>
            <a:r>
              <a:rPr lang="zh-TW" altLang="en-US" dirty="0"/>
              <a:t>四元數、歐拉角顯示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Scale</a:t>
            </a:r>
          </a:p>
          <a:p>
            <a:pPr lvl="1"/>
            <a:r>
              <a:rPr lang="en-US" altLang="zh-TW" dirty="0"/>
              <a:t>Vector 3 (</a:t>
            </a:r>
            <a:r>
              <a:rPr lang="zh-TW" altLang="en-US" dirty="0"/>
              <a:t>三維向量</a:t>
            </a:r>
            <a:r>
              <a:rPr lang="en-US" altLang="zh-TW" dirty="0"/>
              <a:t>)</a:t>
            </a:r>
          </a:p>
          <a:p>
            <a:pPr lvl="1"/>
            <a:endParaRPr lang="zh-TW" altLang="en-US" dirty="0"/>
          </a:p>
        </p:txBody>
      </p:sp>
      <p:pic>
        <p:nvPicPr>
          <p:cNvPr id="1026" name="Picture 2" descr="enter image description here"/>
          <p:cNvPicPr>
            <a:picLocks noChangeAspect="1" noChangeArrowheads="1"/>
          </p:cNvPicPr>
          <p:nvPr/>
        </p:nvPicPr>
        <p:blipFill>
          <a:blip r:embed="rId2"/>
          <a:srcRect l="50714"/>
          <a:stretch>
            <a:fillRect/>
          </a:stretch>
        </p:blipFill>
        <p:spPr bwMode="auto">
          <a:xfrm>
            <a:off x="5429256" y="4166149"/>
            <a:ext cx="3714744" cy="26918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Position (Vector3</a:t>
            </a:r>
            <a:r>
              <a:rPr lang="zh-TW" altLang="en-US" dirty="0"/>
              <a:t> 三維向量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zh-TW" altLang="en-US" dirty="0"/>
              <a:t>座標</a:t>
            </a:r>
            <a:r>
              <a:rPr lang="en-US" altLang="zh-TW" dirty="0"/>
              <a:t> </a:t>
            </a:r>
            <a:r>
              <a:rPr lang="en-US" altLang="zh-TW" dirty="0" err="1"/>
              <a:t>vs</a:t>
            </a:r>
            <a:r>
              <a:rPr lang="en-US" altLang="zh-TW" dirty="0"/>
              <a:t> </a:t>
            </a:r>
            <a:r>
              <a:rPr lang="zh-TW" altLang="en-US" dirty="0"/>
              <a:t>向量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距離 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95725" y="3790950"/>
            <a:ext cx="5248275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3"/>
          <a:srcRect t="19118"/>
          <a:stretch>
            <a:fillRect/>
          </a:stretch>
        </p:blipFill>
        <p:spPr bwMode="auto">
          <a:xfrm>
            <a:off x="1643042" y="3610343"/>
            <a:ext cx="2286016" cy="60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 descr="https://cdn.discordapp.com/attachments/972022182286864434/1318158048790843402/images.png?ex=6763f0d9&amp;is=67629f59&amp;hm=8db7f68d3873ba12890b3441a599a1db8cfdc044d17f1a681e0ac76131237af4&amp;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-71471" y="4357694"/>
            <a:ext cx="3864677" cy="257176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Rotation (Quaternion</a:t>
            </a:r>
            <a:r>
              <a:rPr lang="zh-TW" altLang="en-US" dirty="0"/>
              <a:t> 四元數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(</a:t>
            </a:r>
            <a:r>
              <a:rPr lang="en-US" altLang="zh-TW" dirty="0" err="1"/>
              <a:t>x,y,z,w</a:t>
            </a:r>
            <a:r>
              <a:rPr lang="en-US" altLang="zh-TW" dirty="0"/>
              <a:t>)</a:t>
            </a:r>
            <a:r>
              <a:rPr lang="zh-TW" altLang="en-US" dirty="0"/>
              <a:t> 且距離為</a:t>
            </a:r>
            <a:r>
              <a:rPr lang="en-US" altLang="zh-TW" dirty="0"/>
              <a:t>1</a:t>
            </a:r>
          </a:p>
          <a:p>
            <a:r>
              <a:rPr lang="zh-TW" altLang="en-US" dirty="0"/>
              <a:t>歐拉角的運算</a:t>
            </a:r>
            <a:endParaRPr lang="en-US" altLang="zh-TW" dirty="0"/>
          </a:p>
          <a:p>
            <a:pPr lvl="1"/>
            <a:r>
              <a:rPr lang="en-US" altLang="zh-TW" dirty="0"/>
              <a:t>(90,0,0) = (90,90,90)</a:t>
            </a:r>
          </a:p>
          <a:p>
            <a:pPr lvl="1"/>
            <a:endParaRPr lang="en-US" altLang="zh-TW" dirty="0"/>
          </a:p>
          <a:p>
            <a:r>
              <a:rPr lang="zh-TW" altLang="en-US" dirty="0"/>
              <a:t>運算速度與複雜性</a:t>
            </a:r>
            <a:endParaRPr lang="en-US" altLang="zh-TW" dirty="0"/>
          </a:p>
          <a:p>
            <a:pPr lvl="1"/>
            <a:r>
              <a:rPr lang="zh-TW" altLang="en-US" dirty="0"/>
              <a:t>使用矩陣相乘計算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Picture 4" descr="The axes of Unitys left-handed coordinate system, showing that the direction of rotation from the positive x-axis to the positive y-axis is counterclockwise when looking along the positive z-axis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00694" y="3429000"/>
            <a:ext cx="3133725" cy="28098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Scale (Vector3</a:t>
            </a:r>
            <a:r>
              <a:rPr lang="zh-TW" altLang="en-US" dirty="0"/>
              <a:t> 三維向量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控制物件大小</a:t>
            </a:r>
            <a:endParaRPr lang="en-US" altLang="zh-TW" dirty="0"/>
          </a:p>
          <a:p>
            <a:pPr lvl="1"/>
            <a:r>
              <a:rPr lang="zh-TW" altLang="en-US" dirty="0"/>
              <a:t>子物件也會被影響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可拖拉中間的白點，使其整體一起縮放</a:t>
            </a:r>
          </a:p>
          <a:p>
            <a:pPr lvl="1"/>
            <a:endParaRPr lang="zh-TW" altLang="en-US" dirty="0"/>
          </a:p>
        </p:txBody>
      </p:sp>
      <p:pic>
        <p:nvPicPr>
          <p:cNvPr id="1843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43636" y="4071942"/>
            <a:ext cx="2613859" cy="2647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物件階層與</a:t>
            </a:r>
            <a:r>
              <a:rPr lang="en-US" altLang="zh-TW" dirty="0"/>
              <a:t>transform</a:t>
            </a:r>
            <a:r>
              <a:rPr lang="zh-TW" altLang="en-US" dirty="0"/>
              <a:t>關係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階層概念與影響</a:t>
            </a:r>
            <a:endParaRPr lang="en-US" altLang="zh-TW" dirty="0"/>
          </a:p>
          <a:p>
            <a:pPr lvl="1"/>
            <a:r>
              <a:rPr lang="en-US" altLang="zh-TW" dirty="0"/>
              <a:t>Position</a:t>
            </a:r>
          </a:p>
          <a:p>
            <a:pPr lvl="1"/>
            <a:r>
              <a:rPr lang="en-US" altLang="zh-TW" dirty="0"/>
              <a:t>Rotation</a:t>
            </a:r>
          </a:p>
          <a:p>
            <a:pPr lvl="1"/>
            <a:r>
              <a:rPr lang="en-US" altLang="zh-TW" dirty="0"/>
              <a:t>Scale</a:t>
            </a:r>
          </a:p>
          <a:p>
            <a:pPr>
              <a:buNone/>
            </a:pPr>
            <a:endParaRPr lang="en-US" altLang="zh-TW" dirty="0"/>
          </a:p>
          <a:p>
            <a:r>
              <a:rPr lang="zh-TW" altLang="en-US" dirty="0"/>
              <a:t>常見用法</a:t>
            </a:r>
            <a:endParaRPr lang="en-US" altLang="zh-TW" dirty="0"/>
          </a:p>
          <a:p>
            <a:pPr lvl="1"/>
            <a:r>
              <a:rPr lang="zh-TW" altLang="en-US" dirty="0"/>
              <a:t>視為單一的群組物件</a:t>
            </a:r>
            <a:endParaRPr lang="en-US" altLang="zh-TW" dirty="0"/>
          </a:p>
          <a:p>
            <a:pPr lvl="1"/>
            <a:r>
              <a:rPr lang="zh-TW" altLang="en-US" dirty="0"/>
              <a:t>關節與動畫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Scene </a:t>
            </a:r>
            <a:r>
              <a:rPr lang="zh-TW" altLang="en-US" dirty="0"/>
              <a:t>場景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建立場景</a:t>
            </a:r>
            <a:endParaRPr lang="en-US" altLang="zh-TW" dirty="0"/>
          </a:p>
          <a:p>
            <a:pPr lvl="1"/>
            <a:r>
              <a:rPr lang="zh-TW" altLang="en-US" dirty="0"/>
              <a:t>場景種類</a:t>
            </a:r>
            <a:endParaRPr lang="en-US" altLang="zh-TW" dirty="0"/>
          </a:p>
          <a:p>
            <a:pPr lvl="1"/>
            <a:r>
              <a:rPr lang="en-US" altLang="zh-TW" dirty="0"/>
              <a:t>Load additively</a:t>
            </a:r>
          </a:p>
          <a:p>
            <a:r>
              <a:rPr lang="zh-TW" altLang="en-US" dirty="0"/>
              <a:t>開啟場景</a:t>
            </a:r>
            <a:endParaRPr lang="en-US" altLang="zh-TW" dirty="0"/>
          </a:p>
          <a:p>
            <a:r>
              <a:rPr lang="zh-TW" altLang="en-US" dirty="0"/>
              <a:t>儲存場景</a:t>
            </a:r>
            <a:endParaRPr lang="en-US" altLang="zh-TW" dirty="0"/>
          </a:p>
          <a:p>
            <a:pPr lvl="1"/>
            <a:r>
              <a:rPr lang="en-US" altLang="zh-TW" dirty="0"/>
              <a:t>Ctrl + S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Camera (</a:t>
            </a:r>
            <a:r>
              <a:rPr lang="zh-TW" altLang="en-US" dirty="0"/>
              <a:t>攝影機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Render Type</a:t>
            </a:r>
            <a:r>
              <a:rPr lang="zh-TW" altLang="en-US" dirty="0"/>
              <a:t>：</a:t>
            </a:r>
            <a:r>
              <a:rPr lang="en-US" altLang="zh-TW" b="1" dirty="0"/>
              <a:t>Base</a:t>
            </a:r>
            <a:r>
              <a:rPr lang="en-US" altLang="zh-TW" dirty="0"/>
              <a:t> / Overlay</a:t>
            </a:r>
          </a:p>
          <a:p>
            <a:pPr lvl="1"/>
            <a:r>
              <a:rPr lang="zh-TW" altLang="en-US" dirty="0"/>
              <a:t>渲染方式：基本 </a:t>
            </a:r>
            <a:r>
              <a:rPr lang="en-US" altLang="zh-TW" dirty="0"/>
              <a:t>/ </a:t>
            </a:r>
            <a:r>
              <a:rPr lang="zh-TW" altLang="en-US" dirty="0"/>
              <a:t>覆蓋</a:t>
            </a:r>
            <a:endParaRPr lang="en-US" altLang="zh-TW" dirty="0"/>
          </a:p>
          <a:p>
            <a:r>
              <a:rPr lang="en-US" altLang="zh-TW" dirty="0"/>
              <a:t>Projection</a:t>
            </a:r>
            <a:r>
              <a:rPr lang="zh-TW" altLang="en-US" dirty="0"/>
              <a:t>：</a:t>
            </a:r>
            <a:r>
              <a:rPr lang="en-US" altLang="zh-TW" dirty="0"/>
              <a:t>Perspective / Orthographic</a:t>
            </a:r>
          </a:p>
          <a:p>
            <a:pPr lvl="1"/>
            <a:r>
              <a:rPr lang="zh-TW" altLang="en-US" dirty="0"/>
              <a:t>投影方式：透視 </a:t>
            </a:r>
            <a:r>
              <a:rPr lang="en-US" altLang="zh-TW" dirty="0"/>
              <a:t>/ </a:t>
            </a:r>
            <a:r>
              <a:rPr lang="zh-TW" altLang="en-US" dirty="0"/>
              <a:t>正交</a:t>
            </a:r>
            <a:endParaRPr lang="en-US" altLang="zh-TW" dirty="0"/>
          </a:p>
          <a:p>
            <a:r>
              <a:rPr lang="en-US" altLang="zh-TW" dirty="0"/>
              <a:t>Post Processing </a:t>
            </a:r>
            <a:r>
              <a:rPr lang="zh-TW" altLang="en-US" dirty="0"/>
              <a:t>後製處理</a:t>
            </a:r>
            <a:endParaRPr lang="en-US" altLang="zh-TW" dirty="0"/>
          </a:p>
          <a:p>
            <a:pPr lvl="1"/>
            <a:r>
              <a:rPr lang="zh-TW" altLang="en-US" dirty="0"/>
              <a:t>搭配</a:t>
            </a:r>
            <a:r>
              <a:rPr lang="en-US" altLang="zh-TW" dirty="0"/>
              <a:t>Volume</a:t>
            </a:r>
            <a:r>
              <a:rPr lang="zh-TW" altLang="en-US" dirty="0"/>
              <a:t>使用</a:t>
            </a:r>
            <a:endParaRPr lang="en-US" altLang="zh-TW" dirty="0"/>
          </a:p>
          <a:p>
            <a:pPr lvl="1"/>
            <a:r>
              <a:rPr lang="en-US" altLang="zh-TW" dirty="0"/>
              <a:t>Bloom</a:t>
            </a:r>
            <a:r>
              <a:rPr lang="zh-TW" altLang="en-US" dirty="0"/>
              <a:t>、</a:t>
            </a:r>
            <a:r>
              <a:rPr lang="en-US" altLang="zh-TW" dirty="0"/>
              <a:t>tone mapping</a:t>
            </a:r>
            <a:r>
              <a:rPr lang="zh-TW" altLang="en-US" dirty="0"/>
              <a:t>、</a:t>
            </a:r>
            <a:r>
              <a:rPr lang="en-US" altLang="zh-TW" dirty="0"/>
              <a:t>motion blur….</a:t>
            </a:r>
          </a:p>
          <a:p>
            <a:r>
              <a:rPr lang="en-US" altLang="zh-TW" dirty="0"/>
              <a:t>Culling Mask</a:t>
            </a:r>
          </a:p>
          <a:p>
            <a:pPr lvl="1"/>
            <a:r>
              <a:rPr lang="zh-TW" altLang="en-US" dirty="0"/>
              <a:t>可顯示不同</a:t>
            </a:r>
            <a:r>
              <a:rPr lang="en-US" altLang="zh-TW" dirty="0"/>
              <a:t>Layer</a:t>
            </a:r>
            <a:r>
              <a:rPr lang="zh-TW" altLang="en-US" dirty="0"/>
              <a:t>來製作其他功能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5.2</a:t>
            </a:r>
            <a:br>
              <a:rPr lang="en-US" altLang="zh-TW" dirty="0"/>
            </a:br>
            <a:r>
              <a:rPr lang="zh-TW" altLang="en-US" dirty="0"/>
              <a:t>建造</a:t>
            </a:r>
            <a:r>
              <a:rPr lang="en-US" altLang="zh-TW" dirty="0"/>
              <a:t>3D</a:t>
            </a:r>
            <a:r>
              <a:rPr lang="zh-TW" altLang="en-US" dirty="0"/>
              <a:t>遊戲世界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b="0" i="0" dirty="0">
                <a:solidFill>
                  <a:srgbClr val="003399"/>
                </a:solidFill>
                <a:effectLst/>
                <a:latin typeface="Times New Roman" panose="02020603050405020304" pitchFamily="18" charset="0"/>
              </a:rPr>
              <a:t>遊戲程式設計</a:t>
            </a:r>
            <a:endParaRPr lang="zh-TW" altLang="en-US" dirty="0"/>
          </a:p>
          <a:p>
            <a:endParaRPr lang="zh-TW" altLang="en-US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035734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CB5991-6C6F-0C47-7AAE-C159E4628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Level Design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8E14E3-D02F-75A0-C281-029C97357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025BFF4-8FB3-AD47-8B2D-8AEC82F01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546" y="2363819"/>
            <a:ext cx="8468907" cy="409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3005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Light (</a:t>
            </a:r>
            <a:r>
              <a:rPr lang="zh-TW" altLang="en-US" dirty="0"/>
              <a:t>燈光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Directional Light</a:t>
            </a:r>
          </a:p>
          <a:p>
            <a:pPr lvl="1"/>
            <a:r>
              <a:rPr lang="zh-TW" altLang="en-US" dirty="0"/>
              <a:t>太陽光、月光</a:t>
            </a:r>
            <a:endParaRPr lang="en-US" altLang="zh-TW" dirty="0"/>
          </a:p>
          <a:p>
            <a:r>
              <a:rPr lang="en-US" altLang="zh-TW" dirty="0"/>
              <a:t>Point Light</a:t>
            </a:r>
          </a:p>
          <a:p>
            <a:pPr lvl="1"/>
            <a:r>
              <a:rPr lang="zh-TW" altLang="en-US" dirty="0"/>
              <a:t>路燈、火把、蠟燭</a:t>
            </a:r>
            <a:endParaRPr lang="en-US" altLang="zh-TW" dirty="0"/>
          </a:p>
          <a:p>
            <a:r>
              <a:rPr lang="en-US" altLang="zh-TW" dirty="0"/>
              <a:t>Spot Light</a:t>
            </a:r>
          </a:p>
          <a:p>
            <a:pPr lvl="1"/>
            <a:r>
              <a:rPr lang="zh-TW" altLang="en-US" dirty="0"/>
              <a:t>探照燈、手電筒、舞台燈</a:t>
            </a:r>
            <a:endParaRPr lang="en-US" altLang="zh-TW" dirty="0"/>
          </a:p>
          <a:p>
            <a:r>
              <a:rPr lang="en-US" altLang="zh-TW" dirty="0"/>
              <a:t>Area Light</a:t>
            </a:r>
          </a:p>
          <a:p>
            <a:pPr lvl="1"/>
            <a:r>
              <a:rPr lang="zh-TW" altLang="en-US" dirty="0"/>
              <a:t>天花板壁燈、背光燈</a:t>
            </a:r>
            <a:endParaRPr lang="en-US" altLang="zh-TW" dirty="0"/>
          </a:p>
          <a:p>
            <a:pPr lvl="1"/>
            <a:r>
              <a:rPr lang="zh-TW" altLang="en-US" dirty="0"/>
              <a:t>必須要烘焙成光照貼圖 </a:t>
            </a:r>
            <a:r>
              <a:rPr lang="en-US" altLang="zh-TW" dirty="0"/>
              <a:t>(baked</a:t>
            </a:r>
            <a:r>
              <a:rPr lang="zh-TW" altLang="en-US" dirty="0"/>
              <a:t> </a:t>
            </a:r>
            <a:r>
              <a:rPr lang="en-US" altLang="zh-TW" dirty="0" err="1"/>
              <a:t>lightmap</a:t>
            </a:r>
            <a:endParaRPr lang="zh-TW" alt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Light (</a:t>
            </a:r>
            <a:r>
              <a:rPr lang="zh-TW" altLang="en-US" dirty="0"/>
              <a:t>燈光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Mode</a:t>
            </a:r>
            <a:r>
              <a:rPr lang="zh-TW" altLang="en-US" dirty="0"/>
              <a:t>：</a:t>
            </a:r>
            <a:r>
              <a:rPr lang="en-US" altLang="zh-TW" dirty="0" err="1"/>
              <a:t>Realtime</a:t>
            </a:r>
            <a:r>
              <a:rPr lang="en-US" altLang="zh-TW" dirty="0"/>
              <a:t> / </a:t>
            </a:r>
            <a:r>
              <a:rPr lang="en-US" altLang="zh-TW" b="1" dirty="0"/>
              <a:t>Mixed </a:t>
            </a:r>
            <a:r>
              <a:rPr lang="en-US" altLang="zh-TW" dirty="0"/>
              <a:t>/ Baked</a:t>
            </a:r>
          </a:p>
          <a:p>
            <a:r>
              <a:rPr lang="en-US" altLang="zh-TW" dirty="0"/>
              <a:t>Color (</a:t>
            </a:r>
            <a:r>
              <a:rPr lang="zh-TW" altLang="en-US" dirty="0"/>
              <a:t>顏色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Intensity (</a:t>
            </a:r>
            <a:r>
              <a:rPr lang="zh-TW" altLang="en-US" dirty="0"/>
              <a:t>強度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Indirect Multiplier (</a:t>
            </a:r>
            <a:r>
              <a:rPr lang="zh-TW" altLang="en-US" dirty="0"/>
              <a:t>間接強度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Global Illumination</a:t>
            </a:r>
            <a:r>
              <a:rPr lang="zh-TW" altLang="en-US" dirty="0"/>
              <a:t> 全局光照</a:t>
            </a:r>
            <a:endParaRPr lang="en-US" altLang="zh-TW" dirty="0"/>
          </a:p>
          <a:p>
            <a:pPr lvl="1"/>
            <a:r>
              <a:rPr lang="zh-TW" altLang="en-US" dirty="0"/>
              <a:t>大於</a:t>
            </a:r>
            <a:r>
              <a:rPr lang="en-US" altLang="zh-TW" dirty="0"/>
              <a:t>1</a:t>
            </a:r>
            <a:r>
              <a:rPr lang="zh-TW" altLang="en-US" dirty="0"/>
              <a:t>表示反射後增亮</a:t>
            </a:r>
            <a:endParaRPr lang="en-US" altLang="zh-TW" dirty="0"/>
          </a:p>
          <a:p>
            <a:r>
              <a:rPr lang="en-US" altLang="zh-TW" dirty="0"/>
              <a:t>Range (</a:t>
            </a:r>
            <a:r>
              <a:rPr lang="zh-TW" altLang="en-US" dirty="0"/>
              <a:t>距離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Cookie (</a:t>
            </a:r>
            <a:r>
              <a:rPr lang="zh-TW" altLang="en-US" dirty="0"/>
              <a:t>剪影</a:t>
            </a:r>
            <a:r>
              <a:rPr lang="en-US" altLang="zh-TW" dirty="0"/>
              <a:t>)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Light (</a:t>
            </a:r>
            <a:r>
              <a:rPr lang="zh-TW" altLang="en-US" dirty="0"/>
              <a:t>燈光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Window&gt;Rendering&gt;Light </a:t>
            </a:r>
            <a:r>
              <a:rPr lang="en-US" altLang="zh-TW" dirty="0" err="1"/>
              <a:t>Exploerer</a:t>
            </a:r>
            <a:endParaRPr lang="en-US" altLang="zh-TW" dirty="0"/>
          </a:p>
          <a:p>
            <a:pPr lvl="1"/>
            <a:r>
              <a:rPr lang="zh-TW" altLang="en-US" dirty="0"/>
              <a:t>整合型修改</a:t>
            </a:r>
            <a:endParaRPr lang="en-US" altLang="zh-TW" dirty="0"/>
          </a:p>
          <a:p>
            <a:pPr lvl="1">
              <a:buNone/>
            </a:pPr>
            <a:endParaRPr lang="en-US" altLang="zh-TW" dirty="0"/>
          </a:p>
          <a:p>
            <a:r>
              <a:rPr lang="zh-TW" altLang="en-US" dirty="0"/>
              <a:t>將物件改為</a:t>
            </a:r>
            <a:r>
              <a:rPr lang="en-US" altLang="zh-TW" dirty="0"/>
              <a:t>Static (</a:t>
            </a:r>
            <a:r>
              <a:rPr lang="zh-TW" altLang="en-US" dirty="0"/>
              <a:t>靜態燈光 靜態物件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Window&gt;Rendering&gt;Light</a:t>
            </a:r>
          </a:p>
          <a:p>
            <a:pPr lvl="1"/>
            <a:r>
              <a:rPr lang="en-US" altLang="zh-TW" dirty="0"/>
              <a:t>Environment/Ambient Light (</a:t>
            </a:r>
            <a:r>
              <a:rPr lang="zh-TW" altLang="en-US" dirty="0"/>
              <a:t>環境光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Baked </a:t>
            </a:r>
            <a:r>
              <a:rPr lang="en-US" altLang="zh-TW" dirty="0" err="1"/>
              <a:t>Lightmap</a:t>
            </a:r>
            <a:r>
              <a:rPr lang="en-US" altLang="zh-TW" dirty="0"/>
              <a:t> (</a:t>
            </a:r>
            <a:r>
              <a:rPr lang="zh-TW" altLang="en-US" dirty="0"/>
              <a:t>烘焙 光照貼圖</a:t>
            </a:r>
            <a:r>
              <a:rPr lang="en-US" altLang="zh-TW" dirty="0"/>
              <a:t>)</a:t>
            </a:r>
          </a:p>
          <a:p>
            <a:pPr lvl="1"/>
            <a:endParaRPr lang="zh-TW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Light</a:t>
            </a:r>
            <a:r>
              <a:rPr lang="zh-TW" altLang="en-US" dirty="0"/>
              <a:t>：</a:t>
            </a:r>
            <a:r>
              <a:rPr lang="en-US" altLang="zh-TW" dirty="0"/>
              <a:t> Light Probe Group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光照探針</a:t>
            </a:r>
            <a:endParaRPr lang="en-US" altLang="zh-TW" dirty="0"/>
          </a:p>
          <a:p>
            <a:pPr lvl="1"/>
            <a:r>
              <a:rPr lang="zh-TW" altLang="en-US" dirty="0"/>
              <a:t>使用靜態烘焙燈光時，使用</a:t>
            </a:r>
            <a:r>
              <a:rPr lang="en-US" altLang="zh-TW" dirty="0"/>
              <a:t>Light Probe</a:t>
            </a:r>
            <a:r>
              <a:rPr lang="zh-TW" altLang="en-US" dirty="0"/>
              <a:t>儲存烘焙光資訊，並藉此影響動態物件。</a:t>
            </a:r>
            <a:endParaRPr lang="en-US" altLang="zh-TW" dirty="0"/>
          </a:p>
          <a:p>
            <a:pPr>
              <a:buNone/>
            </a:pPr>
            <a:endParaRPr lang="en-US" altLang="zh-TW" dirty="0"/>
          </a:p>
        </p:txBody>
      </p:sp>
      <p:pic>
        <p:nvPicPr>
          <p:cNvPr id="3074" name="Picture 2" descr="Light Probes placed with varying density around a simple Scen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3571876"/>
            <a:ext cx="6048375" cy="31623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Light</a:t>
            </a:r>
            <a:r>
              <a:rPr lang="zh-TW" altLang="en-US" dirty="0"/>
              <a:t>：</a:t>
            </a:r>
            <a:r>
              <a:rPr lang="en-US" altLang="zh-TW" dirty="0"/>
              <a:t>Reflection Probe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反射探針</a:t>
            </a:r>
            <a:endParaRPr lang="en-US" altLang="zh-TW" dirty="0"/>
          </a:p>
          <a:p>
            <a:pPr lvl="1"/>
            <a:r>
              <a:rPr lang="zh-TW" altLang="en-US" dirty="0"/>
              <a:t>以攝影機形式將附近拍下來，再以光的形式來模擬反射效果。</a:t>
            </a:r>
          </a:p>
          <a:p>
            <a:endParaRPr lang="zh-TW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29058" y="3952875"/>
            <a:ext cx="5067300" cy="290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放入</a:t>
            </a:r>
            <a:r>
              <a:rPr lang="en-US" altLang="zh-TW" dirty="0"/>
              <a:t>3D</a:t>
            </a:r>
            <a:r>
              <a:rPr lang="zh-TW" altLang="en-US" dirty="0"/>
              <a:t>物件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Hierachy</a:t>
            </a:r>
            <a:r>
              <a:rPr lang="en-US" altLang="zh-TW" dirty="0"/>
              <a:t> &gt; </a:t>
            </a:r>
            <a:r>
              <a:rPr lang="zh-TW" altLang="en-US" dirty="0"/>
              <a:t>右鍵</a:t>
            </a:r>
            <a:r>
              <a:rPr lang="en-US" altLang="zh-TW" dirty="0"/>
              <a:t> &gt; 3D</a:t>
            </a:r>
            <a:r>
              <a:rPr lang="zh-TW" altLang="en-US" dirty="0"/>
              <a:t> </a:t>
            </a:r>
            <a:r>
              <a:rPr lang="en-US" altLang="zh-TW" dirty="0"/>
              <a:t>Object</a:t>
            </a:r>
          </a:p>
          <a:p>
            <a:pPr lvl="1"/>
            <a:r>
              <a:rPr lang="en-US" altLang="zh-TW" dirty="0"/>
              <a:t>Cube, Sphere, Capsule, Plane …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Components</a:t>
            </a:r>
          </a:p>
          <a:p>
            <a:pPr lvl="1"/>
            <a:r>
              <a:rPr lang="en-US" altLang="zh-TW" dirty="0"/>
              <a:t>Mesh</a:t>
            </a:r>
          </a:p>
          <a:p>
            <a:pPr lvl="1"/>
            <a:r>
              <a:rPr lang="en-US" altLang="zh-TW" dirty="0"/>
              <a:t>Mesh Renderer  (&amp;</a:t>
            </a:r>
            <a:r>
              <a:rPr lang="zh-TW" altLang="en-US" dirty="0"/>
              <a:t> </a:t>
            </a:r>
            <a:r>
              <a:rPr lang="en-US" altLang="zh-TW" dirty="0"/>
              <a:t>Material)</a:t>
            </a:r>
          </a:p>
          <a:p>
            <a:pPr lvl="1"/>
            <a:r>
              <a:rPr lang="en-US" altLang="zh-TW" dirty="0"/>
              <a:t>Collider</a:t>
            </a:r>
            <a:endParaRPr lang="zh-TW" alt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放入</a:t>
            </a:r>
            <a:r>
              <a:rPr lang="en-US" altLang="zh-TW" dirty="0"/>
              <a:t>3D</a:t>
            </a:r>
            <a:r>
              <a:rPr lang="zh-TW" altLang="en-US" dirty="0"/>
              <a:t>物件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其他軟體做出來的</a:t>
            </a:r>
            <a:r>
              <a:rPr lang="en-US" altLang="zh-TW" dirty="0"/>
              <a:t>3D</a:t>
            </a:r>
            <a:r>
              <a:rPr lang="zh-TW" altLang="en-US" dirty="0"/>
              <a:t>模型</a:t>
            </a:r>
            <a:endParaRPr lang="en-US" altLang="zh-TW" dirty="0"/>
          </a:p>
          <a:p>
            <a:pPr lvl="1"/>
            <a:r>
              <a:rPr lang="en-US" altLang="zh-TW" dirty="0"/>
              <a:t>Maya</a:t>
            </a:r>
          </a:p>
          <a:p>
            <a:pPr lvl="1"/>
            <a:r>
              <a:rPr lang="en-US" altLang="zh-TW" dirty="0"/>
              <a:t>3D Max</a:t>
            </a:r>
          </a:p>
          <a:p>
            <a:pPr lvl="1"/>
            <a:r>
              <a:rPr lang="en-US" altLang="zh-TW" dirty="0"/>
              <a:t>Blender</a:t>
            </a:r>
          </a:p>
          <a:p>
            <a:r>
              <a:rPr lang="zh-TW" altLang="en-US" dirty="0"/>
              <a:t>副檔名</a:t>
            </a:r>
            <a:endParaRPr lang="en-US" altLang="zh-TW" dirty="0"/>
          </a:p>
          <a:p>
            <a:pPr lvl="1"/>
            <a:r>
              <a:rPr lang="en-US" altLang="zh-TW" dirty="0"/>
              <a:t>.</a:t>
            </a:r>
            <a:r>
              <a:rPr lang="en-US" altLang="zh-TW" dirty="0" err="1"/>
              <a:t>fbx</a:t>
            </a:r>
            <a:endParaRPr lang="en-US" altLang="zh-TW" dirty="0"/>
          </a:p>
          <a:p>
            <a:pPr lvl="1"/>
            <a:r>
              <a:rPr lang="en-US" altLang="zh-TW" dirty="0"/>
              <a:t>.</a:t>
            </a:r>
            <a:r>
              <a:rPr lang="en-US" altLang="zh-TW" dirty="0" err="1"/>
              <a:t>obj</a:t>
            </a:r>
            <a:endParaRPr lang="en-US" altLang="zh-TW" dirty="0"/>
          </a:p>
          <a:p>
            <a:pPr lvl="1"/>
            <a:r>
              <a:rPr lang="en-US" altLang="zh-TW" dirty="0"/>
              <a:t>.</a:t>
            </a:r>
            <a:r>
              <a:rPr lang="en-US" altLang="zh-TW" dirty="0" err="1"/>
              <a:t>dae</a:t>
            </a:r>
            <a:endParaRPr lang="en-US" altLang="zh-TW" dirty="0"/>
          </a:p>
          <a:p>
            <a:pPr lvl="1"/>
            <a:r>
              <a:rPr lang="en-US" altLang="zh-TW" dirty="0"/>
              <a:t>.</a:t>
            </a:r>
            <a:r>
              <a:rPr lang="en-US" altLang="zh-TW" dirty="0" err="1"/>
              <a:t>dxf</a:t>
            </a:r>
            <a:endParaRPr lang="en-US" altLang="zh-TW" dirty="0"/>
          </a:p>
          <a:p>
            <a:r>
              <a:rPr lang="zh-TW" altLang="en-US" dirty="0"/>
              <a:t>在</a:t>
            </a:r>
            <a:r>
              <a:rPr lang="en-US" altLang="zh-TW" dirty="0"/>
              <a:t>Unity</a:t>
            </a:r>
            <a:r>
              <a:rPr lang="zh-TW" altLang="en-US" dirty="0"/>
              <a:t>中拉進</a:t>
            </a:r>
            <a:r>
              <a:rPr lang="en-US" altLang="zh-TW" dirty="0"/>
              <a:t>Assets</a:t>
            </a:r>
            <a:r>
              <a:rPr lang="zh-TW" altLang="en-US" dirty="0"/>
              <a:t>裡面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放入</a:t>
            </a:r>
            <a:r>
              <a:rPr lang="en-US" altLang="zh-TW" dirty="0"/>
              <a:t>3D</a:t>
            </a:r>
            <a:r>
              <a:rPr lang="zh-TW" altLang="en-US" dirty="0"/>
              <a:t>物件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unitypackage</a:t>
            </a:r>
            <a:endParaRPr lang="en-US" altLang="zh-TW" dirty="0"/>
          </a:p>
          <a:p>
            <a:pPr lvl="1"/>
            <a:r>
              <a:rPr lang="zh-TW" altLang="en-US" dirty="0"/>
              <a:t>匯入：在</a:t>
            </a:r>
            <a:r>
              <a:rPr lang="en-US" altLang="zh-TW" dirty="0"/>
              <a:t>Unity</a:t>
            </a:r>
            <a:r>
              <a:rPr lang="zh-TW" altLang="en-US" dirty="0"/>
              <a:t>中拉進</a:t>
            </a:r>
            <a:r>
              <a:rPr lang="en-US" altLang="zh-TW" dirty="0"/>
              <a:t>Assets</a:t>
            </a:r>
            <a:r>
              <a:rPr lang="zh-TW" altLang="en-US" dirty="0"/>
              <a:t>裡面</a:t>
            </a:r>
          </a:p>
          <a:p>
            <a:pPr lvl="1"/>
            <a:r>
              <a:rPr lang="zh-TW" altLang="en-US" dirty="0"/>
              <a:t>匯出：</a:t>
            </a:r>
            <a:r>
              <a:rPr lang="en-US" altLang="zh-TW" dirty="0"/>
              <a:t>Assets &gt; </a:t>
            </a:r>
            <a:r>
              <a:rPr lang="zh-TW" altLang="en-US" dirty="0"/>
              <a:t>右鍵 </a:t>
            </a:r>
            <a:r>
              <a:rPr lang="en-US" altLang="zh-TW" dirty="0"/>
              <a:t>&gt;</a:t>
            </a:r>
            <a:r>
              <a:rPr lang="zh-TW" altLang="en-US" dirty="0"/>
              <a:t> </a:t>
            </a:r>
            <a:r>
              <a:rPr lang="en-US" altLang="zh-TW" dirty="0"/>
              <a:t>Export Package</a:t>
            </a:r>
          </a:p>
          <a:p>
            <a:pPr lvl="1"/>
            <a:endParaRPr lang="en-US" altLang="zh-TW" dirty="0"/>
          </a:p>
          <a:p>
            <a:r>
              <a:rPr lang="zh-TW" altLang="en-US" dirty="0"/>
              <a:t>以</a:t>
            </a:r>
            <a:r>
              <a:rPr lang="en-US" altLang="zh-TW" dirty="0"/>
              <a:t>FPS</a:t>
            </a:r>
            <a:r>
              <a:rPr lang="zh-TW" altLang="en-US" dirty="0"/>
              <a:t>模式試玩</a:t>
            </a:r>
            <a:endParaRPr lang="en-US" altLang="zh-TW" dirty="0"/>
          </a:p>
          <a:p>
            <a:pPr lvl="1"/>
            <a:r>
              <a:rPr lang="en-US" altLang="zh-TW" dirty="0"/>
              <a:t>TODO</a:t>
            </a:r>
            <a:r>
              <a:rPr lang="zh-TW" altLang="en-US" dirty="0"/>
              <a:t>：</a:t>
            </a:r>
            <a:r>
              <a:rPr lang="en-US" altLang="zh-TW" dirty="0"/>
              <a:t>LINK	</a:t>
            </a:r>
            <a:endParaRPr lang="zh-TW" alt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放入</a:t>
            </a:r>
            <a:r>
              <a:rPr lang="en-US" altLang="zh-TW" dirty="0"/>
              <a:t>3D</a:t>
            </a:r>
            <a:r>
              <a:rPr lang="zh-TW" altLang="en-US" dirty="0"/>
              <a:t>物件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Asset Store</a:t>
            </a:r>
          </a:p>
          <a:p>
            <a:pPr lvl="1"/>
            <a:r>
              <a:rPr lang="en-US" altLang="zh-TW" dirty="0">
                <a:hlinkClick r:id="rId2"/>
              </a:rPr>
              <a:t>Unity</a:t>
            </a:r>
            <a:r>
              <a:rPr lang="zh-TW" altLang="en-US" dirty="0">
                <a:hlinkClick r:id="rId2"/>
              </a:rPr>
              <a:t>官方提供</a:t>
            </a:r>
            <a:endParaRPr lang="en-US" altLang="zh-TW" dirty="0"/>
          </a:p>
          <a:p>
            <a:pPr lvl="1"/>
            <a:r>
              <a:rPr lang="zh-TW" altLang="en-US" dirty="0"/>
              <a:t>其他免費或付費素材 </a:t>
            </a:r>
            <a:r>
              <a:rPr lang="en-US" altLang="zh-TW" dirty="0"/>
              <a:t>(</a:t>
            </a:r>
            <a:r>
              <a:rPr lang="zh-TW" altLang="en-US" dirty="0"/>
              <a:t>注意授權</a:t>
            </a:r>
            <a:r>
              <a:rPr lang="en-US" altLang="zh-TW" dirty="0"/>
              <a:t>)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Window &gt; Package Manager</a:t>
            </a:r>
          </a:p>
          <a:p>
            <a:pPr lvl="1"/>
            <a:r>
              <a:rPr lang="en-US" altLang="zh-TW" dirty="0"/>
              <a:t>Download &gt; Import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放入</a:t>
            </a:r>
            <a:r>
              <a:rPr lang="en-US" altLang="zh-TW" dirty="0"/>
              <a:t>3D</a:t>
            </a:r>
            <a:r>
              <a:rPr lang="zh-TW" altLang="en-US" dirty="0"/>
              <a:t>物件 </a:t>
            </a:r>
            <a:r>
              <a:rPr lang="en-US" altLang="zh-TW" dirty="0"/>
              <a:t>(Terrain</a:t>
            </a:r>
            <a:r>
              <a:rPr lang="zh-TW" altLang="en-US" dirty="0"/>
              <a:t>地形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Hierarchy</a:t>
            </a:r>
            <a:r>
              <a:rPr lang="zh-TW" altLang="en-US" dirty="0"/>
              <a:t> </a:t>
            </a:r>
            <a:r>
              <a:rPr lang="en-US" altLang="zh-TW" dirty="0"/>
              <a:t>&gt;</a:t>
            </a:r>
            <a:r>
              <a:rPr lang="zh-TW" altLang="en-US" dirty="0"/>
              <a:t> 右鍵</a:t>
            </a:r>
            <a:r>
              <a:rPr lang="en-US" altLang="zh-TW" dirty="0"/>
              <a:t> &gt; 3D Object &gt; Terrain</a:t>
            </a:r>
          </a:p>
          <a:p>
            <a:r>
              <a:rPr lang="en-US" altLang="zh-TW" dirty="0"/>
              <a:t>Paint </a:t>
            </a:r>
            <a:r>
              <a:rPr lang="en-US" altLang="zh-TW" dirty="0" err="1"/>
              <a:t>Texure</a:t>
            </a:r>
            <a:r>
              <a:rPr lang="en-US" altLang="zh-TW" dirty="0"/>
              <a:t> &gt; </a:t>
            </a:r>
            <a:r>
              <a:rPr lang="zh-TW" altLang="en-US" dirty="0"/>
              <a:t>創建</a:t>
            </a:r>
            <a:r>
              <a:rPr lang="en-US" altLang="zh-TW" dirty="0"/>
              <a:t>Layer</a:t>
            </a:r>
          </a:p>
          <a:p>
            <a:pPr lvl="1"/>
            <a:r>
              <a:rPr lang="en-US" altLang="zh-TW" dirty="0"/>
              <a:t>Unity Terrain-URP Demo Scene </a:t>
            </a:r>
          </a:p>
          <a:p>
            <a:pPr lvl="1">
              <a:buNone/>
            </a:pPr>
            <a:r>
              <a:rPr lang="en-US" altLang="zh-TW" dirty="0"/>
              <a:t>	(Window&gt;Package Manager&gt;</a:t>
            </a:r>
            <a:r>
              <a:rPr lang="zh-TW" altLang="en-US" dirty="0"/>
              <a:t>第二分頁</a:t>
            </a:r>
            <a:r>
              <a:rPr lang="en-US" altLang="zh-TW" dirty="0"/>
              <a:t>)</a:t>
            </a:r>
          </a:p>
          <a:p>
            <a:pPr lvl="1"/>
            <a:endParaRPr lang="zh-TW" alt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放入</a:t>
            </a:r>
            <a:r>
              <a:rPr lang="en-US" altLang="zh-TW" dirty="0"/>
              <a:t>3D</a:t>
            </a:r>
            <a:r>
              <a:rPr lang="zh-TW" altLang="en-US" dirty="0"/>
              <a:t>物件 </a:t>
            </a:r>
            <a:r>
              <a:rPr lang="en-US" altLang="zh-TW" dirty="0"/>
              <a:t>(Terrain</a:t>
            </a:r>
            <a:r>
              <a:rPr lang="zh-TW" altLang="en-US" dirty="0"/>
              <a:t>地形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(1)</a:t>
            </a:r>
            <a:r>
              <a:rPr lang="zh-TW" altLang="en-US" dirty="0"/>
              <a:t>擴大地形</a:t>
            </a:r>
            <a:endParaRPr lang="en-US" altLang="zh-TW" dirty="0"/>
          </a:p>
          <a:p>
            <a:r>
              <a:rPr lang="en-US" altLang="zh-TW" dirty="0"/>
              <a:t>(2)</a:t>
            </a:r>
            <a:r>
              <a:rPr lang="zh-TW" altLang="en-US" dirty="0"/>
              <a:t>繪製</a:t>
            </a:r>
            <a:endParaRPr lang="en-US" altLang="zh-TW" dirty="0"/>
          </a:p>
          <a:p>
            <a:pPr lvl="1"/>
            <a:r>
              <a:rPr lang="en-US" altLang="zh-TW" dirty="0"/>
              <a:t>Raise or Lower Terrain</a:t>
            </a:r>
          </a:p>
          <a:p>
            <a:pPr lvl="1"/>
            <a:r>
              <a:rPr lang="en-US" altLang="zh-TW" dirty="0"/>
              <a:t>Set Height</a:t>
            </a:r>
          </a:p>
          <a:p>
            <a:pPr lvl="1"/>
            <a:r>
              <a:rPr lang="en-US" altLang="zh-TW" dirty="0"/>
              <a:t>Paint</a:t>
            </a:r>
            <a:r>
              <a:rPr lang="zh-TW" altLang="en-US" dirty="0"/>
              <a:t> </a:t>
            </a:r>
            <a:r>
              <a:rPr lang="en-US" altLang="zh-TW" dirty="0"/>
              <a:t>Texture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Strength</a:t>
            </a:r>
          </a:p>
          <a:p>
            <a:pPr lvl="1"/>
            <a:r>
              <a:rPr lang="en-US" altLang="zh-TW" dirty="0"/>
              <a:t>Size</a:t>
            </a:r>
          </a:p>
          <a:p>
            <a:pPr lvl="1"/>
            <a:r>
              <a:rPr lang="en-US" altLang="zh-TW" dirty="0"/>
              <a:t>Rotation</a:t>
            </a:r>
          </a:p>
          <a:p>
            <a:pPr lvl="1"/>
            <a:r>
              <a:rPr lang="en-US" altLang="zh-TW" dirty="0"/>
              <a:t>Height  (Set Height Only)</a:t>
            </a:r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86380" y="2214554"/>
            <a:ext cx="3455813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放入</a:t>
            </a:r>
            <a:r>
              <a:rPr lang="en-US" altLang="zh-TW" dirty="0"/>
              <a:t>3D</a:t>
            </a:r>
            <a:r>
              <a:rPr lang="zh-TW" altLang="en-US" dirty="0"/>
              <a:t>物件 </a:t>
            </a:r>
            <a:r>
              <a:rPr lang="en-US" altLang="zh-TW" dirty="0"/>
              <a:t>(Terrain</a:t>
            </a:r>
            <a:r>
              <a:rPr lang="zh-TW" altLang="en-US" dirty="0"/>
              <a:t>地形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(3)</a:t>
            </a:r>
            <a:r>
              <a:rPr lang="zh-TW" altLang="en-US" dirty="0"/>
              <a:t>繪製樹木</a:t>
            </a:r>
            <a:endParaRPr lang="en-US" altLang="zh-TW" dirty="0"/>
          </a:p>
          <a:p>
            <a:pPr lvl="1"/>
            <a:r>
              <a:rPr lang="zh-TW" altLang="en-US" dirty="0"/>
              <a:t>設定</a:t>
            </a:r>
            <a:r>
              <a:rPr lang="en-US" altLang="zh-TW" dirty="0"/>
              <a:t>LOD</a:t>
            </a:r>
          </a:p>
          <a:p>
            <a:pPr lvl="1"/>
            <a:r>
              <a:rPr lang="en-US" altLang="zh-TW" dirty="0"/>
              <a:t>3DObject =&gt; Billboard</a:t>
            </a:r>
          </a:p>
          <a:p>
            <a:r>
              <a:rPr lang="en-US" altLang="zh-TW" dirty="0"/>
              <a:t>(4)</a:t>
            </a:r>
            <a:r>
              <a:rPr lang="zh-TW" altLang="en-US" dirty="0"/>
              <a:t>繪製草</a:t>
            </a:r>
            <a:endParaRPr lang="en-US" altLang="zh-TW" dirty="0"/>
          </a:p>
          <a:p>
            <a:pPr lvl="1"/>
            <a:r>
              <a:rPr lang="zh-TW" altLang="en-US"/>
              <a:t>通常無碰撞</a:t>
            </a:r>
            <a:endParaRPr lang="en-US" altLang="zh-TW" dirty="0"/>
          </a:p>
          <a:p>
            <a:pPr lvl="1"/>
            <a:r>
              <a:rPr lang="zh-TW" altLang="en-US" dirty="0"/>
              <a:t>草模型 或 面相攝影機的單片</a:t>
            </a:r>
            <a:r>
              <a:rPr lang="en-US" altLang="zh-TW" dirty="0"/>
              <a:t>Texture</a:t>
            </a:r>
          </a:p>
          <a:p>
            <a:r>
              <a:rPr lang="en-US" altLang="zh-TW" dirty="0"/>
              <a:t>(5)</a:t>
            </a:r>
            <a:r>
              <a:rPr lang="zh-TW" altLang="en-US" dirty="0"/>
              <a:t>設定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86380" y="2214554"/>
            <a:ext cx="3455813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儲存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請記得儲存場景 </a:t>
            </a:r>
            <a:r>
              <a:rPr lang="en-US" altLang="zh-TW" dirty="0"/>
              <a:t>(Scene)</a:t>
            </a:r>
          </a:p>
          <a:p>
            <a:pPr lvl="1"/>
            <a:r>
              <a:rPr lang="en-US" altLang="zh-TW" dirty="0"/>
              <a:t>Ctrl +</a:t>
            </a:r>
            <a:r>
              <a:rPr lang="zh-TW" altLang="en-US" dirty="0"/>
              <a:t> </a:t>
            </a:r>
            <a:r>
              <a:rPr lang="en-US" altLang="zh-TW" dirty="0"/>
              <a:t>S</a:t>
            </a:r>
          </a:p>
          <a:p>
            <a:pPr lvl="1"/>
            <a:endParaRPr lang="en-US" altLang="zh-TW" dirty="0"/>
          </a:p>
          <a:p>
            <a:r>
              <a:rPr lang="zh-TW" altLang="en-US" dirty="0"/>
              <a:t>儲存專案</a:t>
            </a:r>
            <a:endParaRPr lang="en-US" altLang="zh-TW" dirty="0"/>
          </a:p>
          <a:p>
            <a:pPr lvl="1"/>
            <a:r>
              <a:rPr lang="en-US" altLang="zh-TW" dirty="0"/>
              <a:t>File &gt; Save Project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Project Setting / Build Setting</a:t>
            </a:r>
          </a:p>
          <a:p>
            <a:pPr lvl="1"/>
            <a:r>
              <a:rPr lang="en-US" altLang="zh-TW" dirty="0"/>
              <a:t>Assets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4944</TotalTime>
  <Words>1753</Words>
  <Application>Microsoft Office PowerPoint</Application>
  <PresentationFormat>如螢幕大小 (4:3)</PresentationFormat>
  <Paragraphs>405</Paragraphs>
  <Slides>55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55</vt:i4>
      </vt:variant>
    </vt:vector>
  </HeadingPairs>
  <TitlesOfParts>
    <vt:vector size="60" baseType="lpstr">
      <vt:lpstr>Arial</vt:lpstr>
      <vt:lpstr>Georgia</vt:lpstr>
      <vt:lpstr>Times New Roman</vt:lpstr>
      <vt:lpstr>Wingdings 2</vt:lpstr>
      <vt:lpstr>都會</vt:lpstr>
      <vt:lpstr>Lesson 5 3D物件</vt:lpstr>
      <vt:lpstr>建立一個立方體</vt:lpstr>
      <vt:lpstr>Game Object 遊戲物件</vt:lpstr>
      <vt:lpstr>Component 元件</vt:lpstr>
      <vt:lpstr>GameObject 與 Component</vt:lpstr>
      <vt:lpstr>Transform 變換元件</vt:lpstr>
      <vt:lpstr>Postion 位置</vt:lpstr>
      <vt:lpstr>調整物件Transform (變換組件)</vt:lpstr>
      <vt:lpstr>英文</vt:lpstr>
      <vt:lpstr>Lesson 5.2 Vector</vt:lpstr>
      <vt:lpstr>Transform 變換元件</vt:lpstr>
      <vt:lpstr>Vector3 (3維向量)</vt:lpstr>
      <vt:lpstr>Vector3  (3維向量)</vt:lpstr>
      <vt:lpstr>Vector3的加法</vt:lpstr>
      <vt:lpstr>Vector3與純數的乘法</vt:lpstr>
      <vt:lpstr>Unit Vector 單位向量</vt:lpstr>
      <vt:lpstr>Vector3 減法</vt:lpstr>
      <vt:lpstr>向量外積 (cross product)</vt:lpstr>
      <vt:lpstr>向量內積 (dot product)</vt:lpstr>
      <vt:lpstr>英文</vt:lpstr>
      <vt:lpstr>Lesson 5.3 位置、縮放、階層</vt:lpstr>
      <vt:lpstr>調整物件Transform (變換組件)</vt:lpstr>
      <vt:lpstr>Position 位置</vt:lpstr>
      <vt:lpstr>Scale (Vector3 三維向量) </vt:lpstr>
      <vt:lpstr>PowerPoint 簡報</vt:lpstr>
      <vt:lpstr>PowerPoint 簡報</vt:lpstr>
      <vt:lpstr>PowerPoint 簡報</vt:lpstr>
      <vt:lpstr>PowerPoint 簡報</vt:lpstr>
      <vt:lpstr>PowerPoint 簡報</vt:lpstr>
      <vt:lpstr>在開始之前..</vt:lpstr>
      <vt:lpstr>新增物件</vt:lpstr>
      <vt:lpstr>Unity：左手座標系</vt:lpstr>
      <vt:lpstr>調整物件Transform (變換組件)</vt:lpstr>
      <vt:lpstr>Transform (3D物件的基本Component)</vt:lpstr>
      <vt:lpstr>Position (Vector3 三維向量) </vt:lpstr>
      <vt:lpstr>Rotation (Quaternion 四元數)</vt:lpstr>
      <vt:lpstr>Scale (Vector3 三維向量) </vt:lpstr>
      <vt:lpstr>物件階層與transform關係</vt:lpstr>
      <vt:lpstr>Scene 場景</vt:lpstr>
      <vt:lpstr>Camera (攝影機)</vt:lpstr>
      <vt:lpstr>Lesson 5.2 建造3D遊戲世界</vt:lpstr>
      <vt:lpstr>Level Design</vt:lpstr>
      <vt:lpstr>Light (燈光)</vt:lpstr>
      <vt:lpstr>Light (燈光)</vt:lpstr>
      <vt:lpstr>Light (燈光)</vt:lpstr>
      <vt:lpstr>Light： Light Probe Group</vt:lpstr>
      <vt:lpstr>Light：Reflection Probe</vt:lpstr>
      <vt:lpstr>放入3D物件</vt:lpstr>
      <vt:lpstr>放入3D物件</vt:lpstr>
      <vt:lpstr>放入3D物件</vt:lpstr>
      <vt:lpstr>放入3D物件</vt:lpstr>
      <vt:lpstr>放入3D物件 (Terrain地形)</vt:lpstr>
      <vt:lpstr>放入3D物件 (Terrain地形)</vt:lpstr>
      <vt:lpstr>放入3D物件 (Terrain地形)</vt:lpstr>
      <vt:lpstr>儲存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255</cp:revision>
  <dcterms:created xsi:type="dcterms:W3CDTF">2024-11-18T05:57:07Z</dcterms:created>
  <dcterms:modified xsi:type="dcterms:W3CDTF">2025-06-12T06:55:30Z</dcterms:modified>
</cp:coreProperties>
</file>