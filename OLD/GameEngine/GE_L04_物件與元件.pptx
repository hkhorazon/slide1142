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92" r:id="rId3"/>
    <p:sldId id="327" r:id="rId4"/>
    <p:sldId id="320" r:id="rId5"/>
    <p:sldId id="294" r:id="rId6"/>
    <p:sldId id="295" r:id="rId7"/>
    <p:sldId id="264" r:id="rId8"/>
    <p:sldId id="319" r:id="rId9"/>
    <p:sldId id="328" r:id="rId10"/>
    <p:sldId id="321" r:id="rId11"/>
    <p:sldId id="326" r:id="rId12"/>
    <p:sldId id="322" r:id="rId13"/>
    <p:sldId id="323" r:id="rId14"/>
    <p:sldId id="330" r:id="rId15"/>
    <p:sldId id="329" r:id="rId16"/>
    <p:sldId id="324" r:id="rId17"/>
    <p:sldId id="325" r:id="rId18"/>
    <p:sldId id="293" r:id="rId19"/>
    <p:sldId id="332" r:id="rId20"/>
    <p:sldId id="331" r:id="rId21"/>
    <p:sldId id="334" r:id="rId22"/>
    <p:sldId id="336" r:id="rId23"/>
    <p:sldId id="337" r:id="rId24"/>
    <p:sldId id="333" r:id="rId25"/>
    <p:sldId id="341" r:id="rId26"/>
    <p:sldId id="342" r:id="rId27"/>
    <p:sldId id="338" r:id="rId28"/>
    <p:sldId id="349" r:id="rId29"/>
    <p:sldId id="339" r:id="rId30"/>
    <p:sldId id="340" r:id="rId31"/>
    <p:sldId id="348" r:id="rId32"/>
    <p:sldId id="343" r:id="rId33"/>
    <p:sldId id="335" r:id="rId34"/>
    <p:sldId id="347" r:id="rId35"/>
    <p:sldId id="344" r:id="rId36"/>
    <p:sldId id="350" r:id="rId37"/>
    <p:sldId id="345" r:id="rId38"/>
    <p:sldId id="346" r:id="rId39"/>
    <p:sldId id="351" r:id="rId40"/>
    <p:sldId id="352" r:id="rId41"/>
    <p:sldId id="353" r:id="rId42"/>
    <p:sldId id="355" r:id="rId43"/>
    <p:sldId id="354" r:id="rId44"/>
    <p:sldId id="356" r:id="rId45"/>
    <p:sldId id="357" r:id="rId4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19" d="100"/>
          <a:sy n="119" d="100"/>
        </p:scale>
        <p:origin x="-1786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2025/10/19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2025/10/19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2025/10/19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2025/10/19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2025/10/19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docs.unity3d.com/Packages/com.unity.toonshader@0.6/manual/index.html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Lesson 4</a:t>
            </a:r>
            <a:br>
              <a:rPr lang="en-US" altLang="zh-TW" dirty="0"/>
            </a:br>
            <a:r>
              <a:rPr lang="zh-TW" altLang="en-US" dirty="0"/>
              <a:t>遊戲物件 與 元件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dirty="0">
                <a:solidFill>
                  <a:srgbClr val="003399"/>
                </a:solidFill>
                <a:latin typeface="Times New Roman" panose="02020603050405020304" pitchFamily="18" charset="0"/>
              </a:rPr>
              <a:t>基礎遊戲引擎應用</a:t>
            </a:r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8D4FB9A7-15B3-E818-46BA-67F095205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建立一個立方體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36F4EE75-5F2C-4FB2-1792-6F55013C4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5122912" cy="4325112"/>
          </a:xfrm>
        </p:spPr>
        <p:txBody>
          <a:bodyPr/>
          <a:lstStyle/>
          <a:p>
            <a:r>
              <a:rPr lang="en-US" altLang="zh-TW" dirty="0" err="1"/>
              <a:t>Hierachy</a:t>
            </a:r>
            <a:r>
              <a:rPr lang="zh-TW" altLang="en-US" dirty="0"/>
              <a:t>中按下右鍵，選擇</a:t>
            </a:r>
            <a:r>
              <a:rPr lang="en-US" altLang="zh-TW" dirty="0"/>
              <a:t>3D</a:t>
            </a:r>
            <a:r>
              <a:rPr lang="zh-TW" altLang="en-US" dirty="0"/>
              <a:t> </a:t>
            </a:r>
            <a:r>
              <a:rPr lang="en-US" altLang="zh-TW" dirty="0"/>
              <a:t>Object &gt; Cube</a:t>
            </a:r>
          </a:p>
          <a:p>
            <a:pPr marL="109728" indent="0">
              <a:buNone/>
            </a:pPr>
            <a:endParaRPr lang="en-US" altLang="zh-TW" dirty="0"/>
          </a:p>
          <a:p>
            <a:r>
              <a:rPr lang="zh-TW" altLang="en-US" dirty="0"/>
              <a:t>要在遊戲場景中建立新</a:t>
            </a:r>
            <a:r>
              <a:rPr lang="en-US" altLang="zh-TW" dirty="0"/>
              <a:t>[</a:t>
            </a:r>
            <a:r>
              <a:rPr lang="en-US" altLang="zh-TW" dirty="0" err="1"/>
              <a:t>GameObject</a:t>
            </a:r>
            <a:r>
              <a:rPr lang="zh-TW" altLang="en-US" dirty="0"/>
              <a:t>遊戲物件</a:t>
            </a:r>
            <a:r>
              <a:rPr lang="en-US" altLang="zh-TW" dirty="0"/>
              <a:t>]</a:t>
            </a:r>
            <a:r>
              <a:rPr lang="zh-TW" altLang="en-US" dirty="0"/>
              <a:t>時，通常經由此方法建立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8613D167-C3B5-078F-B644-585E86A87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166" y="476672"/>
            <a:ext cx="3104818" cy="3789040"/>
          </a:xfrm>
          <a:prstGeom prst="rect">
            <a:avLst/>
          </a:prstGeom>
        </p:spPr>
      </p:pic>
      <p:pic>
        <p:nvPicPr>
          <p:cNvPr id="8" name="內容版面配置區 4">
            <a:extLst>
              <a:ext uri="{FF2B5EF4-FFF2-40B4-BE49-F238E27FC236}">
                <a16:creationId xmlns:a16="http://schemas.microsoft.com/office/drawing/2014/main" xmlns="" id="{403CD3F0-5730-DF74-B6C9-BDF5415E2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080" y="4411980"/>
            <a:ext cx="3716959" cy="242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96476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開關物件 與 物件在場景可視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4876800"/>
            <a:ext cx="8229600" cy="1697736"/>
          </a:xfrm>
        </p:spPr>
        <p:txBody>
          <a:bodyPr/>
          <a:lstStyle/>
          <a:p>
            <a:r>
              <a:rPr lang="zh-TW" altLang="en-US" dirty="0"/>
              <a:t>點擊</a:t>
            </a:r>
            <a:r>
              <a:rPr lang="en-US" altLang="zh-TW" dirty="0" err="1"/>
              <a:t>Hierachy</a:t>
            </a:r>
            <a:r>
              <a:rPr lang="zh-TW" altLang="en-US" dirty="0"/>
              <a:t>中的眼睛可</a:t>
            </a:r>
            <a:r>
              <a:rPr lang="zh-TW" altLang="en-US" b="1" u="sng" dirty="0"/>
              <a:t>更改場景可視</a:t>
            </a:r>
            <a:endParaRPr lang="en-US" altLang="zh-TW" b="1" u="sng" dirty="0"/>
          </a:p>
          <a:p>
            <a:pPr lvl="1"/>
            <a:r>
              <a:rPr lang="zh-TW" altLang="en-US" dirty="0"/>
              <a:t>這並不會影響實際遊戲</a:t>
            </a:r>
          </a:p>
        </p:txBody>
      </p:sp>
      <p:sp>
        <p:nvSpPr>
          <p:cNvPr id="7" name="內容版面配置區 2"/>
          <p:cNvSpPr txBox="1">
            <a:spLocks/>
          </p:cNvSpPr>
          <p:nvPr/>
        </p:nvSpPr>
        <p:spPr>
          <a:xfrm>
            <a:off x="609600" y="2133600"/>
            <a:ext cx="8229600" cy="169773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 typeface="Georgia"/>
              <a:buChar char="•"/>
              <a:tabLst/>
              <a:defRPr/>
            </a:pPr>
            <a:r>
              <a:rPr lang="zh-TW" altLang="en-US" sz="2800" dirty="0"/>
              <a:t>點擊</a:t>
            </a:r>
            <a:r>
              <a:rPr lang="en-US" altLang="zh-TW" sz="2800" dirty="0"/>
              <a:t>Inspector</a:t>
            </a:r>
            <a:r>
              <a:rPr lang="zh-TW" altLang="en-US" sz="2800" dirty="0"/>
              <a:t>中的勾勾可</a:t>
            </a:r>
            <a:r>
              <a:rPr lang="zh-TW" altLang="en-US" sz="2800" b="1" u="sng" dirty="0"/>
              <a:t>關閉物件</a:t>
            </a:r>
            <a:endParaRPr lang="en-US" altLang="zh-TW" sz="2800" b="1" u="sng" dirty="0"/>
          </a:p>
          <a:p>
            <a:pPr marL="658368" lvl="1" indent="-246888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</a:pPr>
            <a:r>
              <a:rPr lang="zh-TW" altLang="en-US" sz="2600" dirty="0">
                <a:solidFill>
                  <a:schemeClr val="accent2"/>
                </a:solidFill>
              </a:rPr>
              <a:t>該物件視為不在</a:t>
            </a:r>
            <a:r>
              <a:rPr lang="en-US" altLang="zh-TW" sz="2600" dirty="0">
                <a:solidFill>
                  <a:schemeClr val="accent2"/>
                </a:solidFill>
              </a:rPr>
              <a:t>Scene/Game</a:t>
            </a:r>
            <a:r>
              <a:rPr lang="zh-TW" altLang="en-US" sz="2600" dirty="0">
                <a:solidFill>
                  <a:schemeClr val="accent2"/>
                </a:solidFill>
              </a:rPr>
              <a:t>中</a:t>
            </a:r>
            <a:endParaRPr lang="en-US" altLang="zh-TW" sz="2600" dirty="0">
              <a:solidFill>
                <a:schemeClr val="accent2"/>
              </a:solidFill>
            </a:endParaRPr>
          </a:p>
          <a:p>
            <a:pPr marL="658368" lvl="1" indent="-246888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</a:pPr>
            <a:r>
              <a:rPr lang="en-US" altLang="zh-TW" sz="2600" dirty="0" err="1">
                <a:solidFill>
                  <a:schemeClr val="accent2"/>
                </a:solidFill>
              </a:rPr>
              <a:t>Hierachy</a:t>
            </a:r>
            <a:r>
              <a:rPr lang="zh-TW" altLang="en-US" sz="2600" dirty="0">
                <a:solidFill>
                  <a:schemeClr val="accent2"/>
                </a:solidFill>
              </a:rPr>
              <a:t>中會以灰色表示</a:t>
            </a: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3375" y="3562350"/>
            <a:ext cx="3171825" cy="108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2" name="群組 11"/>
          <p:cNvGrpSpPr/>
          <p:nvPr/>
        </p:nvGrpSpPr>
        <p:grpSpPr>
          <a:xfrm>
            <a:off x="3962400" y="3467100"/>
            <a:ext cx="5095875" cy="1257300"/>
            <a:chOff x="3962400" y="3505200"/>
            <a:chExt cx="5095875" cy="1257300"/>
          </a:xfrm>
        </p:grpSpPr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962400" y="3505200"/>
              <a:ext cx="5095875" cy="1257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9" name="橢圓 8"/>
            <p:cNvSpPr/>
            <p:nvPr/>
          </p:nvSpPr>
          <p:spPr>
            <a:xfrm>
              <a:off x="4343400" y="3962400"/>
              <a:ext cx="457200" cy="45720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1" name="群組 10"/>
          <p:cNvGrpSpPr/>
          <p:nvPr/>
        </p:nvGrpSpPr>
        <p:grpSpPr>
          <a:xfrm>
            <a:off x="4114800" y="5867400"/>
            <a:ext cx="3305175" cy="571500"/>
            <a:chOff x="4114800" y="5867400"/>
            <a:chExt cx="3305175" cy="571500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114800" y="5867400"/>
              <a:ext cx="3305175" cy="5715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0" name="橢圓 9"/>
            <p:cNvSpPr/>
            <p:nvPr/>
          </p:nvSpPr>
          <p:spPr>
            <a:xfrm>
              <a:off x="4114800" y="5943600"/>
              <a:ext cx="381000" cy="38100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內容版面配置區 2"/>
          <p:cNvSpPr txBox="1">
            <a:spLocks/>
          </p:cNvSpPr>
          <p:nvPr/>
        </p:nvSpPr>
        <p:spPr>
          <a:xfrm>
            <a:off x="-8610600" y="1600200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65760" lvl="0" indent="-256032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</a:pPr>
            <a:r>
              <a:rPr lang="zh-TW" altLang="en-US" sz="2800" dirty="0"/>
              <a:t>擊</a:t>
            </a:r>
            <a:r>
              <a:rPr lang="en-US" altLang="zh-TW" sz="2800" dirty="0"/>
              <a:t>Inspector</a:t>
            </a:r>
            <a:r>
              <a:rPr lang="zh-TW" altLang="en-US" sz="2800" dirty="0"/>
              <a:t>中的勾勾可關閉物件</a:t>
            </a:r>
            <a:endParaRPr lang="en-US" altLang="zh-TW" sz="2800" dirty="0"/>
          </a:p>
          <a:p>
            <a:pPr marL="658368" lvl="1" indent="-246888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</a:pPr>
            <a:r>
              <a:rPr lang="zh-TW" altLang="en-US" sz="2400" dirty="0"/>
              <a:t>該物件視為不在</a:t>
            </a:r>
            <a:r>
              <a:rPr lang="en-US" altLang="zh-TW" sz="2400" dirty="0"/>
              <a:t>Scene/Game</a:t>
            </a:r>
            <a:r>
              <a:rPr lang="zh-TW" altLang="en-US" sz="2400" dirty="0"/>
              <a:t>中</a:t>
            </a:r>
            <a:endParaRPr lang="en-US" altLang="zh-TW" sz="2400" dirty="0"/>
          </a:p>
          <a:p>
            <a:pPr marL="658368" lvl="1" indent="-246888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</a:pPr>
            <a:r>
              <a:rPr lang="en-US" altLang="zh-TW" sz="2400" dirty="0" err="1"/>
              <a:t>Hierachy</a:t>
            </a:r>
            <a:r>
              <a:rPr lang="zh-TW" altLang="en-US" sz="2400" dirty="0"/>
              <a:t>中會以灰色表示</a:t>
            </a:r>
            <a:endParaRPr lang="en-US" altLang="zh-TW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GameObject</a:t>
            </a:r>
            <a:r>
              <a:rPr lang="en-US" altLang="zh-TW" dirty="0"/>
              <a:t> </a:t>
            </a:r>
            <a:r>
              <a:rPr lang="zh-TW" altLang="en-US" dirty="0"/>
              <a:t>與 </a:t>
            </a:r>
            <a:r>
              <a:rPr lang="en-US" altLang="zh-TW" dirty="0"/>
              <a:t>Component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在</a:t>
            </a:r>
            <a:r>
              <a:rPr lang="en-US" altLang="zh-TW" dirty="0"/>
              <a:t>Unity</a:t>
            </a:r>
            <a:r>
              <a:rPr lang="zh-TW" altLang="en-US" dirty="0"/>
              <a:t>中，在階層</a:t>
            </a:r>
            <a:r>
              <a:rPr lang="en-US" altLang="zh-TW" dirty="0"/>
              <a:t>(Hierarchy)</a:t>
            </a:r>
            <a:r>
              <a:rPr lang="zh-TW" altLang="en-US" dirty="0"/>
              <a:t>中看到的每個名稱都為一個遊戲物件</a:t>
            </a:r>
            <a:r>
              <a:rPr lang="en-US" altLang="zh-TW" dirty="0"/>
              <a:t>(Game Object)</a:t>
            </a:r>
          </a:p>
          <a:p>
            <a:endParaRPr lang="en-US" altLang="zh-TW" dirty="0"/>
          </a:p>
          <a:p>
            <a:r>
              <a:rPr lang="zh-TW" altLang="en-US" dirty="0"/>
              <a:t>每個遊戲物件可以擁有多個元件</a:t>
            </a:r>
            <a:r>
              <a:rPr lang="en-US" altLang="zh-TW" dirty="0"/>
              <a:t>(</a:t>
            </a:r>
            <a:r>
              <a:rPr lang="en-US" altLang="zh-TW" dirty="0" err="1"/>
              <a:t>Componet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zh-TW" altLang="en-US" dirty="0"/>
              <a:t>而遊戲物件必定會有變換元件</a:t>
            </a:r>
            <a:r>
              <a:rPr lang="en-US" altLang="zh-TW" dirty="0"/>
              <a:t>(Transform)</a:t>
            </a:r>
            <a:r>
              <a:rPr lang="zh-TW" altLang="en-US" dirty="0"/>
              <a:t>，</a:t>
            </a:r>
            <a:r>
              <a:rPr lang="en-US" altLang="zh-TW" dirty="0"/>
              <a:t>UI</a:t>
            </a:r>
            <a:r>
              <a:rPr lang="zh-TW" altLang="en-US" dirty="0"/>
              <a:t>物件除外。</a:t>
            </a:r>
            <a:endParaRPr lang="en-US" altLang="zh-TW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1A7EF5C5-DC2F-9B7E-CB31-26940680F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/>
              <a:t>Game Object </a:t>
            </a:r>
            <a:r>
              <a:rPr lang="zh-TW" altLang="en-US" sz="3200" dirty="0"/>
              <a:t>遊戲物件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xmlns="" id="{049E6BFB-64AF-6962-253D-A52C72F5164D}"/>
              </a:ext>
            </a:extLst>
          </p:cNvPr>
          <p:cNvSpPr txBox="1">
            <a:spLocks/>
          </p:cNvSpPr>
          <p:nvPr/>
        </p:nvSpPr>
        <p:spPr>
          <a:xfrm>
            <a:off x="457200" y="2249424"/>
            <a:ext cx="4330824" cy="43251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此時的</a:t>
            </a:r>
            <a:r>
              <a:rPr lang="en-US" altLang="zh-TW" dirty="0"/>
              <a:t>[Cube</a:t>
            </a:r>
            <a:r>
              <a:rPr lang="zh-TW" altLang="en-US" dirty="0"/>
              <a:t>立方體</a:t>
            </a:r>
            <a:r>
              <a:rPr lang="en-US" altLang="zh-TW" dirty="0"/>
              <a:t>]</a:t>
            </a:r>
            <a:r>
              <a:rPr lang="zh-TW" altLang="en-US" dirty="0"/>
              <a:t>為一個</a:t>
            </a:r>
            <a:r>
              <a:rPr lang="en-US" altLang="zh-TW" dirty="0"/>
              <a:t>[</a:t>
            </a:r>
            <a:r>
              <a:rPr lang="en-US" altLang="zh-TW" dirty="0" err="1"/>
              <a:t>GameObject</a:t>
            </a:r>
            <a:r>
              <a:rPr lang="zh-TW" altLang="en-US" dirty="0"/>
              <a:t> 遊戲物件</a:t>
            </a:r>
            <a:r>
              <a:rPr lang="en-US" altLang="zh-TW" dirty="0"/>
              <a:t>]</a:t>
            </a:r>
          </a:p>
          <a:p>
            <a:endParaRPr lang="en-US" altLang="zh-TW" dirty="0"/>
          </a:p>
          <a:p>
            <a:r>
              <a:rPr lang="zh-TW" altLang="en-US" dirty="0"/>
              <a:t>當你點擊</a:t>
            </a:r>
            <a:r>
              <a:rPr lang="en-US" altLang="zh-TW" dirty="0"/>
              <a:t>[Cube</a:t>
            </a:r>
            <a:r>
              <a:rPr lang="zh-TW" altLang="en-US" dirty="0"/>
              <a:t>立方體</a:t>
            </a:r>
            <a:r>
              <a:rPr lang="en-US" altLang="zh-TW" dirty="0"/>
              <a:t>]</a:t>
            </a:r>
            <a:r>
              <a:rPr lang="zh-TW" altLang="en-US" dirty="0"/>
              <a:t>時，</a:t>
            </a:r>
            <a:r>
              <a:rPr lang="en-US" altLang="zh-TW" dirty="0"/>
              <a:t>Inspector</a:t>
            </a:r>
            <a:r>
              <a:rPr lang="zh-TW" altLang="en-US" dirty="0"/>
              <a:t>會顯示它的詳細資訊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xmlns="" id="{9E70092B-F45C-CD90-F08E-FA1F966C9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1148540"/>
            <a:ext cx="4169009" cy="5304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49197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1A7EF5C5-DC2F-9B7E-CB31-26940680F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/>
              <a:t>Component </a:t>
            </a:r>
            <a:r>
              <a:rPr lang="zh-TW" altLang="en-US" sz="3200" dirty="0"/>
              <a:t>元件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xmlns="" id="{049E6BFB-64AF-6962-253D-A52C72F5164D}"/>
              </a:ext>
            </a:extLst>
          </p:cNvPr>
          <p:cNvSpPr txBox="1">
            <a:spLocks/>
          </p:cNvSpPr>
          <p:nvPr/>
        </p:nvSpPr>
        <p:spPr>
          <a:xfrm>
            <a:off x="457200" y="2249424"/>
            <a:ext cx="4330824" cy="43251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此時的</a:t>
            </a:r>
            <a:r>
              <a:rPr lang="en-US" altLang="zh-TW" dirty="0"/>
              <a:t>[Cube</a:t>
            </a:r>
            <a:r>
              <a:rPr lang="zh-TW" altLang="en-US" dirty="0"/>
              <a:t>立方體</a:t>
            </a:r>
            <a:r>
              <a:rPr lang="en-US" altLang="zh-TW" dirty="0"/>
              <a:t>]</a:t>
            </a:r>
            <a:r>
              <a:rPr lang="zh-TW" altLang="en-US" dirty="0"/>
              <a:t>有</a:t>
            </a:r>
            <a:r>
              <a:rPr lang="en-US" altLang="zh-TW" dirty="0"/>
              <a:t>4</a:t>
            </a:r>
            <a:r>
              <a:rPr lang="zh-TW" altLang="en-US" dirty="0"/>
              <a:t>個</a:t>
            </a:r>
            <a:r>
              <a:rPr lang="en-US" altLang="zh-TW" dirty="0"/>
              <a:t>[Component</a:t>
            </a:r>
            <a:r>
              <a:rPr lang="zh-TW" altLang="en-US" dirty="0"/>
              <a:t>元件</a:t>
            </a:r>
            <a:r>
              <a:rPr lang="en-US" altLang="zh-TW" dirty="0"/>
              <a:t>]</a:t>
            </a:r>
            <a:r>
              <a:rPr lang="zh-TW" altLang="en-US" dirty="0"/>
              <a:t>，又稱為</a:t>
            </a:r>
            <a:r>
              <a:rPr lang="en-US" altLang="zh-TW" dirty="0"/>
              <a:t>[</a:t>
            </a:r>
            <a:r>
              <a:rPr lang="en-US" altLang="zh-TW" dirty="0" err="1"/>
              <a:t>Behaviour</a:t>
            </a:r>
            <a:r>
              <a:rPr lang="zh-TW" altLang="en-US" dirty="0"/>
              <a:t>行為</a:t>
            </a:r>
            <a:r>
              <a:rPr lang="en-US" altLang="zh-TW" dirty="0"/>
              <a:t>]</a:t>
            </a:r>
          </a:p>
          <a:p>
            <a:pPr lvl="1"/>
            <a:r>
              <a:rPr lang="en-US" altLang="zh-TW" dirty="0"/>
              <a:t>Transform</a:t>
            </a:r>
          </a:p>
          <a:p>
            <a:pPr lvl="1"/>
            <a:r>
              <a:rPr lang="en-US" altLang="zh-TW" dirty="0"/>
              <a:t>Mesh Filter</a:t>
            </a:r>
          </a:p>
          <a:p>
            <a:pPr lvl="1"/>
            <a:r>
              <a:rPr lang="en-US" altLang="zh-TW" dirty="0"/>
              <a:t>Mesh Renderer</a:t>
            </a:r>
          </a:p>
          <a:p>
            <a:pPr lvl="1"/>
            <a:r>
              <a:rPr lang="en-US" altLang="zh-TW" dirty="0"/>
              <a:t>Box Collider</a:t>
            </a:r>
            <a:endParaRPr lang="zh-TW" altLang="en-US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xmlns="" id="{9E70092B-F45C-CD90-F08E-FA1F966C9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2" y="1148540"/>
            <a:ext cx="4169009" cy="5304796"/>
          </a:xfrm>
          <a:prstGeom prst="rect">
            <a:avLst/>
          </a:prstGeom>
        </p:spPr>
      </p:pic>
      <p:sp>
        <p:nvSpPr>
          <p:cNvPr id="5" name="矩形: 圓角 4">
            <a:extLst>
              <a:ext uri="{FF2B5EF4-FFF2-40B4-BE49-F238E27FC236}">
                <a16:creationId xmlns:a16="http://schemas.microsoft.com/office/drawing/2014/main" xmlns="" id="{91E3120F-1C93-FDBF-62A4-73D93FE7D68C}"/>
              </a:ext>
            </a:extLst>
          </p:cNvPr>
          <p:cNvSpPr/>
          <p:nvPr/>
        </p:nvSpPr>
        <p:spPr>
          <a:xfrm>
            <a:off x="4780926" y="1484784"/>
            <a:ext cx="4306710" cy="569137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xmlns="" id="{F05CC4E8-5DB2-A6A8-0DDD-50DFB1C04BD7}"/>
              </a:ext>
            </a:extLst>
          </p:cNvPr>
          <p:cNvSpPr/>
          <p:nvPr/>
        </p:nvSpPr>
        <p:spPr>
          <a:xfrm>
            <a:off x="4791305" y="2053921"/>
            <a:ext cx="4296329" cy="438975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xmlns="" id="{089C78E7-7231-CB30-DB35-02B0BC207999}"/>
              </a:ext>
            </a:extLst>
          </p:cNvPr>
          <p:cNvSpPr/>
          <p:nvPr/>
        </p:nvSpPr>
        <p:spPr>
          <a:xfrm>
            <a:off x="4774610" y="2504441"/>
            <a:ext cx="4313025" cy="1860664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xmlns="" id="{B26C5EF4-4983-A4CA-0BD4-C048F300320E}"/>
              </a:ext>
            </a:extLst>
          </p:cNvPr>
          <p:cNvSpPr/>
          <p:nvPr/>
        </p:nvSpPr>
        <p:spPr>
          <a:xfrm>
            <a:off x="4788024" y="4411980"/>
            <a:ext cx="4313025" cy="1681316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157849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GameObject</a:t>
            </a:r>
            <a:r>
              <a:rPr lang="en-US" altLang="zh-TW" dirty="0"/>
              <a:t> </a:t>
            </a:r>
            <a:r>
              <a:rPr lang="zh-TW" altLang="en-US" dirty="0"/>
              <a:t>與 </a:t>
            </a:r>
            <a:r>
              <a:rPr lang="en-US" altLang="zh-TW" dirty="0"/>
              <a:t>Component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err="1"/>
              <a:t>GameObject</a:t>
            </a:r>
            <a:r>
              <a:rPr lang="zh-TW" altLang="en-US" dirty="0"/>
              <a:t>：遊戲物件</a:t>
            </a:r>
            <a:endParaRPr lang="en-US" altLang="zh-TW" dirty="0"/>
          </a:p>
          <a:p>
            <a:pPr lvl="1"/>
            <a:r>
              <a:rPr lang="zh-TW" altLang="en-US" dirty="0"/>
              <a:t>表示一個遊戲物件</a:t>
            </a:r>
            <a:endParaRPr lang="en-US" altLang="zh-TW" dirty="0"/>
          </a:p>
          <a:p>
            <a:pPr lvl="1"/>
            <a:r>
              <a:rPr lang="zh-TW" altLang="en-US" dirty="0"/>
              <a:t>可擁有若干個</a:t>
            </a:r>
            <a:r>
              <a:rPr lang="en-US" altLang="zh-TW" dirty="0" err="1"/>
              <a:t>Componet</a:t>
            </a:r>
            <a:endParaRPr lang="en-US" altLang="zh-TW" dirty="0"/>
          </a:p>
          <a:p>
            <a:pPr lvl="1"/>
            <a:r>
              <a:rPr lang="zh-TW" altLang="en-US" dirty="0"/>
              <a:t>會有</a:t>
            </a:r>
            <a:r>
              <a:rPr lang="en-US" altLang="zh-TW" dirty="0"/>
              <a:t>Transform</a:t>
            </a:r>
            <a:r>
              <a:rPr lang="zh-TW" altLang="en-US" dirty="0"/>
              <a:t>或</a:t>
            </a:r>
            <a:r>
              <a:rPr lang="en-US" altLang="zh-TW" dirty="0" err="1"/>
              <a:t>RectTransform</a:t>
            </a:r>
            <a:r>
              <a:rPr lang="en-US" altLang="zh-TW" dirty="0"/>
              <a:t>(UI)</a:t>
            </a:r>
            <a:r>
              <a:rPr lang="zh-TW" altLang="en-US" dirty="0"/>
              <a:t>其中一個元件</a:t>
            </a:r>
            <a:endParaRPr lang="en-US" altLang="zh-TW" dirty="0"/>
          </a:p>
          <a:p>
            <a:r>
              <a:rPr lang="en-US" altLang="zh-TW" dirty="0"/>
              <a:t>Component</a:t>
            </a:r>
            <a:r>
              <a:rPr lang="zh-TW" altLang="en-US" dirty="0"/>
              <a:t>：元件</a:t>
            </a:r>
            <a:endParaRPr lang="en-US" altLang="zh-TW" dirty="0"/>
          </a:p>
          <a:p>
            <a:pPr lvl="1"/>
            <a:r>
              <a:rPr lang="zh-TW" altLang="en-US" sz="2400" dirty="0"/>
              <a:t>某些種類會有相斥，某些種類元件在同一個</a:t>
            </a:r>
            <a:r>
              <a:rPr lang="en-US" altLang="zh-TW" sz="2400" dirty="0"/>
              <a:t>GO</a:t>
            </a:r>
            <a:r>
              <a:rPr lang="zh-TW" altLang="en-US" sz="2400" dirty="0"/>
              <a:t>中只能有一個</a:t>
            </a:r>
            <a:endParaRPr lang="en-US" altLang="zh-TW" sz="2400" dirty="0"/>
          </a:p>
          <a:p>
            <a:pPr lvl="1"/>
            <a:r>
              <a:rPr lang="zh-TW" altLang="en-US" dirty="0"/>
              <a:t>如：</a:t>
            </a:r>
            <a:r>
              <a:rPr lang="en-US" altLang="zh-TW" dirty="0"/>
              <a:t>Transform</a:t>
            </a:r>
            <a:r>
              <a:rPr lang="zh-TW" altLang="en-US" dirty="0"/>
              <a:t>、</a:t>
            </a:r>
            <a:r>
              <a:rPr lang="en-US" altLang="zh-TW" dirty="0"/>
              <a:t>Mesh</a:t>
            </a:r>
            <a:r>
              <a:rPr lang="zh-TW" altLang="en-US" dirty="0"/>
              <a:t>、</a:t>
            </a:r>
            <a:r>
              <a:rPr lang="en-US" altLang="zh-TW" dirty="0"/>
              <a:t>Renderer</a:t>
            </a:r>
            <a:r>
              <a:rPr lang="zh-TW" altLang="en-US" dirty="0"/>
              <a:t>、</a:t>
            </a:r>
            <a:r>
              <a:rPr lang="en-US" altLang="zh-TW" dirty="0"/>
              <a:t>Light</a:t>
            </a:r>
            <a:r>
              <a:rPr lang="zh-TW" altLang="en-US" dirty="0"/>
              <a:t>、</a:t>
            </a:r>
            <a:r>
              <a:rPr lang="en-US" altLang="zh-TW" dirty="0"/>
              <a:t>Camera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元件測試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元件通常為</a:t>
            </a:r>
            <a:r>
              <a:rPr lang="en-US" altLang="zh-TW" dirty="0"/>
              <a:t>Unity</a:t>
            </a:r>
            <a:r>
              <a:rPr lang="zh-TW" altLang="en-US" dirty="0"/>
              <a:t>內建的，或由</a:t>
            </a:r>
            <a:r>
              <a:rPr lang="en-US" altLang="zh-TW" dirty="0"/>
              <a:t>C#</a:t>
            </a:r>
            <a:r>
              <a:rPr lang="zh-TW" altLang="en-US" dirty="0"/>
              <a:t>撰寫而成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目前</a:t>
            </a:r>
            <a:r>
              <a:rPr lang="zh-TW" altLang="en-US" u="sng" dirty="0"/>
              <a:t>立方體</a:t>
            </a:r>
            <a:r>
              <a:rPr lang="zh-TW" altLang="en-US" dirty="0"/>
              <a:t>上的元件較難理解，這邊有一些</a:t>
            </a:r>
            <a:r>
              <a:rPr lang="en-US" altLang="zh-TW" dirty="0"/>
              <a:t>C#</a:t>
            </a:r>
            <a:r>
              <a:rPr lang="zh-TW" altLang="en-US" dirty="0"/>
              <a:t>元件來方便理解。</a:t>
            </a:r>
            <a:endParaRPr lang="en-US" altLang="zh-TW" dirty="0"/>
          </a:p>
          <a:p>
            <a:pPr lvl="1"/>
            <a:r>
              <a:rPr lang="zh-TW" altLang="en-US" dirty="0"/>
              <a:t>水平來回移動   </a:t>
            </a:r>
            <a:r>
              <a:rPr lang="en-US" altLang="zh-TW" dirty="0" err="1"/>
              <a:t>HorizontalSwing</a:t>
            </a:r>
            <a:endParaRPr lang="en-US" altLang="zh-TW" dirty="0"/>
          </a:p>
          <a:p>
            <a:pPr lvl="1"/>
            <a:r>
              <a:rPr lang="zh-TW" altLang="en-US" dirty="0"/>
              <a:t>垂直來回移動   </a:t>
            </a:r>
            <a:r>
              <a:rPr lang="en-US" altLang="zh-TW" dirty="0" err="1"/>
              <a:t>VerticalSwing</a:t>
            </a:r>
            <a:endParaRPr lang="en-US" altLang="zh-TW" dirty="0"/>
          </a:p>
          <a:p>
            <a:pPr lvl="1"/>
            <a:r>
              <a:rPr lang="zh-TW" altLang="en-US" dirty="0"/>
              <a:t>持續旋轉          </a:t>
            </a:r>
            <a:r>
              <a:rPr lang="en-US" altLang="zh-TW" dirty="0" err="1"/>
              <a:t>SpinObject</a:t>
            </a:r>
            <a:endParaRPr lang="en-US" altLang="zh-TW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元件測試 </a:t>
            </a:r>
            <a:r>
              <a:rPr lang="en-US" altLang="zh-TW" dirty="0"/>
              <a:t>(</a:t>
            </a:r>
            <a:r>
              <a:rPr lang="zh-TW" altLang="en-US" dirty="0"/>
              <a:t>放入元件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這邊提供給你們三個元件</a:t>
            </a:r>
            <a:endParaRPr lang="en-US" altLang="zh-TW" dirty="0"/>
          </a:p>
          <a:p>
            <a:pPr lvl="1"/>
            <a:r>
              <a:rPr lang="zh-TW" altLang="en-US" dirty="0"/>
              <a:t>水平來回移動   </a:t>
            </a:r>
            <a:r>
              <a:rPr lang="en-US" altLang="zh-TW" dirty="0" err="1"/>
              <a:t>HorizontalSwing</a:t>
            </a:r>
            <a:endParaRPr lang="en-US" altLang="zh-TW" dirty="0"/>
          </a:p>
          <a:p>
            <a:pPr lvl="1"/>
            <a:r>
              <a:rPr lang="zh-TW" altLang="en-US" dirty="0"/>
              <a:t>垂直來回移動   </a:t>
            </a:r>
            <a:r>
              <a:rPr lang="en-US" altLang="zh-TW" dirty="0" err="1"/>
              <a:t>VerticalSwing</a:t>
            </a:r>
            <a:endParaRPr lang="en-US" altLang="zh-TW" dirty="0"/>
          </a:p>
          <a:p>
            <a:pPr lvl="1"/>
            <a:r>
              <a:rPr lang="zh-TW" altLang="en-US" dirty="0"/>
              <a:t>持續旋轉          </a:t>
            </a:r>
            <a:r>
              <a:rPr lang="en-US" altLang="zh-TW" dirty="0" err="1"/>
              <a:t>SpinObject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元件由</a:t>
            </a:r>
            <a:r>
              <a:rPr lang="en-US" altLang="zh-TW" dirty="0"/>
              <a:t>C#</a:t>
            </a:r>
            <a:r>
              <a:rPr lang="zh-TW" altLang="en-US" dirty="0"/>
              <a:t>程式寫成，而程式只是一種純文字檔案，只要符合規定寫法，放入遊戲專案中即可運作</a:t>
            </a:r>
            <a:endParaRPr lang="en-US" altLang="zh-TW" dirty="0"/>
          </a:p>
          <a:p>
            <a:pPr lvl="1"/>
            <a:r>
              <a:rPr lang="zh-TW" altLang="en-US" dirty="0"/>
              <a:t>所以</a:t>
            </a:r>
            <a:r>
              <a:rPr lang="zh-TW" altLang="en-US" b="1" u="sng" dirty="0">
                <a:solidFill>
                  <a:srgbClr val="FF0000"/>
                </a:solidFill>
              </a:rPr>
              <a:t>下載檔案、解壓縮、放入專案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/>
          <a:srcRect r="22286"/>
          <a:stretch>
            <a:fillRect/>
          </a:stretch>
        </p:blipFill>
        <p:spPr bwMode="auto">
          <a:xfrm>
            <a:off x="0" y="5105400"/>
            <a:ext cx="25908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67000" y="3724275"/>
            <a:ext cx="3314052" cy="305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新增元件 </a:t>
            </a:r>
            <a:r>
              <a:rPr lang="en-US" altLang="zh-TW" dirty="0"/>
              <a:t>– </a:t>
            </a:r>
            <a:r>
              <a:rPr lang="zh-TW" altLang="en-US" dirty="0"/>
              <a:t>方法</a:t>
            </a:r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藉由以下步驟，你可以在立方體上新增元件</a:t>
            </a:r>
          </a:p>
        </p:txBody>
      </p:sp>
      <p:sp>
        <p:nvSpPr>
          <p:cNvPr id="14" name="矩形 13"/>
          <p:cNvSpPr/>
          <p:nvPr/>
        </p:nvSpPr>
        <p:spPr>
          <a:xfrm>
            <a:off x="381000" y="6477000"/>
            <a:ext cx="2209800" cy="228600"/>
          </a:xfrm>
          <a:prstGeom prst="rect">
            <a:avLst/>
          </a:prstGeom>
          <a:solidFill>
            <a:srgbClr val="FF0000">
              <a:alpha val="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accent4"/>
                </a:solidFill>
              </a:ln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276600" y="6477000"/>
            <a:ext cx="2133600" cy="304800"/>
          </a:xfrm>
          <a:prstGeom prst="rect">
            <a:avLst/>
          </a:prstGeom>
          <a:solidFill>
            <a:srgbClr val="FF0000">
              <a:alpha val="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accent4"/>
                </a:solidFill>
              </a:ln>
            </a:endParaRPr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96000" y="3505200"/>
            <a:ext cx="2886269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矩形 18"/>
          <p:cNvSpPr/>
          <p:nvPr/>
        </p:nvSpPr>
        <p:spPr>
          <a:xfrm>
            <a:off x="6477000" y="4038600"/>
            <a:ext cx="2209800" cy="1295400"/>
          </a:xfrm>
          <a:prstGeom prst="rect">
            <a:avLst/>
          </a:prstGeom>
          <a:solidFill>
            <a:srgbClr val="FF0000">
              <a:alpha val="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accent4"/>
                </a:solidFill>
              </a:ln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新增元件 </a:t>
            </a:r>
            <a:r>
              <a:rPr lang="en-US" altLang="zh-TW" dirty="0"/>
              <a:t>– </a:t>
            </a:r>
            <a:r>
              <a:rPr lang="zh-TW" altLang="en-US" dirty="0"/>
              <a:t>方法</a:t>
            </a:r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你可以拖拉程式碼元件，至</a:t>
            </a:r>
            <a:r>
              <a:rPr lang="zh-TW" altLang="en-US" b="1" u="sng" dirty="0"/>
              <a:t>物件</a:t>
            </a:r>
            <a:r>
              <a:rPr lang="zh-TW" altLang="en-US" dirty="0"/>
              <a:t>上，或是拖至它</a:t>
            </a:r>
            <a:r>
              <a:rPr lang="en-US" altLang="zh-TW" b="1" u="sng" dirty="0"/>
              <a:t>inspector</a:t>
            </a:r>
            <a:r>
              <a:rPr lang="zh-TW" altLang="en-US" b="1" u="sng" dirty="0"/>
              <a:t>顯示的區域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3208488"/>
            <a:ext cx="6626225" cy="3573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直線單箭頭接點 6"/>
          <p:cNvCxnSpPr/>
          <p:nvPr/>
        </p:nvCxnSpPr>
        <p:spPr>
          <a:xfrm>
            <a:off x="2743200" y="3741888"/>
            <a:ext cx="457200" cy="762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>
            <a:off x="2743200" y="3741888"/>
            <a:ext cx="4038600" cy="14478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移除元件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點擊</a:t>
            </a:r>
            <a:r>
              <a:rPr lang="zh-TW" altLang="en-US" u="sng" dirty="0"/>
              <a:t>三個點</a:t>
            </a:r>
            <a:r>
              <a:rPr lang="zh-TW" altLang="en-US" dirty="0"/>
              <a:t>以後，可以選擇移除元件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305300"/>
            <a:ext cx="4533900" cy="255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86400" y="3857625"/>
            <a:ext cx="2886075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矩形 5"/>
          <p:cNvSpPr/>
          <p:nvPr/>
        </p:nvSpPr>
        <p:spPr>
          <a:xfrm>
            <a:off x="4191000" y="4267200"/>
            <a:ext cx="381000" cy="381000"/>
          </a:xfrm>
          <a:prstGeom prst="rect">
            <a:avLst/>
          </a:prstGeom>
          <a:solidFill>
            <a:srgbClr val="FF0000">
              <a:alpha val="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accent4"/>
                </a:solidFill>
              </a:ln>
            </a:endParaRPr>
          </a:p>
        </p:txBody>
      </p:sp>
      <p:sp>
        <p:nvSpPr>
          <p:cNvPr id="7" name="矩形 6"/>
          <p:cNvSpPr/>
          <p:nvPr/>
        </p:nvSpPr>
        <p:spPr>
          <a:xfrm>
            <a:off x="5867400" y="4191000"/>
            <a:ext cx="2667000" cy="381000"/>
          </a:xfrm>
          <a:prstGeom prst="rect">
            <a:avLst/>
          </a:prstGeom>
          <a:solidFill>
            <a:srgbClr val="FF0000">
              <a:alpha val="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accent4"/>
                </a:solidFill>
              </a:ln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開關元件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4876800" cy="4325112"/>
          </a:xfrm>
        </p:spPr>
        <p:txBody>
          <a:bodyPr/>
          <a:lstStyle/>
          <a:p>
            <a:r>
              <a:rPr lang="zh-TW" altLang="en-US" dirty="0"/>
              <a:t>如同遊戲物件，可以</a:t>
            </a:r>
            <a:r>
              <a:rPr lang="zh-TW" altLang="en-US" b="1" u="sng" dirty="0"/>
              <a:t>點擊勾</a:t>
            </a:r>
            <a:r>
              <a:rPr lang="zh-TW" altLang="en-US" dirty="0"/>
              <a:t>來開啟</a:t>
            </a:r>
            <a:r>
              <a:rPr lang="en-US" altLang="zh-TW" dirty="0"/>
              <a:t>/</a:t>
            </a:r>
            <a:r>
              <a:rPr lang="zh-TW" altLang="en-US" dirty="0"/>
              <a:t>關閉元件</a:t>
            </a:r>
            <a:endParaRPr lang="en-US" altLang="zh-TW" dirty="0"/>
          </a:p>
          <a:p>
            <a:pPr lvl="1"/>
            <a:r>
              <a:rPr lang="zh-TW" altLang="en-US" dirty="0"/>
              <a:t>關閉的元件視為未作用</a:t>
            </a:r>
            <a:endParaRPr lang="en-US" altLang="zh-TW" dirty="0"/>
          </a:p>
          <a:p>
            <a:pPr lvl="1"/>
            <a:r>
              <a:rPr lang="zh-TW" altLang="en-US" dirty="0"/>
              <a:t>部分元件不可開啟關閉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0" y="2209800"/>
            <a:ext cx="3651531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矩形 4"/>
          <p:cNvSpPr/>
          <p:nvPr/>
        </p:nvSpPr>
        <p:spPr>
          <a:xfrm>
            <a:off x="5638800" y="5181600"/>
            <a:ext cx="381000" cy="381000"/>
          </a:xfrm>
          <a:prstGeom prst="rect">
            <a:avLst/>
          </a:prstGeom>
          <a:solidFill>
            <a:srgbClr val="FF0000">
              <a:alpha val="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accent4"/>
                </a:solidFill>
              </a:ln>
            </a:endParaRPr>
          </a:p>
        </p:txBody>
      </p:sp>
      <p:sp>
        <p:nvSpPr>
          <p:cNvPr id="6" name="矩形 5"/>
          <p:cNvSpPr/>
          <p:nvPr/>
        </p:nvSpPr>
        <p:spPr>
          <a:xfrm>
            <a:off x="5638800" y="4267200"/>
            <a:ext cx="381000" cy="381000"/>
          </a:xfrm>
          <a:prstGeom prst="rect">
            <a:avLst/>
          </a:prstGeom>
          <a:solidFill>
            <a:srgbClr val="FF0000">
              <a:alpha val="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accent4"/>
                </a:solidFill>
              </a:ln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修改元件屬性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4495800" cy="4325112"/>
          </a:xfrm>
        </p:spPr>
        <p:txBody>
          <a:bodyPr>
            <a:normAutofit lnSpcReduction="10000"/>
          </a:bodyPr>
          <a:lstStyle/>
          <a:p>
            <a:r>
              <a:rPr lang="zh-TW" altLang="en-US" dirty="0"/>
              <a:t>元件依照設計者的程式寫法，它可以將部分屬性</a:t>
            </a:r>
            <a:r>
              <a:rPr lang="en-US" altLang="zh-TW" dirty="0"/>
              <a:t>/</a:t>
            </a:r>
            <a:r>
              <a:rPr lang="zh-TW" altLang="en-US" dirty="0"/>
              <a:t>欄位開放給外部來修改。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你可以在未執行</a:t>
            </a:r>
            <a:r>
              <a:rPr lang="en-US" altLang="zh-TW" dirty="0"/>
              <a:t>/</a:t>
            </a:r>
            <a:r>
              <a:rPr lang="zh-TW" altLang="en-US" dirty="0"/>
              <a:t>執行狀態來修改這些值</a:t>
            </a:r>
            <a:endParaRPr lang="en-US" altLang="zh-TW" dirty="0"/>
          </a:p>
          <a:p>
            <a:pPr lvl="1"/>
            <a:r>
              <a:rPr lang="zh-TW" altLang="en-US" dirty="0"/>
              <a:t>但執行狀態修改的將不會保存</a:t>
            </a:r>
            <a:endParaRPr lang="en-US" altLang="zh-TW" dirty="0"/>
          </a:p>
          <a:p>
            <a:pPr lvl="1"/>
            <a:r>
              <a:rPr lang="zh-TW" altLang="en-US" dirty="0"/>
              <a:t>執行狀態中也可能</a:t>
            </a:r>
            <a:r>
              <a:rPr lang="zh-TW" altLang="en-US"/>
              <a:t>看到它們自動變化</a:t>
            </a:r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0" y="2209800"/>
            <a:ext cx="3651531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矩形 4"/>
          <p:cNvSpPr/>
          <p:nvPr/>
        </p:nvSpPr>
        <p:spPr>
          <a:xfrm>
            <a:off x="5486400" y="4800600"/>
            <a:ext cx="3505200" cy="381000"/>
          </a:xfrm>
          <a:prstGeom prst="rect">
            <a:avLst/>
          </a:prstGeom>
          <a:solidFill>
            <a:srgbClr val="FF0000">
              <a:alpha val="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accent4"/>
                </a:solidFill>
              </a:ln>
            </a:endParaRPr>
          </a:p>
        </p:txBody>
      </p:sp>
      <p:sp>
        <p:nvSpPr>
          <p:cNvPr id="6" name="矩形 5"/>
          <p:cNvSpPr/>
          <p:nvPr/>
        </p:nvSpPr>
        <p:spPr>
          <a:xfrm>
            <a:off x="5486400" y="5638800"/>
            <a:ext cx="3505200" cy="381000"/>
          </a:xfrm>
          <a:prstGeom prst="rect">
            <a:avLst/>
          </a:prstGeom>
          <a:solidFill>
            <a:srgbClr val="FF0000">
              <a:alpha val="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accent4"/>
                </a:solidFill>
              </a:ln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總結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開啟</a:t>
            </a:r>
            <a:r>
              <a:rPr lang="en-US" altLang="zh-TW" dirty="0"/>
              <a:t>/</a:t>
            </a:r>
            <a:r>
              <a:rPr lang="zh-TW" altLang="en-US" dirty="0"/>
              <a:t>關閉遊戲物件 與 元件</a:t>
            </a:r>
            <a:endParaRPr lang="en-US" altLang="zh-TW" dirty="0"/>
          </a:p>
          <a:p>
            <a:pPr>
              <a:buNone/>
            </a:pPr>
            <a:r>
              <a:rPr lang="en-US" altLang="zh-TW" dirty="0"/>
              <a:t>	</a:t>
            </a:r>
            <a:r>
              <a:rPr lang="zh-TW" altLang="en-US" dirty="0"/>
              <a:t>視同於使它們存在</a:t>
            </a:r>
            <a:r>
              <a:rPr lang="en-US" altLang="zh-TW" dirty="0"/>
              <a:t>/</a:t>
            </a:r>
            <a:r>
              <a:rPr lang="zh-TW" altLang="en-US" dirty="0"/>
              <a:t>不存在</a:t>
            </a:r>
            <a:endParaRPr lang="en-US" altLang="zh-TW" dirty="0"/>
          </a:p>
          <a:p>
            <a:pPr>
              <a:buNone/>
            </a:pPr>
            <a:endParaRPr lang="en-US" altLang="zh-TW" dirty="0"/>
          </a:p>
          <a:p>
            <a:r>
              <a:rPr lang="zh-TW" altLang="en-US" dirty="0"/>
              <a:t>在執行狀態也可以開啟</a:t>
            </a:r>
            <a:r>
              <a:rPr lang="en-US" altLang="zh-TW" dirty="0"/>
              <a:t>/</a:t>
            </a:r>
            <a:r>
              <a:rPr lang="zh-TW" altLang="en-US" dirty="0"/>
              <a:t>關閉</a:t>
            </a:r>
            <a:endParaRPr lang="en-US" altLang="zh-TW" dirty="0"/>
          </a:p>
          <a:p>
            <a:pPr lvl="1"/>
            <a:r>
              <a:rPr lang="zh-TW" altLang="en-US" dirty="0"/>
              <a:t>但執行結束後不會保存狀態</a:t>
            </a:r>
            <a:endParaRPr lang="en-US" altLang="zh-TW" dirty="0"/>
          </a:p>
          <a:p>
            <a:pPr>
              <a:buNone/>
            </a:pPr>
            <a:endParaRPr lang="zh-TW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重新理解</a:t>
            </a:r>
            <a:r>
              <a:rPr lang="zh-TW" altLang="en-US" u="sng" dirty="0"/>
              <a:t>立方體</a:t>
            </a:r>
            <a:r>
              <a:rPr lang="zh-TW" altLang="en-US" dirty="0"/>
              <a:t>的元件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Transform</a:t>
            </a:r>
          </a:p>
          <a:p>
            <a:pPr lvl="1"/>
            <a:r>
              <a:rPr lang="zh-TW" altLang="en-US" dirty="0"/>
              <a:t>變換元件，無法刪除或關閉，表示遊戲物件的位置、旋轉、縮放</a:t>
            </a:r>
            <a:endParaRPr lang="en-US" altLang="zh-TW" dirty="0"/>
          </a:p>
          <a:p>
            <a:endParaRPr lang="en-US" altLang="zh-TW" dirty="0"/>
          </a:p>
          <a:p>
            <a:pPr marL="365760" lvl="1" indent="-256032">
              <a:buClr>
                <a:schemeClr val="accent3"/>
              </a:buClr>
              <a:buFont typeface="Georgia"/>
              <a:buChar char="•"/>
            </a:pPr>
            <a:r>
              <a:rPr lang="en-US" altLang="zh-TW" dirty="0">
                <a:solidFill>
                  <a:schemeClr val="tx1"/>
                </a:solidFill>
              </a:rPr>
              <a:t>Box Collider</a:t>
            </a:r>
          </a:p>
          <a:p>
            <a:pPr lvl="1"/>
            <a:r>
              <a:rPr lang="zh-TW" altLang="en-US" dirty="0"/>
              <a:t>盒子狀</a:t>
            </a:r>
            <a:r>
              <a:rPr lang="en-US" altLang="zh-TW" dirty="0"/>
              <a:t>(</a:t>
            </a:r>
            <a:r>
              <a:rPr lang="zh-TW" altLang="en-US" dirty="0"/>
              <a:t>長方體</a:t>
            </a:r>
            <a:r>
              <a:rPr lang="en-US" altLang="zh-TW" dirty="0"/>
              <a:t>)</a:t>
            </a:r>
            <a:r>
              <a:rPr lang="zh-TW" altLang="en-US" dirty="0"/>
              <a:t> 的 碰撞器</a:t>
            </a:r>
            <a:endParaRPr lang="en-US" altLang="zh-TW" dirty="0"/>
          </a:p>
          <a:p>
            <a:pPr lvl="1"/>
            <a:r>
              <a:rPr lang="zh-TW" altLang="en-US" dirty="0"/>
              <a:t>主要是可碰撞的外型，之後會做更詳盡介紹 </a:t>
            </a:r>
            <a:endParaRPr lang="en-US" altLang="zh-TW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重新理解</a:t>
            </a:r>
            <a:r>
              <a:rPr lang="zh-TW" altLang="en-US" u="sng" dirty="0"/>
              <a:t>立方體</a:t>
            </a:r>
            <a:r>
              <a:rPr lang="zh-TW" altLang="en-US" dirty="0"/>
              <a:t>的元件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760" lvl="1" indent="-256032">
              <a:buClr>
                <a:schemeClr val="accent3"/>
              </a:buClr>
              <a:buFont typeface="Georgia"/>
              <a:buChar char="•"/>
            </a:pPr>
            <a:r>
              <a:rPr lang="en-US" altLang="zh-TW" dirty="0">
                <a:solidFill>
                  <a:schemeClr val="tx1"/>
                </a:solidFill>
              </a:rPr>
              <a:t>Mesh Filter</a:t>
            </a:r>
          </a:p>
          <a:p>
            <a:pPr lvl="1"/>
            <a:r>
              <a:rPr lang="zh-TW" altLang="en-US" dirty="0"/>
              <a:t>網格過濾器  </a:t>
            </a:r>
            <a:r>
              <a:rPr lang="en-US" altLang="zh-TW" dirty="0"/>
              <a:t>(</a:t>
            </a:r>
            <a:r>
              <a:rPr lang="zh-TW" altLang="en-US" dirty="0"/>
              <a:t>但實際上不會過濾東西</a:t>
            </a:r>
            <a:r>
              <a:rPr lang="en-US" altLang="zh-TW" dirty="0"/>
              <a:t>..)</a:t>
            </a:r>
          </a:p>
          <a:p>
            <a:pPr lvl="1"/>
            <a:r>
              <a:rPr lang="zh-TW" altLang="en-US" dirty="0"/>
              <a:t>表示此物件的「外型框架」。 </a:t>
            </a:r>
            <a:r>
              <a:rPr lang="en-US" altLang="zh-TW" dirty="0"/>
              <a:t>Mesh(</a:t>
            </a:r>
            <a:r>
              <a:rPr lang="zh-TW" altLang="en-US" dirty="0"/>
              <a:t>網格</a:t>
            </a:r>
            <a:r>
              <a:rPr lang="en-US" altLang="zh-TW" dirty="0"/>
              <a:t>)</a:t>
            </a:r>
            <a:r>
              <a:rPr lang="zh-TW" altLang="en-US" dirty="0"/>
              <a:t>指的是三維模型的基礎，由點、線、面組成，其中面為三角形。</a:t>
            </a:r>
            <a:endParaRPr lang="en-US" altLang="zh-TW" dirty="0"/>
          </a:p>
          <a:p>
            <a:pPr lvl="1"/>
            <a:endParaRPr lang="en-US" altLang="zh-TW" dirty="0"/>
          </a:p>
          <a:p>
            <a:pPr marL="365760" lvl="1" indent="-256032">
              <a:buClr>
                <a:schemeClr val="accent3"/>
              </a:buClr>
              <a:buFont typeface="Georgia"/>
              <a:buChar char="•"/>
            </a:pPr>
            <a:r>
              <a:rPr lang="en-US" altLang="zh-TW" dirty="0">
                <a:solidFill>
                  <a:schemeClr val="tx1"/>
                </a:solidFill>
              </a:rPr>
              <a:t>Mesh Renderer</a:t>
            </a:r>
          </a:p>
          <a:p>
            <a:pPr lvl="1"/>
            <a:r>
              <a:rPr lang="zh-TW" altLang="en-US" dirty="0"/>
              <a:t>網格渲染器</a:t>
            </a:r>
            <a:endParaRPr lang="en-US" altLang="zh-TW" dirty="0"/>
          </a:p>
          <a:p>
            <a:pPr lvl="1"/>
            <a:r>
              <a:rPr lang="zh-TW" altLang="en-US" dirty="0"/>
              <a:t>表示此物件的「顯示」，如顏色、受光、發光等等。</a:t>
            </a:r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8DBD9446-5B42-1823-4830-0388E70A7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982" y="910711"/>
            <a:ext cx="8229600" cy="1066800"/>
          </a:xfrm>
        </p:spPr>
        <p:txBody>
          <a:bodyPr/>
          <a:lstStyle/>
          <a:p>
            <a:r>
              <a:rPr lang="zh-TW" altLang="en-US" dirty="0"/>
              <a:t>英文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xmlns="" id="{84CDDAF0-D373-5069-0A1C-31D5DC8D0D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183347305"/>
              </p:ext>
            </p:extLst>
          </p:nvPr>
        </p:nvGraphicFramePr>
        <p:xfrm>
          <a:off x="611560" y="1988840"/>
          <a:ext cx="8075240" cy="42643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xmlns="" val="17316374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xmlns="" val="202426916"/>
                    </a:ext>
                  </a:extLst>
                </a:gridCol>
                <a:gridCol w="4330824">
                  <a:extLst>
                    <a:ext uri="{9D8B030D-6E8A-4147-A177-3AD203B41FA5}">
                      <a16:colId xmlns:a16="http://schemas.microsoft.com/office/drawing/2014/main" xmlns="" val="1836957082"/>
                    </a:ext>
                  </a:extLst>
                </a:gridCol>
              </a:tblGrid>
              <a:tr h="571128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Game Object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遊戲物件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kumimoji="0" lang="en-US" altLang="zh-TW" sz="18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Unity</a:t>
                      </a:r>
                      <a:r>
                        <a:rPr kumimoji="0" lang="zh-TW" altLang="en-US" sz="18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在場景中運作的基本單位，可在</a:t>
                      </a:r>
                      <a:r>
                        <a:rPr kumimoji="0" lang="en-US" altLang="zh-TW" sz="1800" b="0" kern="1200" dirty="0" err="1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Hierachy</a:t>
                      </a:r>
                      <a:r>
                        <a:rPr kumimoji="0" lang="zh-TW" altLang="en-US" sz="18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或</a:t>
                      </a:r>
                      <a:r>
                        <a:rPr kumimoji="0" lang="en-US" altLang="zh-TW" sz="18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Scene</a:t>
                      </a:r>
                      <a:r>
                        <a:rPr kumimoji="0" lang="zh-TW" altLang="en-US" sz="18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介面中找到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824294642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Component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元件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影響</a:t>
                      </a:r>
                      <a:r>
                        <a:rPr lang="en-US" altLang="zh-TW" sz="1800" b="0" dirty="0">
                          <a:latin typeface="+mj-ea"/>
                          <a:ea typeface="+mj-ea"/>
                        </a:rPr>
                        <a:t>GO</a:t>
                      </a:r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中的行為，一個</a:t>
                      </a:r>
                      <a:r>
                        <a:rPr lang="en-US" altLang="zh-TW" sz="1800" b="0" dirty="0">
                          <a:latin typeface="+mj-ea"/>
                          <a:ea typeface="+mj-ea"/>
                        </a:rPr>
                        <a:t>GO</a:t>
                      </a:r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可擁有多個元件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538589204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Transform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變換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一般</a:t>
                      </a:r>
                      <a:r>
                        <a:rPr lang="en-US" altLang="zh-TW" sz="1800" b="0" dirty="0">
                          <a:latin typeface="+mj-ea"/>
                          <a:ea typeface="+mj-ea"/>
                        </a:rPr>
                        <a:t>GO</a:t>
                      </a:r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的基礎元件，表示其位置轉動縮放等等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035265624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Mesh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網格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指物件的「形狀」，</a:t>
                      </a:r>
                      <a:r>
                        <a:rPr lang="en-US" altLang="zh-TW" sz="1800" b="0" dirty="0">
                          <a:latin typeface="+mj-ea"/>
                          <a:ea typeface="+mj-ea"/>
                        </a:rPr>
                        <a:t>3D</a:t>
                      </a:r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物件由三角形組成 </a:t>
                      </a:r>
                      <a:r>
                        <a:rPr lang="en-US" altLang="zh-TW" sz="1800" b="0" dirty="0">
                          <a:latin typeface="+mj-ea"/>
                          <a:ea typeface="+mj-ea"/>
                        </a:rPr>
                        <a:t>(</a:t>
                      </a:r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呈現上可能為四邊形</a:t>
                      </a:r>
                      <a:r>
                        <a:rPr lang="en-US" altLang="zh-TW" sz="1800" b="0" dirty="0">
                          <a:latin typeface="+mj-ea"/>
                          <a:ea typeface="+mj-ea"/>
                        </a:rPr>
                        <a:t>)</a:t>
                      </a:r>
                      <a:endParaRPr lang="zh-TW" altLang="en-US" sz="1800" b="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796584998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Mesh Filter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網格過濾器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Unity</a:t>
                      </a:r>
                      <a:r>
                        <a:rPr kumimoji="0" lang="zh-TW" altLang="en-US" sz="16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的元件，用來顯示設定的</a:t>
                      </a:r>
                      <a:r>
                        <a:rPr kumimoji="0" lang="en-US" altLang="zh-TW" sz="16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Mesh</a:t>
                      </a:r>
                      <a:endParaRPr kumimoji="0" lang="zh-TW" altLang="en-US" sz="1600" b="0" kern="120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502872403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Render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渲染</a:t>
                      </a:r>
                      <a:r>
                        <a:rPr lang="en-US" altLang="zh-TW" sz="1800" b="0" dirty="0">
                          <a:latin typeface="+mj-ea"/>
                          <a:ea typeface="+mj-ea"/>
                        </a:rPr>
                        <a:t>/</a:t>
                      </a:r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彩現</a:t>
                      </a:r>
                      <a:r>
                        <a:rPr lang="en-US" altLang="zh-TW" sz="1800" b="0" dirty="0">
                          <a:latin typeface="+mj-ea"/>
                          <a:ea typeface="+mj-ea"/>
                        </a:rPr>
                        <a:t>/</a:t>
                      </a:r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算圖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指電腦將畫面呈現在螢幕的方式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579846255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kumimoji="0" lang="en-US" altLang="zh-TW" sz="1800" b="1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Renderer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渲染器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altLang="zh-TW" sz="1800" b="0" dirty="0">
                          <a:latin typeface="+mj-ea"/>
                          <a:ea typeface="+mj-ea"/>
                        </a:rPr>
                        <a:t>Unity</a:t>
                      </a:r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的原件，用來將該遊戲物件繪製出來的方式，有多種不同的元件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509957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736780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3200" dirty="0"/>
              <a:t>Section 2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zh-TW" altLang="en-US" dirty="0"/>
              <a:t>渲染相關說明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dirty="0">
                <a:solidFill>
                  <a:srgbClr val="003399"/>
                </a:solidFill>
                <a:latin typeface="Times New Roman" panose="02020603050405020304" pitchFamily="18" charset="0"/>
              </a:rPr>
              <a:t>基礎遊戲引擎應用</a:t>
            </a:r>
            <a:r>
              <a:rPr lang="en-US" altLang="zh-TW" dirty="0">
                <a:solidFill>
                  <a:srgbClr val="003399"/>
                </a:solidFill>
                <a:latin typeface="Times New Roman" panose="02020603050405020304" pitchFamily="18" charset="0"/>
              </a:rPr>
              <a:t>(Y2)</a:t>
            </a:r>
            <a:endParaRPr lang="zh-TW" altLang="en-US"/>
          </a:p>
          <a:p>
            <a:endParaRPr lang="zh-TW" altLang="en-US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Render </a:t>
            </a:r>
            <a:r>
              <a:rPr lang="zh-TW" altLang="en-US" dirty="0"/>
              <a:t>渲染</a:t>
            </a:r>
          </a:p>
        </p:txBody>
      </p:sp>
      <p:sp>
        <p:nvSpPr>
          <p:cNvPr id="2052" name="AutoShape 4" descr="https://vulkan-tutorial.com/images/vulkan_simplified_pipeline.svg"/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457200" y="2249488"/>
            <a:ext cx="5791200" cy="43243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TW" dirty="0"/>
              <a:t>Render</a:t>
            </a:r>
            <a:r>
              <a:rPr lang="zh-TW" altLang="en-US" dirty="0"/>
              <a:t>是指在</a:t>
            </a:r>
            <a:r>
              <a:rPr lang="en-US" altLang="zh-TW" dirty="0"/>
              <a:t>3D</a:t>
            </a:r>
            <a:r>
              <a:rPr lang="zh-TW" altLang="en-US" dirty="0"/>
              <a:t>電腦圖學中，由</a:t>
            </a:r>
            <a:r>
              <a:rPr lang="en-US" altLang="zh-TW" dirty="0"/>
              <a:t>3D</a:t>
            </a:r>
            <a:r>
              <a:rPr lang="zh-TW" altLang="en-US" dirty="0"/>
              <a:t>模型、燈光、材質、相機等資訊，轉換為</a:t>
            </a:r>
            <a:r>
              <a:rPr lang="en-US" altLang="zh-TW" dirty="0"/>
              <a:t>2D</a:t>
            </a:r>
            <a:r>
              <a:rPr lang="zh-TW" altLang="en-US" dirty="0"/>
              <a:t>圖片或影像的過程。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而</a:t>
            </a:r>
            <a:r>
              <a:rPr lang="en-US" altLang="zh-TW" dirty="0"/>
              <a:t>Renderer</a:t>
            </a:r>
            <a:r>
              <a:rPr lang="zh-TW" altLang="en-US" dirty="0"/>
              <a:t>就是為了達成渲染效果的元件。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sz="2400" dirty="0"/>
              <a:t>右側為渲染管線</a:t>
            </a:r>
            <a:r>
              <a:rPr lang="en-US" altLang="zh-TW" sz="2400" dirty="0"/>
              <a:t>(Render</a:t>
            </a:r>
            <a:r>
              <a:rPr lang="zh-TW" altLang="en-US" sz="2400" dirty="0"/>
              <a:t> </a:t>
            </a:r>
            <a:r>
              <a:rPr lang="en-US" altLang="zh-TW" sz="2400" dirty="0"/>
              <a:t>Pipeline)</a:t>
            </a:r>
            <a:r>
              <a:rPr lang="zh-TW" altLang="en-US" sz="2400" dirty="0"/>
              <a:t>，為渲染的常見步驟。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00800" y="685800"/>
            <a:ext cx="2471435" cy="5952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渲染器 </a:t>
            </a:r>
            <a:r>
              <a:rPr lang="en-US" altLang="zh-TW" dirty="0"/>
              <a:t>Renderer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5410200" cy="4325112"/>
          </a:xfrm>
        </p:spPr>
        <p:txBody>
          <a:bodyPr/>
          <a:lstStyle/>
          <a:p>
            <a:r>
              <a:rPr lang="zh-TW" altLang="en-US" dirty="0"/>
              <a:t>在</a:t>
            </a:r>
            <a:r>
              <a:rPr lang="en-US" altLang="zh-TW" dirty="0"/>
              <a:t>Unity</a:t>
            </a:r>
            <a:r>
              <a:rPr lang="zh-TW" altLang="en-US" dirty="0"/>
              <a:t>中，有許多不同的渲染器，常見的有圖片用、</a:t>
            </a:r>
            <a:r>
              <a:rPr lang="en-US" altLang="zh-TW" dirty="0"/>
              <a:t>UI</a:t>
            </a:r>
            <a:r>
              <a:rPr lang="zh-TW" altLang="en-US" dirty="0"/>
              <a:t>用、以及現在看到的</a:t>
            </a:r>
            <a:r>
              <a:rPr lang="en-US" altLang="zh-TW" dirty="0"/>
              <a:t>3D</a:t>
            </a:r>
            <a:r>
              <a:rPr lang="zh-TW" altLang="en-US" dirty="0"/>
              <a:t>物件用</a:t>
            </a:r>
            <a:r>
              <a:rPr lang="en-US" altLang="zh-TW" dirty="0"/>
              <a:t> [ </a:t>
            </a:r>
            <a:r>
              <a:rPr lang="en-US" altLang="zh-TW" dirty="0" err="1"/>
              <a:t>MeshRenderer</a:t>
            </a:r>
            <a:r>
              <a:rPr lang="en-US" altLang="zh-TW" dirty="0"/>
              <a:t> ]</a:t>
            </a:r>
          </a:p>
          <a:p>
            <a:r>
              <a:rPr lang="zh-TW" altLang="en-US" dirty="0"/>
              <a:t>不同的</a:t>
            </a:r>
            <a:r>
              <a:rPr lang="en-US" altLang="zh-TW" dirty="0"/>
              <a:t>Renderer</a:t>
            </a:r>
            <a:r>
              <a:rPr lang="zh-TW" altLang="en-US" dirty="0"/>
              <a:t>能設定的屬性略有不同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Mesh</a:t>
            </a:r>
            <a:r>
              <a:rPr lang="zh-TW" altLang="en-US" dirty="0"/>
              <a:t>至少可設定材質</a:t>
            </a:r>
            <a:r>
              <a:rPr lang="en-US" altLang="zh-TW" dirty="0"/>
              <a:t>(Materials)</a:t>
            </a:r>
            <a:r>
              <a:rPr lang="zh-TW" altLang="en-US" dirty="0"/>
              <a:t>、燈光</a:t>
            </a:r>
            <a:r>
              <a:rPr lang="en-US" altLang="zh-TW" dirty="0"/>
              <a:t>(Light)</a:t>
            </a:r>
            <a:r>
              <a:rPr lang="zh-TW" altLang="en-US" dirty="0"/>
              <a:t>等</a:t>
            </a:r>
            <a:endParaRPr lang="en-US" altLang="zh-TW" dirty="0"/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67400" y="2743200"/>
            <a:ext cx="3103324" cy="282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Mesh Renderer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Mesh Renderer </a:t>
            </a:r>
          </a:p>
          <a:p>
            <a:pPr lvl="1"/>
            <a:r>
              <a:rPr lang="zh-TW" altLang="en-US" dirty="0"/>
              <a:t>網格渲染器</a:t>
            </a:r>
            <a:endParaRPr lang="en-US" altLang="zh-TW" dirty="0"/>
          </a:p>
          <a:p>
            <a:pPr lvl="1"/>
            <a:r>
              <a:rPr lang="zh-TW" altLang="en-US" dirty="0"/>
              <a:t>定義物件顯示的「外觀」</a:t>
            </a:r>
            <a:endParaRPr lang="en-US" altLang="zh-TW" dirty="0"/>
          </a:p>
          <a:p>
            <a:pPr lvl="1"/>
            <a:r>
              <a:rPr lang="zh-TW" altLang="en-US" dirty="0"/>
              <a:t>相關顯示設定</a:t>
            </a:r>
            <a:endParaRPr lang="en-US" altLang="zh-TW" dirty="0"/>
          </a:p>
          <a:p>
            <a:pPr lvl="1"/>
            <a:r>
              <a:rPr lang="zh-TW" altLang="en-US" dirty="0"/>
              <a:t>材質</a:t>
            </a:r>
            <a:r>
              <a:rPr lang="en-US" altLang="zh-TW" dirty="0"/>
              <a:t>(Material)</a:t>
            </a:r>
            <a:r>
              <a:rPr lang="zh-TW" altLang="en-US" dirty="0"/>
              <a:t>才是真正顯示外觀的核心</a:t>
            </a:r>
            <a:endParaRPr lang="en-US" altLang="zh-TW" dirty="0"/>
          </a:p>
          <a:p>
            <a:pPr lvl="1">
              <a:buNone/>
            </a:pPr>
            <a:endParaRPr lang="en-US" altLang="zh-TW" dirty="0"/>
          </a:p>
          <a:p>
            <a:pPr lvl="1"/>
            <a:r>
              <a:rPr lang="zh-TW" altLang="en-US" dirty="0"/>
              <a:t>除此之外還有更多種</a:t>
            </a:r>
            <a:r>
              <a:rPr lang="en-US" altLang="zh-TW" dirty="0"/>
              <a:t>Renderer</a:t>
            </a:r>
            <a:endParaRPr lang="zh-TW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Shader</a:t>
            </a:r>
            <a:r>
              <a:rPr lang="en-US" altLang="zh-TW" dirty="0"/>
              <a:t> (</a:t>
            </a:r>
            <a:r>
              <a:rPr lang="zh-TW" altLang="en-US" dirty="0"/>
              <a:t>著色器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根據一定的演算法來要求顯示卡渲染的</a:t>
            </a:r>
            <a:r>
              <a:rPr lang="zh-TW" altLang="en-US" b="1" dirty="0"/>
              <a:t>一段程式</a:t>
            </a:r>
            <a:endParaRPr lang="en-US" altLang="zh-TW" b="1" dirty="0"/>
          </a:p>
          <a:p>
            <a:pPr lvl="1"/>
            <a:r>
              <a:rPr lang="en-US" altLang="zh-TW" dirty="0"/>
              <a:t>HLSL</a:t>
            </a:r>
            <a:r>
              <a:rPr lang="zh-TW" altLang="en-US" dirty="0"/>
              <a:t>語言</a:t>
            </a:r>
            <a:endParaRPr lang="en-US" altLang="zh-TW" dirty="0"/>
          </a:p>
          <a:p>
            <a:pPr lvl="1"/>
            <a:r>
              <a:rPr lang="en-US" altLang="zh-TW" dirty="0" err="1"/>
              <a:t>Shader</a:t>
            </a:r>
            <a:r>
              <a:rPr lang="en-US" altLang="zh-TW" dirty="0"/>
              <a:t> Graph</a:t>
            </a:r>
            <a:endParaRPr lang="zh-TW" altLang="en-US" dirty="0"/>
          </a:p>
        </p:txBody>
      </p:sp>
      <p:pic>
        <p:nvPicPr>
          <p:cNvPr id="3074" name="Picture 2" descr="https://docs.unity3d.com/Packages/com.unity.shadergraph@17.0/manual/images/NodeReferenceSamples.png"/>
          <p:cNvPicPr>
            <a:picLocks noChangeAspect="1" noChangeArrowheads="1"/>
          </p:cNvPicPr>
          <p:nvPr/>
        </p:nvPicPr>
        <p:blipFill>
          <a:blip r:embed="rId2" cstate="print"/>
          <a:srcRect l="43902" b="33142"/>
          <a:stretch>
            <a:fillRect/>
          </a:stretch>
        </p:blipFill>
        <p:spPr bwMode="auto">
          <a:xfrm>
            <a:off x="4095132" y="4071942"/>
            <a:ext cx="5048867" cy="2786057"/>
          </a:xfrm>
          <a:prstGeom prst="rect">
            <a:avLst/>
          </a:prstGeom>
          <a:noFill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" y="4023284"/>
            <a:ext cx="3857620" cy="28347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Shader</a:t>
            </a:r>
            <a:r>
              <a:rPr lang="zh-TW" altLang="en-US" dirty="0"/>
              <a:t>範例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4343400" cy="4325112"/>
          </a:xfrm>
        </p:spPr>
        <p:txBody>
          <a:bodyPr/>
          <a:lstStyle/>
          <a:p>
            <a:r>
              <a:rPr lang="zh-TW" altLang="en-US" dirty="0"/>
              <a:t>利用</a:t>
            </a:r>
            <a:r>
              <a:rPr lang="en-US" altLang="zh-TW" dirty="0" err="1"/>
              <a:t>Shader</a:t>
            </a:r>
            <a:r>
              <a:rPr lang="zh-TW" altLang="en-US" dirty="0"/>
              <a:t>，可以做出不同的效果</a:t>
            </a:r>
          </a:p>
        </p:txBody>
      </p:sp>
      <p:pic>
        <p:nvPicPr>
          <p:cNvPr id="4" name="Picture 2" descr="superhivemarket.com/prod..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76800" y="2438400"/>
            <a:ext cx="3900115" cy="41529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Shader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PBR</a:t>
            </a:r>
            <a:r>
              <a:rPr lang="zh-TW" altLang="en-US" dirty="0"/>
              <a:t> </a:t>
            </a:r>
            <a:r>
              <a:rPr lang="en-US" altLang="zh-TW" dirty="0"/>
              <a:t>(Physical Based Rendering)</a:t>
            </a:r>
          </a:p>
          <a:p>
            <a:pPr lvl="1"/>
            <a:r>
              <a:rPr lang="zh-TW" altLang="en-US" dirty="0"/>
              <a:t>基於物理表現的渲染方式</a:t>
            </a:r>
            <a:endParaRPr lang="en-US" altLang="zh-TW" dirty="0"/>
          </a:p>
          <a:p>
            <a:pPr lvl="1"/>
            <a:r>
              <a:rPr lang="en-US" altLang="zh-TW" dirty="0"/>
              <a:t>URP/Lit</a:t>
            </a:r>
          </a:p>
          <a:p>
            <a:r>
              <a:rPr lang="zh-TW" altLang="en-US" dirty="0"/>
              <a:t>舊式</a:t>
            </a:r>
            <a:r>
              <a:rPr lang="en-US" altLang="zh-TW" dirty="0" err="1"/>
              <a:t>Shader</a:t>
            </a:r>
            <a:endParaRPr lang="en-US" altLang="zh-TW" dirty="0"/>
          </a:p>
          <a:p>
            <a:pPr lvl="1"/>
            <a:r>
              <a:rPr lang="en-US" altLang="zh-TW" dirty="0"/>
              <a:t>Diffuse</a:t>
            </a:r>
            <a:r>
              <a:rPr lang="zh-TW" altLang="en-US" dirty="0"/>
              <a:t>：只顯示顏色 及 基礎光照</a:t>
            </a:r>
            <a:endParaRPr lang="en-US" altLang="zh-TW" dirty="0"/>
          </a:p>
          <a:p>
            <a:pPr lvl="1"/>
            <a:r>
              <a:rPr lang="en-US" altLang="zh-TW" dirty="0" err="1"/>
              <a:t>Specular</a:t>
            </a:r>
            <a:r>
              <a:rPr lang="zh-TW" altLang="en-US" dirty="0"/>
              <a:t>：鏡射光，主要用於金屬材質</a:t>
            </a:r>
            <a:endParaRPr lang="en-US" altLang="zh-TW" dirty="0"/>
          </a:p>
          <a:p>
            <a:r>
              <a:rPr lang="en-US" altLang="zh-TW" dirty="0" err="1"/>
              <a:t>Toon</a:t>
            </a:r>
            <a:r>
              <a:rPr lang="en-US" altLang="zh-TW" dirty="0"/>
              <a:t> </a:t>
            </a:r>
            <a:r>
              <a:rPr lang="en-US" altLang="zh-TW" dirty="0" err="1"/>
              <a:t>Shader</a:t>
            </a:r>
            <a:endParaRPr lang="en-US" altLang="zh-TW" dirty="0"/>
          </a:p>
          <a:p>
            <a:pPr lvl="1"/>
            <a:r>
              <a:rPr lang="zh-TW" altLang="en-US" dirty="0"/>
              <a:t>不照正常物理表現的渲染方式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Toon</a:t>
            </a:r>
            <a:r>
              <a:rPr lang="en-US" altLang="zh-TW" dirty="0"/>
              <a:t> </a:t>
            </a:r>
            <a:r>
              <a:rPr lang="en-US" altLang="zh-TW" dirty="0" err="1"/>
              <a:t>Shader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Unity </a:t>
            </a:r>
            <a:r>
              <a:rPr lang="en-US" altLang="zh-TW" dirty="0" err="1">
                <a:hlinkClick r:id="rId2"/>
              </a:rPr>
              <a:t>Toon</a:t>
            </a:r>
            <a:r>
              <a:rPr lang="en-US" altLang="zh-TW" dirty="0">
                <a:hlinkClick r:id="rId2"/>
              </a:rPr>
              <a:t> </a:t>
            </a:r>
            <a:r>
              <a:rPr lang="en-US" altLang="zh-TW" dirty="0" err="1">
                <a:hlinkClick r:id="rId2"/>
              </a:rPr>
              <a:t>Shader</a:t>
            </a:r>
            <a:endParaRPr lang="zh-TW" altLang="en-US" dirty="0"/>
          </a:p>
        </p:txBody>
      </p:sp>
      <p:pic>
        <p:nvPicPr>
          <p:cNvPr id="27650" name="Picture 2" descr="https://docs.unity3d.com/Packages/com.unity.toonshader@0.6/manual/images/SDUnitychan_URP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14479" y="2928934"/>
            <a:ext cx="6484983" cy="364780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Material (</a:t>
            </a:r>
            <a:r>
              <a:rPr lang="zh-TW" altLang="en-US" dirty="0"/>
              <a:t>材質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Material</a:t>
            </a:r>
            <a:r>
              <a:rPr lang="zh-TW" altLang="en-US" dirty="0"/>
              <a:t>是使用某一個</a:t>
            </a:r>
            <a:r>
              <a:rPr lang="en-US" altLang="zh-TW" dirty="0" err="1"/>
              <a:t>Shader</a:t>
            </a:r>
            <a:r>
              <a:rPr lang="zh-TW" altLang="en-US" dirty="0"/>
              <a:t>所產生的特例。</a:t>
            </a:r>
            <a:endParaRPr lang="en-US" altLang="zh-TW" dirty="0"/>
          </a:p>
          <a:p>
            <a:pPr lvl="1"/>
            <a:r>
              <a:rPr lang="zh-TW" altLang="en-US" dirty="0"/>
              <a:t>必定使用一個</a:t>
            </a:r>
            <a:r>
              <a:rPr lang="en-US" altLang="zh-TW" dirty="0" err="1"/>
              <a:t>shader</a:t>
            </a:r>
            <a:r>
              <a:rPr lang="zh-TW" altLang="en-US" dirty="0"/>
              <a:t>、一個</a:t>
            </a:r>
            <a:r>
              <a:rPr lang="en-US" altLang="zh-TW" dirty="0" err="1"/>
              <a:t>shader</a:t>
            </a:r>
            <a:r>
              <a:rPr lang="zh-TW" altLang="en-US" dirty="0"/>
              <a:t>可產生任意數量的</a:t>
            </a:r>
            <a:r>
              <a:rPr lang="en-US" altLang="zh-TW" dirty="0"/>
              <a:t>material</a:t>
            </a:r>
          </a:p>
          <a:p>
            <a:pPr lvl="1"/>
            <a:r>
              <a:rPr lang="zh-TW" altLang="en-US" dirty="0"/>
              <a:t>允許各種參數 </a:t>
            </a:r>
            <a:r>
              <a:rPr lang="en-US" altLang="zh-TW" dirty="0"/>
              <a:t>(</a:t>
            </a:r>
            <a:r>
              <a:rPr lang="en-US" altLang="zh-TW" dirty="0" err="1"/>
              <a:t>shader</a:t>
            </a:r>
            <a:r>
              <a:rPr lang="zh-TW" altLang="en-US" dirty="0"/>
              <a:t>定義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texture</a:t>
            </a:r>
            <a:r>
              <a:rPr lang="zh-TW" altLang="en-US" dirty="0"/>
              <a:t>是參數的一種，不一定要有</a:t>
            </a:r>
            <a:r>
              <a:rPr lang="en-US" altLang="zh-TW" dirty="0"/>
              <a:t>texture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Texture (</a:t>
            </a:r>
            <a:r>
              <a:rPr lang="zh-TW" altLang="en-US" dirty="0"/>
              <a:t>貼圖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在遊戲製作中，能使用的圖片會稱為</a:t>
            </a:r>
            <a:r>
              <a:rPr lang="en-US" altLang="zh-TW" dirty="0" err="1"/>
              <a:t>Textrue</a:t>
            </a:r>
            <a:endParaRPr lang="en-US" altLang="zh-TW" dirty="0"/>
          </a:p>
          <a:p>
            <a:pPr lvl="1"/>
            <a:r>
              <a:rPr lang="zh-TW" altLang="en-US" dirty="0"/>
              <a:t>因為在</a:t>
            </a:r>
            <a:r>
              <a:rPr lang="en-US" altLang="zh-TW" dirty="0"/>
              <a:t>3D</a:t>
            </a:r>
            <a:r>
              <a:rPr lang="zh-TW" altLang="en-US" dirty="0"/>
              <a:t>中，由於圖片會拿來貼在模型上面，所以稱之為貼圖 </a:t>
            </a:r>
            <a:r>
              <a:rPr lang="en-US" altLang="zh-TW" dirty="0"/>
              <a:t>(texture)</a:t>
            </a:r>
            <a:r>
              <a:rPr lang="zh-TW" altLang="en-US" dirty="0"/>
              <a:t>。</a:t>
            </a:r>
            <a:endParaRPr lang="en-US" altLang="zh-TW" dirty="0"/>
          </a:p>
          <a:p>
            <a:pPr lvl="1"/>
            <a:r>
              <a:rPr lang="zh-TW" altLang="en-US" dirty="0"/>
              <a:t>通常是拿來顯示顏色，但仍有各種用法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zh-TW" altLang="en-US" dirty="0"/>
              <a:t>在</a:t>
            </a:r>
            <a:r>
              <a:rPr lang="en-US" altLang="zh-TW" dirty="0"/>
              <a:t>2D</a:t>
            </a:r>
            <a:r>
              <a:rPr lang="zh-TW" altLang="en-US" dirty="0"/>
              <a:t>或</a:t>
            </a:r>
            <a:r>
              <a:rPr lang="en-US" altLang="zh-TW" dirty="0"/>
              <a:t>UI</a:t>
            </a:r>
            <a:r>
              <a:rPr lang="zh-TW" altLang="en-US" dirty="0"/>
              <a:t>使用時，又會以</a:t>
            </a:r>
            <a:r>
              <a:rPr lang="en-US" altLang="zh-TW" dirty="0"/>
              <a:t>Sprite(</a:t>
            </a:r>
            <a:r>
              <a:rPr lang="zh-TW" altLang="en-US" dirty="0"/>
              <a:t>精靈</a:t>
            </a:r>
            <a:r>
              <a:rPr lang="en-US" altLang="zh-TW" dirty="0"/>
              <a:t>)</a:t>
            </a:r>
            <a:r>
              <a:rPr lang="zh-TW" altLang="en-US" dirty="0"/>
              <a:t>形式使用</a:t>
            </a:r>
            <a:endParaRPr lang="en-US" altLang="zh-TW" dirty="0"/>
          </a:p>
          <a:p>
            <a:pPr lvl="1"/>
            <a:r>
              <a:rPr lang="zh-TW" altLang="en-US" dirty="0"/>
              <a:t>另外還有法線貼圖、漫射貼圖、光照貼圖等等用法</a:t>
            </a:r>
            <a:endParaRPr lang="en-US" altLang="zh-TW" dirty="0"/>
          </a:p>
          <a:p>
            <a:pPr lvl="1">
              <a:buNone/>
            </a:pPr>
            <a:endParaRPr lang="zh-TW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Texture (</a:t>
            </a:r>
            <a:r>
              <a:rPr lang="zh-TW" altLang="en-US" dirty="0"/>
              <a:t>貼圖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一張圖片，</a:t>
            </a:r>
            <a:r>
              <a:rPr lang="en-US" altLang="zh-TW" dirty="0" err="1"/>
              <a:t>shader</a:t>
            </a:r>
            <a:r>
              <a:rPr lang="zh-TW" altLang="en-US" dirty="0"/>
              <a:t>會用</a:t>
            </a:r>
            <a:r>
              <a:rPr lang="en-US" altLang="zh-TW" dirty="0" err="1"/>
              <a:t>uv</a:t>
            </a:r>
            <a:r>
              <a:rPr lang="zh-TW" altLang="en-US" dirty="0"/>
              <a:t> </a:t>
            </a:r>
            <a:r>
              <a:rPr lang="en-US" altLang="zh-TW" dirty="0"/>
              <a:t>mapping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en-US" altLang="zh-TW" dirty="0" err="1"/>
              <a:t>uv</a:t>
            </a:r>
            <a:r>
              <a:rPr lang="zh-TW" altLang="en-US" dirty="0"/>
              <a:t>映射</a:t>
            </a:r>
            <a:r>
              <a:rPr lang="en-US" altLang="zh-TW" dirty="0"/>
              <a:t>)</a:t>
            </a:r>
            <a:r>
              <a:rPr lang="zh-TW" altLang="en-US" dirty="0"/>
              <a:t>的方式將該圖對應到</a:t>
            </a:r>
            <a:r>
              <a:rPr lang="en-US" altLang="zh-TW" dirty="0"/>
              <a:t>3D</a:t>
            </a:r>
            <a:r>
              <a:rPr lang="zh-TW" altLang="en-US" dirty="0"/>
              <a:t>物件上。</a:t>
            </a:r>
            <a:endParaRPr lang="en-US" altLang="zh-TW" dirty="0"/>
          </a:p>
          <a:p>
            <a:pPr lvl="1"/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50" y="3286124"/>
            <a:ext cx="7286644" cy="3536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18081" y="838200"/>
            <a:ext cx="6725919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2185974" cy="2143124"/>
          </a:xfrm>
        </p:spPr>
        <p:txBody>
          <a:bodyPr/>
          <a:lstStyle/>
          <a:p>
            <a:r>
              <a:rPr lang="en-US" altLang="zh-TW" dirty="0" err="1"/>
              <a:t>Shader</a:t>
            </a:r>
            <a:r>
              <a:rPr lang="en-US" altLang="zh-TW" dirty="0"/>
              <a:t> Material </a:t>
            </a:r>
            <a:r>
              <a:rPr lang="en-US" altLang="zh-TW" dirty="0" err="1"/>
              <a:t>Texutre</a:t>
            </a:r>
            <a:endParaRPr lang="zh-TW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8DBD9446-5B42-1823-4830-0388E70A7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982" y="910711"/>
            <a:ext cx="8229600" cy="1066800"/>
          </a:xfrm>
        </p:spPr>
        <p:txBody>
          <a:bodyPr/>
          <a:lstStyle/>
          <a:p>
            <a:r>
              <a:rPr lang="zh-TW" altLang="en-US" dirty="0"/>
              <a:t>英文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xmlns="" id="{84CDDAF0-D373-5069-0A1C-31D5DC8D0D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183347305"/>
              </p:ext>
            </p:extLst>
          </p:nvPr>
        </p:nvGraphicFramePr>
        <p:xfrm>
          <a:off x="611560" y="1988840"/>
          <a:ext cx="8075240" cy="445590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xmlns="" val="17316374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xmlns="" val="202426916"/>
                    </a:ext>
                  </a:extLst>
                </a:gridCol>
                <a:gridCol w="4330824">
                  <a:extLst>
                    <a:ext uri="{9D8B030D-6E8A-4147-A177-3AD203B41FA5}">
                      <a16:colId xmlns:a16="http://schemas.microsoft.com/office/drawing/2014/main" xmlns="" val="1836957082"/>
                    </a:ext>
                  </a:extLst>
                </a:gridCol>
              </a:tblGrid>
              <a:tr h="571128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Render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渲染</a:t>
                      </a:r>
                      <a:r>
                        <a:rPr lang="en-US" altLang="zh-TW" sz="1800" b="0" dirty="0">
                          <a:latin typeface="+mj-ea"/>
                          <a:ea typeface="+mj-ea"/>
                        </a:rPr>
                        <a:t>/</a:t>
                      </a:r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彩現</a:t>
                      </a:r>
                      <a:r>
                        <a:rPr lang="en-US" altLang="zh-TW" sz="1800" b="0" dirty="0">
                          <a:latin typeface="+mj-ea"/>
                          <a:ea typeface="+mj-ea"/>
                        </a:rPr>
                        <a:t>/</a:t>
                      </a:r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算圖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指電腦將畫面呈現在螢幕的方式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824294642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kumimoji="0" lang="en-US" altLang="zh-TW" sz="1800" b="1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Renderer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渲染器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altLang="zh-TW" sz="2000" b="0" dirty="0">
                          <a:latin typeface="+mj-ea"/>
                          <a:ea typeface="+mj-ea"/>
                        </a:rPr>
                        <a:t>Unity</a:t>
                      </a:r>
                      <a:r>
                        <a:rPr lang="zh-TW" altLang="en-US" sz="2000" b="0" dirty="0">
                          <a:latin typeface="+mj-ea"/>
                          <a:ea typeface="+mj-ea"/>
                        </a:rPr>
                        <a:t>的原件，用來將該遊戲物件繪製出來的方式，有多種不同的元件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538589204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 err="1">
                          <a:latin typeface="+mj-ea"/>
                          <a:ea typeface="+mj-ea"/>
                        </a:rPr>
                        <a:t>Shader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著色器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 err="1"/>
                        <a:t>Shader</a:t>
                      </a:r>
                      <a:r>
                        <a:rPr lang="zh-TW" altLang="en-US" sz="2000" b="1" dirty="0"/>
                        <a:t>（著色器）</a:t>
                      </a:r>
                      <a:r>
                        <a:rPr lang="zh-TW" altLang="en-US" sz="2000" dirty="0"/>
                        <a:t> 是一段在 顯示卡</a:t>
                      </a:r>
                      <a:r>
                        <a:rPr lang="en-US" altLang="zh-TW" sz="2000" dirty="0"/>
                        <a:t>GPU </a:t>
                      </a:r>
                      <a:r>
                        <a:rPr lang="zh-TW" altLang="en-US" sz="2000" dirty="0"/>
                        <a:t>上運行的程式，用來控制「一個像素或頂點應該怎麼被繪製出來」。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035265624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Material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材質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altLang="zh-TW" sz="2000" dirty="0"/>
                        <a:t>Unity </a:t>
                      </a:r>
                      <a:r>
                        <a:rPr lang="zh-TW" altLang="en-US" sz="2000" dirty="0"/>
                        <a:t>的材質是讓 </a:t>
                      </a:r>
                      <a:r>
                        <a:rPr lang="en-US" altLang="zh-TW" sz="2000" dirty="0"/>
                        <a:t>3D </a:t>
                      </a:r>
                      <a:r>
                        <a:rPr lang="zh-TW" altLang="en-US" sz="2000" dirty="0"/>
                        <a:t>模型看起來真實或特效化的外皮設定，靠著 </a:t>
                      </a:r>
                      <a:r>
                        <a:rPr lang="en-US" altLang="zh-TW" sz="2000" dirty="0" err="1"/>
                        <a:t>shader</a:t>
                      </a:r>
                      <a:r>
                        <a:rPr lang="en-US" altLang="zh-TW" sz="2000" dirty="0"/>
                        <a:t> </a:t>
                      </a:r>
                      <a:r>
                        <a:rPr lang="zh-TW" altLang="en-US" sz="2000" dirty="0"/>
                        <a:t>和貼圖來運作。</a:t>
                      </a:r>
                      <a:endParaRPr lang="zh-TW" altLang="en-US" sz="2000" b="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796584998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Texture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貼圖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dirty="0"/>
                        <a:t>將一張</a:t>
                      </a:r>
                      <a:r>
                        <a:rPr lang="en-US" altLang="zh-TW" sz="1800" dirty="0"/>
                        <a:t>2D</a:t>
                      </a:r>
                      <a:r>
                        <a:rPr lang="zh-TW" altLang="en-US" sz="1800" dirty="0"/>
                        <a:t>圖片（貼圖）依照</a:t>
                      </a:r>
                      <a:r>
                        <a:rPr lang="en-US" altLang="zh-TW" sz="1800" dirty="0"/>
                        <a:t>UV</a:t>
                      </a:r>
                      <a:r>
                        <a:rPr lang="zh-TW" altLang="en-US" sz="1800" dirty="0"/>
                        <a:t>座標貼附到</a:t>
                      </a:r>
                      <a:r>
                        <a:rPr lang="en-US" altLang="zh-TW" sz="1800" dirty="0"/>
                        <a:t>3D</a:t>
                      </a:r>
                      <a:r>
                        <a:rPr lang="zh-TW" altLang="en-US" sz="1800" dirty="0"/>
                        <a:t>模型表面</a:t>
                      </a:r>
                      <a:endParaRPr kumimoji="0" lang="zh-TW" altLang="en-US" sz="1800" b="0" kern="120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502872403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endParaRPr lang="zh-TW" altLang="en-US" sz="1800" b="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800" b="0" kern="120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579846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736780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3200" dirty="0"/>
              <a:t>Section 3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zh-TW" altLang="en-US" dirty="0"/>
              <a:t>改變材質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dirty="0">
                <a:solidFill>
                  <a:srgbClr val="003399"/>
                </a:solidFill>
                <a:latin typeface="Times New Roman" panose="02020603050405020304" pitchFamily="18" charset="0"/>
              </a:rPr>
              <a:t>基礎遊戲引擎應用</a:t>
            </a:r>
            <a:r>
              <a:rPr lang="en-US" altLang="zh-TW" dirty="0">
                <a:solidFill>
                  <a:srgbClr val="003399"/>
                </a:solidFill>
                <a:latin typeface="Times New Roman" panose="02020603050405020304" pitchFamily="18" charset="0"/>
              </a:rPr>
              <a:t>(Y2)</a:t>
            </a:r>
            <a:endParaRPr lang="zh-TW" altLang="en-US"/>
          </a:p>
          <a:p>
            <a:endParaRPr lang="zh-TW" altLang="en-US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重新說明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這邊有三種</a:t>
            </a:r>
            <a:r>
              <a:rPr lang="zh-TW" altLang="en-US" b="1" u="sng" dirty="0"/>
              <a:t>資源</a:t>
            </a:r>
            <a:r>
              <a:rPr lang="zh-TW" altLang="en-US" dirty="0"/>
              <a:t>需要建立</a:t>
            </a:r>
            <a:endParaRPr lang="en-US" altLang="zh-TW" dirty="0"/>
          </a:p>
          <a:p>
            <a:pPr lvl="1"/>
            <a:r>
              <a:rPr lang="en-US" altLang="zh-TW" dirty="0" err="1"/>
              <a:t>Shader</a:t>
            </a:r>
            <a:r>
              <a:rPr lang="en-US" altLang="zh-TW" dirty="0"/>
              <a:t> </a:t>
            </a:r>
          </a:p>
          <a:p>
            <a:pPr lvl="1"/>
            <a:r>
              <a:rPr lang="en-US" altLang="zh-TW" dirty="0"/>
              <a:t>Material</a:t>
            </a:r>
          </a:p>
          <a:p>
            <a:pPr lvl="1"/>
            <a:r>
              <a:rPr lang="en-US" altLang="zh-TW" dirty="0" err="1"/>
              <a:t>Texutre</a:t>
            </a:r>
            <a:endParaRPr lang="en-US" altLang="zh-TW" dirty="0"/>
          </a:p>
          <a:p>
            <a:r>
              <a:rPr lang="zh-TW" altLang="en-US" b="1" u="sng" dirty="0">
                <a:solidFill>
                  <a:srgbClr val="FF0000"/>
                </a:solidFill>
              </a:rPr>
              <a:t>資源</a:t>
            </a:r>
            <a:r>
              <a:rPr lang="zh-TW" altLang="en-US" dirty="0"/>
              <a:t>是放在你的</a:t>
            </a:r>
            <a:r>
              <a:rPr lang="zh-TW" altLang="en-US" b="1" u="sng" dirty="0"/>
              <a:t>專案</a:t>
            </a:r>
            <a:r>
              <a:rPr lang="zh-TW" altLang="en-US" dirty="0"/>
              <a:t>中的，並不會直接放入場景</a:t>
            </a:r>
            <a:r>
              <a:rPr lang="en-US" altLang="zh-TW" dirty="0"/>
              <a:t>/</a:t>
            </a:r>
            <a:r>
              <a:rPr lang="zh-TW" altLang="en-US" dirty="0"/>
              <a:t>遊戲中</a:t>
            </a:r>
            <a:endParaRPr lang="en-US" altLang="zh-TW" dirty="0"/>
          </a:p>
          <a:p>
            <a:pPr lvl="1"/>
            <a:r>
              <a:rPr lang="zh-TW" altLang="en-US" dirty="0"/>
              <a:t>在場景中的，是遊戲物件 </a:t>
            </a:r>
            <a:r>
              <a:rPr lang="en-US" altLang="zh-TW" dirty="0"/>
              <a:t>&amp;</a:t>
            </a:r>
            <a:r>
              <a:rPr lang="zh-TW" altLang="en-US" dirty="0"/>
              <a:t> 元件的形式，資源會作元件的屬性被使用。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建立資源的方法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直接在</a:t>
            </a:r>
            <a:r>
              <a:rPr lang="en-US" altLang="zh-TW" dirty="0"/>
              <a:t>Unity</a:t>
            </a:r>
            <a:r>
              <a:rPr lang="zh-TW" altLang="en-US" dirty="0"/>
              <a:t>中建立</a:t>
            </a:r>
            <a:endParaRPr lang="en-US" altLang="zh-TW" dirty="0"/>
          </a:p>
          <a:p>
            <a:pPr lvl="1"/>
            <a:r>
              <a:rPr lang="zh-TW" altLang="en-US" dirty="0"/>
              <a:t>必須為</a:t>
            </a:r>
            <a:r>
              <a:rPr lang="en-US" altLang="zh-TW" dirty="0"/>
              <a:t>Unity</a:t>
            </a:r>
            <a:r>
              <a:rPr lang="zh-TW" altLang="en-US" dirty="0"/>
              <a:t>可建立的類型</a:t>
            </a:r>
            <a:endParaRPr lang="en-US" altLang="zh-TW" dirty="0"/>
          </a:p>
          <a:p>
            <a:pPr lvl="1"/>
            <a:r>
              <a:rPr lang="zh-TW" altLang="en-US" dirty="0"/>
              <a:t>再</a:t>
            </a:r>
            <a:r>
              <a:rPr lang="en-US" altLang="zh-TW" dirty="0"/>
              <a:t>Project</a:t>
            </a:r>
            <a:r>
              <a:rPr lang="zh-TW" altLang="en-US" dirty="0"/>
              <a:t>按右鍵 </a:t>
            </a:r>
            <a:r>
              <a:rPr lang="en-US" altLang="zh-TW" dirty="0"/>
              <a:t>&gt;</a:t>
            </a:r>
            <a:r>
              <a:rPr lang="zh-TW" altLang="en-US" dirty="0"/>
              <a:t> </a:t>
            </a:r>
            <a:r>
              <a:rPr lang="en-US" altLang="zh-TW" dirty="0"/>
              <a:t>Create &gt;</a:t>
            </a:r>
            <a:r>
              <a:rPr lang="zh-TW" altLang="en-US" dirty="0"/>
              <a:t> 可選擇各種資源</a:t>
            </a:r>
            <a:endParaRPr lang="en-US" altLang="zh-TW" dirty="0"/>
          </a:p>
          <a:p>
            <a:r>
              <a:rPr lang="zh-TW" altLang="en-US" dirty="0"/>
              <a:t>從外部放入</a:t>
            </a:r>
            <a:endParaRPr lang="en-US" altLang="zh-TW" dirty="0"/>
          </a:p>
          <a:p>
            <a:pPr lvl="1"/>
            <a:r>
              <a:rPr lang="zh-TW" altLang="en-US" dirty="0"/>
              <a:t>比如說把圖片、音樂、程式等放入</a:t>
            </a:r>
            <a:r>
              <a:rPr lang="en-US" altLang="zh-TW" dirty="0"/>
              <a:t>Unity</a:t>
            </a:r>
          </a:p>
          <a:p>
            <a:pPr lvl="1"/>
            <a:r>
              <a:rPr lang="zh-TW" altLang="en-US" dirty="0"/>
              <a:t>只需要拖拉進</a:t>
            </a:r>
            <a:r>
              <a:rPr lang="en-US" altLang="zh-TW" dirty="0"/>
              <a:t>Project</a:t>
            </a:r>
          </a:p>
          <a:p>
            <a:r>
              <a:rPr lang="zh-TW" altLang="en-US" dirty="0"/>
              <a:t>從外部放入</a:t>
            </a:r>
            <a:r>
              <a:rPr lang="en-US" altLang="zh-TW" dirty="0"/>
              <a:t>.</a:t>
            </a:r>
            <a:r>
              <a:rPr lang="en-US" altLang="zh-TW" dirty="0" err="1"/>
              <a:t>unitypackage</a:t>
            </a:r>
            <a:r>
              <a:rPr lang="zh-TW" altLang="en-US" dirty="0"/>
              <a:t>檔案</a:t>
            </a:r>
            <a:endParaRPr lang="en-US" altLang="zh-TW" dirty="0"/>
          </a:p>
          <a:p>
            <a:pPr lvl="1"/>
            <a:r>
              <a:rPr lang="zh-TW" altLang="en-US" dirty="0"/>
              <a:t>可以想成一種壓縮檔，放入</a:t>
            </a:r>
            <a:r>
              <a:rPr lang="en-US" altLang="zh-TW" dirty="0"/>
              <a:t>Unity</a:t>
            </a:r>
            <a:r>
              <a:rPr lang="zh-TW" altLang="en-US" dirty="0"/>
              <a:t>中就會自動解壓縮</a:t>
            </a:r>
            <a:endParaRPr lang="en-US" altLang="zh-TW" dirty="0"/>
          </a:p>
          <a:p>
            <a:pPr lvl="1"/>
            <a:r>
              <a:rPr lang="zh-TW" altLang="en-US" dirty="0"/>
              <a:t>只需要拖拉進</a:t>
            </a:r>
            <a:r>
              <a:rPr lang="en-US" altLang="zh-TW" dirty="0"/>
              <a:t>Project</a:t>
            </a:r>
          </a:p>
          <a:p>
            <a:pPr lvl="1"/>
            <a:endParaRPr lang="zh-TW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Shader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著色器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</a:t>
            </a:r>
            <a:r>
              <a:rPr lang="en-US" altLang="zh-TW" dirty="0"/>
              <a:t>Unity</a:t>
            </a:r>
            <a:r>
              <a:rPr lang="zh-TW" altLang="en-US" dirty="0"/>
              <a:t>中，可以從</a:t>
            </a:r>
            <a:r>
              <a:rPr lang="en-US" altLang="zh-TW" dirty="0"/>
              <a:t>Create</a:t>
            </a:r>
            <a:r>
              <a:rPr lang="zh-TW" altLang="en-US" dirty="0"/>
              <a:t>中選擇</a:t>
            </a:r>
            <a:endParaRPr lang="en-US" altLang="zh-TW" dirty="0"/>
          </a:p>
          <a:p>
            <a:pPr lvl="1"/>
            <a:r>
              <a:rPr lang="zh-TW" altLang="en-US" dirty="0"/>
              <a:t>使用</a:t>
            </a:r>
            <a:r>
              <a:rPr lang="en-US" altLang="zh-TW" dirty="0"/>
              <a:t>HLSL</a:t>
            </a:r>
            <a:r>
              <a:rPr lang="zh-TW" altLang="en-US" dirty="0"/>
              <a:t>語言撰寫的</a:t>
            </a:r>
            <a:r>
              <a:rPr lang="en-US" altLang="zh-TW" dirty="0" err="1"/>
              <a:t>Shader</a:t>
            </a:r>
            <a:endParaRPr lang="en-US" altLang="zh-TW" dirty="0"/>
          </a:p>
          <a:p>
            <a:pPr lvl="1"/>
            <a:r>
              <a:rPr lang="zh-TW" altLang="en-US" dirty="0"/>
              <a:t>使用</a:t>
            </a:r>
            <a:r>
              <a:rPr lang="en-US" altLang="zh-TW" dirty="0" err="1"/>
              <a:t>Shader</a:t>
            </a:r>
            <a:r>
              <a:rPr lang="en-US" altLang="zh-TW" dirty="0"/>
              <a:t> Graph</a:t>
            </a:r>
            <a:r>
              <a:rPr lang="zh-TW" altLang="en-US" dirty="0"/>
              <a:t>圖形化的製作的</a:t>
            </a:r>
            <a:r>
              <a:rPr lang="en-US" altLang="zh-TW" dirty="0" err="1"/>
              <a:t>Shader</a:t>
            </a:r>
            <a:r>
              <a:rPr lang="zh-TW" altLang="en-US" dirty="0"/>
              <a:t>。</a:t>
            </a:r>
            <a:endParaRPr lang="en-US" altLang="zh-TW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4800600"/>
            <a:ext cx="3886200" cy="1485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69189" y="4800600"/>
            <a:ext cx="4446211" cy="154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Shader</a:t>
            </a:r>
            <a:r>
              <a:rPr lang="zh-TW" altLang="en-US" dirty="0"/>
              <a:t>的建立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在這堂課當中，我們不教怎麼建立</a:t>
            </a:r>
            <a:r>
              <a:rPr lang="en-US" altLang="zh-TW" dirty="0" err="1"/>
              <a:t>Shader</a:t>
            </a:r>
            <a:r>
              <a:rPr lang="zh-TW" altLang="en-US" dirty="0"/>
              <a:t>資源，我們只教如何使用。</a:t>
            </a:r>
            <a:endParaRPr lang="en-US" altLang="zh-TW" dirty="0"/>
          </a:p>
          <a:p>
            <a:pPr lvl="1"/>
            <a:r>
              <a:rPr lang="en-US" altLang="zh-TW" dirty="0" err="1"/>
              <a:t>Shader</a:t>
            </a:r>
            <a:r>
              <a:rPr lang="zh-TW" altLang="en-US" dirty="0"/>
              <a:t>又分</a:t>
            </a:r>
            <a:r>
              <a:rPr lang="en-US" altLang="zh-TW" dirty="0"/>
              <a:t>Vertex</a:t>
            </a:r>
            <a:r>
              <a:rPr lang="zh-TW" altLang="en-US" dirty="0"/>
              <a:t>部分與</a:t>
            </a:r>
            <a:r>
              <a:rPr lang="en-US" altLang="zh-TW" dirty="0"/>
              <a:t>Fragment</a:t>
            </a:r>
            <a:r>
              <a:rPr lang="zh-TW" altLang="en-US" dirty="0"/>
              <a:t>部分</a:t>
            </a:r>
            <a:endParaRPr lang="en-US" altLang="zh-TW" dirty="0"/>
          </a:p>
          <a:p>
            <a:pPr lvl="1"/>
            <a:r>
              <a:rPr lang="en-US" altLang="zh-TW" dirty="0" err="1"/>
              <a:t>Shader</a:t>
            </a:r>
            <a:r>
              <a:rPr lang="zh-TW" altLang="en-US" dirty="0"/>
              <a:t>的撰寫屬於較進階的內容</a:t>
            </a:r>
            <a:endParaRPr lang="en-US" altLang="zh-TW" dirty="0"/>
          </a:p>
          <a:p>
            <a:pPr lvl="1"/>
            <a:r>
              <a:rPr lang="zh-TW" altLang="en-US" dirty="0"/>
              <a:t>若要學習，無程式基礎建議先從圖形化方式開始，你在</a:t>
            </a:r>
            <a:r>
              <a:rPr lang="en-US" altLang="zh-TW" dirty="0"/>
              <a:t>Blender</a:t>
            </a:r>
            <a:r>
              <a:rPr lang="zh-TW" altLang="en-US" dirty="0"/>
              <a:t>中可能會稍微接觸類似的方法。</a:t>
            </a:r>
            <a:endParaRPr lang="en-US" altLang="zh-TW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Shader</a:t>
            </a:r>
            <a:r>
              <a:rPr lang="en-US" altLang="zh-TW" dirty="0"/>
              <a:t> Graph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050" name="Picture 2" descr="Unity 2018: Introducing Shader Graph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2279137"/>
            <a:ext cx="8153400" cy="457886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Texture (</a:t>
            </a:r>
            <a:r>
              <a:rPr lang="zh-TW" altLang="en-US" dirty="0"/>
              <a:t>貼圖</a:t>
            </a:r>
            <a:r>
              <a:rPr lang="en-US" altLang="zh-TW" dirty="0"/>
              <a:t>)</a:t>
            </a:r>
            <a:r>
              <a:rPr lang="zh-TW" altLang="en-US" dirty="0"/>
              <a:t>的建立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5257800" cy="4325112"/>
          </a:xfrm>
        </p:spPr>
        <p:txBody>
          <a:bodyPr/>
          <a:lstStyle/>
          <a:p>
            <a:r>
              <a:rPr lang="zh-TW" altLang="en-US" dirty="0"/>
              <a:t>通常不會在</a:t>
            </a:r>
            <a:r>
              <a:rPr lang="en-US" altLang="zh-TW" dirty="0"/>
              <a:t>Unity</a:t>
            </a:r>
            <a:r>
              <a:rPr lang="zh-TW" altLang="en-US" dirty="0"/>
              <a:t>中建立貼圖，你只需要把圖片放入</a:t>
            </a:r>
            <a:r>
              <a:rPr lang="en-US" altLang="zh-TW" dirty="0"/>
              <a:t>Unity</a:t>
            </a:r>
            <a:r>
              <a:rPr lang="zh-TW" altLang="en-US" dirty="0"/>
              <a:t>專案，即為貼圖。</a:t>
            </a:r>
            <a:endParaRPr lang="en-US" altLang="zh-TW" dirty="0"/>
          </a:p>
          <a:p>
            <a:pPr lvl="1"/>
            <a:r>
              <a:rPr lang="zh-TW" altLang="en-US" dirty="0"/>
              <a:t>將</a:t>
            </a:r>
            <a:r>
              <a:rPr lang="en-US" altLang="zh-TW" dirty="0"/>
              <a:t>3D</a:t>
            </a:r>
            <a:r>
              <a:rPr lang="zh-TW" altLang="en-US" dirty="0"/>
              <a:t>模型放入</a:t>
            </a:r>
            <a:r>
              <a:rPr lang="en-US" altLang="zh-TW" dirty="0"/>
              <a:t>Unity</a:t>
            </a:r>
            <a:r>
              <a:rPr lang="zh-TW" altLang="en-US" dirty="0"/>
              <a:t>中，通常也會一併傳入貼圖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傳入的圖片，點擊後，在</a:t>
            </a:r>
            <a:r>
              <a:rPr lang="en-US" altLang="zh-TW" dirty="0"/>
              <a:t>Inspector</a:t>
            </a:r>
            <a:r>
              <a:rPr lang="zh-TW" altLang="en-US" dirty="0"/>
              <a:t>中必須使用</a:t>
            </a:r>
            <a:r>
              <a:rPr lang="en-US" altLang="zh-TW" b="1" u="sng" dirty="0"/>
              <a:t>Default</a:t>
            </a:r>
            <a:r>
              <a:rPr lang="zh-TW" altLang="en-US" dirty="0"/>
              <a:t>才是一張常用的</a:t>
            </a:r>
            <a:r>
              <a:rPr lang="en-US" altLang="zh-TW" dirty="0"/>
              <a:t>Texture</a:t>
            </a:r>
            <a:r>
              <a:rPr lang="zh-TW" altLang="en-US" dirty="0"/>
              <a:t>形式</a:t>
            </a:r>
            <a:endParaRPr lang="en-US" altLang="zh-TW" dirty="0"/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0" y="685800"/>
            <a:ext cx="2895600" cy="7585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矩形 4"/>
          <p:cNvSpPr/>
          <p:nvPr/>
        </p:nvSpPr>
        <p:spPr>
          <a:xfrm>
            <a:off x="6096000" y="1295400"/>
            <a:ext cx="2895600" cy="457200"/>
          </a:xfrm>
          <a:prstGeom prst="rect">
            <a:avLst/>
          </a:prstGeom>
          <a:solidFill>
            <a:srgbClr val="FF0000">
              <a:alpha val="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accent4"/>
                </a:solidFill>
              </a:ln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Material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材質</a:t>
            </a:r>
            <a:r>
              <a:rPr lang="en-US" altLang="zh-TW" dirty="0"/>
              <a:t>)</a:t>
            </a:r>
            <a:r>
              <a:rPr lang="zh-TW" altLang="en-US" dirty="0"/>
              <a:t>的建立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Unity </a:t>
            </a:r>
            <a:r>
              <a:rPr lang="zh-TW" altLang="en-US" dirty="0"/>
              <a:t>的材質是靠著 </a:t>
            </a:r>
            <a:r>
              <a:rPr lang="en-US" altLang="zh-TW" b="1" u="sng" dirty="0" err="1"/>
              <a:t>shader</a:t>
            </a:r>
            <a:r>
              <a:rPr lang="zh-TW" altLang="en-US" dirty="0"/>
              <a:t>和</a:t>
            </a:r>
            <a:r>
              <a:rPr lang="zh-TW" altLang="en-US" b="1" u="sng" dirty="0"/>
              <a:t>貼圖</a:t>
            </a:r>
            <a:r>
              <a:rPr lang="zh-TW" altLang="en-US" dirty="0"/>
              <a:t>來運作，用於顯示</a:t>
            </a:r>
            <a:r>
              <a:rPr lang="en-US" altLang="zh-TW" dirty="0"/>
              <a:t>3D</a:t>
            </a:r>
            <a:r>
              <a:rPr lang="zh-TW" altLang="en-US" dirty="0"/>
              <a:t>物件的呈現。</a:t>
            </a:r>
            <a:endParaRPr lang="en-US" altLang="zh-TW" dirty="0"/>
          </a:p>
          <a:p>
            <a:r>
              <a:rPr lang="zh-TW" altLang="en-US" dirty="0"/>
              <a:t>在</a:t>
            </a:r>
            <a:r>
              <a:rPr lang="en-US" altLang="zh-TW" dirty="0"/>
              <a:t>Project</a:t>
            </a:r>
            <a:r>
              <a:rPr lang="zh-TW" altLang="en-US" dirty="0"/>
              <a:t>中按右鍵 </a:t>
            </a:r>
            <a:r>
              <a:rPr lang="en-US" altLang="zh-TW" dirty="0"/>
              <a:t>&gt;</a:t>
            </a:r>
            <a:r>
              <a:rPr lang="zh-TW" altLang="en-US" dirty="0"/>
              <a:t> </a:t>
            </a:r>
            <a:r>
              <a:rPr lang="en-US" altLang="zh-TW" dirty="0"/>
              <a:t>Create &gt; Material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建立以後可以改名，點擊可以在</a:t>
            </a:r>
            <a:r>
              <a:rPr lang="en-US" altLang="zh-TW" dirty="0"/>
              <a:t>Inspector</a:t>
            </a:r>
            <a:r>
              <a:rPr lang="zh-TW" altLang="en-US" dirty="0"/>
              <a:t>修改內容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4086225"/>
            <a:ext cx="6411913" cy="117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矩形 4"/>
          <p:cNvSpPr/>
          <p:nvPr/>
        </p:nvSpPr>
        <p:spPr>
          <a:xfrm>
            <a:off x="457200" y="4086225"/>
            <a:ext cx="3886200" cy="304800"/>
          </a:xfrm>
          <a:prstGeom prst="rect">
            <a:avLst/>
          </a:prstGeom>
          <a:solidFill>
            <a:srgbClr val="FF0000">
              <a:alpha val="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accent4"/>
                </a:solidFill>
              </a:ln>
            </a:endParaRPr>
          </a:p>
        </p:txBody>
      </p:sp>
      <p:sp>
        <p:nvSpPr>
          <p:cNvPr id="6" name="矩形 5"/>
          <p:cNvSpPr/>
          <p:nvPr/>
        </p:nvSpPr>
        <p:spPr>
          <a:xfrm>
            <a:off x="4419600" y="4314825"/>
            <a:ext cx="2743200" cy="304800"/>
          </a:xfrm>
          <a:prstGeom prst="rect">
            <a:avLst/>
          </a:prstGeom>
          <a:solidFill>
            <a:srgbClr val="FF0000">
              <a:alpha val="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accent4"/>
                </a:solidFill>
              </a:ln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Material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材質</a:t>
            </a:r>
            <a:r>
              <a:rPr lang="en-US" altLang="zh-TW" dirty="0"/>
              <a:t>)</a:t>
            </a:r>
            <a:r>
              <a:rPr lang="zh-TW" altLang="en-US" dirty="0"/>
              <a:t>修改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5105400" cy="4325112"/>
          </a:xfrm>
        </p:spPr>
        <p:txBody>
          <a:bodyPr/>
          <a:lstStyle/>
          <a:p>
            <a:r>
              <a:rPr lang="zh-TW" altLang="en-US" dirty="0"/>
              <a:t>建立後，通常會依照模式不同，出現預設的</a:t>
            </a:r>
            <a:r>
              <a:rPr lang="en-US" altLang="zh-TW" dirty="0" err="1"/>
              <a:t>Shader</a:t>
            </a:r>
            <a:r>
              <a:rPr lang="zh-TW" altLang="en-US" dirty="0"/>
              <a:t>，但你仍然能在修改</a:t>
            </a:r>
            <a:r>
              <a:rPr lang="en-US" altLang="zh-TW" dirty="0" err="1"/>
              <a:t>Shader</a:t>
            </a:r>
            <a:r>
              <a:rPr lang="zh-TW" altLang="en-US" dirty="0"/>
              <a:t>。</a:t>
            </a:r>
            <a:endParaRPr lang="en-US" altLang="zh-TW" dirty="0"/>
          </a:p>
        </p:txBody>
      </p:sp>
      <p:pic>
        <p:nvPicPr>
          <p:cNvPr id="4915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37281" y="584200"/>
            <a:ext cx="3406719" cy="627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矩形 5"/>
          <p:cNvSpPr/>
          <p:nvPr/>
        </p:nvSpPr>
        <p:spPr>
          <a:xfrm>
            <a:off x="6019800" y="914400"/>
            <a:ext cx="2819400" cy="228600"/>
          </a:xfrm>
          <a:prstGeom prst="rect">
            <a:avLst/>
          </a:prstGeom>
          <a:solidFill>
            <a:srgbClr val="FF0000">
              <a:alpha val="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accent4"/>
                </a:solidFill>
              </a:ln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Material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材質</a:t>
            </a:r>
            <a:r>
              <a:rPr lang="en-US" altLang="zh-TW" dirty="0"/>
              <a:t>)</a:t>
            </a:r>
            <a:r>
              <a:rPr lang="zh-TW" altLang="en-US" dirty="0"/>
              <a:t>修改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5105400" cy="4325112"/>
          </a:xfrm>
        </p:spPr>
        <p:txBody>
          <a:bodyPr/>
          <a:lstStyle/>
          <a:p>
            <a:endParaRPr lang="en-US" altLang="zh-TW" dirty="0"/>
          </a:p>
          <a:p>
            <a:r>
              <a:rPr lang="zh-TW" altLang="en-US" dirty="0"/>
              <a:t>預設</a:t>
            </a:r>
            <a:r>
              <a:rPr lang="en-US" altLang="zh-TW" dirty="0" err="1"/>
              <a:t>Shader</a:t>
            </a:r>
            <a:r>
              <a:rPr lang="zh-TW" altLang="en-US" dirty="0"/>
              <a:t>中，有許多項目可以修改，這邊可以修改</a:t>
            </a:r>
            <a:r>
              <a:rPr lang="en-US" altLang="zh-TW" dirty="0" err="1"/>
              <a:t>BaseMap</a:t>
            </a:r>
            <a:r>
              <a:rPr lang="zh-TW" altLang="en-US" dirty="0"/>
              <a:t>，</a:t>
            </a:r>
            <a:endParaRPr lang="en-US" altLang="zh-TW" dirty="0"/>
          </a:p>
          <a:p>
            <a:pPr lvl="1"/>
            <a:r>
              <a:rPr lang="zh-TW" altLang="en-US" dirty="0"/>
              <a:t>前面有一個</a:t>
            </a:r>
            <a:r>
              <a:rPr lang="zh-TW" altLang="en-US" b="1" u="sng" dirty="0"/>
              <a:t>正方形</a:t>
            </a:r>
            <a:r>
              <a:rPr lang="zh-TW" altLang="en-US" dirty="0"/>
              <a:t>可以修改</a:t>
            </a:r>
            <a:r>
              <a:rPr lang="en-US" altLang="zh-TW" dirty="0"/>
              <a:t>Texture</a:t>
            </a:r>
          </a:p>
          <a:p>
            <a:pPr lvl="1"/>
            <a:r>
              <a:rPr lang="zh-TW" altLang="en-US" dirty="0"/>
              <a:t>後面可以修改顏色</a:t>
            </a:r>
            <a:endParaRPr lang="en-US" altLang="zh-TW" dirty="0"/>
          </a:p>
        </p:txBody>
      </p:sp>
      <p:pic>
        <p:nvPicPr>
          <p:cNvPr id="4915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37281" y="584200"/>
            <a:ext cx="3406719" cy="627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矩形 6"/>
          <p:cNvSpPr/>
          <p:nvPr/>
        </p:nvSpPr>
        <p:spPr>
          <a:xfrm>
            <a:off x="6019800" y="2133600"/>
            <a:ext cx="3048000" cy="152400"/>
          </a:xfrm>
          <a:prstGeom prst="rect">
            <a:avLst/>
          </a:prstGeom>
          <a:solidFill>
            <a:srgbClr val="FF0000">
              <a:alpha val="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accent4"/>
                </a:solidFill>
              </a:ln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Material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材質</a:t>
            </a:r>
            <a:r>
              <a:rPr lang="en-US" altLang="zh-TW" dirty="0"/>
              <a:t>)</a:t>
            </a:r>
            <a:r>
              <a:rPr lang="zh-TW" altLang="en-US" dirty="0"/>
              <a:t>修改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不是每個</a:t>
            </a:r>
            <a:r>
              <a:rPr lang="en-US" altLang="zh-TW" dirty="0" err="1"/>
              <a:t>Shader</a:t>
            </a:r>
            <a:r>
              <a:rPr lang="zh-TW" altLang="en-US" dirty="0"/>
              <a:t>都可以修改</a:t>
            </a:r>
            <a:r>
              <a:rPr lang="en-US" altLang="zh-TW" dirty="0"/>
              <a:t>Texture</a:t>
            </a:r>
            <a:r>
              <a:rPr lang="zh-TW" altLang="en-US" dirty="0"/>
              <a:t> </a:t>
            </a:r>
            <a:r>
              <a:rPr lang="en-US" altLang="zh-TW" dirty="0"/>
              <a:t>/ </a:t>
            </a:r>
            <a:r>
              <a:rPr lang="zh-TW" altLang="en-US" dirty="0"/>
              <a:t>顏色等內容</a:t>
            </a:r>
            <a:endParaRPr lang="en-US" altLang="zh-TW" dirty="0"/>
          </a:p>
          <a:p>
            <a:pPr lvl="1"/>
            <a:r>
              <a:rPr lang="zh-TW" altLang="en-US" dirty="0"/>
              <a:t>而且修改屬性的位置的位置有可能不同</a:t>
            </a:r>
            <a:endParaRPr lang="en-US" altLang="zh-TW" dirty="0"/>
          </a:p>
          <a:p>
            <a:pPr lvl="1"/>
            <a:r>
              <a:rPr lang="zh-TW" altLang="en-US" dirty="0"/>
              <a:t>以下方</a:t>
            </a:r>
            <a:r>
              <a:rPr lang="en-US" altLang="zh-TW" dirty="0"/>
              <a:t>Unlit/Texture</a:t>
            </a:r>
            <a:r>
              <a:rPr lang="zh-TW" altLang="en-US" dirty="0"/>
              <a:t>為例，只能修改</a:t>
            </a:r>
            <a:r>
              <a:rPr lang="en-US" altLang="zh-TW" dirty="0"/>
              <a:t>Texture</a:t>
            </a:r>
            <a:r>
              <a:rPr lang="zh-TW" altLang="en-US" dirty="0"/>
              <a:t>，而且在右邊</a:t>
            </a:r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62200" y="4572000"/>
            <a:ext cx="4680591" cy="195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矩形 4"/>
          <p:cNvSpPr/>
          <p:nvPr/>
        </p:nvSpPr>
        <p:spPr>
          <a:xfrm>
            <a:off x="6400800" y="5257800"/>
            <a:ext cx="685800" cy="609600"/>
          </a:xfrm>
          <a:prstGeom prst="rect">
            <a:avLst/>
          </a:prstGeom>
          <a:solidFill>
            <a:srgbClr val="FF0000">
              <a:alpha val="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accent4"/>
                </a:solidFill>
              </a:ln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將</a:t>
            </a:r>
            <a:r>
              <a:rPr lang="en-US" altLang="zh-TW" dirty="0"/>
              <a:t>Material</a:t>
            </a:r>
            <a:r>
              <a:rPr lang="zh-TW" altLang="en-US" dirty="0"/>
              <a:t>放入遊戲物件 方法</a:t>
            </a:r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將你建立的材質，拖進</a:t>
            </a:r>
            <a:r>
              <a:rPr lang="en-US" altLang="zh-TW" dirty="0" err="1"/>
              <a:t>MeshRenderer</a:t>
            </a:r>
            <a:r>
              <a:rPr lang="zh-TW" altLang="en-US" dirty="0"/>
              <a:t>的</a:t>
            </a:r>
            <a:r>
              <a:rPr lang="en-US" altLang="zh-TW" dirty="0"/>
              <a:t>Material</a:t>
            </a:r>
            <a:r>
              <a:rPr lang="zh-TW" altLang="en-US" dirty="0"/>
              <a:t>部分</a:t>
            </a:r>
            <a:r>
              <a:rPr lang="en-US" altLang="zh-TW" sz="2400" dirty="0">
                <a:solidFill>
                  <a:srgbClr val="002060"/>
                </a:solidFill>
              </a:rPr>
              <a:t>(</a:t>
            </a:r>
            <a:r>
              <a:rPr lang="zh-TW" altLang="en-US" sz="2000" dirty="0">
                <a:solidFill>
                  <a:srgbClr val="002060"/>
                </a:solidFill>
              </a:rPr>
              <a:t>如果數量為</a:t>
            </a:r>
            <a:r>
              <a:rPr lang="en-US" altLang="zh-TW" sz="2000" dirty="0">
                <a:solidFill>
                  <a:srgbClr val="002060"/>
                </a:solidFill>
              </a:rPr>
              <a:t>0</a:t>
            </a:r>
            <a:r>
              <a:rPr lang="zh-TW" altLang="en-US" sz="2000" dirty="0">
                <a:solidFill>
                  <a:srgbClr val="002060"/>
                </a:solidFill>
              </a:rPr>
              <a:t>，先改成</a:t>
            </a:r>
            <a:r>
              <a:rPr lang="en-US" altLang="zh-TW" sz="2000" dirty="0">
                <a:solidFill>
                  <a:srgbClr val="002060"/>
                </a:solidFill>
              </a:rPr>
              <a:t>1)</a:t>
            </a:r>
            <a:r>
              <a:rPr lang="zh-TW" altLang="en-US" dirty="0"/>
              <a:t>。</a:t>
            </a:r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276600"/>
            <a:ext cx="9197489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矩形 5"/>
          <p:cNvSpPr/>
          <p:nvPr/>
        </p:nvSpPr>
        <p:spPr>
          <a:xfrm>
            <a:off x="0" y="3657600"/>
            <a:ext cx="990600" cy="76200"/>
          </a:xfrm>
          <a:prstGeom prst="rect">
            <a:avLst/>
          </a:prstGeom>
          <a:solidFill>
            <a:srgbClr val="FF0000">
              <a:alpha val="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accent4"/>
                </a:solidFill>
              </a:ln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77000" y="4419600"/>
            <a:ext cx="2667000" cy="381000"/>
          </a:xfrm>
          <a:prstGeom prst="rect">
            <a:avLst/>
          </a:prstGeom>
          <a:solidFill>
            <a:srgbClr val="FF0000">
              <a:alpha val="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accent4"/>
                </a:solidFill>
              </a:ln>
            </a:endParaRPr>
          </a:p>
        </p:txBody>
      </p:sp>
      <p:cxnSp>
        <p:nvCxnSpPr>
          <p:cNvPr id="9" name="直線單箭頭接點 8"/>
          <p:cNvCxnSpPr>
            <a:stCxn id="6" idx="3"/>
            <a:endCxn id="7" idx="1"/>
          </p:cNvCxnSpPr>
          <p:nvPr/>
        </p:nvCxnSpPr>
        <p:spPr>
          <a:xfrm>
            <a:off x="990600" y="3695700"/>
            <a:ext cx="5486400" cy="914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將</a:t>
            </a:r>
            <a:r>
              <a:rPr lang="en-US" altLang="zh-TW" dirty="0"/>
              <a:t>Material</a:t>
            </a:r>
            <a:r>
              <a:rPr lang="zh-TW" altLang="en-US" dirty="0"/>
              <a:t>放入遊戲物件 方法</a:t>
            </a:r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點擊圓點，你可以選擇專案內的材質資源</a:t>
            </a:r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/>
          <a:srcRect l="70421"/>
          <a:stretch>
            <a:fillRect/>
          </a:stretch>
        </p:blipFill>
        <p:spPr bwMode="auto">
          <a:xfrm>
            <a:off x="685800" y="3124200"/>
            <a:ext cx="2720489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矩形 6"/>
          <p:cNvSpPr/>
          <p:nvPr/>
        </p:nvSpPr>
        <p:spPr>
          <a:xfrm>
            <a:off x="3200400" y="4343400"/>
            <a:ext cx="152400" cy="228600"/>
          </a:xfrm>
          <a:prstGeom prst="rect">
            <a:avLst/>
          </a:prstGeom>
          <a:solidFill>
            <a:srgbClr val="FF0000">
              <a:alpha val="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accent4"/>
                </a:solidFill>
              </a:ln>
            </a:endParaRPr>
          </a:p>
        </p:txBody>
      </p:sp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43400" y="3505200"/>
            <a:ext cx="3957406" cy="318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將</a:t>
            </a:r>
            <a:r>
              <a:rPr lang="en-US" altLang="zh-TW" dirty="0"/>
              <a:t>Material</a:t>
            </a:r>
            <a:r>
              <a:rPr lang="zh-TW" altLang="en-US" dirty="0"/>
              <a:t>放入遊戲物件 方法</a:t>
            </a:r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直接將材質拖到遊戲物件上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276600"/>
            <a:ext cx="9197489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矩形 4"/>
          <p:cNvSpPr/>
          <p:nvPr/>
        </p:nvSpPr>
        <p:spPr>
          <a:xfrm>
            <a:off x="0" y="3657600"/>
            <a:ext cx="990600" cy="76200"/>
          </a:xfrm>
          <a:prstGeom prst="rect">
            <a:avLst/>
          </a:prstGeom>
          <a:solidFill>
            <a:srgbClr val="FF0000">
              <a:alpha val="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accent4"/>
                </a:solidFill>
              </a:ln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43000" y="3657600"/>
            <a:ext cx="1219200" cy="152400"/>
          </a:xfrm>
          <a:prstGeom prst="rect">
            <a:avLst/>
          </a:prstGeom>
          <a:solidFill>
            <a:srgbClr val="FF0000">
              <a:alpha val="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accent4"/>
                </a:solidFill>
              </a:ln>
            </a:endParaRPr>
          </a:p>
        </p:txBody>
      </p:sp>
      <p:cxnSp>
        <p:nvCxnSpPr>
          <p:cNvPr id="7" name="直線單箭頭接點 6"/>
          <p:cNvCxnSpPr>
            <a:endCxn id="6" idx="1"/>
          </p:cNvCxnSpPr>
          <p:nvPr/>
        </p:nvCxnSpPr>
        <p:spPr>
          <a:xfrm>
            <a:off x="990600" y="3695700"/>
            <a:ext cx="152400" cy="38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5340</TotalTime>
  <Words>1802</Words>
  <Application>Microsoft Office PowerPoint</Application>
  <PresentationFormat>如螢幕大小 (4:3)</PresentationFormat>
  <Paragraphs>248</Paragraphs>
  <Slides>45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45</vt:i4>
      </vt:variant>
    </vt:vector>
  </HeadingPairs>
  <TitlesOfParts>
    <vt:vector size="46" baseType="lpstr">
      <vt:lpstr>都會</vt:lpstr>
      <vt:lpstr>Lesson 4 遊戲物件 與 元件</vt:lpstr>
      <vt:lpstr>建立一個立方體</vt:lpstr>
      <vt:lpstr>開關物件 與 物件在場景可視</vt:lpstr>
      <vt:lpstr>GameObject 與 Component</vt:lpstr>
      <vt:lpstr>Game Object 遊戲物件</vt:lpstr>
      <vt:lpstr>Component 元件</vt:lpstr>
      <vt:lpstr>GameObject 與 Component</vt:lpstr>
      <vt:lpstr>元件測試</vt:lpstr>
      <vt:lpstr>元件測試 (放入元件)</vt:lpstr>
      <vt:lpstr>新增元件 – 方法1</vt:lpstr>
      <vt:lpstr>新增元件 – 方法2</vt:lpstr>
      <vt:lpstr>移除元件</vt:lpstr>
      <vt:lpstr>開關元件</vt:lpstr>
      <vt:lpstr>修改元件屬性</vt:lpstr>
      <vt:lpstr>總結</vt:lpstr>
      <vt:lpstr>重新理解立方體的元件</vt:lpstr>
      <vt:lpstr>重新理解立方體的元件</vt:lpstr>
      <vt:lpstr>英文</vt:lpstr>
      <vt:lpstr>Section 2 渲染相關說明</vt:lpstr>
      <vt:lpstr>Render 渲染</vt:lpstr>
      <vt:lpstr>渲染器 Renderer</vt:lpstr>
      <vt:lpstr>Mesh Renderer </vt:lpstr>
      <vt:lpstr>Shader (著色器)</vt:lpstr>
      <vt:lpstr>Shader範例</vt:lpstr>
      <vt:lpstr>Shader</vt:lpstr>
      <vt:lpstr>Toon Shader</vt:lpstr>
      <vt:lpstr>Material (材質)</vt:lpstr>
      <vt:lpstr>Texture (貼圖)</vt:lpstr>
      <vt:lpstr>Texture (貼圖)</vt:lpstr>
      <vt:lpstr>Shader Material Texutre</vt:lpstr>
      <vt:lpstr>英文</vt:lpstr>
      <vt:lpstr>Section 3 改變材質</vt:lpstr>
      <vt:lpstr>重新說明</vt:lpstr>
      <vt:lpstr>建立資源的方法</vt:lpstr>
      <vt:lpstr>Shader (著色器)</vt:lpstr>
      <vt:lpstr>Shader的建立</vt:lpstr>
      <vt:lpstr>Shader Graph</vt:lpstr>
      <vt:lpstr>Texture (貼圖)的建立</vt:lpstr>
      <vt:lpstr>Material (材質)的建立</vt:lpstr>
      <vt:lpstr>Material (材質)修改</vt:lpstr>
      <vt:lpstr>Material (材質)修改</vt:lpstr>
      <vt:lpstr>Material (材質)修改</vt:lpstr>
      <vt:lpstr>將Material放入遊戲物件 方法1</vt:lpstr>
      <vt:lpstr>將Material放入遊戲物件 方法2</vt:lpstr>
      <vt:lpstr>將Material放入遊戲物件 方法3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user</cp:lastModifiedBy>
  <cp:revision>297</cp:revision>
  <dcterms:created xsi:type="dcterms:W3CDTF">2024-11-18T05:57:07Z</dcterms:created>
  <dcterms:modified xsi:type="dcterms:W3CDTF">2025-10-19T15:11:54Z</dcterms:modified>
</cp:coreProperties>
</file>