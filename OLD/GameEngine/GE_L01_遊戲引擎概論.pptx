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81" r:id="rId4"/>
    <p:sldId id="282" r:id="rId5"/>
    <p:sldId id="266" r:id="rId6"/>
    <p:sldId id="258" r:id="rId7"/>
    <p:sldId id="265" r:id="rId8"/>
    <p:sldId id="260" r:id="rId9"/>
    <p:sldId id="259" r:id="rId10"/>
    <p:sldId id="261" r:id="rId11"/>
    <p:sldId id="272" r:id="rId12"/>
    <p:sldId id="273" r:id="rId13"/>
    <p:sldId id="262" r:id="rId14"/>
    <p:sldId id="269" r:id="rId15"/>
    <p:sldId id="275" r:id="rId16"/>
    <p:sldId id="271" r:id="rId17"/>
    <p:sldId id="267" r:id="rId18"/>
    <p:sldId id="277" r:id="rId19"/>
    <p:sldId id="276" r:id="rId20"/>
    <p:sldId id="280" r:id="rId21"/>
    <p:sldId id="278" r:id="rId22"/>
    <p:sldId id="263" r:id="rId23"/>
    <p:sldId id="279" r:id="rId24"/>
    <p:sldId id="268" r:id="rId25"/>
    <p:sldId id="283" r:id="rId26"/>
    <p:sldId id="285" r:id="rId27"/>
    <p:sldId id="284" r:id="rId2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2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3" name="矩形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矩形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矩形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矩形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矩形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圓角矩形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圓角矩形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矩形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矩形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標題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zh-TW" altLang="en-US"/>
              <a:t>按一下以編輯母片標題樣式</a:t>
            </a:r>
            <a:endParaRPr kumimoji="0" lang="en-US"/>
          </a:p>
        </p:txBody>
      </p:sp>
      <p:sp>
        <p:nvSpPr>
          <p:cNvPr id="9" name="副標題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a:xfrm>
            <a:off x="6705600" y="4206240"/>
            <a:ext cx="960120" cy="457200"/>
          </a:xfrm>
        </p:spPr>
        <p:txBody>
          <a:bodyPr/>
          <a:lstStyle/>
          <a:p>
            <a:fld id="{5BBEAD13-0566-4C6C-97E7-55F17F24B09F}" type="datetimeFigureOut">
              <a:rPr lang="zh-TW" altLang="en-US" smtClean="0"/>
              <a:pPr/>
              <a:t>2025/9/10</a:t>
            </a:fld>
            <a:endParaRPr lang="zh-TW" altLang="en-US"/>
          </a:p>
        </p:txBody>
      </p:sp>
      <p:sp>
        <p:nvSpPr>
          <p:cNvPr id="17" name="頁尾版面配置區 16"/>
          <p:cNvSpPr>
            <a:spLocks noGrp="1"/>
          </p:cNvSpPr>
          <p:nvPr>
            <p:ph type="ftr" sz="quarter" idx="11"/>
          </p:nvPr>
        </p:nvSpPr>
        <p:spPr>
          <a:xfrm>
            <a:off x="5410200" y="4205288"/>
            <a:ext cx="1295400" cy="457200"/>
          </a:xfrm>
        </p:spPr>
        <p:txBody>
          <a:bodyPr/>
          <a:lstStyle/>
          <a:p>
            <a:endParaRPr lang="zh-TW" altLang="en-US"/>
          </a:p>
        </p:txBody>
      </p:sp>
      <p:sp>
        <p:nvSpPr>
          <p:cNvPr id="29" name="投影片編號版面配置區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內容版面配置區 2"/>
          <p:cNvSpPr>
            <a:spLocks noGrp="1"/>
          </p:cNvSpPr>
          <p:nvPr>
            <p:ph idx="1"/>
          </p:nvPr>
        </p:nvSpPr>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2025/9/10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2025/9/10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內容版面配置區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內容版面配置區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2025/9/10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381000" y="1143000"/>
            <a:ext cx="8382000" cy="1069848"/>
          </a:xfrm>
        </p:spPr>
        <p:txBody>
          <a:bodyPr anchor="ctr"/>
          <a:lstStyle>
            <a:lvl1pPr>
              <a:defRPr sz="4000" b="0" i="0" cap="none" baseline="0"/>
            </a:lvl1pPr>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5" name="內容版面配置區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6" name="內容版面配置區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6" name="日期版面配置區 25"/>
          <p:cNvSpPr>
            <a:spLocks noGrp="1"/>
          </p:cNvSpPr>
          <p:nvPr>
            <p:ph type="dt" sz="half" idx="10"/>
          </p:nvPr>
        </p:nvSpPr>
        <p:spPr/>
        <p:txBody>
          <a:bodyPr rtlCol="0"/>
          <a:lstStyle/>
          <a:p>
            <a:fld id="{5BBEAD13-0566-4C6C-97E7-55F17F24B09F}" type="datetimeFigureOut">
              <a:rPr lang="zh-TW" altLang="en-US" smtClean="0"/>
              <a:pPr/>
              <a:t>2025/9/10</a:t>
            </a:fld>
            <a:endParaRPr lang="zh-TW" altLang="en-US"/>
          </a:p>
        </p:txBody>
      </p:sp>
      <p:sp>
        <p:nvSpPr>
          <p:cNvPr id="27" name="投影片編號版面配置區 26"/>
          <p:cNvSpPr>
            <a:spLocks noGrp="1"/>
          </p:cNvSpPr>
          <p:nvPr>
            <p:ph type="sldNum" sz="quarter" idx="11"/>
          </p:nvPr>
        </p:nvSpPr>
        <p:spPr/>
        <p:txBody>
          <a:bodyPr rtlCol="0"/>
          <a:lstStyle/>
          <a:p>
            <a:fld id="{73DA0BB7-265A-403C-9275-D587AB510EDC}" type="slidenum">
              <a:rPr lang="zh-TW" altLang="en-US" smtClean="0"/>
              <a:pPr/>
              <a:t>‹#›</a:t>
            </a:fld>
            <a:endParaRPr lang="zh-TW" altLang="en-US"/>
          </a:p>
        </p:txBody>
      </p:sp>
      <p:sp>
        <p:nvSpPr>
          <p:cNvPr id="28" name="頁尾版面配置區 27"/>
          <p:cNvSpPr>
            <a:spLocks noGrp="1"/>
          </p:cNvSpPr>
          <p:nvPr>
            <p:ph type="ftr" sz="quarter" idx="12"/>
          </p:nvPr>
        </p:nvSpPr>
        <p:spPr/>
        <p:txBody>
          <a:bodyPr rtlCol="0"/>
          <a:lstStyle/>
          <a:p>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a:xfrm>
            <a:off x="6583680" y="612648"/>
            <a:ext cx="957264" cy="457200"/>
          </a:xfrm>
        </p:spPr>
        <p:txBody>
          <a:bodyPr/>
          <a:lstStyle/>
          <a:p>
            <a:fld id="{5BBEAD13-0566-4C6C-97E7-55F17F24B09F}" type="datetimeFigureOut">
              <a:rPr lang="zh-TW" altLang="en-US" smtClean="0"/>
              <a:pPr/>
              <a:t>2025/9/10</a:t>
            </a:fld>
            <a:endParaRPr lang="zh-TW" altLang="en-US"/>
          </a:p>
        </p:txBody>
      </p:sp>
      <p:sp>
        <p:nvSpPr>
          <p:cNvPr id="4" name="頁尾版面配置區 3"/>
          <p:cNvSpPr>
            <a:spLocks noGrp="1"/>
          </p:cNvSpPr>
          <p:nvPr>
            <p:ph type="ftr" sz="quarter" idx="11"/>
          </p:nvPr>
        </p:nvSpPr>
        <p:spPr>
          <a:xfrm>
            <a:off x="5257800" y="612648"/>
            <a:ext cx="1325880" cy="457200"/>
          </a:xfrm>
        </p:spPr>
        <p:txBody>
          <a:bodyPr/>
          <a:lstStyle/>
          <a:p>
            <a:endParaRPr lang="zh-TW" altLang="en-US"/>
          </a:p>
        </p:txBody>
      </p:sp>
      <p:sp>
        <p:nvSpPr>
          <p:cNvPr id="5" name="投影片編號版面配置區 4"/>
          <p:cNvSpPr>
            <a:spLocks noGrp="1"/>
          </p:cNvSpPr>
          <p:nvPr>
            <p:ph type="sldNum" sz="quarter" idx="12"/>
          </p:nvPr>
        </p:nvSpPr>
        <p:spPr>
          <a:xfrm>
            <a:off x="8174736" y="2272"/>
            <a:ext cx="762000" cy="365760"/>
          </a:xfrm>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2025/9/10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5353496" y="1101970"/>
            <a:ext cx="3383280" cy="877824"/>
          </a:xfrm>
        </p:spPr>
        <p:txBody>
          <a:bodyPr anchor="b"/>
          <a:lstStyle>
            <a:lvl1pPr algn="l">
              <a:buNone/>
              <a:defRPr sz="1800" b="1"/>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4" name="內容版面配置區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2025/9/10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zh-TW" altLang="en-US"/>
              <a:t>按一下以編輯母片標題樣式</a:t>
            </a:r>
            <a:endParaRPr kumimoji="0" lang="en-US"/>
          </a:p>
        </p:txBody>
      </p:sp>
      <p:sp>
        <p:nvSpPr>
          <p:cNvPr id="3" name="圖片版面配置區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zh-TW" altLang="en-US"/>
              <a:t>按一下圖示以新增圖片</a:t>
            </a:r>
            <a:endParaRPr kumimoji="0" lang="en-US" dirty="0"/>
          </a:p>
        </p:txBody>
      </p:sp>
      <p:sp>
        <p:nvSpPr>
          <p:cNvPr id="4" name="文字版面配置區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TW" altLang="en-US"/>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2025/9/10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2025/9/10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81800" y="1143000"/>
            <a:ext cx="1905000" cy="5486400"/>
          </a:xfrm>
        </p:spPr>
        <p:txBody>
          <a:bodyPr vert="eaVert"/>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a:xfrm>
            <a:off x="457200" y="1143000"/>
            <a:ext cx="6248400" cy="5486400"/>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2025/9/10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矩形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矩形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矩形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矩形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圓角矩形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圓角矩形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矩形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矩形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矩形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矩形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矩形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矩形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標題版面配置區 21"/>
          <p:cNvSpPr>
            <a:spLocks noGrp="1"/>
          </p:cNvSpPr>
          <p:nvPr>
            <p:ph type="title"/>
          </p:nvPr>
        </p:nvSpPr>
        <p:spPr>
          <a:xfrm>
            <a:off x="457200" y="1143000"/>
            <a:ext cx="8229600" cy="1066800"/>
          </a:xfrm>
          <a:prstGeom prst="rect">
            <a:avLst/>
          </a:prstGeom>
        </p:spPr>
        <p:txBody>
          <a:bodyPr vert="horz" anchor="ctr">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
        <p:nvSpPr>
          <p:cNvPr id="14" name="日期版面配置區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5BBEAD13-0566-4C6C-97E7-55F17F24B09F}" type="datetimeFigureOut">
              <a:rPr lang="zh-TW" altLang="en-US" smtClean="0"/>
              <a:pPr/>
              <a:t>2025/9/10</a:t>
            </a:fld>
            <a:endParaRPr lang="zh-TW" altLang="en-US"/>
          </a:p>
        </p:txBody>
      </p:sp>
      <p:sp>
        <p:nvSpPr>
          <p:cNvPr id="3" name="頁尾版面配置區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zh-TW" altLang="en-US"/>
          </a:p>
        </p:txBody>
      </p:sp>
      <p:sp>
        <p:nvSpPr>
          <p:cNvPr id="23" name="投影片編號版面配置區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zh.wikipedia.org/wiki/%E9%81%8A%E6%88%B2%E8%A8%AD%E8%A8%88%E5%B8%A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Lesson 1</a:t>
            </a:r>
            <a:br>
              <a:rPr lang="en-US" altLang="zh-TW" dirty="0"/>
            </a:br>
            <a:r>
              <a:rPr lang="zh-TW" altLang="en-US" dirty="0"/>
              <a:t>遊戲引擎概論</a:t>
            </a:r>
          </a:p>
        </p:txBody>
      </p:sp>
      <p:sp>
        <p:nvSpPr>
          <p:cNvPr id="3" name="副標題 2"/>
          <p:cNvSpPr>
            <a:spLocks noGrp="1"/>
          </p:cNvSpPr>
          <p:nvPr>
            <p:ph type="subTitle" idx="1"/>
          </p:nvPr>
        </p:nvSpPr>
        <p:spPr/>
        <p:txBody>
          <a:bodyPr/>
          <a:lstStyle/>
          <a:p>
            <a:endParaRPr lang="en-US" altLang="zh-TW" dirty="0"/>
          </a:p>
          <a:p>
            <a:r>
              <a:rPr lang="en-US" altLang="zh-TW" dirty="0"/>
              <a:t>Horazon</a:t>
            </a:r>
          </a:p>
          <a:p>
            <a:r>
              <a:rPr lang="zh-TW" altLang="en-US" dirty="0">
                <a:solidFill>
                  <a:srgbClr val="003399"/>
                </a:solidFill>
                <a:latin typeface="Times New Roman" panose="02020603050405020304" pitchFamily="18" charset="0"/>
              </a:rPr>
              <a:t>基礎遊戲</a:t>
            </a:r>
            <a:r>
              <a:rPr lang="zh-TW" altLang="en-US">
                <a:solidFill>
                  <a:srgbClr val="003399"/>
                </a:solidFill>
                <a:latin typeface="Times New Roman" panose="02020603050405020304" pitchFamily="18" charset="0"/>
              </a:rPr>
              <a:t>引擎應用</a:t>
            </a:r>
            <a:endParaRPr lang="zh-TW"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什麼是遊戲引擎？</a:t>
            </a:r>
          </a:p>
        </p:txBody>
      </p:sp>
      <p:sp>
        <p:nvSpPr>
          <p:cNvPr id="3" name="內容版面配置區 2"/>
          <p:cNvSpPr>
            <a:spLocks noGrp="1"/>
          </p:cNvSpPr>
          <p:nvPr>
            <p:ph idx="1"/>
          </p:nvPr>
        </p:nvSpPr>
        <p:spPr/>
        <p:txBody>
          <a:bodyPr>
            <a:normAutofit/>
          </a:bodyPr>
          <a:lstStyle/>
          <a:p>
            <a:r>
              <a:rPr lang="en-US" altLang="zh-TW" sz="2800" dirty="0">
                <a:latin typeface="+mj-ea"/>
                <a:ea typeface="+mj-ea"/>
              </a:rPr>
              <a:t>Wiki</a:t>
            </a:r>
            <a:r>
              <a:rPr lang="zh-TW" altLang="en-US" sz="2800" dirty="0">
                <a:latin typeface="+mj-ea"/>
                <a:ea typeface="+mj-ea"/>
              </a:rPr>
              <a:t>：</a:t>
            </a:r>
            <a:r>
              <a:rPr lang="zh-TW" altLang="en-US" sz="2800" b="1" dirty="0">
                <a:latin typeface="+mj-ea"/>
                <a:ea typeface="+mj-ea"/>
              </a:rPr>
              <a:t>遊戲引擎</a:t>
            </a:r>
            <a:r>
              <a:rPr lang="zh-TW" altLang="en-US" sz="2800" dirty="0">
                <a:latin typeface="+mj-ea"/>
                <a:ea typeface="+mj-ea"/>
              </a:rPr>
              <a:t>是指一些已編寫好的可編輯電腦遊戲系統或者一些交互式實時圖像應用程式的核心組件。這些系統為</a:t>
            </a:r>
            <a:r>
              <a:rPr lang="zh-TW" altLang="en-US" sz="2800" dirty="0">
                <a:latin typeface="+mj-ea"/>
                <a:ea typeface="+mj-ea"/>
                <a:hlinkClick r:id="rId2" tooltip="遊戲設計師"/>
              </a:rPr>
              <a:t>遊戲設計者</a:t>
            </a:r>
            <a:r>
              <a:rPr lang="zh-TW" altLang="en-US" sz="2800" dirty="0">
                <a:latin typeface="+mj-ea"/>
                <a:ea typeface="+mj-ea"/>
              </a:rPr>
              <a:t>提供各種編寫遊戲所需的各種工具，</a:t>
            </a:r>
            <a:r>
              <a:rPr lang="zh-TW" altLang="en-US" dirty="0">
                <a:latin typeface="+mj-ea"/>
                <a:ea typeface="+mj-ea"/>
              </a:rPr>
              <a:t>其目的在於讓遊戲設計者能容易和快速地做出遊戲程式，而不用由零開始。</a:t>
            </a:r>
            <a:endParaRPr lang="en-US" altLang="zh-TW" dirty="0">
              <a:latin typeface="+mj-ea"/>
              <a:ea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t>
            </a:r>
            <a:r>
              <a:rPr lang="zh-TW" altLang="en-US" dirty="0"/>
              <a:t>通用</a:t>
            </a:r>
            <a:r>
              <a:rPr lang="en-US" altLang="zh-TW" dirty="0"/>
              <a:t>]</a:t>
            </a:r>
            <a:r>
              <a:rPr lang="zh-TW" altLang="en-US" dirty="0"/>
              <a:t>遊戲引擎功能</a:t>
            </a:r>
          </a:p>
        </p:txBody>
      </p:sp>
      <p:sp>
        <p:nvSpPr>
          <p:cNvPr id="3" name="內容版面配置區 2"/>
          <p:cNvSpPr>
            <a:spLocks noGrp="1"/>
          </p:cNvSpPr>
          <p:nvPr>
            <p:ph idx="1"/>
          </p:nvPr>
        </p:nvSpPr>
        <p:spPr/>
        <p:txBody>
          <a:bodyPr/>
          <a:lstStyle/>
          <a:p>
            <a:r>
              <a:rPr lang="zh-TW" altLang="en-US" dirty="0"/>
              <a:t>視覺與渲染</a:t>
            </a:r>
            <a:endParaRPr lang="en-US" altLang="zh-TW" dirty="0"/>
          </a:p>
          <a:p>
            <a:r>
              <a:rPr lang="zh-TW" altLang="en-US" dirty="0"/>
              <a:t>物理模擬</a:t>
            </a:r>
            <a:endParaRPr lang="en-US" altLang="zh-TW" dirty="0"/>
          </a:p>
          <a:p>
            <a:r>
              <a:rPr lang="zh-TW" altLang="en-US" dirty="0"/>
              <a:t>動畫系統</a:t>
            </a:r>
            <a:endParaRPr lang="en-US" altLang="zh-TW" dirty="0"/>
          </a:p>
          <a:p>
            <a:r>
              <a:rPr lang="zh-TW" altLang="en-US" dirty="0"/>
              <a:t>音效與音樂</a:t>
            </a:r>
            <a:endParaRPr lang="en-US" altLang="zh-TW" dirty="0"/>
          </a:p>
          <a:p>
            <a:r>
              <a:rPr lang="zh-TW" altLang="en-US" dirty="0"/>
              <a:t>使用者互動 </a:t>
            </a:r>
            <a:r>
              <a:rPr lang="en-US" altLang="zh-TW" dirty="0"/>
              <a:t>(</a:t>
            </a:r>
            <a:r>
              <a:rPr lang="zh-TW" altLang="en-US" dirty="0"/>
              <a:t>輸入</a:t>
            </a:r>
            <a:r>
              <a:rPr lang="en-US" altLang="zh-TW" dirty="0"/>
              <a:t>&amp;</a:t>
            </a:r>
            <a:r>
              <a:rPr lang="zh-TW" altLang="en-US" dirty="0"/>
              <a:t>回應</a:t>
            </a:r>
            <a:r>
              <a:rPr lang="en-US" altLang="zh-TW" dirty="0"/>
              <a:t>)</a:t>
            </a:r>
          </a:p>
          <a:p>
            <a:r>
              <a:rPr lang="zh-TW" altLang="en-US" dirty="0"/>
              <a:t>使用者介面 </a:t>
            </a:r>
            <a:r>
              <a:rPr lang="en-US" altLang="zh-TW" dirty="0"/>
              <a:t>(UI)</a:t>
            </a:r>
          </a:p>
          <a:p>
            <a:r>
              <a:rPr lang="zh-TW" altLang="en-US" dirty="0"/>
              <a:t>場景與資源管理</a:t>
            </a:r>
            <a:endParaRPr lang="en-US" altLang="zh-TW" dirty="0"/>
          </a:p>
          <a:p>
            <a:r>
              <a:rPr lang="zh-TW" altLang="en-US" dirty="0"/>
              <a:t>遊戲邏輯與腳本</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t>
            </a:r>
            <a:r>
              <a:rPr lang="zh-TW" altLang="en-US" dirty="0"/>
              <a:t>通用</a:t>
            </a:r>
            <a:r>
              <a:rPr lang="en-US" altLang="zh-TW" dirty="0"/>
              <a:t>]</a:t>
            </a:r>
            <a:r>
              <a:rPr lang="zh-TW" altLang="en-US" dirty="0"/>
              <a:t>遊戲引擎功能</a:t>
            </a:r>
          </a:p>
        </p:txBody>
      </p:sp>
      <p:sp>
        <p:nvSpPr>
          <p:cNvPr id="3" name="內容版面配置區 2"/>
          <p:cNvSpPr>
            <a:spLocks noGrp="1"/>
          </p:cNvSpPr>
          <p:nvPr>
            <p:ph idx="1"/>
          </p:nvPr>
        </p:nvSpPr>
        <p:spPr/>
        <p:txBody>
          <a:bodyPr/>
          <a:lstStyle/>
          <a:p>
            <a:r>
              <a:rPr lang="zh-TW" altLang="en-US" dirty="0"/>
              <a:t>多平台支援</a:t>
            </a:r>
            <a:endParaRPr lang="en-US" altLang="zh-TW" dirty="0"/>
          </a:p>
          <a:p>
            <a:r>
              <a:rPr lang="zh-TW" altLang="en-US" dirty="0"/>
              <a:t>多人連線</a:t>
            </a:r>
            <a:endParaRPr lang="en-US" altLang="zh-TW" dirty="0"/>
          </a:p>
          <a:p>
            <a:r>
              <a:rPr lang="en-US" altLang="zh-TW" dirty="0"/>
              <a:t>AI</a:t>
            </a:r>
            <a:r>
              <a:rPr lang="zh-TW" altLang="en-US" dirty="0"/>
              <a:t>尋路</a:t>
            </a:r>
            <a:endParaRPr lang="en-US" altLang="zh-TW" dirty="0"/>
          </a:p>
          <a:p>
            <a:r>
              <a:rPr lang="en-US" altLang="zh-TW" dirty="0"/>
              <a:t>AI</a:t>
            </a:r>
            <a:r>
              <a:rPr lang="zh-TW" altLang="en-US" dirty="0"/>
              <a:t>決策樹</a:t>
            </a:r>
            <a:endParaRPr lang="en-US" altLang="zh-TW" dirty="0"/>
          </a:p>
          <a:p>
            <a:r>
              <a:rPr lang="zh-TW" altLang="en-US" dirty="0"/>
              <a:t>可擴充性</a:t>
            </a:r>
            <a:endParaRPr lang="en-US" altLang="zh-TW" dirty="0"/>
          </a:p>
          <a:p>
            <a:r>
              <a:rPr lang="zh-TW" altLang="en-US" dirty="0"/>
              <a:t>其他工具</a:t>
            </a:r>
            <a:endParaRPr lang="en-US" altLang="zh-TW" dirty="0"/>
          </a:p>
          <a:p>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遊戲引擎的功能</a:t>
            </a:r>
            <a:r>
              <a:rPr lang="en-US" altLang="zh-TW" dirty="0"/>
              <a:t>(</a:t>
            </a:r>
            <a:r>
              <a:rPr lang="zh-TW" altLang="en-US" dirty="0"/>
              <a:t>對開發者</a:t>
            </a:r>
            <a:r>
              <a:rPr lang="en-US" altLang="zh-TW" dirty="0"/>
              <a:t>)</a:t>
            </a:r>
            <a:endParaRPr lang="zh-TW" altLang="en-US" dirty="0"/>
          </a:p>
        </p:txBody>
      </p:sp>
      <p:sp>
        <p:nvSpPr>
          <p:cNvPr id="3" name="內容版面配置區 2"/>
          <p:cNvSpPr>
            <a:spLocks noGrp="1"/>
          </p:cNvSpPr>
          <p:nvPr>
            <p:ph idx="1"/>
          </p:nvPr>
        </p:nvSpPr>
        <p:spPr/>
        <p:txBody>
          <a:bodyPr/>
          <a:lstStyle/>
          <a:p>
            <a:r>
              <a:rPr lang="zh-TW" altLang="en-US" dirty="0"/>
              <a:t>提供程式函式庫給程式使用</a:t>
            </a:r>
            <a:endParaRPr lang="en-US" altLang="zh-TW" dirty="0"/>
          </a:p>
          <a:p>
            <a:pPr lvl="1"/>
            <a:r>
              <a:rPr lang="zh-TW" altLang="en-US" sz="2400" dirty="0">
                <a:latin typeface="+mj-ea"/>
              </a:rPr>
              <a:t>渲染、物理、音效、動畫</a:t>
            </a:r>
            <a:endParaRPr lang="en-US" altLang="zh-TW" sz="2400" dirty="0">
              <a:latin typeface="+mj-ea"/>
            </a:endParaRPr>
          </a:p>
          <a:p>
            <a:pPr lvl="1"/>
            <a:endParaRPr lang="en-US" altLang="zh-TW" sz="2400" dirty="0">
              <a:latin typeface="+mj-ea"/>
            </a:endParaRPr>
          </a:p>
          <a:p>
            <a:r>
              <a:rPr lang="zh-TW" altLang="en-US" dirty="0">
                <a:latin typeface="+mj-ea"/>
              </a:rPr>
              <a:t>提供介面給美術、企劃使用</a:t>
            </a:r>
            <a:endParaRPr lang="en-US" altLang="zh-TW" dirty="0">
              <a:latin typeface="+mj-ea"/>
            </a:endParaRPr>
          </a:p>
          <a:p>
            <a:pPr lvl="1"/>
            <a:r>
              <a:rPr lang="zh-TW" altLang="en-US" dirty="0">
                <a:latin typeface="+mj-ea"/>
              </a:rPr>
              <a:t>圖形化編輯</a:t>
            </a:r>
            <a:endParaRPr lang="en-US" altLang="zh-TW" dirty="0">
              <a:latin typeface="+mj-ea"/>
            </a:endParaRPr>
          </a:p>
          <a:p>
            <a:pPr lvl="1"/>
            <a:endParaRPr lang="en-US" altLang="zh-TW" dirty="0">
              <a:latin typeface="+mj-ea"/>
            </a:endParaRPr>
          </a:p>
          <a:p>
            <a:r>
              <a:rPr lang="zh-TW" altLang="en-US" dirty="0">
                <a:latin typeface="+mj-ea"/>
              </a:rPr>
              <a:t>加速遊戲的開發，不需要從零開始建立</a:t>
            </a:r>
            <a:endParaRPr lang="zh-TW"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遊戲引擎的功能</a:t>
            </a:r>
            <a:r>
              <a:rPr lang="en-US" altLang="zh-TW" dirty="0"/>
              <a:t>(</a:t>
            </a:r>
            <a:r>
              <a:rPr lang="zh-TW" altLang="en-US" dirty="0"/>
              <a:t>對電腦</a:t>
            </a:r>
            <a:r>
              <a:rPr lang="en-US" altLang="zh-TW" dirty="0"/>
              <a:t>)</a:t>
            </a:r>
            <a:endParaRPr lang="zh-TW" altLang="en-US" dirty="0"/>
          </a:p>
        </p:txBody>
      </p:sp>
      <p:sp>
        <p:nvSpPr>
          <p:cNvPr id="3" name="內容版面配置區 2"/>
          <p:cNvSpPr>
            <a:spLocks noGrp="1"/>
          </p:cNvSpPr>
          <p:nvPr>
            <p:ph idx="1"/>
          </p:nvPr>
        </p:nvSpPr>
        <p:spPr/>
        <p:txBody>
          <a:bodyPr>
            <a:normAutofit/>
          </a:bodyPr>
          <a:lstStyle/>
          <a:p>
            <a:r>
              <a:rPr lang="zh-TW" altLang="en-US" dirty="0">
                <a:latin typeface="+mj-ea"/>
                <a:ea typeface="+mj-ea"/>
              </a:rPr>
              <a:t>運用</a:t>
            </a:r>
            <a:r>
              <a:rPr lang="en-US" altLang="zh-TW" dirty="0">
                <a:latin typeface="+mj-ea"/>
                <a:ea typeface="+mj-ea"/>
              </a:rPr>
              <a:t>DirectX</a:t>
            </a:r>
            <a:r>
              <a:rPr lang="zh-TW" altLang="en-US" dirty="0">
                <a:latin typeface="+mj-ea"/>
                <a:ea typeface="+mj-ea"/>
              </a:rPr>
              <a:t> 、 </a:t>
            </a:r>
            <a:r>
              <a:rPr lang="en-US" altLang="zh-TW" dirty="0">
                <a:latin typeface="+mj-ea"/>
                <a:ea typeface="+mj-ea"/>
              </a:rPr>
              <a:t>OpenGL</a:t>
            </a:r>
            <a:r>
              <a:rPr lang="zh-TW" altLang="en-US" dirty="0">
                <a:latin typeface="+mj-ea"/>
                <a:ea typeface="+mj-ea"/>
              </a:rPr>
              <a:t> 、 </a:t>
            </a:r>
            <a:r>
              <a:rPr lang="en-US" altLang="zh-TW" dirty="0" err="1">
                <a:latin typeface="+mj-ea"/>
                <a:ea typeface="+mj-ea"/>
              </a:rPr>
              <a:t>Vulkan</a:t>
            </a:r>
            <a:r>
              <a:rPr lang="zh-TW" altLang="en-US" dirty="0">
                <a:latin typeface="+mj-ea"/>
                <a:ea typeface="+mj-ea"/>
              </a:rPr>
              <a:t> </a:t>
            </a:r>
            <a:endParaRPr lang="en-US" altLang="zh-TW" dirty="0">
              <a:latin typeface="+mj-ea"/>
              <a:ea typeface="+mj-ea"/>
            </a:endParaRPr>
          </a:p>
          <a:p>
            <a:pPr lvl="1"/>
            <a:r>
              <a:rPr lang="zh-TW" altLang="en-US" dirty="0" err="1">
                <a:latin typeface="+mj-ea"/>
                <a:ea typeface="+mj-ea"/>
              </a:rPr>
              <a:t>顯示、音效相關</a:t>
            </a:r>
            <a:endParaRPr lang="en-US" altLang="zh-TW" dirty="0" err="1">
              <a:latin typeface="+mj-ea"/>
              <a:ea typeface="+mj-ea"/>
            </a:endParaRPr>
          </a:p>
          <a:p>
            <a:pPr lvl="1"/>
            <a:r>
              <a:rPr lang="zh-TW" altLang="en-US" dirty="0" err="1">
                <a:latin typeface="+mj-ea"/>
                <a:ea typeface="+mj-ea"/>
              </a:rPr>
              <a:t>與顯示卡溝通</a:t>
            </a:r>
            <a:endParaRPr lang="en-US" altLang="zh-TW" dirty="0" err="1">
              <a:latin typeface="+mj-ea"/>
              <a:ea typeface="+mj-ea"/>
            </a:endParaRPr>
          </a:p>
          <a:p>
            <a:pPr lvl="1"/>
            <a:endParaRPr lang="en-US" altLang="zh-TW" sz="2800" dirty="0">
              <a:solidFill>
                <a:schemeClr val="tx1"/>
              </a:solidFill>
              <a:latin typeface="+mj-ea"/>
              <a:ea typeface="+mj-ea"/>
            </a:endParaRPr>
          </a:p>
          <a:p>
            <a:r>
              <a:rPr lang="zh-TW" altLang="en-US" sz="3000" dirty="0">
                <a:latin typeface="+mj-ea"/>
                <a:ea typeface="+mj-ea"/>
              </a:rPr>
              <a:t>運用</a:t>
            </a:r>
            <a:r>
              <a:rPr lang="en-US" altLang="zh-TW" sz="3000" dirty="0" err="1">
                <a:latin typeface="+mj-ea"/>
                <a:ea typeface="+mj-ea"/>
              </a:rPr>
              <a:t>Havok</a:t>
            </a:r>
            <a:r>
              <a:rPr lang="zh-TW" altLang="en-US" sz="3000" dirty="0">
                <a:latin typeface="+mj-ea"/>
                <a:ea typeface="+mj-ea"/>
              </a:rPr>
              <a:t>、</a:t>
            </a:r>
            <a:r>
              <a:rPr lang="en-US" altLang="zh-TW" sz="3000" dirty="0" err="1">
                <a:latin typeface="+mj-ea"/>
                <a:ea typeface="+mj-ea"/>
              </a:rPr>
              <a:t>PhysX</a:t>
            </a:r>
            <a:r>
              <a:rPr lang="zh-TW" altLang="en-US" sz="3000" dirty="0">
                <a:latin typeface="+mj-ea"/>
                <a:ea typeface="+mj-ea"/>
              </a:rPr>
              <a:t>、</a:t>
            </a:r>
            <a:r>
              <a:rPr lang="en-US" altLang="zh-TW" sz="3000" dirty="0">
                <a:latin typeface="+mj-ea"/>
                <a:ea typeface="+mj-ea"/>
              </a:rPr>
              <a:t>Box2D</a:t>
            </a:r>
            <a:endParaRPr lang="en-US" altLang="zh-TW" dirty="0">
              <a:latin typeface="+mj-ea"/>
              <a:ea typeface="+mj-ea"/>
            </a:endParaRPr>
          </a:p>
          <a:p>
            <a:pPr lvl="1"/>
            <a:r>
              <a:rPr lang="zh-TW" altLang="en-US" dirty="0">
                <a:latin typeface="+mj-ea"/>
                <a:ea typeface="+mj-ea"/>
              </a:rPr>
              <a:t>物理引擎</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遊戲引擎：功能性分類</a:t>
            </a:r>
          </a:p>
        </p:txBody>
      </p:sp>
      <p:sp>
        <p:nvSpPr>
          <p:cNvPr id="3" name="內容版面配置區 2"/>
          <p:cNvSpPr>
            <a:spLocks noGrp="1"/>
          </p:cNvSpPr>
          <p:nvPr>
            <p:ph idx="1"/>
          </p:nvPr>
        </p:nvSpPr>
        <p:spPr/>
        <p:txBody>
          <a:bodyPr/>
          <a:lstStyle/>
          <a:p>
            <a:r>
              <a:rPr lang="zh-TW" altLang="en-US" dirty="0"/>
              <a:t>通用引擎</a:t>
            </a:r>
            <a:endParaRPr lang="en-US" altLang="zh-TW" dirty="0"/>
          </a:p>
          <a:p>
            <a:pPr lvl="1"/>
            <a:r>
              <a:rPr lang="zh-TW" altLang="en-US" dirty="0"/>
              <a:t>大多數遊戲引擎</a:t>
            </a:r>
            <a:endParaRPr lang="en-US" altLang="zh-TW" dirty="0"/>
          </a:p>
          <a:p>
            <a:r>
              <a:rPr lang="zh-TW" altLang="en-US" dirty="0"/>
              <a:t>特定遊戲類型</a:t>
            </a:r>
            <a:endParaRPr lang="en-US" altLang="zh-TW" dirty="0"/>
          </a:p>
          <a:p>
            <a:pPr lvl="1"/>
            <a:r>
              <a:rPr lang="en-US" altLang="zh-TW" dirty="0"/>
              <a:t>RPG</a:t>
            </a:r>
            <a:r>
              <a:rPr lang="zh-TW" altLang="en-US" dirty="0"/>
              <a:t> </a:t>
            </a:r>
            <a:r>
              <a:rPr lang="en-US" altLang="zh-TW" dirty="0"/>
              <a:t>Maker</a:t>
            </a:r>
          </a:p>
          <a:p>
            <a:pPr lvl="1"/>
            <a:r>
              <a:rPr lang="en-US" altLang="zh-TW" dirty="0"/>
              <a:t>M.U.G.E.N</a:t>
            </a:r>
          </a:p>
          <a:p>
            <a:pPr lvl="1"/>
            <a:r>
              <a:rPr lang="zh-TW" altLang="en-US" dirty="0"/>
              <a:t>吉里吉里</a:t>
            </a:r>
            <a:endParaRPr lang="en-US" altLang="zh-TW" dirty="0"/>
          </a:p>
          <a:p>
            <a:pPr lvl="1"/>
            <a:endParaRPr lang="en-US" altLang="zh-TW" dirty="0"/>
          </a:p>
          <a:p>
            <a:r>
              <a:rPr lang="zh-TW" altLang="en-US" dirty="0"/>
              <a:t>通用但擅長某一遊戲類型</a:t>
            </a:r>
            <a:endParaRPr lang="en-US" altLang="zh-TW" dirty="0"/>
          </a:p>
          <a:p>
            <a:r>
              <a:rPr lang="zh-TW" altLang="en-US" dirty="0"/>
              <a:t>通用但加裝某一遊戲類型的套件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遊戲引擎：商業分類</a:t>
            </a:r>
          </a:p>
        </p:txBody>
      </p:sp>
      <p:sp>
        <p:nvSpPr>
          <p:cNvPr id="3" name="內容版面配置區 2"/>
          <p:cNvSpPr>
            <a:spLocks noGrp="1"/>
          </p:cNvSpPr>
          <p:nvPr>
            <p:ph idx="1"/>
          </p:nvPr>
        </p:nvSpPr>
        <p:spPr/>
        <p:txBody>
          <a:bodyPr/>
          <a:lstStyle/>
          <a:p>
            <a:r>
              <a:rPr lang="zh-TW" altLang="en-US" dirty="0"/>
              <a:t>私有</a:t>
            </a:r>
            <a:endParaRPr lang="en-US" altLang="zh-TW" dirty="0"/>
          </a:p>
          <a:p>
            <a:r>
              <a:rPr lang="zh-TW" altLang="en-US" dirty="0"/>
              <a:t>商業</a:t>
            </a:r>
            <a:endParaRPr lang="en-US" altLang="zh-TW" dirty="0"/>
          </a:p>
          <a:p>
            <a:pPr lvl="1"/>
            <a:r>
              <a:rPr lang="zh-TW" altLang="en-US" dirty="0"/>
              <a:t>買斷</a:t>
            </a:r>
            <a:endParaRPr lang="en-US" altLang="zh-TW" dirty="0"/>
          </a:p>
          <a:p>
            <a:pPr lvl="1"/>
            <a:r>
              <a:rPr lang="zh-TW" altLang="en-US" dirty="0"/>
              <a:t>訂閱</a:t>
            </a:r>
            <a:endParaRPr lang="en-US" altLang="zh-TW" dirty="0"/>
          </a:p>
          <a:p>
            <a:pPr lvl="1"/>
            <a:r>
              <a:rPr lang="zh-TW" altLang="en-US" dirty="0"/>
              <a:t>抽成</a:t>
            </a:r>
            <a:endParaRPr lang="en-US" altLang="zh-TW" dirty="0"/>
          </a:p>
          <a:p>
            <a:r>
              <a:rPr lang="zh-TW" altLang="en-US" dirty="0"/>
              <a:t>免費</a:t>
            </a:r>
            <a:endParaRPr lang="en-US" altLang="zh-TW" dirty="0"/>
          </a:p>
          <a:p>
            <a:r>
              <a:rPr lang="zh-TW" altLang="en-US" dirty="0"/>
              <a:t>開源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遊戲引擎分類 </a:t>
            </a:r>
            <a:r>
              <a:rPr lang="en-US" altLang="zh-TW" dirty="0"/>
              <a:t>- </a:t>
            </a:r>
            <a:r>
              <a:rPr lang="zh-TW" altLang="en-US" dirty="0"/>
              <a:t>私有</a:t>
            </a:r>
          </a:p>
        </p:txBody>
      </p:sp>
      <p:sp>
        <p:nvSpPr>
          <p:cNvPr id="3" name="內容版面配置區 2"/>
          <p:cNvSpPr>
            <a:spLocks noGrp="1"/>
          </p:cNvSpPr>
          <p:nvPr>
            <p:ph idx="1"/>
          </p:nvPr>
        </p:nvSpPr>
        <p:spPr/>
        <p:txBody>
          <a:bodyPr/>
          <a:lstStyle/>
          <a:p>
            <a:r>
              <a:rPr lang="en-US" altLang="zh-TW" dirty="0"/>
              <a:t>RE</a:t>
            </a:r>
            <a:r>
              <a:rPr lang="zh-TW" altLang="en-US" dirty="0"/>
              <a:t> </a:t>
            </a:r>
            <a:r>
              <a:rPr lang="en-US" altLang="zh-TW" dirty="0"/>
              <a:t>ENGINE</a:t>
            </a:r>
          </a:p>
          <a:p>
            <a:pPr lvl="1"/>
            <a:r>
              <a:rPr lang="en-US" altLang="zh-TW" dirty="0" err="1"/>
              <a:t>Capcom</a:t>
            </a:r>
            <a:r>
              <a:rPr lang="zh-TW" altLang="en-US" dirty="0"/>
              <a:t>：魔物獵人、惡靈古堡</a:t>
            </a:r>
            <a:endParaRPr lang="en-US" altLang="zh-TW" dirty="0"/>
          </a:p>
          <a:p>
            <a:r>
              <a:rPr lang="en-US" altLang="zh-TW" dirty="0" err="1"/>
              <a:t>REDengine</a:t>
            </a:r>
            <a:endParaRPr lang="en-US" altLang="zh-TW" dirty="0"/>
          </a:p>
          <a:p>
            <a:pPr lvl="1"/>
            <a:r>
              <a:rPr lang="en-US" dirty="0"/>
              <a:t>CD </a:t>
            </a:r>
            <a:r>
              <a:rPr lang="en-US" dirty="0" err="1"/>
              <a:t>Projekt</a:t>
            </a:r>
            <a:r>
              <a:rPr lang="zh-TW" altLang="en-US" dirty="0"/>
              <a:t> </a:t>
            </a:r>
            <a:r>
              <a:rPr lang="en-US" altLang="zh-TW" dirty="0"/>
              <a:t>RED</a:t>
            </a:r>
            <a:r>
              <a:rPr lang="zh-TW" altLang="en-US" dirty="0"/>
              <a:t>：巫師</a:t>
            </a:r>
            <a:r>
              <a:rPr lang="en-US" altLang="zh-TW" dirty="0"/>
              <a:t>3</a:t>
            </a:r>
            <a:r>
              <a:rPr lang="zh-TW" altLang="en-US" dirty="0"/>
              <a:t>、電馭叛客</a:t>
            </a:r>
            <a:r>
              <a:rPr lang="en-US" altLang="zh-TW" dirty="0"/>
              <a:t>2077</a:t>
            </a:r>
          </a:p>
          <a:p>
            <a:r>
              <a:rPr lang="en-US" altLang="zh-TW" dirty="0"/>
              <a:t>Frostbite Engine</a:t>
            </a:r>
          </a:p>
          <a:p>
            <a:pPr lvl="1"/>
            <a:r>
              <a:rPr lang="en-US" altLang="zh-TW" dirty="0"/>
              <a:t>EA DICE</a:t>
            </a:r>
            <a:r>
              <a:rPr lang="zh-TW" altLang="en-US" dirty="0"/>
              <a:t>：戰地風雲</a:t>
            </a:r>
            <a:endParaRPr lang="en-US" altLang="zh-TW" dirty="0"/>
          </a:p>
          <a:p>
            <a:r>
              <a:rPr lang="en-US" altLang="zh-TW" dirty="0"/>
              <a:t>IW</a:t>
            </a:r>
            <a:r>
              <a:rPr lang="zh-TW" altLang="en-US" dirty="0"/>
              <a:t> </a:t>
            </a:r>
            <a:r>
              <a:rPr lang="en-US" altLang="zh-TW" dirty="0"/>
              <a:t>engine</a:t>
            </a:r>
          </a:p>
          <a:p>
            <a:pPr lvl="1"/>
            <a:r>
              <a:rPr lang="en-US" altLang="zh-TW" dirty="0"/>
              <a:t>Activision</a:t>
            </a:r>
            <a:r>
              <a:rPr lang="zh-TW" altLang="en-US" dirty="0"/>
              <a:t>：決勝時刻</a:t>
            </a:r>
            <a:endParaRPr lang="en-US" altLang="zh-TW" dirty="0"/>
          </a:p>
          <a:p>
            <a:endParaRPr lang="en-US" altLang="zh-TW" dirty="0"/>
          </a:p>
          <a:p>
            <a:pPr lvl="1"/>
            <a:endParaRPr lang="zh-TW"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 </a:t>
            </a:r>
            <a:r>
              <a:rPr lang="en-US" altLang="zh-TW" dirty="0"/>
              <a:t>– </a:t>
            </a:r>
            <a:r>
              <a:rPr lang="zh-TW" altLang="en-US" dirty="0"/>
              <a:t>台灣現況</a:t>
            </a:r>
          </a:p>
        </p:txBody>
      </p:sp>
      <p:sp>
        <p:nvSpPr>
          <p:cNvPr id="3" name="內容版面配置區 2"/>
          <p:cNvSpPr>
            <a:spLocks noGrp="1"/>
          </p:cNvSpPr>
          <p:nvPr>
            <p:ph idx="1"/>
          </p:nvPr>
        </p:nvSpPr>
        <p:spPr/>
        <p:txBody>
          <a:bodyPr>
            <a:normAutofit fontScale="92500" lnSpcReduction="20000"/>
          </a:bodyPr>
          <a:lstStyle/>
          <a:p>
            <a:r>
              <a:rPr lang="en-US" altLang="zh-TW" dirty="0"/>
              <a:t>Unity</a:t>
            </a:r>
          </a:p>
          <a:p>
            <a:pPr lvl="1"/>
            <a:r>
              <a:rPr lang="zh-TW" altLang="en-US" dirty="0"/>
              <a:t>商業 </a:t>
            </a:r>
            <a:r>
              <a:rPr lang="en-US" altLang="zh-TW" dirty="0"/>
              <a:t>(</a:t>
            </a:r>
            <a:r>
              <a:rPr lang="zh-TW" altLang="en-US" dirty="0"/>
              <a:t>訂閱</a:t>
            </a:r>
            <a:r>
              <a:rPr lang="en-US" altLang="zh-TW" dirty="0"/>
              <a:t>)</a:t>
            </a:r>
          </a:p>
          <a:p>
            <a:pPr lvl="1"/>
            <a:r>
              <a:rPr lang="en-US" altLang="zh-TW" dirty="0"/>
              <a:t>C#</a:t>
            </a:r>
          </a:p>
          <a:p>
            <a:r>
              <a:rPr lang="en-US" altLang="zh-TW" dirty="0" err="1"/>
              <a:t>Cocos</a:t>
            </a:r>
            <a:endParaRPr lang="en-US" altLang="zh-TW" dirty="0"/>
          </a:p>
          <a:p>
            <a:pPr lvl="1"/>
            <a:r>
              <a:rPr lang="zh-TW" altLang="en-US" dirty="0"/>
              <a:t>開源 </a:t>
            </a:r>
            <a:r>
              <a:rPr lang="en-US" altLang="zh-TW" dirty="0"/>
              <a:t>(</a:t>
            </a:r>
            <a:r>
              <a:rPr lang="zh-TW" altLang="en-US" dirty="0"/>
              <a:t>通常使用於</a:t>
            </a:r>
            <a:r>
              <a:rPr lang="en-US" altLang="zh-TW" dirty="0"/>
              <a:t>2D)</a:t>
            </a:r>
          </a:p>
          <a:p>
            <a:pPr lvl="1"/>
            <a:r>
              <a:rPr lang="en-US" altLang="zh-TW" dirty="0" err="1"/>
              <a:t>Lua</a:t>
            </a:r>
            <a:r>
              <a:rPr lang="en-US" altLang="zh-TW" dirty="0"/>
              <a:t> / </a:t>
            </a:r>
            <a:r>
              <a:rPr lang="en-US" altLang="zh-TW" dirty="0" err="1"/>
              <a:t>javascript</a:t>
            </a:r>
            <a:endParaRPr lang="en-US" altLang="zh-TW" dirty="0"/>
          </a:p>
          <a:p>
            <a:r>
              <a:rPr lang="en-US" altLang="zh-TW" dirty="0"/>
              <a:t>Unreal</a:t>
            </a:r>
          </a:p>
          <a:p>
            <a:pPr lvl="1"/>
            <a:r>
              <a:rPr lang="zh-TW" altLang="en-US" dirty="0"/>
              <a:t>商業 </a:t>
            </a:r>
            <a:r>
              <a:rPr lang="en-US" altLang="zh-TW" dirty="0"/>
              <a:t>(</a:t>
            </a:r>
            <a:r>
              <a:rPr lang="zh-TW" altLang="en-US" dirty="0"/>
              <a:t>抽成</a:t>
            </a:r>
            <a:r>
              <a:rPr lang="en-US" altLang="zh-TW" dirty="0"/>
              <a:t>)</a:t>
            </a:r>
          </a:p>
          <a:p>
            <a:pPr lvl="1"/>
            <a:r>
              <a:rPr lang="en-US" altLang="zh-TW" dirty="0"/>
              <a:t>C++</a:t>
            </a:r>
            <a:r>
              <a:rPr lang="zh-TW" altLang="en-US" dirty="0"/>
              <a:t>、</a:t>
            </a:r>
            <a:r>
              <a:rPr lang="en-US" altLang="zh-TW" dirty="0"/>
              <a:t>Blueprint</a:t>
            </a:r>
          </a:p>
          <a:p>
            <a:r>
              <a:rPr lang="en-US" altLang="zh-TW" dirty="0" err="1"/>
              <a:t>Godot</a:t>
            </a:r>
            <a:endParaRPr lang="en-US" altLang="zh-TW" dirty="0"/>
          </a:p>
          <a:p>
            <a:pPr lvl="1"/>
            <a:r>
              <a:rPr lang="zh-TW" altLang="en-US" dirty="0"/>
              <a:t>免費</a:t>
            </a:r>
            <a:endParaRPr lang="en-US" altLang="zh-TW" dirty="0"/>
          </a:p>
          <a:p>
            <a:pPr lvl="1"/>
            <a:r>
              <a:rPr lang="en-US" altLang="zh-TW" dirty="0"/>
              <a:t>C#</a:t>
            </a:r>
          </a:p>
          <a:p>
            <a:endParaRPr lang="zh-TW"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 </a:t>
            </a:r>
            <a:r>
              <a:rPr lang="en-US" altLang="zh-TW" dirty="0"/>
              <a:t>–</a:t>
            </a:r>
            <a:r>
              <a:rPr lang="zh-TW" altLang="en-US" dirty="0"/>
              <a:t> 你可能還聽過</a:t>
            </a:r>
          </a:p>
        </p:txBody>
      </p:sp>
      <p:sp>
        <p:nvSpPr>
          <p:cNvPr id="3" name="內容版面配置區 2"/>
          <p:cNvSpPr>
            <a:spLocks noGrp="1"/>
          </p:cNvSpPr>
          <p:nvPr>
            <p:ph idx="1"/>
          </p:nvPr>
        </p:nvSpPr>
        <p:spPr/>
        <p:txBody>
          <a:bodyPr>
            <a:normAutofit lnSpcReduction="10000"/>
          </a:bodyPr>
          <a:lstStyle/>
          <a:p>
            <a:r>
              <a:rPr lang="en-US" altLang="zh-TW" dirty="0" err="1"/>
              <a:t>GameMaker</a:t>
            </a:r>
            <a:endParaRPr lang="en-US" altLang="zh-TW" dirty="0"/>
          </a:p>
          <a:p>
            <a:r>
              <a:rPr lang="en-US" altLang="zh-TW" dirty="0"/>
              <a:t>Construct 3</a:t>
            </a:r>
          </a:p>
          <a:p>
            <a:r>
              <a:rPr lang="en-US" altLang="zh-TW" dirty="0" err="1"/>
              <a:t>Scarch</a:t>
            </a:r>
            <a:endParaRPr lang="en-US" altLang="zh-TW" dirty="0"/>
          </a:p>
          <a:p>
            <a:r>
              <a:rPr lang="en-US" altLang="zh-TW" dirty="0"/>
              <a:t>RPG Maker</a:t>
            </a:r>
          </a:p>
          <a:p>
            <a:r>
              <a:rPr lang="en-US" altLang="zh-TW" dirty="0" err="1"/>
              <a:t>GDevelop</a:t>
            </a:r>
            <a:endParaRPr lang="en-US" altLang="zh-TW" dirty="0"/>
          </a:p>
          <a:p>
            <a:pPr marL="109728" indent="0">
              <a:buNone/>
            </a:pPr>
            <a:endParaRPr lang="en-US" altLang="zh-TW" dirty="0"/>
          </a:p>
          <a:p>
            <a:r>
              <a:rPr lang="zh-TW" altLang="en-US" dirty="0"/>
              <a:t>或者是</a:t>
            </a:r>
            <a:endParaRPr lang="en-US" altLang="zh-TW" dirty="0"/>
          </a:p>
          <a:p>
            <a:pPr lvl="1"/>
            <a:r>
              <a:rPr lang="en-US" altLang="zh-TW" dirty="0"/>
              <a:t>《</a:t>
            </a:r>
            <a:r>
              <a:rPr lang="zh-TW" altLang="en-US" dirty="0"/>
              <a:t>附帶導航！一做就上手第一次的遊戲程式設計</a:t>
            </a:r>
            <a:r>
              <a:rPr lang="en-US" altLang="zh-TW" dirty="0"/>
              <a:t>》</a:t>
            </a:r>
          </a:p>
          <a:p>
            <a:pPr lvl="1"/>
            <a:r>
              <a:rPr lang="en-US" altLang="zh-TW" dirty="0"/>
              <a:t>《 </a:t>
            </a:r>
            <a:r>
              <a:rPr lang="en-US" altLang="zh-TW" dirty="0" err="1"/>
              <a:t>Roblox</a:t>
            </a:r>
            <a:r>
              <a:rPr lang="en-US" altLang="zh-TW" dirty="0"/>
              <a:t> 》</a:t>
            </a:r>
          </a:p>
          <a:p>
            <a:pPr lvl="1"/>
            <a:r>
              <a:rPr lang="en-US" altLang="zh-TW" dirty="0"/>
              <a:t>《</a:t>
            </a:r>
            <a:r>
              <a:rPr lang="zh-TW" altLang="en-US" dirty="0"/>
              <a:t>夢想大創造</a:t>
            </a:r>
            <a:r>
              <a:rPr lang="en-US" altLang="zh-TW" dirty="0"/>
              <a:t>》</a:t>
            </a:r>
          </a:p>
          <a:p>
            <a:pPr lvl="1"/>
            <a:endParaRPr lang="zh-TW"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開發光譜</a:t>
            </a:r>
          </a:p>
        </p:txBody>
      </p:sp>
      <p:sp>
        <p:nvSpPr>
          <p:cNvPr id="3" name="內容版面配置區 2"/>
          <p:cNvSpPr>
            <a:spLocks noGrp="1"/>
          </p:cNvSpPr>
          <p:nvPr>
            <p:ph idx="1"/>
          </p:nvPr>
        </p:nvSpPr>
        <p:spPr>
          <a:xfrm>
            <a:off x="457200" y="2928934"/>
            <a:ext cx="1757346" cy="428628"/>
          </a:xfrm>
        </p:spPr>
        <p:txBody>
          <a:bodyPr>
            <a:normAutofit lnSpcReduction="10000"/>
          </a:bodyPr>
          <a:lstStyle/>
          <a:p>
            <a:pPr algn="ctr">
              <a:buNone/>
            </a:pPr>
            <a:r>
              <a:rPr lang="zh-TW" altLang="en-US" sz="2400" b="1" dirty="0"/>
              <a:t>原生開發</a:t>
            </a:r>
            <a:endParaRPr lang="en-US" altLang="zh-TW" sz="2400" b="1" dirty="0"/>
          </a:p>
        </p:txBody>
      </p:sp>
      <p:cxnSp>
        <p:nvCxnSpPr>
          <p:cNvPr id="9" name="直線單箭頭接點 8"/>
          <p:cNvCxnSpPr/>
          <p:nvPr/>
        </p:nvCxnSpPr>
        <p:spPr>
          <a:xfrm>
            <a:off x="714348" y="3357562"/>
            <a:ext cx="7715304" cy="1588"/>
          </a:xfrm>
          <a:prstGeom prst="straightConnector1">
            <a:avLst/>
          </a:prstGeom>
          <a:ln>
            <a:headEnd type="arrow"/>
            <a:tailEnd type="arrow"/>
          </a:ln>
        </p:spPr>
        <p:style>
          <a:lnRef idx="3">
            <a:schemeClr val="dk1"/>
          </a:lnRef>
          <a:fillRef idx="0">
            <a:schemeClr val="dk1"/>
          </a:fillRef>
          <a:effectRef idx="2">
            <a:schemeClr val="dk1"/>
          </a:effectRef>
          <a:fontRef idx="minor">
            <a:schemeClr val="tx1"/>
          </a:fontRef>
        </p:style>
      </p:cxnSp>
      <p:sp>
        <p:nvSpPr>
          <p:cNvPr id="11" name="文字方塊 10"/>
          <p:cNvSpPr txBox="1"/>
          <p:nvPr/>
        </p:nvSpPr>
        <p:spPr>
          <a:xfrm>
            <a:off x="6739541" y="2872155"/>
            <a:ext cx="2143140" cy="461665"/>
          </a:xfrm>
          <a:prstGeom prst="rect">
            <a:avLst/>
          </a:prstGeom>
          <a:noFill/>
        </p:spPr>
        <p:txBody>
          <a:bodyPr wrap="square" rtlCol="0">
            <a:spAutoFit/>
          </a:bodyPr>
          <a:lstStyle/>
          <a:p>
            <a:pPr algn="ctr"/>
            <a:r>
              <a:rPr lang="zh-TW" altLang="en-US" sz="2400" b="1" dirty="0"/>
              <a:t>使用工具</a:t>
            </a:r>
            <a:endParaRPr lang="en-US" altLang="zh-TW" sz="2400" b="1" dirty="0"/>
          </a:p>
        </p:txBody>
      </p:sp>
      <p:sp>
        <p:nvSpPr>
          <p:cNvPr id="17" name="文字方塊 16"/>
          <p:cNvSpPr txBox="1"/>
          <p:nvPr/>
        </p:nvSpPr>
        <p:spPr>
          <a:xfrm>
            <a:off x="1500166" y="3857628"/>
            <a:ext cx="164307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框架</a:t>
            </a:r>
            <a:r>
              <a:rPr lang="en-US" altLang="zh-TW" dirty="0"/>
              <a:t>(Framework)</a:t>
            </a:r>
          </a:p>
          <a:p>
            <a:pPr algn="ctr"/>
            <a:r>
              <a:rPr lang="en-US" altLang="zh-TW" dirty="0" err="1"/>
              <a:t>PyGame</a:t>
            </a:r>
            <a:endParaRPr lang="zh-TW" altLang="en-US" dirty="0"/>
          </a:p>
        </p:txBody>
      </p:sp>
      <p:cxnSp>
        <p:nvCxnSpPr>
          <p:cNvPr id="19" name="直線接點 18"/>
          <p:cNvCxnSpPr>
            <a:stCxn id="17" idx="0"/>
          </p:cNvCxnSpPr>
          <p:nvPr/>
        </p:nvCxnSpPr>
        <p:spPr>
          <a:xfrm rot="16200000" flipV="1">
            <a:off x="2053812" y="3589737"/>
            <a:ext cx="500066" cy="35716"/>
          </a:xfrm>
          <a:prstGeom prst="line">
            <a:avLst/>
          </a:prstGeom>
        </p:spPr>
        <p:style>
          <a:lnRef idx="1">
            <a:schemeClr val="accent1"/>
          </a:lnRef>
          <a:fillRef idx="0">
            <a:schemeClr val="accent1"/>
          </a:fillRef>
          <a:effectRef idx="0">
            <a:schemeClr val="accent1"/>
          </a:effectRef>
          <a:fontRef idx="minor">
            <a:schemeClr val="tx1"/>
          </a:fontRef>
        </p:style>
      </p:cxnSp>
      <p:sp>
        <p:nvSpPr>
          <p:cNvPr id="20" name="文字方塊 19"/>
          <p:cNvSpPr txBox="1"/>
          <p:nvPr/>
        </p:nvSpPr>
        <p:spPr>
          <a:xfrm>
            <a:off x="3500430" y="4786322"/>
            <a:ext cx="1643074"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通用遊戲引擎 </a:t>
            </a:r>
            <a:r>
              <a:rPr lang="en-US" altLang="zh-TW" dirty="0"/>
              <a:t>Unity/Unreal</a:t>
            </a:r>
            <a:endParaRPr lang="zh-TW" altLang="en-US" dirty="0"/>
          </a:p>
        </p:txBody>
      </p:sp>
      <p:cxnSp>
        <p:nvCxnSpPr>
          <p:cNvPr id="22" name="直線接點 21"/>
          <p:cNvCxnSpPr>
            <a:stCxn id="20" idx="0"/>
          </p:cNvCxnSpPr>
          <p:nvPr/>
        </p:nvCxnSpPr>
        <p:spPr>
          <a:xfrm rot="5400000" flipH="1" flipV="1">
            <a:off x="3625446" y="4054083"/>
            <a:ext cx="1428760" cy="35719"/>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5286380" y="4357694"/>
            <a:ext cx="164307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特定遊戲引擎 </a:t>
            </a:r>
            <a:r>
              <a:rPr lang="en-US" altLang="zh-TW" dirty="0" err="1"/>
              <a:t>RPGMaker</a:t>
            </a:r>
            <a:endParaRPr lang="en-US" altLang="zh-TW" dirty="0"/>
          </a:p>
          <a:p>
            <a:pPr algn="ctr"/>
            <a:r>
              <a:rPr lang="en-US" altLang="zh-TW" dirty="0" err="1"/>
              <a:t>RenPy</a:t>
            </a:r>
            <a:endParaRPr lang="zh-TW" altLang="en-US" dirty="0"/>
          </a:p>
        </p:txBody>
      </p:sp>
      <p:cxnSp>
        <p:nvCxnSpPr>
          <p:cNvPr id="25" name="直線接點 24"/>
          <p:cNvCxnSpPr>
            <a:stCxn id="23" idx="0"/>
          </p:cNvCxnSpPr>
          <p:nvPr/>
        </p:nvCxnSpPr>
        <p:spPr>
          <a:xfrm rot="16200000" flipV="1">
            <a:off x="5625711" y="3875487"/>
            <a:ext cx="928694" cy="35719"/>
          </a:xfrm>
          <a:prstGeom prst="line">
            <a:avLst/>
          </a:prstGeom>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a:off x="7215206" y="4357694"/>
            <a:ext cx="164307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工具遊戲引擎 </a:t>
            </a:r>
            <a:r>
              <a:rPr lang="en-US" altLang="zh-TW" dirty="0"/>
              <a:t>Construct3</a:t>
            </a:r>
          </a:p>
          <a:p>
            <a:pPr algn="ctr"/>
            <a:r>
              <a:rPr lang="en-US" altLang="zh-TW" dirty="0" err="1"/>
              <a:t>GameSalad</a:t>
            </a:r>
            <a:endParaRPr lang="zh-TW" altLang="en-US" dirty="0"/>
          </a:p>
        </p:txBody>
      </p:sp>
      <p:cxnSp>
        <p:nvCxnSpPr>
          <p:cNvPr id="30" name="直線接點 29"/>
          <p:cNvCxnSpPr>
            <a:stCxn id="28" idx="0"/>
            <a:endCxn id="11" idx="2"/>
          </p:cNvCxnSpPr>
          <p:nvPr/>
        </p:nvCxnSpPr>
        <p:spPr>
          <a:xfrm flipH="1" flipV="1">
            <a:off x="7811111" y="3333820"/>
            <a:ext cx="225632" cy="1023874"/>
          </a:xfrm>
          <a:prstGeom prst="line">
            <a:avLst/>
          </a:prstGeom>
        </p:spPr>
        <p:style>
          <a:lnRef idx="1">
            <a:schemeClr val="accent1"/>
          </a:lnRef>
          <a:fillRef idx="0">
            <a:schemeClr val="accent1"/>
          </a:fillRef>
          <a:effectRef idx="0">
            <a:schemeClr val="accent1"/>
          </a:effectRef>
          <a:fontRef idx="minor">
            <a:schemeClr val="tx1"/>
          </a:fontRef>
        </p:style>
      </p:cxnSp>
      <p:sp>
        <p:nvSpPr>
          <p:cNvPr id="35" name="文字方塊 34"/>
          <p:cNvSpPr txBox="1"/>
          <p:nvPr/>
        </p:nvSpPr>
        <p:spPr>
          <a:xfrm>
            <a:off x="357158" y="5214950"/>
            <a:ext cx="164307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原生程式</a:t>
            </a:r>
            <a:endParaRPr lang="en-US" altLang="zh-TW" dirty="0"/>
          </a:p>
          <a:p>
            <a:pPr algn="ctr"/>
            <a:r>
              <a:rPr lang="en-US" altLang="zh-TW" dirty="0"/>
              <a:t>C++, DirectX, OpenGL</a:t>
            </a:r>
          </a:p>
        </p:txBody>
      </p:sp>
      <p:cxnSp>
        <p:nvCxnSpPr>
          <p:cNvPr id="36" name="直線接點 35"/>
          <p:cNvCxnSpPr/>
          <p:nvPr/>
        </p:nvCxnSpPr>
        <p:spPr>
          <a:xfrm rot="16200000" flipV="1">
            <a:off x="142844" y="4214818"/>
            <a:ext cx="1785950" cy="7143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 </a:t>
            </a:r>
            <a:r>
              <a:rPr lang="en-US" altLang="zh-TW" dirty="0"/>
              <a:t>– Unity </a:t>
            </a:r>
            <a:endParaRPr lang="zh-TW" altLang="en-US" dirty="0"/>
          </a:p>
        </p:txBody>
      </p:sp>
      <p:sp>
        <p:nvSpPr>
          <p:cNvPr id="3" name="內容版面配置區 2"/>
          <p:cNvSpPr>
            <a:spLocks noGrp="1"/>
          </p:cNvSpPr>
          <p:nvPr>
            <p:ph idx="1"/>
          </p:nvPr>
        </p:nvSpPr>
        <p:spPr/>
        <p:txBody>
          <a:bodyPr/>
          <a:lstStyle/>
          <a:p>
            <a:r>
              <a:rPr lang="zh-TW" altLang="en-US" dirty="0"/>
              <a:t>商業引擎</a:t>
            </a:r>
            <a:endParaRPr lang="en-US" altLang="zh-TW" dirty="0"/>
          </a:p>
          <a:p>
            <a:pPr lvl="1"/>
            <a:r>
              <a:rPr lang="en-US" altLang="zh-TW" sz="2400" dirty="0"/>
              <a:t>2025</a:t>
            </a:r>
            <a:r>
              <a:rPr lang="zh-TW" altLang="en-US" sz="2400" dirty="0"/>
              <a:t>年：一年</a:t>
            </a:r>
            <a:r>
              <a:rPr lang="en-US" altLang="zh-TW" sz="2400" dirty="0"/>
              <a:t>20</a:t>
            </a:r>
            <a:r>
              <a:rPr lang="zh-TW" altLang="en-US" sz="2400" dirty="0"/>
              <a:t>萬美金收入後：</a:t>
            </a:r>
            <a:r>
              <a:rPr lang="en-US" altLang="zh-TW" sz="2400" dirty="0"/>
              <a:t>2200</a:t>
            </a:r>
            <a:r>
              <a:rPr lang="zh-TW" altLang="en-US" sz="2400" dirty="0"/>
              <a:t>美金</a:t>
            </a:r>
            <a:r>
              <a:rPr lang="en-US" altLang="zh-TW" sz="1800" dirty="0"/>
              <a:t>(</a:t>
            </a:r>
            <a:r>
              <a:rPr lang="zh-TW" altLang="en-US" sz="1800" dirty="0"/>
              <a:t>每人每年</a:t>
            </a:r>
            <a:r>
              <a:rPr lang="en-US" altLang="zh-TW" sz="1800" dirty="0"/>
              <a:t>)</a:t>
            </a:r>
            <a:endParaRPr lang="en-US" altLang="zh-TW" sz="2000" dirty="0"/>
          </a:p>
          <a:p>
            <a:r>
              <a:rPr lang="zh-TW" altLang="en-US" dirty="0"/>
              <a:t>支援</a:t>
            </a:r>
            <a:r>
              <a:rPr lang="en-US" altLang="zh-TW" dirty="0"/>
              <a:t>3D</a:t>
            </a:r>
            <a:r>
              <a:rPr lang="zh-TW" altLang="en-US" dirty="0"/>
              <a:t>、</a:t>
            </a:r>
            <a:r>
              <a:rPr lang="en-US" altLang="zh-TW" dirty="0"/>
              <a:t>2D</a:t>
            </a:r>
          </a:p>
          <a:p>
            <a:pPr lvl="1"/>
            <a:r>
              <a:rPr lang="zh-TW" altLang="en-US" dirty="0"/>
              <a:t>支援</a:t>
            </a:r>
            <a:r>
              <a:rPr lang="en-US" altLang="zh-TW" dirty="0"/>
              <a:t>VR</a:t>
            </a:r>
            <a:r>
              <a:rPr lang="zh-TW" altLang="en-US" dirty="0"/>
              <a:t>、</a:t>
            </a:r>
            <a:r>
              <a:rPr lang="en-US" altLang="zh-TW" dirty="0"/>
              <a:t>AR</a:t>
            </a:r>
          </a:p>
          <a:p>
            <a:r>
              <a:rPr lang="zh-TW" altLang="en-US" dirty="0"/>
              <a:t>支援產出各種平台</a:t>
            </a:r>
            <a:endParaRPr lang="en-US" altLang="zh-TW" dirty="0"/>
          </a:p>
          <a:p>
            <a:pPr lvl="1"/>
            <a:r>
              <a:rPr lang="en-US" altLang="zh-TW" dirty="0"/>
              <a:t>PC</a:t>
            </a:r>
            <a:r>
              <a:rPr lang="zh-TW" altLang="en-US" dirty="0"/>
              <a:t>、</a:t>
            </a:r>
            <a:r>
              <a:rPr lang="en-US" altLang="zh-TW" dirty="0"/>
              <a:t>Android</a:t>
            </a:r>
            <a:r>
              <a:rPr lang="zh-TW" altLang="en-US" dirty="0"/>
              <a:t>、</a:t>
            </a:r>
            <a:r>
              <a:rPr lang="en-US" altLang="zh-TW" dirty="0" err="1"/>
              <a:t>iOS</a:t>
            </a:r>
            <a:r>
              <a:rPr lang="zh-TW" altLang="en-US" dirty="0"/>
              <a:t>、網頁、主機</a:t>
            </a:r>
            <a:endParaRPr lang="en-US" altLang="zh-TW" dirty="0"/>
          </a:p>
          <a:p>
            <a:pPr lvl="1"/>
            <a:endParaRPr lang="en-US" altLang="zh-TW" dirty="0"/>
          </a:p>
          <a:p>
            <a:r>
              <a:rPr lang="zh-TW" altLang="en-US" dirty="0"/>
              <a:t>程式使用 </a:t>
            </a:r>
            <a:r>
              <a:rPr lang="en-US" altLang="zh-TW" dirty="0"/>
              <a:t>C#</a:t>
            </a:r>
            <a:r>
              <a:rPr lang="zh-TW" altLang="en-US" dirty="0"/>
              <a:t> </a:t>
            </a:r>
            <a:r>
              <a:rPr lang="en-US" altLang="zh-TW" dirty="0"/>
              <a:t>(</a:t>
            </a:r>
            <a:r>
              <a:rPr lang="zh-TW" altLang="en-US" dirty="0"/>
              <a:t>只剩下這個</a:t>
            </a:r>
            <a:r>
              <a:rPr lang="en-US" altLang="zh-TW" dirty="0"/>
              <a:t>)</a:t>
            </a:r>
          </a:p>
          <a:p>
            <a:pPr lvl="1"/>
            <a:r>
              <a:rPr lang="zh-TW" altLang="en-US" dirty="0"/>
              <a:t>視覺化程式</a:t>
            </a:r>
            <a:endParaRPr lang="en-US" altLang="zh-TW" dirty="0"/>
          </a:p>
          <a:p>
            <a:pPr lvl="1"/>
            <a:endParaRPr lang="zh-TW"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 </a:t>
            </a:r>
            <a:r>
              <a:rPr lang="zh-TW" altLang="en-US" dirty="0"/>
              <a:t>架構</a:t>
            </a:r>
          </a:p>
        </p:txBody>
      </p:sp>
      <p:sp>
        <p:nvSpPr>
          <p:cNvPr id="3" name="內容版面配置區 2"/>
          <p:cNvSpPr>
            <a:spLocks noGrp="1"/>
          </p:cNvSpPr>
          <p:nvPr>
            <p:ph idx="1"/>
          </p:nvPr>
        </p:nvSpPr>
        <p:spPr/>
        <p:txBody>
          <a:bodyPr>
            <a:normAutofit/>
          </a:bodyPr>
          <a:lstStyle/>
          <a:p>
            <a:r>
              <a:rPr lang="zh-TW" altLang="en-US" dirty="0"/>
              <a:t>理論基礎</a:t>
            </a:r>
            <a:endParaRPr lang="en-US" altLang="zh-TW" dirty="0"/>
          </a:p>
          <a:p>
            <a:pPr lvl="1"/>
            <a:r>
              <a:rPr lang="en-US" altLang="zh-TW" dirty="0"/>
              <a:t>3D</a:t>
            </a:r>
            <a:r>
              <a:rPr lang="zh-TW" altLang="en-US" dirty="0"/>
              <a:t>圖學、遊戲引擎運作原理</a:t>
            </a:r>
            <a:endParaRPr lang="en-US" altLang="zh-TW" dirty="0"/>
          </a:p>
          <a:p>
            <a:r>
              <a:rPr lang="zh-TW" altLang="en-US" dirty="0"/>
              <a:t>基本遊戲引擎運用</a:t>
            </a:r>
            <a:endParaRPr lang="en-US" altLang="zh-TW" dirty="0"/>
          </a:p>
          <a:p>
            <a:pPr lvl="1"/>
            <a:r>
              <a:rPr lang="zh-TW" altLang="en-US" dirty="0"/>
              <a:t>共通部分 </a:t>
            </a:r>
            <a:r>
              <a:rPr lang="en-US" altLang="zh-TW" dirty="0"/>
              <a:t>(</a:t>
            </a:r>
            <a:r>
              <a:rPr lang="zh-TW" altLang="en-US" dirty="0"/>
              <a:t>基本操作、燈光、動畫、</a:t>
            </a:r>
            <a:r>
              <a:rPr lang="en-US" altLang="zh-TW" dirty="0"/>
              <a:t>UI)</a:t>
            </a:r>
          </a:p>
          <a:p>
            <a:pPr lvl="1"/>
            <a:r>
              <a:rPr lang="zh-TW" altLang="en-US" dirty="0"/>
              <a:t>特定平台需求</a:t>
            </a:r>
            <a:endParaRPr lang="en-US" altLang="zh-TW" dirty="0"/>
          </a:p>
          <a:p>
            <a:pPr lvl="1"/>
            <a:r>
              <a:rPr lang="zh-TW" altLang="en-US" dirty="0"/>
              <a:t>特定遊戲需求</a:t>
            </a:r>
            <a:endParaRPr lang="en-US" altLang="zh-TW" dirty="0"/>
          </a:p>
          <a:p>
            <a:r>
              <a:rPr lang="zh-TW" altLang="en-US" dirty="0"/>
              <a:t>進階引擎運用</a:t>
            </a:r>
            <a:endParaRPr lang="en-US" altLang="zh-TW" dirty="0"/>
          </a:p>
          <a:p>
            <a:pPr lvl="1"/>
            <a:r>
              <a:rPr lang="zh-TW" altLang="en-US" dirty="0"/>
              <a:t>最佳化方法 </a:t>
            </a:r>
            <a:r>
              <a:rPr lang="en-US" altLang="zh-TW" dirty="0"/>
              <a:t>(</a:t>
            </a:r>
            <a:r>
              <a:rPr lang="zh-TW" altLang="en-US" dirty="0"/>
              <a:t>效能、讀取速度</a:t>
            </a:r>
            <a:r>
              <a:rPr lang="en-US" altLang="zh-TW" dirty="0"/>
              <a:t>)</a:t>
            </a:r>
          </a:p>
          <a:p>
            <a:pPr lvl="1"/>
            <a:r>
              <a:rPr lang="zh-TW" altLang="en-US" dirty="0"/>
              <a:t>更好的畫面 </a:t>
            </a:r>
            <a:endParaRPr lang="en-US" altLang="zh-TW" dirty="0"/>
          </a:p>
          <a:p>
            <a:pPr lvl="1"/>
            <a:endParaRPr lang="zh-TW"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 </a:t>
            </a:r>
            <a:r>
              <a:rPr lang="zh-TW" altLang="en-US" dirty="0"/>
              <a:t>理論基礎</a:t>
            </a:r>
          </a:p>
        </p:txBody>
      </p:sp>
      <p:sp>
        <p:nvSpPr>
          <p:cNvPr id="3" name="內容版面配置區 2"/>
          <p:cNvSpPr>
            <a:spLocks noGrp="1"/>
          </p:cNvSpPr>
          <p:nvPr>
            <p:ph idx="1"/>
          </p:nvPr>
        </p:nvSpPr>
        <p:spPr/>
        <p:txBody>
          <a:bodyPr>
            <a:normAutofit fontScale="92500" lnSpcReduction="10000"/>
          </a:bodyPr>
          <a:lstStyle/>
          <a:p>
            <a:r>
              <a:rPr lang="zh-TW" altLang="en-US" dirty="0"/>
              <a:t>電腦渲染</a:t>
            </a:r>
            <a:endParaRPr lang="en-US" altLang="zh-TW" dirty="0"/>
          </a:p>
          <a:p>
            <a:pPr lvl="1"/>
            <a:r>
              <a:rPr lang="zh-TW" altLang="en-US" dirty="0"/>
              <a:t>原理</a:t>
            </a:r>
            <a:r>
              <a:rPr lang="en-US" altLang="zh-TW" dirty="0"/>
              <a:t>&amp;</a:t>
            </a:r>
            <a:r>
              <a:rPr lang="zh-TW" altLang="en-US" dirty="0"/>
              <a:t>流程</a:t>
            </a:r>
            <a:endParaRPr lang="en-US" altLang="zh-TW" dirty="0"/>
          </a:p>
          <a:p>
            <a:pPr lvl="1"/>
            <a:r>
              <a:rPr lang="en-US" altLang="zh-TW" dirty="0"/>
              <a:t>DirectX</a:t>
            </a:r>
            <a:r>
              <a:rPr lang="zh-TW" altLang="en-US" dirty="0"/>
              <a:t> </a:t>
            </a:r>
            <a:r>
              <a:rPr lang="en-US" altLang="zh-TW" dirty="0"/>
              <a:t>/ OpenGL</a:t>
            </a:r>
          </a:p>
          <a:p>
            <a:r>
              <a:rPr lang="zh-TW" altLang="en-US" dirty="0"/>
              <a:t>數學</a:t>
            </a:r>
            <a:endParaRPr lang="en-US" altLang="zh-TW" dirty="0"/>
          </a:p>
          <a:p>
            <a:pPr lvl="1"/>
            <a:r>
              <a:rPr lang="zh-TW" altLang="en-US" dirty="0"/>
              <a:t>插值法</a:t>
            </a:r>
            <a:endParaRPr lang="en-US" altLang="zh-TW" dirty="0"/>
          </a:p>
          <a:p>
            <a:pPr lvl="1"/>
            <a:r>
              <a:rPr lang="zh-TW" altLang="en-US" dirty="0"/>
              <a:t>三角函數 </a:t>
            </a:r>
            <a:endParaRPr lang="en-US" altLang="zh-TW" dirty="0"/>
          </a:p>
          <a:p>
            <a:pPr lvl="1"/>
            <a:r>
              <a:rPr lang="zh-TW" altLang="en-US" dirty="0"/>
              <a:t>向量 </a:t>
            </a:r>
            <a:endParaRPr lang="en-US" altLang="zh-TW" dirty="0"/>
          </a:p>
          <a:p>
            <a:pPr lvl="1"/>
            <a:r>
              <a:rPr lang="zh-TW" altLang="en-US" dirty="0"/>
              <a:t>矩陣</a:t>
            </a:r>
            <a:endParaRPr lang="en-US" altLang="zh-TW" dirty="0"/>
          </a:p>
          <a:p>
            <a:r>
              <a:rPr lang="zh-TW" altLang="en-US" dirty="0"/>
              <a:t>物理</a:t>
            </a:r>
            <a:endParaRPr lang="en-US" altLang="zh-TW" dirty="0"/>
          </a:p>
          <a:p>
            <a:pPr lvl="1"/>
            <a:r>
              <a:rPr lang="zh-TW" altLang="en-US" dirty="0"/>
              <a:t>速度、加速度</a:t>
            </a:r>
            <a:endParaRPr lang="en-US" altLang="zh-TW" dirty="0"/>
          </a:p>
          <a:p>
            <a:pPr lvl="1"/>
            <a:r>
              <a:rPr lang="zh-TW" altLang="en-US" dirty="0"/>
              <a:t>運動學</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 Unity </a:t>
            </a:r>
            <a:endParaRPr lang="zh-TW" altLang="en-US" dirty="0"/>
          </a:p>
        </p:txBody>
      </p:sp>
      <p:sp>
        <p:nvSpPr>
          <p:cNvPr id="3" name="內容版面配置區 2"/>
          <p:cNvSpPr>
            <a:spLocks noGrp="1"/>
          </p:cNvSpPr>
          <p:nvPr>
            <p:ph idx="1"/>
          </p:nvPr>
        </p:nvSpPr>
        <p:spPr/>
        <p:txBody>
          <a:bodyPr/>
          <a:lstStyle/>
          <a:p>
            <a:r>
              <a:rPr lang="zh-TW" altLang="en-US" dirty="0"/>
              <a:t>共通基礎部分</a:t>
            </a:r>
            <a:endParaRPr lang="en-US" altLang="zh-TW" dirty="0"/>
          </a:p>
          <a:p>
            <a:pPr lvl="1"/>
            <a:r>
              <a:rPr lang="zh-TW" altLang="en-US" dirty="0"/>
              <a:t>基礎操作、基礎概念、輸入、</a:t>
            </a:r>
            <a:r>
              <a:rPr lang="en-US" altLang="zh-TW" dirty="0"/>
              <a:t>UI</a:t>
            </a:r>
          </a:p>
          <a:p>
            <a:r>
              <a:rPr lang="zh-TW" altLang="en-US" dirty="0"/>
              <a:t>不同遊戲類型獨立部分</a:t>
            </a:r>
            <a:endParaRPr lang="en-US" altLang="zh-TW" dirty="0"/>
          </a:p>
          <a:p>
            <a:pPr lvl="1"/>
            <a:r>
              <a:rPr lang="zh-TW" altLang="en-US" dirty="0"/>
              <a:t>燈光、場景製作</a:t>
            </a:r>
            <a:endParaRPr lang="en-US" altLang="zh-TW" dirty="0"/>
          </a:p>
          <a:p>
            <a:pPr lvl="1"/>
            <a:r>
              <a:rPr lang="zh-TW" altLang="en-US" dirty="0"/>
              <a:t>玩家、攝影機操作</a:t>
            </a:r>
            <a:endParaRPr lang="en-US" altLang="zh-TW" dirty="0"/>
          </a:p>
          <a:p>
            <a:pPr lvl="1"/>
            <a:r>
              <a:rPr lang="zh-TW" altLang="en-US" dirty="0"/>
              <a:t>程式架構、尋路、</a:t>
            </a:r>
            <a:r>
              <a:rPr lang="en-US" altLang="zh-TW" dirty="0"/>
              <a:t>AI</a:t>
            </a:r>
          </a:p>
          <a:p>
            <a:r>
              <a:rPr lang="zh-TW" altLang="en-US" dirty="0"/>
              <a:t>進階共通部分</a:t>
            </a:r>
            <a:endParaRPr lang="en-US" altLang="zh-TW" dirty="0"/>
          </a:p>
          <a:p>
            <a:pPr lvl="1"/>
            <a:r>
              <a:rPr lang="en-US" altLang="zh-TW" dirty="0" err="1"/>
              <a:t>Shader</a:t>
            </a:r>
            <a:r>
              <a:rPr lang="zh-TW" altLang="en-US" dirty="0"/>
              <a:t>、資源管理、效能最佳化</a:t>
            </a:r>
            <a:endParaRPr lang="en-US" altLang="zh-TW" dirty="0"/>
          </a:p>
          <a:p>
            <a:pPr lvl="1"/>
            <a:r>
              <a:rPr lang="en-US" altLang="zh-TW" dirty="0"/>
              <a:t>Editor</a:t>
            </a:r>
            <a:r>
              <a:rPr lang="zh-TW" altLang="en-US" dirty="0"/>
              <a:t>、開發工具</a:t>
            </a:r>
            <a:endParaRPr lang="en-US" altLang="zh-TW" dirty="0"/>
          </a:p>
          <a:p>
            <a:pPr lvl="1"/>
            <a:endParaRPr lang="zh-TW"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 Unity </a:t>
            </a:r>
            <a:endParaRPr lang="zh-TW" altLang="en-US" dirty="0"/>
          </a:p>
        </p:txBody>
      </p:sp>
      <p:sp>
        <p:nvSpPr>
          <p:cNvPr id="3" name="內容版面配置區 2"/>
          <p:cNvSpPr>
            <a:spLocks noGrp="1"/>
          </p:cNvSpPr>
          <p:nvPr>
            <p:ph idx="1"/>
          </p:nvPr>
        </p:nvSpPr>
        <p:spPr/>
        <p:txBody>
          <a:bodyPr>
            <a:normAutofit/>
          </a:bodyPr>
          <a:lstStyle/>
          <a:p>
            <a:r>
              <a:rPr lang="zh-TW" altLang="en-US" dirty="0"/>
              <a:t>最好的學習方式是去找線上或付費的教學，照著做一次  </a:t>
            </a:r>
            <a:r>
              <a:rPr lang="en-US" altLang="zh-TW" dirty="0"/>
              <a:t>(</a:t>
            </a:r>
            <a:r>
              <a:rPr lang="zh-TW" altLang="en-US" b="1" dirty="0"/>
              <a:t>英文需求、且大多為程式內容</a:t>
            </a:r>
            <a:r>
              <a:rPr lang="en-US" altLang="zh-TW" dirty="0"/>
              <a:t>)</a:t>
            </a:r>
          </a:p>
          <a:p>
            <a:pPr lvl="1"/>
            <a:r>
              <a:rPr lang="en-US" altLang="zh-TW" dirty="0"/>
              <a:t>Unity Learn</a:t>
            </a:r>
          </a:p>
          <a:p>
            <a:pPr lvl="1"/>
            <a:r>
              <a:rPr lang="en-US" altLang="zh-TW" dirty="0" err="1"/>
              <a:t>Udemy</a:t>
            </a:r>
            <a:endParaRPr lang="en-US" altLang="zh-TW" dirty="0"/>
          </a:p>
          <a:p>
            <a:pPr lvl="1"/>
            <a:r>
              <a:rPr lang="en-US" altLang="zh-TW" dirty="0"/>
              <a:t>GameDev.tv</a:t>
            </a:r>
          </a:p>
          <a:p>
            <a:pPr lvl="1"/>
            <a:r>
              <a:rPr lang="en-US" altLang="zh-TW" dirty="0" err="1"/>
              <a:t>Youtube</a:t>
            </a:r>
            <a:endParaRPr lang="en-US" altLang="zh-TW" dirty="0"/>
          </a:p>
          <a:p>
            <a:r>
              <a:rPr lang="zh-TW" altLang="en-US" dirty="0"/>
              <a:t>如果已經熟悉</a:t>
            </a:r>
            <a:r>
              <a:rPr lang="en-US" altLang="zh-TW" dirty="0"/>
              <a:t>Unity</a:t>
            </a:r>
            <a:r>
              <a:rPr lang="zh-TW" altLang="en-US" dirty="0"/>
              <a:t>並需要商業運用，可以尋找、購買一些套件直接使用</a:t>
            </a:r>
            <a:endParaRPr lang="en-US" altLang="zh-TW" dirty="0"/>
          </a:p>
          <a:p>
            <a:pPr lvl="1"/>
            <a:r>
              <a:rPr lang="en-US" altLang="zh-TW" dirty="0"/>
              <a:t>Asset Store</a:t>
            </a:r>
            <a:endParaRPr lang="zh-TW"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Section 2</a:t>
            </a:r>
            <a:br>
              <a:rPr lang="en-US" altLang="zh-TW" dirty="0"/>
            </a:br>
            <a:r>
              <a:rPr lang="zh-TW" altLang="en-US" dirty="0"/>
              <a:t>遊戲製作</a:t>
            </a:r>
          </a:p>
        </p:txBody>
      </p:sp>
      <p:sp>
        <p:nvSpPr>
          <p:cNvPr id="3" name="副標題 2"/>
          <p:cNvSpPr>
            <a:spLocks noGrp="1"/>
          </p:cNvSpPr>
          <p:nvPr>
            <p:ph type="subTitle" idx="1"/>
          </p:nvPr>
        </p:nvSpPr>
        <p:spPr/>
        <p:txBody>
          <a:bodyPr/>
          <a:lstStyle/>
          <a:p>
            <a:endParaRPr lang="en-US" altLang="zh-TW" dirty="0"/>
          </a:p>
          <a:p>
            <a:r>
              <a:rPr lang="en-US" altLang="zh-TW" dirty="0"/>
              <a:t>Horazon</a:t>
            </a:r>
          </a:p>
          <a:p>
            <a:r>
              <a:rPr lang="zh-TW" altLang="en-US" b="0" i="0">
                <a:solidFill>
                  <a:srgbClr val="003399"/>
                </a:solidFill>
                <a:effectLst/>
                <a:latin typeface="Times New Roman" panose="02020603050405020304" pitchFamily="18" charset="0"/>
              </a:rPr>
              <a:t>遊戲程式設計</a:t>
            </a:r>
            <a:endParaRPr lang="zh-TW" altLang="en-US" dirty="0"/>
          </a:p>
        </p:txBody>
      </p:sp>
    </p:spTree>
    <p:extLst>
      <p:ext uri="{BB962C8B-B14F-4D97-AF65-F5344CB8AC3E}">
        <p14:creationId xmlns:p14="http://schemas.microsoft.com/office/powerpoint/2010/main" val="3676146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7E50FF-F185-4C5F-B982-89A9DA57FA30}"/>
              </a:ext>
            </a:extLst>
          </p:cNvPr>
          <p:cNvSpPr>
            <a:spLocks noGrp="1"/>
          </p:cNvSpPr>
          <p:nvPr>
            <p:ph type="title"/>
          </p:nvPr>
        </p:nvSpPr>
        <p:spPr/>
        <p:txBody>
          <a:bodyPr/>
          <a:lstStyle/>
          <a:p>
            <a:r>
              <a:rPr lang="zh-TW" altLang="en-US" dirty="0"/>
              <a:t>遊戲製作</a:t>
            </a:r>
          </a:p>
        </p:txBody>
      </p:sp>
      <p:sp>
        <p:nvSpPr>
          <p:cNvPr id="3" name="內容版面配置區 2">
            <a:extLst>
              <a:ext uri="{FF2B5EF4-FFF2-40B4-BE49-F238E27FC236}">
                <a16:creationId xmlns:a16="http://schemas.microsoft.com/office/drawing/2014/main" id="{0159982D-CE01-2006-99D8-9BBA970F725E}"/>
              </a:ext>
            </a:extLst>
          </p:cNvPr>
          <p:cNvSpPr>
            <a:spLocks noGrp="1"/>
          </p:cNvSpPr>
          <p:nvPr>
            <p:ph idx="1"/>
          </p:nvPr>
        </p:nvSpPr>
        <p:spPr/>
        <p:txBody>
          <a:bodyPr/>
          <a:lstStyle/>
          <a:p>
            <a:r>
              <a:rPr lang="zh-TW" altLang="en-US" dirty="0"/>
              <a:t>遊戲製作本身是一種軟體工程</a:t>
            </a:r>
            <a:endParaRPr lang="en-US" altLang="zh-TW" dirty="0"/>
          </a:p>
          <a:p>
            <a:pPr lvl="1"/>
            <a:r>
              <a:rPr lang="zh-TW" altLang="en-US" dirty="0"/>
              <a:t>而且還是特別複雜的一種</a:t>
            </a:r>
            <a:endParaRPr lang="en-US" altLang="zh-TW" dirty="0"/>
          </a:p>
          <a:p>
            <a:pPr lvl="1"/>
            <a:r>
              <a:rPr lang="zh-TW" altLang="en-US" dirty="0"/>
              <a:t>需要美術、音樂音效、數學、物理合作</a:t>
            </a:r>
            <a:endParaRPr lang="en-US" altLang="zh-TW" dirty="0"/>
          </a:p>
          <a:p>
            <a:pPr lvl="1"/>
            <a:r>
              <a:rPr lang="zh-TW" altLang="en-US" dirty="0"/>
              <a:t>以及遊戲內容的額外知識</a:t>
            </a:r>
            <a:endParaRPr lang="en-US" altLang="zh-TW" dirty="0"/>
          </a:p>
          <a:p>
            <a:pPr lvl="1"/>
            <a:endParaRPr lang="en-US" altLang="zh-TW" dirty="0"/>
          </a:p>
          <a:p>
            <a:r>
              <a:rPr lang="zh-TW" altLang="en-US" dirty="0"/>
              <a:t>在軟體工程中，許多問題是沒有正確答案的</a:t>
            </a:r>
            <a:endParaRPr lang="en-US" altLang="zh-TW" dirty="0"/>
          </a:p>
          <a:p>
            <a:pPr lvl="1"/>
            <a:r>
              <a:rPr lang="zh-TW" altLang="en-US" dirty="0"/>
              <a:t>同個問題有多種作法、各有優缺點</a:t>
            </a:r>
            <a:endParaRPr lang="en-US" altLang="zh-TW" dirty="0"/>
          </a:p>
          <a:p>
            <a:pPr lvl="1"/>
            <a:r>
              <a:rPr lang="zh-TW" altLang="en-US" dirty="0"/>
              <a:t>有時候需要取捨</a:t>
            </a:r>
            <a:endParaRPr lang="en-US" altLang="zh-TW" dirty="0"/>
          </a:p>
          <a:p>
            <a:pPr lvl="1"/>
            <a:r>
              <a:rPr lang="zh-TW" altLang="en-US" dirty="0"/>
              <a:t>使用者</a:t>
            </a:r>
            <a:r>
              <a:rPr lang="en-US" altLang="zh-TW" dirty="0"/>
              <a:t>/</a:t>
            </a:r>
            <a:r>
              <a:rPr lang="zh-TW" altLang="en-US" dirty="0"/>
              <a:t>玩家的感受才是重點</a:t>
            </a:r>
            <a:endParaRPr lang="en-US" altLang="zh-TW" dirty="0"/>
          </a:p>
          <a:p>
            <a:pPr lvl="1"/>
            <a:endParaRPr lang="zh-TW" altLang="en-US" dirty="0"/>
          </a:p>
        </p:txBody>
      </p:sp>
    </p:spTree>
    <p:extLst>
      <p:ext uri="{BB962C8B-B14F-4D97-AF65-F5344CB8AC3E}">
        <p14:creationId xmlns:p14="http://schemas.microsoft.com/office/powerpoint/2010/main" val="3821634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26C32D-30A9-12DE-379B-7266999D8A4B}"/>
              </a:ext>
            </a:extLst>
          </p:cNvPr>
          <p:cNvSpPr>
            <a:spLocks noGrp="1"/>
          </p:cNvSpPr>
          <p:nvPr>
            <p:ph type="title"/>
          </p:nvPr>
        </p:nvSpPr>
        <p:spPr/>
        <p:txBody>
          <a:bodyPr>
            <a:normAutofit/>
          </a:bodyPr>
          <a:lstStyle/>
          <a:p>
            <a:r>
              <a:rPr lang="zh-TW" altLang="en-US" dirty="0"/>
              <a:t>遊戲製程</a:t>
            </a:r>
          </a:p>
        </p:txBody>
      </p:sp>
      <p:sp>
        <p:nvSpPr>
          <p:cNvPr id="3" name="內容版面配置區 2">
            <a:extLst>
              <a:ext uri="{FF2B5EF4-FFF2-40B4-BE49-F238E27FC236}">
                <a16:creationId xmlns:a16="http://schemas.microsoft.com/office/drawing/2014/main" id="{88CFDB76-5EC0-5A18-C29B-0AFE02CD1376}"/>
              </a:ext>
            </a:extLst>
          </p:cNvPr>
          <p:cNvSpPr>
            <a:spLocks noGrp="1"/>
          </p:cNvSpPr>
          <p:nvPr>
            <p:ph idx="1"/>
          </p:nvPr>
        </p:nvSpPr>
        <p:spPr>
          <a:xfrm>
            <a:off x="457200" y="2249424"/>
            <a:ext cx="2242592" cy="4325112"/>
          </a:xfrm>
        </p:spPr>
        <p:style>
          <a:lnRef idx="2">
            <a:schemeClr val="accent1"/>
          </a:lnRef>
          <a:fillRef idx="1">
            <a:schemeClr val="lt1"/>
          </a:fillRef>
          <a:effectRef idx="0">
            <a:schemeClr val="accent1"/>
          </a:effectRef>
          <a:fontRef idx="minor">
            <a:schemeClr val="dk1"/>
          </a:fontRef>
        </p:style>
        <p:txBody>
          <a:bodyPr/>
          <a:lstStyle/>
          <a:p>
            <a:pPr marL="109728" indent="0" algn="ctr">
              <a:buNone/>
            </a:pPr>
            <a:r>
              <a:rPr lang="zh-TW" altLang="en-US" dirty="0"/>
              <a:t>前置期</a:t>
            </a:r>
            <a:endParaRPr lang="en-US" altLang="zh-TW" dirty="0"/>
          </a:p>
          <a:p>
            <a:pPr marL="109728" indent="0" algn="ctr">
              <a:buNone/>
            </a:pPr>
            <a:r>
              <a:rPr lang="en-US" altLang="zh-TW" sz="1600" dirty="0"/>
              <a:t>Pre-Production</a:t>
            </a:r>
          </a:p>
          <a:p>
            <a:pPr marL="109728" indent="0" algn="ctr">
              <a:buNone/>
            </a:pPr>
            <a:endParaRPr lang="en-US" altLang="zh-TW" sz="2000" dirty="0"/>
          </a:p>
          <a:p>
            <a:pPr marL="109728" indent="0" algn="ctr">
              <a:buNone/>
            </a:pPr>
            <a:r>
              <a:rPr lang="zh-TW" altLang="en-US" sz="2000" dirty="0"/>
              <a:t>頭腦風暴</a:t>
            </a:r>
            <a:endParaRPr lang="en-US" altLang="zh-TW" sz="2000" dirty="0"/>
          </a:p>
          <a:p>
            <a:pPr marL="109728" indent="0" algn="ctr">
              <a:buNone/>
            </a:pPr>
            <a:r>
              <a:rPr lang="zh-TW" altLang="en-US" sz="2000" dirty="0"/>
              <a:t>市場研究</a:t>
            </a:r>
            <a:endParaRPr lang="en-US" altLang="zh-TW" sz="2000" dirty="0"/>
          </a:p>
          <a:p>
            <a:pPr marL="109728" indent="0" algn="ctr">
              <a:buNone/>
            </a:pPr>
            <a:r>
              <a:rPr lang="zh-TW" altLang="en-US" sz="2000" dirty="0"/>
              <a:t>遊戲目標</a:t>
            </a:r>
            <a:endParaRPr lang="en-US" altLang="zh-TW" sz="2000" dirty="0"/>
          </a:p>
          <a:p>
            <a:pPr marL="109728" indent="0" algn="ctr">
              <a:buNone/>
            </a:pPr>
            <a:r>
              <a:rPr lang="zh-TW" altLang="en-US" sz="2000" dirty="0"/>
              <a:t>風格美術</a:t>
            </a:r>
            <a:endParaRPr lang="en-US" altLang="zh-TW" sz="2000" dirty="0"/>
          </a:p>
          <a:p>
            <a:pPr marL="109728" indent="0" algn="ctr">
              <a:buNone/>
            </a:pPr>
            <a:r>
              <a:rPr lang="zh-TW" altLang="en-US" sz="2000" dirty="0"/>
              <a:t>雛型設計</a:t>
            </a:r>
          </a:p>
        </p:txBody>
      </p:sp>
      <p:sp>
        <p:nvSpPr>
          <p:cNvPr id="4" name="內容版面配置區 2">
            <a:extLst>
              <a:ext uri="{FF2B5EF4-FFF2-40B4-BE49-F238E27FC236}">
                <a16:creationId xmlns:a16="http://schemas.microsoft.com/office/drawing/2014/main" id="{E0E1AFAC-B05D-1403-B682-9117862E1593}"/>
              </a:ext>
            </a:extLst>
          </p:cNvPr>
          <p:cNvSpPr txBox="1">
            <a:spLocks/>
          </p:cNvSpPr>
          <p:nvPr/>
        </p:nvSpPr>
        <p:spPr>
          <a:xfrm>
            <a:off x="3450704" y="2249424"/>
            <a:ext cx="2242592" cy="4325112"/>
          </a:xfrm>
          <a:prstGeom prst="rect">
            <a:avLst/>
          </a:prstGeom>
        </p:spPr>
        <p:style>
          <a:lnRef idx="2">
            <a:schemeClr val="accent1"/>
          </a:lnRef>
          <a:fillRef idx="1">
            <a:schemeClr val="lt1"/>
          </a:fillRef>
          <a:effectRef idx="0">
            <a:schemeClr val="accent1"/>
          </a:effectRef>
          <a:fontRef idx="minor">
            <a:schemeClr val="dk1"/>
          </a:fontRef>
        </p:style>
        <p:txBody>
          <a:bodyPr vert="horz">
            <a:normAutofit fontScale="92500" lnSpcReduction="10000"/>
          </a:bodyPr>
          <a:lstStyle>
            <a:lvl1pPr marL="365760" indent="-256032" algn="l" rtl="0" eaLnBrk="1" latinLnBrk="0" hangingPunct="1">
              <a:spcBef>
                <a:spcPts val="300"/>
              </a:spcBef>
              <a:buClr>
                <a:schemeClr val="accent3"/>
              </a:buClr>
              <a:buFont typeface="Georgia"/>
              <a:buChar char="•"/>
              <a:defRPr kumimoji="0" sz="2800" kern="1200">
                <a:solidFill>
                  <a:schemeClr val="dk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dk1"/>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dk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dk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dk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dk1"/>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dk1"/>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dk1"/>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dk1"/>
                </a:solidFill>
                <a:latin typeface="+mn-lt"/>
                <a:ea typeface="+mn-ea"/>
                <a:cs typeface="+mn-cs"/>
              </a:defRPr>
            </a:lvl9pPr>
          </a:lstStyle>
          <a:p>
            <a:pPr marL="109728" indent="0" algn="ctr">
              <a:buFont typeface="Georgia"/>
              <a:buNone/>
            </a:pPr>
            <a:r>
              <a:rPr lang="zh-TW" altLang="en-US" dirty="0"/>
              <a:t>製作期</a:t>
            </a:r>
            <a:endParaRPr lang="en-US" altLang="zh-TW" dirty="0"/>
          </a:p>
          <a:p>
            <a:pPr marL="109728" indent="0" algn="ctr">
              <a:buFont typeface="Georgia"/>
              <a:buNone/>
            </a:pPr>
            <a:r>
              <a:rPr lang="en-US" altLang="zh-TW" sz="1800" dirty="0"/>
              <a:t>Production</a:t>
            </a:r>
          </a:p>
          <a:p>
            <a:pPr marL="109728" indent="0" algn="ctr">
              <a:buFont typeface="Georgia"/>
              <a:buNone/>
            </a:pPr>
            <a:endParaRPr lang="en-US" altLang="zh-TW" sz="2000" dirty="0"/>
          </a:p>
          <a:p>
            <a:pPr marL="109728" indent="0" algn="ctr">
              <a:buFont typeface="Georgia"/>
              <a:buNone/>
            </a:pPr>
            <a:r>
              <a:rPr lang="zh-TW" altLang="en-US" sz="2000" dirty="0"/>
              <a:t>規模化</a:t>
            </a:r>
            <a:endParaRPr lang="en-US" altLang="zh-TW" sz="2000" dirty="0"/>
          </a:p>
          <a:p>
            <a:pPr marL="109728" indent="0" algn="ctr">
              <a:buFont typeface="Georgia"/>
              <a:buNone/>
            </a:pPr>
            <a:r>
              <a:rPr lang="zh-TW" altLang="en-US" sz="2000" dirty="0"/>
              <a:t>刪減</a:t>
            </a:r>
            <a:endParaRPr lang="en-US" altLang="zh-TW" sz="2000" dirty="0"/>
          </a:p>
          <a:p>
            <a:pPr marL="109728" indent="0" algn="ctr">
              <a:buFont typeface="Georgia"/>
              <a:buNone/>
            </a:pPr>
            <a:endParaRPr lang="en-US" altLang="zh-TW" sz="2000" dirty="0"/>
          </a:p>
          <a:p>
            <a:pPr marL="109728" indent="0" algn="ctr">
              <a:buFont typeface="Georgia"/>
              <a:buNone/>
            </a:pPr>
            <a:r>
              <a:rPr lang="zh-TW" altLang="en-US" sz="2000" dirty="0"/>
              <a:t>關卡設計</a:t>
            </a:r>
            <a:endParaRPr lang="en-US" altLang="zh-TW" sz="2000" dirty="0"/>
          </a:p>
          <a:p>
            <a:pPr marL="109728" indent="0" algn="ctr">
              <a:buFont typeface="Georgia"/>
              <a:buNone/>
            </a:pPr>
            <a:r>
              <a:rPr lang="zh-TW" altLang="en-US" sz="2000" dirty="0"/>
              <a:t>單位設計</a:t>
            </a:r>
            <a:endParaRPr lang="en-US" altLang="zh-TW" sz="2000" dirty="0"/>
          </a:p>
          <a:p>
            <a:pPr marL="109728" indent="0" algn="ctr">
              <a:buFont typeface="Georgia"/>
              <a:buNone/>
            </a:pPr>
            <a:r>
              <a:rPr lang="en-US" altLang="zh-TW" sz="2000" dirty="0"/>
              <a:t>UI</a:t>
            </a:r>
          </a:p>
          <a:p>
            <a:pPr marL="109728" indent="0" algn="ctr">
              <a:buFont typeface="Georgia"/>
              <a:buNone/>
            </a:pPr>
            <a:r>
              <a:rPr lang="zh-TW" altLang="en-US" sz="2000" dirty="0"/>
              <a:t>程式</a:t>
            </a:r>
            <a:endParaRPr lang="en-US" altLang="zh-TW" sz="2000" dirty="0"/>
          </a:p>
          <a:p>
            <a:pPr marL="109728" indent="0" algn="ctr">
              <a:buFont typeface="Georgia"/>
              <a:buNone/>
            </a:pPr>
            <a:r>
              <a:rPr lang="zh-TW" altLang="en-US" sz="2000" dirty="0"/>
              <a:t>貼圖</a:t>
            </a:r>
            <a:endParaRPr lang="en-US" altLang="zh-TW" sz="2000" dirty="0"/>
          </a:p>
          <a:p>
            <a:pPr marL="109728" indent="0" algn="ctr">
              <a:buFont typeface="Georgia"/>
              <a:buNone/>
            </a:pPr>
            <a:r>
              <a:rPr lang="zh-TW" altLang="en-US" sz="2000" dirty="0"/>
              <a:t>燈光</a:t>
            </a:r>
            <a:endParaRPr lang="en-US" altLang="zh-TW" sz="2000" dirty="0"/>
          </a:p>
          <a:p>
            <a:pPr marL="109728" indent="0" algn="ctr">
              <a:buFont typeface="Georgia"/>
              <a:buNone/>
            </a:pPr>
            <a:r>
              <a:rPr lang="zh-TW" altLang="en-US" sz="2000" dirty="0"/>
              <a:t>特效</a:t>
            </a:r>
            <a:endParaRPr lang="en-US" altLang="zh-TW" sz="2000" dirty="0"/>
          </a:p>
          <a:p>
            <a:pPr marL="109728" indent="0" algn="ctr">
              <a:buFont typeface="Georgia"/>
              <a:buNone/>
            </a:pPr>
            <a:r>
              <a:rPr lang="zh-TW" altLang="en-US" sz="2000" dirty="0"/>
              <a:t>音樂音效</a:t>
            </a:r>
            <a:endParaRPr lang="en-US" altLang="zh-TW" sz="2000" dirty="0"/>
          </a:p>
          <a:p>
            <a:pPr marL="109728" indent="0" algn="ctr">
              <a:buFont typeface="Georgia"/>
              <a:buNone/>
            </a:pPr>
            <a:endParaRPr lang="zh-TW" altLang="en-US" sz="2000" dirty="0"/>
          </a:p>
        </p:txBody>
      </p:sp>
      <p:sp>
        <p:nvSpPr>
          <p:cNvPr id="5" name="箭號: 向右 4">
            <a:extLst>
              <a:ext uri="{FF2B5EF4-FFF2-40B4-BE49-F238E27FC236}">
                <a16:creationId xmlns:a16="http://schemas.microsoft.com/office/drawing/2014/main" id="{75EA8557-F8E4-C0B3-FE1F-CFCACCB022B6}"/>
              </a:ext>
            </a:extLst>
          </p:cNvPr>
          <p:cNvSpPr/>
          <p:nvPr/>
        </p:nvSpPr>
        <p:spPr>
          <a:xfrm>
            <a:off x="2605263" y="4169327"/>
            <a:ext cx="1008112" cy="6480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內容版面配置區 2">
            <a:extLst>
              <a:ext uri="{FF2B5EF4-FFF2-40B4-BE49-F238E27FC236}">
                <a16:creationId xmlns:a16="http://schemas.microsoft.com/office/drawing/2014/main" id="{785B5791-9245-7EA4-9CED-913FB59EC6F9}"/>
              </a:ext>
            </a:extLst>
          </p:cNvPr>
          <p:cNvSpPr txBox="1">
            <a:spLocks/>
          </p:cNvSpPr>
          <p:nvPr/>
        </p:nvSpPr>
        <p:spPr>
          <a:xfrm>
            <a:off x="6444208" y="2249424"/>
            <a:ext cx="2242592" cy="4325112"/>
          </a:xfrm>
          <a:prstGeom prst="rect">
            <a:avLst/>
          </a:prstGeom>
        </p:spPr>
        <p:style>
          <a:lnRef idx="2">
            <a:schemeClr val="accent1"/>
          </a:lnRef>
          <a:fillRef idx="1">
            <a:schemeClr val="lt1"/>
          </a:fillRef>
          <a:effectRef idx="0">
            <a:schemeClr val="accent1"/>
          </a:effectRef>
          <a:fontRef idx="minor">
            <a:schemeClr val="dk1"/>
          </a:fontRef>
        </p:style>
        <p:txBody>
          <a:bodyPr vert="horz">
            <a:normAutofit/>
          </a:bodyPr>
          <a:lstStyle>
            <a:lvl1pPr marL="365760" indent="-256032" algn="l" rtl="0" eaLnBrk="1" latinLnBrk="0" hangingPunct="1">
              <a:spcBef>
                <a:spcPts val="300"/>
              </a:spcBef>
              <a:buClr>
                <a:schemeClr val="accent3"/>
              </a:buClr>
              <a:buFont typeface="Georgia"/>
              <a:buChar char="•"/>
              <a:defRPr kumimoji="0" sz="2800" kern="1200">
                <a:solidFill>
                  <a:schemeClr val="dk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dk1"/>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dk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dk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dk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dk1"/>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dk1"/>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dk1"/>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dk1"/>
                </a:solidFill>
                <a:latin typeface="+mn-lt"/>
                <a:ea typeface="+mn-ea"/>
                <a:cs typeface="+mn-cs"/>
              </a:defRPr>
            </a:lvl9pPr>
          </a:lstStyle>
          <a:p>
            <a:pPr marL="109728" indent="0" algn="ctr">
              <a:buFont typeface="Georgia"/>
              <a:buNone/>
            </a:pPr>
            <a:r>
              <a:rPr lang="zh-TW" altLang="en-US" dirty="0"/>
              <a:t>後製期</a:t>
            </a:r>
            <a:endParaRPr lang="en-US" altLang="zh-TW" dirty="0"/>
          </a:p>
          <a:p>
            <a:pPr marL="109728" indent="0" algn="ctr">
              <a:buFont typeface="Georgia"/>
              <a:buNone/>
            </a:pPr>
            <a:r>
              <a:rPr lang="en-US" altLang="zh-TW" sz="1600" dirty="0"/>
              <a:t>Post-Production</a:t>
            </a:r>
          </a:p>
          <a:p>
            <a:pPr marL="109728" indent="0" algn="ctr">
              <a:buFont typeface="Georgia"/>
              <a:buNone/>
            </a:pPr>
            <a:endParaRPr lang="en-US" altLang="zh-TW" sz="2000" dirty="0"/>
          </a:p>
          <a:p>
            <a:pPr marL="109728" indent="0" algn="ctr">
              <a:buFont typeface="Georgia"/>
              <a:buNone/>
            </a:pPr>
            <a:r>
              <a:rPr lang="zh-TW" altLang="en-US" sz="2000" dirty="0"/>
              <a:t>測試</a:t>
            </a:r>
            <a:endParaRPr lang="en-US" altLang="zh-TW" sz="2000" dirty="0"/>
          </a:p>
          <a:p>
            <a:pPr marL="109728" indent="0" algn="ctr">
              <a:buFont typeface="Georgia"/>
              <a:buNone/>
            </a:pPr>
            <a:r>
              <a:rPr lang="zh-TW" altLang="en-US" sz="2000" dirty="0"/>
              <a:t>包裝</a:t>
            </a:r>
            <a:endParaRPr lang="en-US" altLang="zh-TW" sz="2000" dirty="0"/>
          </a:p>
          <a:p>
            <a:pPr marL="109728" indent="0" algn="ctr">
              <a:buFont typeface="Georgia"/>
              <a:buNone/>
            </a:pPr>
            <a:r>
              <a:rPr lang="zh-TW" altLang="en-US" sz="2000" dirty="0"/>
              <a:t>廣告行銷</a:t>
            </a:r>
            <a:endParaRPr lang="en-US" altLang="zh-TW" sz="2000" dirty="0"/>
          </a:p>
          <a:p>
            <a:pPr marL="109728" indent="0" algn="ctr">
              <a:buFont typeface="Georgia"/>
              <a:buNone/>
            </a:pPr>
            <a:r>
              <a:rPr lang="zh-TW" altLang="en-US" sz="2000" dirty="0"/>
              <a:t>正式運行</a:t>
            </a:r>
            <a:endParaRPr lang="en-US" altLang="zh-TW" sz="2000" dirty="0"/>
          </a:p>
          <a:p>
            <a:pPr marL="109728" indent="0" algn="ctr">
              <a:buFont typeface="Georgia"/>
              <a:buNone/>
            </a:pPr>
            <a:r>
              <a:rPr lang="zh-TW" altLang="en-US" sz="2000" dirty="0"/>
              <a:t>維護</a:t>
            </a:r>
            <a:endParaRPr lang="en-US" altLang="zh-TW" sz="2000" dirty="0"/>
          </a:p>
        </p:txBody>
      </p:sp>
      <p:sp>
        <p:nvSpPr>
          <p:cNvPr id="7" name="箭號: 向右 6">
            <a:extLst>
              <a:ext uri="{FF2B5EF4-FFF2-40B4-BE49-F238E27FC236}">
                <a16:creationId xmlns:a16="http://schemas.microsoft.com/office/drawing/2014/main" id="{AFC1751F-A89D-47DE-E577-082C00D97E9E}"/>
              </a:ext>
            </a:extLst>
          </p:cNvPr>
          <p:cNvSpPr/>
          <p:nvPr/>
        </p:nvSpPr>
        <p:spPr>
          <a:xfrm>
            <a:off x="5564696" y="4199346"/>
            <a:ext cx="1008112" cy="6480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17339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ED7E29-777B-8AD6-BE55-38E4E1BF7110}"/>
              </a:ext>
            </a:extLst>
          </p:cNvPr>
          <p:cNvSpPr>
            <a:spLocks noGrp="1"/>
          </p:cNvSpPr>
          <p:nvPr>
            <p:ph type="title"/>
          </p:nvPr>
        </p:nvSpPr>
        <p:spPr>
          <a:xfrm>
            <a:off x="457200" y="620688"/>
            <a:ext cx="8229600" cy="1066800"/>
          </a:xfrm>
        </p:spPr>
        <p:txBody>
          <a:bodyPr/>
          <a:lstStyle/>
          <a:p>
            <a:r>
              <a:rPr lang="zh-TW" altLang="en-US" dirty="0"/>
              <a:t>遊戲製作人員</a:t>
            </a:r>
          </a:p>
        </p:txBody>
      </p:sp>
      <p:sp>
        <p:nvSpPr>
          <p:cNvPr id="3" name="內容版面配置區 2">
            <a:extLst>
              <a:ext uri="{FF2B5EF4-FFF2-40B4-BE49-F238E27FC236}">
                <a16:creationId xmlns:a16="http://schemas.microsoft.com/office/drawing/2014/main" id="{685F73D2-5EC3-0100-36B7-A2DF1243D92A}"/>
              </a:ext>
            </a:extLst>
          </p:cNvPr>
          <p:cNvSpPr>
            <a:spLocks noGrp="1"/>
          </p:cNvSpPr>
          <p:nvPr>
            <p:ph idx="1"/>
          </p:nvPr>
        </p:nvSpPr>
        <p:spPr>
          <a:xfrm>
            <a:off x="458982" y="1687488"/>
            <a:ext cx="8227818" cy="877416"/>
          </a:xfrm>
        </p:spPr>
        <p:txBody>
          <a:bodyPr>
            <a:normAutofit/>
          </a:bodyPr>
          <a:lstStyle/>
          <a:p>
            <a:r>
              <a:rPr lang="zh-TW" altLang="en-US" dirty="0"/>
              <a:t>動畫、美術、聲音、設計、製作、程式、品管</a:t>
            </a:r>
          </a:p>
        </p:txBody>
      </p:sp>
      <p:pic>
        <p:nvPicPr>
          <p:cNvPr id="1026" name="Picture 2" descr="Infographic Showing Game Dev Careers - Game Dev Daily - By GameDevTV">
            <a:extLst>
              <a:ext uri="{FF2B5EF4-FFF2-40B4-BE49-F238E27FC236}">
                <a16:creationId xmlns:a16="http://schemas.microsoft.com/office/drawing/2014/main" id="{679409F5-077B-C0C6-A3BF-D7035381B1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11" y="2603663"/>
            <a:ext cx="8686978" cy="4114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962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 Unity</a:t>
            </a:r>
            <a:endParaRPr lang="zh-TW" altLang="en-US" dirty="0"/>
          </a:p>
        </p:txBody>
      </p:sp>
      <p:sp>
        <p:nvSpPr>
          <p:cNvPr id="3" name="內容版面配置區 2"/>
          <p:cNvSpPr>
            <a:spLocks noGrp="1"/>
          </p:cNvSpPr>
          <p:nvPr>
            <p:ph idx="1"/>
          </p:nvPr>
        </p:nvSpPr>
        <p:spPr/>
        <p:txBody>
          <a:bodyPr>
            <a:normAutofit/>
          </a:bodyPr>
          <a:lstStyle/>
          <a:p>
            <a:r>
              <a:rPr lang="zh-TW" altLang="en-US" dirty="0"/>
              <a:t>程式</a:t>
            </a:r>
            <a:endParaRPr lang="en-US" altLang="zh-TW" dirty="0"/>
          </a:p>
          <a:p>
            <a:pPr lvl="1"/>
            <a:r>
              <a:rPr lang="zh-TW" altLang="en-US" dirty="0"/>
              <a:t>學好</a:t>
            </a:r>
            <a:r>
              <a:rPr lang="en-US" altLang="zh-TW" dirty="0"/>
              <a:t>C#</a:t>
            </a:r>
            <a:r>
              <a:rPr lang="zh-TW" altLang="en-US" dirty="0"/>
              <a:t>、理解</a:t>
            </a:r>
            <a:r>
              <a:rPr lang="en-US" altLang="zh-TW" dirty="0"/>
              <a:t>Unity</a:t>
            </a:r>
            <a:r>
              <a:rPr lang="zh-TW" altLang="en-US" dirty="0"/>
              <a:t>中使用方法</a:t>
            </a:r>
            <a:endParaRPr lang="en-US" altLang="zh-TW" dirty="0"/>
          </a:p>
          <a:p>
            <a:pPr lvl="1"/>
            <a:r>
              <a:rPr lang="zh-TW" altLang="en-US" dirty="0"/>
              <a:t>練習各種遊戲類型開發方法</a:t>
            </a:r>
            <a:endParaRPr lang="en-US" altLang="zh-TW" dirty="0"/>
          </a:p>
          <a:p>
            <a:r>
              <a:rPr lang="zh-TW" altLang="en-US" dirty="0"/>
              <a:t>美術</a:t>
            </a:r>
            <a:endParaRPr lang="en-US" altLang="zh-TW" dirty="0"/>
          </a:p>
          <a:p>
            <a:pPr lvl="1"/>
            <a:r>
              <a:rPr lang="zh-TW" altLang="en-US" dirty="0"/>
              <a:t>理解遊戲中各種功能</a:t>
            </a:r>
            <a:endParaRPr lang="en-US" altLang="zh-TW" dirty="0"/>
          </a:p>
          <a:p>
            <a:pPr lvl="1"/>
            <a:r>
              <a:rPr lang="zh-TW" altLang="en-US" dirty="0"/>
              <a:t>直接使用，如：調整</a:t>
            </a:r>
            <a:r>
              <a:rPr lang="en-US" altLang="zh-TW" dirty="0"/>
              <a:t>UI</a:t>
            </a:r>
            <a:r>
              <a:rPr lang="zh-TW" altLang="en-US" dirty="0"/>
              <a:t>、場景製作</a:t>
            </a:r>
            <a:endParaRPr lang="en-US" altLang="zh-TW" dirty="0"/>
          </a:p>
          <a:p>
            <a:r>
              <a:rPr lang="zh-TW" altLang="en-US" dirty="0"/>
              <a:t>企劃</a:t>
            </a:r>
            <a:endParaRPr lang="en-US" altLang="zh-TW" dirty="0"/>
          </a:p>
          <a:p>
            <a:pPr lvl="1"/>
            <a:r>
              <a:rPr lang="zh-TW" altLang="en-US" dirty="0"/>
              <a:t>理解遊戲中各種功能</a:t>
            </a:r>
            <a:endParaRPr lang="en-US" altLang="zh-TW" dirty="0"/>
          </a:p>
          <a:p>
            <a:pPr lvl="1"/>
            <a:r>
              <a:rPr lang="zh-TW" altLang="en-US" dirty="0"/>
              <a:t>直接使用，如：管理檔案、使用工具</a:t>
            </a:r>
            <a:endParaRPr lang="en-US" altLang="zh-TW"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8C2BD2-EFD4-AF18-7E95-0A2E40884C42}"/>
              </a:ext>
            </a:extLst>
          </p:cNvPr>
          <p:cNvSpPr>
            <a:spLocks noGrp="1"/>
          </p:cNvSpPr>
          <p:nvPr>
            <p:ph type="title"/>
          </p:nvPr>
        </p:nvSpPr>
        <p:spPr/>
        <p:txBody>
          <a:bodyPr/>
          <a:lstStyle/>
          <a:p>
            <a:r>
              <a:rPr lang="zh-TW" altLang="en-US" dirty="0"/>
              <a:t>學習遊戲引擎 </a:t>
            </a:r>
            <a:r>
              <a:rPr lang="en-US" altLang="zh-TW" dirty="0"/>
              <a:t>– Unity</a:t>
            </a:r>
            <a:endParaRPr lang="zh-TW" altLang="en-US" dirty="0"/>
          </a:p>
        </p:txBody>
      </p:sp>
      <p:sp>
        <p:nvSpPr>
          <p:cNvPr id="3" name="內容版面配置區 2">
            <a:extLst>
              <a:ext uri="{FF2B5EF4-FFF2-40B4-BE49-F238E27FC236}">
                <a16:creationId xmlns:a16="http://schemas.microsoft.com/office/drawing/2014/main" id="{F5351904-8A80-D308-E06D-E1AB5A6A7BB2}"/>
              </a:ext>
            </a:extLst>
          </p:cNvPr>
          <p:cNvSpPr>
            <a:spLocks noGrp="1"/>
          </p:cNvSpPr>
          <p:nvPr>
            <p:ph idx="1"/>
          </p:nvPr>
        </p:nvSpPr>
        <p:spPr/>
        <p:txBody>
          <a:bodyPr/>
          <a:lstStyle/>
          <a:p>
            <a:r>
              <a:rPr lang="zh-TW" altLang="en-US"/>
              <a:t>目前的遊戲製作環境</a:t>
            </a:r>
            <a:r>
              <a:rPr lang="zh-TW" altLang="en-US" dirty="0"/>
              <a:t>，的確大多在程式這一側完成，畢竟是有運作邏輯的遊戲。</a:t>
            </a:r>
            <a:endParaRPr lang="en-US" altLang="zh-TW" dirty="0"/>
          </a:p>
          <a:p>
            <a:pPr lvl="1"/>
            <a:r>
              <a:rPr lang="zh-TW" altLang="en-US" dirty="0"/>
              <a:t>因此程式在遊戲製作上話語權都比較大</a:t>
            </a:r>
            <a:r>
              <a:rPr lang="en-US" altLang="zh-TW" dirty="0"/>
              <a:t>(</a:t>
            </a:r>
            <a:r>
              <a:rPr lang="zh-TW" altLang="en-US" dirty="0"/>
              <a:t>特別是台灣</a:t>
            </a:r>
            <a:r>
              <a:rPr lang="en-US" altLang="zh-TW" dirty="0"/>
              <a:t>)</a:t>
            </a:r>
            <a:r>
              <a:rPr lang="zh-TW" altLang="en-US" dirty="0"/>
              <a:t>，有個基礎，可以不被程式唬過去</a:t>
            </a:r>
            <a:endParaRPr lang="en-US" altLang="zh-TW" dirty="0"/>
          </a:p>
          <a:p>
            <a:endParaRPr lang="en-US" altLang="zh-TW" dirty="0"/>
          </a:p>
          <a:p>
            <a:r>
              <a:rPr lang="zh-TW" altLang="en-US" dirty="0"/>
              <a:t>但</a:t>
            </a:r>
            <a:r>
              <a:rPr lang="en-US" altLang="zh-TW" dirty="0"/>
              <a:t>Unity</a:t>
            </a:r>
            <a:r>
              <a:rPr lang="zh-TW" altLang="en-US" dirty="0"/>
              <a:t>仍然可以用在動畫、</a:t>
            </a:r>
            <a:r>
              <a:rPr lang="en-US" altLang="zh-TW" dirty="0"/>
              <a:t>AR</a:t>
            </a:r>
            <a:r>
              <a:rPr lang="zh-TW" altLang="en-US" dirty="0"/>
              <a:t>、</a:t>
            </a:r>
            <a:r>
              <a:rPr lang="en-US" altLang="zh-TW" dirty="0"/>
              <a:t>VR</a:t>
            </a:r>
            <a:r>
              <a:rPr lang="zh-TW" altLang="en-US" dirty="0"/>
              <a:t>、</a:t>
            </a:r>
            <a:r>
              <a:rPr lang="en-US" altLang="zh-TW" dirty="0" err="1"/>
              <a:t>VTuber</a:t>
            </a:r>
            <a:r>
              <a:rPr lang="zh-TW" altLang="en-US" dirty="0"/>
              <a:t>製作等等</a:t>
            </a:r>
          </a:p>
        </p:txBody>
      </p:sp>
    </p:spTree>
    <p:extLst>
      <p:ext uri="{BB962C8B-B14F-4D97-AF65-F5344CB8AC3E}">
        <p14:creationId xmlns:p14="http://schemas.microsoft.com/office/powerpoint/2010/main" val="3746521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遊戲程式的工作</a:t>
            </a:r>
          </a:p>
        </p:txBody>
      </p:sp>
      <p:sp>
        <p:nvSpPr>
          <p:cNvPr id="3" name="內容版面配置區 2"/>
          <p:cNvSpPr>
            <a:spLocks noGrp="1"/>
          </p:cNvSpPr>
          <p:nvPr>
            <p:ph idx="1"/>
          </p:nvPr>
        </p:nvSpPr>
        <p:spPr/>
        <p:txBody>
          <a:bodyPr>
            <a:normAutofit/>
          </a:bodyPr>
          <a:lstStyle/>
          <a:p>
            <a:r>
              <a:rPr lang="zh-TW" altLang="en-US" dirty="0"/>
              <a:t>操作遊戲引擎、撰寫程式</a:t>
            </a:r>
            <a:endParaRPr lang="en-US" altLang="zh-TW" dirty="0"/>
          </a:p>
          <a:p>
            <a:pPr lvl="1"/>
            <a:r>
              <a:rPr lang="zh-TW" altLang="en-US" dirty="0"/>
              <a:t>實現遊戲玩法</a:t>
            </a:r>
            <a:endParaRPr lang="en-US" altLang="zh-TW" dirty="0"/>
          </a:p>
          <a:p>
            <a:pPr lvl="1"/>
            <a:r>
              <a:rPr lang="zh-TW" altLang="en-US" dirty="0"/>
              <a:t>實現企劃、美術需求</a:t>
            </a:r>
            <a:endParaRPr lang="en-US" altLang="zh-TW" dirty="0"/>
          </a:p>
          <a:p>
            <a:pPr lvl="1"/>
            <a:r>
              <a:rPr lang="zh-TW" altLang="en-US" dirty="0"/>
              <a:t>額外工具、擴展</a:t>
            </a:r>
            <a:endParaRPr lang="en-US" altLang="zh-TW" dirty="0"/>
          </a:p>
          <a:p>
            <a:pPr lvl="1"/>
            <a:r>
              <a:rPr lang="zh-TW" altLang="en-US" dirty="0"/>
              <a:t>最佳化</a:t>
            </a:r>
            <a:r>
              <a:rPr lang="en-US" altLang="zh-TW" dirty="0"/>
              <a:t>(</a:t>
            </a:r>
            <a:r>
              <a:rPr lang="zh-TW" altLang="en-US" dirty="0"/>
              <a:t>優化</a:t>
            </a:r>
            <a:r>
              <a:rPr lang="en-US" altLang="zh-TW" dirty="0"/>
              <a:t>)</a:t>
            </a:r>
            <a:r>
              <a:rPr lang="zh-TW" altLang="en-US" dirty="0"/>
              <a:t>遊戲效能</a:t>
            </a:r>
            <a:endParaRPr lang="en-US" altLang="zh-TW" dirty="0"/>
          </a:p>
          <a:p>
            <a:r>
              <a:rPr lang="zh-TW" altLang="en-US" dirty="0"/>
              <a:t>後端</a:t>
            </a:r>
            <a:endParaRPr lang="en-US" altLang="zh-TW" dirty="0"/>
          </a:p>
          <a:p>
            <a:pPr lvl="1"/>
            <a:r>
              <a:rPr lang="zh-TW" altLang="en-US" dirty="0"/>
              <a:t>連線、伺服器、資料庫、資訊安全</a:t>
            </a:r>
            <a:endParaRPr lang="en-US" altLang="zh-TW" dirty="0"/>
          </a:p>
          <a:p>
            <a:r>
              <a:rPr lang="zh-TW" altLang="en-US" dirty="0"/>
              <a:t>撰寫遊戲引擎</a:t>
            </a:r>
            <a:endParaRPr lang="en-US" altLang="zh-TW" dirty="0"/>
          </a:p>
          <a:p>
            <a:pPr lvl="1"/>
            <a:r>
              <a:rPr lang="en-US" altLang="zh-TW" dirty="0"/>
              <a:t>3D</a:t>
            </a:r>
            <a:r>
              <a:rPr lang="zh-TW" altLang="en-US" dirty="0"/>
              <a:t>圖學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9086B1-0BCE-D341-2860-1E51D34D6D8B}"/>
              </a:ext>
            </a:extLst>
          </p:cNvPr>
          <p:cNvSpPr>
            <a:spLocks noGrp="1"/>
          </p:cNvSpPr>
          <p:nvPr>
            <p:ph type="title"/>
          </p:nvPr>
        </p:nvSpPr>
        <p:spPr/>
        <p:txBody>
          <a:bodyPr/>
          <a:lstStyle/>
          <a:p>
            <a:r>
              <a:rPr lang="zh-TW" altLang="en-US" dirty="0"/>
              <a:t>遊戲美術的工作</a:t>
            </a:r>
          </a:p>
        </p:txBody>
      </p:sp>
      <p:sp>
        <p:nvSpPr>
          <p:cNvPr id="3" name="內容版面配置區 2">
            <a:extLst>
              <a:ext uri="{FF2B5EF4-FFF2-40B4-BE49-F238E27FC236}">
                <a16:creationId xmlns:a16="http://schemas.microsoft.com/office/drawing/2014/main" id="{3D255599-FAB5-871F-B9E8-D05F8E6AB16E}"/>
              </a:ext>
            </a:extLst>
          </p:cNvPr>
          <p:cNvSpPr>
            <a:spLocks noGrp="1"/>
          </p:cNvSpPr>
          <p:nvPr>
            <p:ph idx="1"/>
          </p:nvPr>
        </p:nvSpPr>
        <p:spPr/>
        <p:txBody>
          <a:bodyPr/>
          <a:lstStyle/>
          <a:p>
            <a:r>
              <a:rPr lang="en-US" altLang="zh-TW" dirty="0"/>
              <a:t>3D</a:t>
            </a:r>
            <a:r>
              <a:rPr lang="zh-TW" altLang="en-US" dirty="0"/>
              <a:t>模型</a:t>
            </a:r>
            <a:endParaRPr lang="en-US" altLang="zh-TW" dirty="0"/>
          </a:p>
          <a:p>
            <a:pPr lvl="1"/>
            <a:r>
              <a:rPr lang="zh-TW" altLang="en-US" dirty="0"/>
              <a:t>人物、物件、場景</a:t>
            </a:r>
            <a:endParaRPr lang="en-US" altLang="zh-TW" dirty="0"/>
          </a:p>
          <a:p>
            <a:pPr lvl="1"/>
            <a:r>
              <a:rPr lang="zh-TW" altLang="en-US" dirty="0"/>
              <a:t>動畫</a:t>
            </a:r>
            <a:endParaRPr lang="en-US" altLang="zh-TW" dirty="0"/>
          </a:p>
          <a:p>
            <a:pPr lvl="1"/>
            <a:r>
              <a:rPr lang="en-US" altLang="zh-TW" dirty="0"/>
              <a:t>Unity</a:t>
            </a:r>
            <a:r>
              <a:rPr lang="zh-TW" altLang="en-US" dirty="0"/>
              <a:t>中可能也會參與動畫連接 與 打擊點等等</a:t>
            </a:r>
            <a:endParaRPr lang="en-US" altLang="zh-TW" dirty="0"/>
          </a:p>
          <a:p>
            <a:r>
              <a:rPr lang="en-US" altLang="zh-TW" dirty="0"/>
              <a:t>2D</a:t>
            </a:r>
            <a:r>
              <a:rPr lang="zh-TW" altLang="en-US" dirty="0"/>
              <a:t>美術</a:t>
            </a:r>
            <a:endParaRPr lang="en-US" altLang="zh-TW" dirty="0"/>
          </a:p>
          <a:p>
            <a:pPr lvl="1"/>
            <a:r>
              <a:rPr lang="zh-TW" altLang="en-US" dirty="0"/>
              <a:t>人物、物件、場景</a:t>
            </a:r>
            <a:endParaRPr lang="en-US" altLang="zh-TW" dirty="0"/>
          </a:p>
          <a:p>
            <a:pPr lvl="1"/>
            <a:r>
              <a:rPr lang="en-US" altLang="zh-TW" dirty="0"/>
              <a:t>UI</a:t>
            </a:r>
            <a:r>
              <a:rPr lang="zh-TW" altLang="en-US" dirty="0"/>
              <a:t>、</a:t>
            </a:r>
            <a:r>
              <a:rPr lang="en-US" altLang="zh-TW" dirty="0"/>
              <a:t>UX</a:t>
            </a:r>
            <a:r>
              <a:rPr lang="zh-TW" altLang="en-US" dirty="0"/>
              <a:t>設計</a:t>
            </a:r>
            <a:endParaRPr lang="en-US" altLang="zh-TW" dirty="0"/>
          </a:p>
          <a:p>
            <a:pPr lvl="1"/>
            <a:r>
              <a:rPr lang="en-US" altLang="zh-TW" dirty="0"/>
              <a:t>Unity</a:t>
            </a:r>
            <a:r>
              <a:rPr lang="zh-TW" altLang="en-US" dirty="0"/>
              <a:t>中可能會讓美術直接做</a:t>
            </a:r>
            <a:r>
              <a:rPr lang="en-US" altLang="zh-TW" dirty="0"/>
              <a:t>UI</a:t>
            </a:r>
            <a:endParaRPr lang="zh-TW" altLang="en-US" dirty="0"/>
          </a:p>
        </p:txBody>
      </p:sp>
    </p:spTree>
    <p:extLst>
      <p:ext uri="{BB962C8B-B14F-4D97-AF65-F5344CB8AC3E}">
        <p14:creationId xmlns:p14="http://schemas.microsoft.com/office/powerpoint/2010/main" val="3727128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9086B1-0BCE-D341-2860-1E51D34D6D8B}"/>
              </a:ext>
            </a:extLst>
          </p:cNvPr>
          <p:cNvSpPr>
            <a:spLocks noGrp="1"/>
          </p:cNvSpPr>
          <p:nvPr>
            <p:ph type="title"/>
          </p:nvPr>
        </p:nvSpPr>
        <p:spPr/>
        <p:txBody>
          <a:bodyPr/>
          <a:lstStyle/>
          <a:p>
            <a:r>
              <a:rPr lang="zh-TW" altLang="en-US" dirty="0"/>
              <a:t>遊戲美術的工作</a:t>
            </a:r>
          </a:p>
        </p:txBody>
      </p:sp>
      <p:sp>
        <p:nvSpPr>
          <p:cNvPr id="3" name="內容版面配置區 2">
            <a:extLst>
              <a:ext uri="{FF2B5EF4-FFF2-40B4-BE49-F238E27FC236}">
                <a16:creationId xmlns:a16="http://schemas.microsoft.com/office/drawing/2014/main" id="{3D255599-FAB5-871F-B9E8-D05F8E6AB16E}"/>
              </a:ext>
            </a:extLst>
          </p:cNvPr>
          <p:cNvSpPr>
            <a:spLocks noGrp="1"/>
          </p:cNvSpPr>
          <p:nvPr>
            <p:ph idx="1"/>
          </p:nvPr>
        </p:nvSpPr>
        <p:spPr/>
        <p:txBody>
          <a:bodyPr/>
          <a:lstStyle/>
          <a:p>
            <a:r>
              <a:rPr lang="zh-TW" altLang="en-US" dirty="0"/>
              <a:t>特效</a:t>
            </a:r>
            <a:endParaRPr lang="en-US" altLang="zh-TW" dirty="0"/>
          </a:p>
          <a:p>
            <a:pPr lvl="1"/>
            <a:r>
              <a:rPr lang="en-US" altLang="zh-TW" dirty="0"/>
              <a:t>2D</a:t>
            </a:r>
            <a:r>
              <a:rPr lang="zh-TW" altLang="en-US" dirty="0"/>
              <a:t>特效、粒子特效</a:t>
            </a:r>
            <a:endParaRPr lang="en-US" altLang="zh-TW" dirty="0"/>
          </a:p>
          <a:p>
            <a:pPr lvl="1"/>
            <a:r>
              <a:rPr lang="zh-TW" altLang="en-US" dirty="0"/>
              <a:t>粒子特效通常會在遊戲引擎</a:t>
            </a:r>
            <a:r>
              <a:rPr lang="en-US" altLang="zh-TW" dirty="0"/>
              <a:t>Unity</a:t>
            </a:r>
            <a:r>
              <a:rPr lang="zh-TW" altLang="en-US" dirty="0"/>
              <a:t>中製作</a:t>
            </a:r>
            <a:endParaRPr lang="en-US" altLang="zh-TW" dirty="0"/>
          </a:p>
          <a:p>
            <a:endParaRPr lang="en-US" altLang="zh-TW" dirty="0"/>
          </a:p>
          <a:p>
            <a:r>
              <a:rPr lang="zh-TW" altLang="en-US" dirty="0"/>
              <a:t>音樂、音效</a:t>
            </a:r>
            <a:endParaRPr lang="en-US" altLang="zh-TW" dirty="0"/>
          </a:p>
          <a:p>
            <a:pPr lvl="1"/>
            <a:r>
              <a:rPr lang="zh-TW" altLang="en-US" dirty="0"/>
              <a:t>音樂音效可能需要做混音，需要再</a:t>
            </a:r>
            <a:r>
              <a:rPr lang="en-US" altLang="zh-TW" dirty="0"/>
              <a:t>Unity</a:t>
            </a:r>
            <a:r>
              <a:rPr lang="zh-TW" altLang="en-US" dirty="0"/>
              <a:t>調整</a:t>
            </a:r>
            <a:endParaRPr lang="en-US" altLang="zh-TW" dirty="0"/>
          </a:p>
          <a:p>
            <a:pPr lvl="1"/>
            <a:r>
              <a:rPr lang="zh-TW" altLang="en-US" dirty="0"/>
              <a:t>音效如果要準確的打點，也需要在</a:t>
            </a:r>
            <a:r>
              <a:rPr lang="en-US" altLang="zh-TW" dirty="0"/>
              <a:t>Unity</a:t>
            </a:r>
            <a:r>
              <a:rPr lang="zh-TW" altLang="en-US" dirty="0"/>
              <a:t>調整</a:t>
            </a:r>
            <a:endParaRPr lang="en-US" altLang="zh-TW" dirty="0"/>
          </a:p>
          <a:p>
            <a:pPr lvl="1"/>
            <a:endParaRPr lang="en-US" altLang="zh-TW" dirty="0"/>
          </a:p>
          <a:p>
            <a:r>
              <a:rPr lang="zh-TW" altLang="en-US" dirty="0"/>
              <a:t>關卡設計 </a:t>
            </a:r>
            <a:r>
              <a:rPr lang="en-US" altLang="zh-TW" dirty="0"/>
              <a:t>(</a:t>
            </a:r>
            <a:r>
              <a:rPr lang="zh-TW" altLang="en-US" dirty="0"/>
              <a:t>場景設計比重較高</a:t>
            </a:r>
            <a:r>
              <a:rPr lang="en-US" altLang="zh-TW" dirty="0"/>
              <a:t>)</a:t>
            </a:r>
          </a:p>
          <a:p>
            <a:endParaRPr lang="en-US" altLang="zh-TW" dirty="0"/>
          </a:p>
        </p:txBody>
      </p:sp>
    </p:spTree>
    <p:extLst>
      <p:ext uri="{BB962C8B-B14F-4D97-AF65-F5344CB8AC3E}">
        <p14:creationId xmlns:p14="http://schemas.microsoft.com/office/powerpoint/2010/main" val="310524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85CBDE-7D7A-174E-3FC1-767A36414EA1}"/>
              </a:ext>
            </a:extLst>
          </p:cNvPr>
          <p:cNvSpPr>
            <a:spLocks noGrp="1"/>
          </p:cNvSpPr>
          <p:nvPr>
            <p:ph type="title"/>
          </p:nvPr>
        </p:nvSpPr>
        <p:spPr/>
        <p:txBody>
          <a:bodyPr/>
          <a:lstStyle/>
          <a:p>
            <a:r>
              <a:rPr lang="zh-TW" altLang="en-US" dirty="0"/>
              <a:t>遊戲企劃的工作</a:t>
            </a:r>
          </a:p>
        </p:txBody>
      </p:sp>
      <p:sp>
        <p:nvSpPr>
          <p:cNvPr id="3" name="內容版面配置區 2">
            <a:extLst>
              <a:ext uri="{FF2B5EF4-FFF2-40B4-BE49-F238E27FC236}">
                <a16:creationId xmlns:a16="http://schemas.microsoft.com/office/drawing/2014/main" id="{0392DCBC-92B6-290E-49A1-A57EE27469F1}"/>
              </a:ext>
            </a:extLst>
          </p:cNvPr>
          <p:cNvSpPr>
            <a:spLocks noGrp="1"/>
          </p:cNvSpPr>
          <p:nvPr>
            <p:ph idx="1"/>
          </p:nvPr>
        </p:nvSpPr>
        <p:spPr/>
        <p:txBody>
          <a:bodyPr/>
          <a:lstStyle/>
          <a:p>
            <a:r>
              <a:rPr lang="zh-TW" altLang="en-US" dirty="0"/>
              <a:t>關卡設計 </a:t>
            </a:r>
            <a:r>
              <a:rPr lang="en-US" altLang="zh-TW" dirty="0"/>
              <a:t>(</a:t>
            </a:r>
            <a:r>
              <a:rPr lang="zh-TW" altLang="en-US" dirty="0"/>
              <a:t>遊戲性比重較高</a:t>
            </a:r>
            <a:r>
              <a:rPr lang="en-US" altLang="zh-TW" dirty="0"/>
              <a:t>)</a:t>
            </a:r>
          </a:p>
          <a:p>
            <a:pPr marL="109728" indent="0">
              <a:buNone/>
            </a:pPr>
            <a:endParaRPr lang="en-US" altLang="zh-TW" dirty="0"/>
          </a:p>
          <a:p>
            <a:r>
              <a:rPr lang="zh-TW" altLang="en-US" dirty="0"/>
              <a:t>製作部分</a:t>
            </a:r>
            <a:r>
              <a:rPr lang="en-US" altLang="zh-TW" dirty="0"/>
              <a:t>UI</a:t>
            </a:r>
            <a:r>
              <a:rPr lang="zh-TW" altLang="en-US" dirty="0"/>
              <a:t> </a:t>
            </a:r>
            <a:r>
              <a:rPr lang="en-US" altLang="zh-TW" dirty="0"/>
              <a:t>(</a:t>
            </a:r>
            <a:r>
              <a:rPr lang="zh-TW" altLang="en-US" dirty="0"/>
              <a:t>類似美術、但通常專注在</a:t>
            </a:r>
            <a:r>
              <a:rPr lang="en-US" altLang="zh-TW" dirty="0"/>
              <a:t>UX)</a:t>
            </a:r>
          </a:p>
          <a:p>
            <a:endParaRPr lang="en-US" altLang="zh-TW" dirty="0"/>
          </a:p>
          <a:p>
            <a:r>
              <a:rPr lang="zh-TW" altLang="en-US" dirty="0"/>
              <a:t>操作</a:t>
            </a:r>
            <a:r>
              <a:rPr lang="en-US" altLang="zh-TW" dirty="0"/>
              <a:t>Unity</a:t>
            </a:r>
            <a:r>
              <a:rPr lang="zh-TW" altLang="en-US" dirty="0"/>
              <a:t>其他部分</a:t>
            </a:r>
            <a:endParaRPr lang="en-US" altLang="zh-TW" dirty="0"/>
          </a:p>
          <a:p>
            <a:pPr lvl="1"/>
            <a:r>
              <a:rPr lang="zh-TW" altLang="en-US" dirty="0"/>
              <a:t>不寫程式，但可能會建立物件</a:t>
            </a:r>
            <a:endParaRPr lang="en-US" altLang="zh-TW" dirty="0"/>
          </a:p>
          <a:p>
            <a:r>
              <a:rPr lang="zh-TW" altLang="en-US" dirty="0"/>
              <a:t>操作</a:t>
            </a:r>
            <a:r>
              <a:rPr lang="en-US" altLang="zh-TW" dirty="0"/>
              <a:t>Unity</a:t>
            </a:r>
            <a:r>
              <a:rPr lang="zh-TW" altLang="en-US" dirty="0"/>
              <a:t>資料</a:t>
            </a:r>
            <a:endParaRPr lang="en-US" altLang="zh-TW" dirty="0"/>
          </a:p>
          <a:p>
            <a:pPr lvl="1"/>
            <a:r>
              <a:rPr lang="zh-TW" altLang="en-US" dirty="0"/>
              <a:t>調整數值、參數、測試平衡等等</a:t>
            </a:r>
            <a:endParaRPr lang="en-US" altLang="zh-TW" dirty="0"/>
          </a:p>
          <a:p>
            <a:r>
              <a:rPr lang="zh-TW" altLang="en-US"/>
              <a:t>操作工程師製作的工具</a:t>
            </a:r>
            <a:endParaRPr lang="en-US" altLang="zh-TW" dirty="0"/>
          </a:p>
          <a:p>
            <a:pPr lvl="1"/>
            <a:endParaRPr lang="en-US" altLang="zh-TW" dirty="0"/>
          </a:p>
          <a:p>
            <a:pPr lvl="1"/>
            <a:endParaRPr lang="zh-TW" altLang="en-US" dirty="0"/>
          </a:p>
        </p:txBody>
      </p:sp>
    </p:spTree>
    <p:extLst>
      <p:ext uri="{BB962C8B-B14F-4D97-AF65-F5344CB8AC3E}">
        <p14:creationId xmlns:p14="http://schemas.microsoft.com/office/powerpoint/2010/main" val="30838159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都會">
  <a:themeElements>
    <a:clrScheme name="自訂 2">
      <a:dk1>
        <a:sysClr val="windowText" lastClr="000000"/>
      </a:dk1>
      <a:lt1>
        <a:sysClr val="window" lastClr="FFFFFF"/>
      </a:lt1>
      <a:dk2>
        <a:srgbClr val="424456"/>
      </a:dk2>
      <a:lt2>
        <a:srgbClr val="DEDEDE"/>
      </a:lt2>
      <a:accent1>
        <a:srgbClr val="53548A"/>
      </a:accent1>
      <a:accent2>
        <a:srgbClr val="53548A"/>
      </a:accent2>
      <a:accent3>
        <a:srgbClr val="A04DA3"/>
      </a:accent3>
      <a:accent4>
        <a:srgbClr val="C4652D"/>
      </a:accent4>
      <a:accent5>
        <a:srgbClr val="8B5D3D"/>
      </a:accent5>
      <a:accent6>
        <a:srgbClr val="5C92B5"/>
      </a:accent6>
      <a:hlink>
        <a:srgbClr val="67AFBD"/>
      </a:hlink>
      <a:folHlink>
        <a:srgbClr val="C2A874"/>
      </a:folHlink>
    </a:clrScheme>
    <a:fontScheme name="自訂 1">
      <a:majorFont>
        <a:latin typeface="Arial"/>
        <a:ea typeface="微軟正黑體"/>
        <a:cs typeface=""/>
      </a:majorFont>
      <a:minorFont>
        <a:latin typeface="Arial"/>
        <a:ea typeface="微軟正黑體"/>
        <a:cs typeface=""/>
      </a:minorFont>
    </a:fontScheme>
    <a:fmtScheme name="都會">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619</TotalTime>
  <Words>1122</Words>
  <Application>Microsoft Office PowerPoint</Application>
  <PresentationFormat>如螢幕大小 (4:3)</PresentationFormat>
  <Paragraphs>251</Paragraphs>
  <Slides>27</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27</vt:i4>
      </vt:variant>
    </vt:vector>
  </HeadingPairs>
  <TitlesOfParts>
    <vt:vector size="32" baseType="lpstr">
      <vt:lpstr>Arial</vt:lpstr>
      <vt:lpstr>Georgia</vt:lpstr>
      <vt:lpstr>Times New Roman</vt:lpstr>
      <vt:lpstr>Wingdings 2</vt:lpstr>
      <vt:lpstr>都會</vt:lpstr>
      <vt:lpstr>Lesson 1 遊戲引擎概論</vt:lpstr>
      <vt:lpstr>什麼是遊戲引擎？</vt:lpstr>
      <vt:lpstr>[通用]遊戲引擎功能</vt:lpstr>
      <vt:lpstr>[通用]遊戲引擎功能</vt:lpstr>
      <vt:lpstr>遊戲引擎的功能(對開發者)</vt:lpstr>
      <vt:lpstr>遊戲引擎的功能(對電腦)</vt:lpstr>
      <vt:lpstr>遊戲引擎：功能性分類</vt:lpstr>
      <vt:lpstr>遊戲引擎：商業分類</vt:lpstr>
      <vt:lpstr>遊戲引擎分類 - 私有</vt:lpstr>
      <vt:lpstr>遊戲引擎 – 台灣現況</vt:lpstr>
      <vt:lpstr>遊戲引擎 – 你可能還聽過</vt:lpstr>
      <vt:lpstr>開發光譜</vt:lpstr>
      <vt:lpstr>遊戲引擎 – Unity </vt:lpstr>
      <vt:lpstr>學習遊戲引擎 – 架構</vt:lpstr>
      <vt:lpstr>學習遊戲引擎 – 理論基礎</vt:lpstr>
      <vt:lpstr>學習遊戲引擎 – Unity </vt:lpstr>
      <vt:lpstr>學習遊戲引擎 – Unity </vt:lpstr>
      <vt:lpstr>Section 2 遊戲製作</vt:lpstr>
      <vt:lpstr>遊戲製作</vt:lpstr>
      <vt:lpstr>遊戲製程</vt:lpstr>
      <vt:lpstr>遊戲製作人員</vt:lpstr>
      <vt:lpstr>學習遊戲引擎 – Unity</vt:lpstr>
      <vt:lpstr>學習遊戲引擎 – Unity</vt:lpstr>
      <vt:lpstr>遊戲程式的工作</vt:lpstr>
      <vt:lpstr>遊戲美術的工作</vt:lpstr>
      <vt:lpstr>遊戲美術的工作</vt:lpstr>
      <vt:lpstr>遊戲企劃的工作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遊戲引擎概論</dc:title>
  <dc:creator>user</dc:creator>
  <cp:lastModifiedBy>仕明 張</cp:lastModifiedBy>
  <cp:revision>71</cp:revision>
  <dcterms:created xsi:type="dcterms:W3CDTF">2024-11-18T05:57:07Z</dcterms:created>
  <dcterms:modified xsi:type="dcterms:W3CDTF">2025-09-10T06:02:48Z</dcterms:modified>
</cp:coreProperties>
</file>