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61" r:id="rId4"/>
    <p:sldId id="257" r:id="rId5"/>
    <p:sldId id="266" r:id="rId6"/>
    <p:sldId id="275" r:id="rId7"/>
    <p:sldId id="264" r:id="rId8"/>
    <p:sldId id="270" r:id="rId9"/>
    <p:sldId id="274" r:id="rId10"/>
    <p:sldId id="262" r:id="rId11"/>
    <p:sldId id="269" r:id="rId12"/>
    <p:sldId id="272" r:id="rId13"/>
    <p:sldId id="271" r:id="rId14"/>
    <p:sldId id="273" r:id="rId15"/>
    <p:sldId id="301" r:id="rId16"/>
    <p:sldId id="267" r:id="rId17"/>
    <p:sldId id="260" r:id="rId18"/>
    <p:sldId id="276" r:id="rId19"/>
    <p:sldId id="268" r:id="rId20"/>
    <p:sldId id="277" r:id="rId21"/>
    <p:sldId id="278" r:id="rId22"/>
    <p:sldId id="284" r:id="rId23"/>
    <p:sldId id="285" r:id="rId24"/>
    <p:sldId id="298" r:id="rId25"/>
    <p:sldId id="300" r:id="rId26"/>
    <p:sldId id="299" r:id="rId27"/>
    <p:sldId id="279" r:id="rId28"/>
    <p:sldId id="280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2025/10/20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7</a:t>
            </a:r>
            <a:br>
              <a:rPr lang="en-US" altLang="zh-TW" dirty="0"/>
            </a:br>
            <a:r>
              <a:rPr lang="zh-TW" altLang="en-US" dirty="0"/>
              <a:t>素材</a:t>
            </a:r>
            <a:r>
              <a:rPr lang="en-US" altLang="zh-TW" dirty="0"/>
              <a:t>/</a:t>
            </a:r>
            <a:r>
              <a:rPr lang="zh-TW" altLang="en-US" dirty="0"/>
              <a:t>資源 的 匯入與管理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</a:t>
            </a:r>
            <a:r>
              <a:rPr lang="en-US" altLang="zh-TW" dirty="0"/>
              <a:t>/</a:t>
            </a:r>
            <a:r>
              <a:rPr lang="zh-TW" altLang="en-US" dirty="0"/>
              <a:t>資源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遊戲開發不可能只依賴遊戲引擎，你的素材可以從</a:t>
            </a:r>
            <a:r>
              <a:rPr lang="en-US" altLang="zh-TW" dirty="0"/>
              <a:t>unity</a:t>
            </a:r>
            <a:r>
              <a:rPr lang="zh-TW" altLang="en-US" dirty="0"/>
              <a:t>中建立，也可以從各種軟體製作，甚至是購買來的。</a:t>
            </a:r>
            <a:endParaRPr lang="en-US" altLang="zh-TW" dirty="0"/>
          </a:p>
          <a:p>
            <a:pPr lvl="1"/>
            <a:r>
              <a:rPr lang="zh-TW" altLang="en-US" dirty="0"/>
              <a:t>所以我們需要學習將外部素材匯入。</a:t>
            </a:r>
            <a:endParaRPr lang="en-US" altLang="zh-TW" dirty="0"/>
          </a:p>
          <a:p>
            <a:pPr lvl="1"/>
            <a:r>
              <a:rPr lang="zh-TW" altLang="en-US" dirty="0"/>
              <a:t>建立與匯入的素材都會出現在</a:t>
            </a:r>
            <a:r>
              <a:rPr lang="en-US" altLang="zh-TW" dirty="0"/>
              <a:t>Assets</a:t>
            </a:r>
            <a:r>
              <a:rPr lang="zh-TW" altLang="en-US" dirty="0"/>
              <a:t>資料夾。反過來說，你的素材或資源</a:t>
            </a:r>
            <a:r>
              <a:rPr lang="zh-TW" altLang="en-US" dirty="0">
                <a:solidFill>
                  <a:schemeClr val="accent4"/>
                </a:solidFill>
              </a:rPr>
              <a:t>沒放在</a:t>
            </a:r>
            <a:r>
              <a:rPr lang="en-US" altLang="zh-TW" dirty="0">
                <a:solidFill>
                  <a:schemeClr val="accent4"/>
                </a:solidFill>
              </a:rPr>
              <a:t>Assets</a:t>
            </a:r>
            <a:r>
              <a:rPr lang="zh-TW" altLang="en-US" dirty="0">
                <a:solidFill>
                  <a:schemeClr val="accent4"/>
                </a:solidFill>
              </a:rPr>
              <a:t>資料夾就不能使用</a:t>
            </a:r>
            <a:endParaRPr lang="en-US" altLang="zh-TW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素材匯入 </a:t>
            </a:r>
            <a:r>
              <a:rPr lang="en-US" altLang="zh-TW" dirty="0"/>
              <a:t>– </a:t>
            </a:r>
            <a:r>
              <a:rPr lang="zh-TW" altLang="en-US" dirty="0"/>
              <a:t>直接匯入素材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常見的素材種類有</a:t>
            </a:r>
            <a:endParaRPr lang="en-US" altLang="zh-TW" dirty="0"/>
          </a:p>
          <a:p>
            <a:pPr lvl="1"/>
            <a:r>
              <a:rPr lang="en-US" altLang="zh-TW" dirty="0"/>
              <a:t>3D </a:t>
            </a:r>
            <a:r>
              <a:rPr lang="zh-TW" altLang="en-US" dirty="0"/>
              <a:t>模型</a:t>
            </a:r>
            <a:endParaRPr lang="en-US" altLang="zh-TW" dirty="0"/>
          </a:p>
          <a:p>
            <a:pPr lvl="1"/>
            <a:r>
              <a:rPr lang="zh-TW" altLang="en-US" dirty="0"/>
              <a:t>圖片 </a:t>
            </a:r>
            <a:r>
              <a:rPr lang="en-US" altLang="zh-TW" dirty="0"/>
              <a:t>/ </a:t>
            </a:r>
            <a:r>
              <a:rPr lang="zh-TW" altLang="en-US" dirty="0"/>
              <a:t>貼圖</a:t>
            </a:r>
            <a:endParaRPr lang="en-US" altLang="zh-TW" dirty="0"/>
          </a:p>
          <a:p>
            <a:pPr lvl="1"/>
            <a:r>
              <a:rPr lang="zh-TW" altLang="en-US" dirty="0"/>
              <a:t>聲音</a:t>
            </a:r>
            <a:endParaRPr lang="en-US" altLang="zh-TW" dirty="0"/>
          </a:p>
          <a:p>
            <a:pPr lvl="1"/>
            <a:r>
              <a:rPr lang="zh-TW" altLang="en-US" dirty="0"/>
              <a:t>影片</a:t>
            </a:r>
            <a:endParaRPr lang="en-US" altLang="zh-TW" dirty="0"/>
          </a:p>
          <a:p>
            <a:pPr lvl="1"/>
            <a:r>
              <a:rPr lang="zh-TW" altLang="en-US" dirty="0"/>
              <a:t>文字 </a:t>
            </a:r>
            <a:r>
              <a:rPr lang="en-US" altLang="zh-TW" dirty="0"/>
              <a:t>/ </a:t>
            </a:r>
            <a:r>
              <a:rPr lang="zh-TW" altLang="en-US" dirty="0"/>
              <a:t>資料檔</a:t>
            </a:r>
            <a:endParaRPr lang="en-US" altLang="zh-TW" dirty="0"/>
          </a:p>
          <a:p>
            <a:pPr lvl="1"/>
            <a:r>
              <a:rPr lang="zh-TW" altLang="en-US" dirty="0"/>
              <a:t>程式碼</a:t>
            </a:r>
            <a:endParaRPr lang="en-US" altLang="zh-TW" dirty="0"/>
          </a:p>
          <a:p>
            <a:pPr lvl="1"/>
            <a:r>
              <a:rPr lang="zh-TW" altLang="en-US" dirty="0"/>
              <a:t>遊戲引擎建立的內容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素材匯入 </a:t>
            </a:r>
            <a:r>
              <a:rPr lang="en-US" altLang="zh-TW" dirty="0"/>
              <a:t>– </a:t>
            </a:r>
            <a:r>
              <a:rPr lang="zh-TW" altLang="en-US" dirty="0"/>
              <a:t>直接匯入素材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456176"/>
          </a:xfrm>
        </p:spPr>
        <p:txBody>
          <a:bodyPr/>
          <a:lstStyle/>
          <a:p>
            <a:r>
              <a:rPr lang="zh-TW" altLang="en-US" dirty="0"/>
              <a:t>以上內容，除了「遊戲引擎建立的內容」，大多都可以透過以下方式匯入素材。</a:t>
            </a:r>
            <a:endParaRPr lang="en-US" altLang="zh-TW" dirty="0"/>
          </a:p>
          <a:p>
            <a:r>
              <a:rPr lang="zh-TW" altLang="en-US" dirty="0"/>
              <a:t>從檔案總管 將素材放入</a:t>
            </a:r>
            <a:r>
              <a:rPr lang="en-US" altLang="zh-TW" dirty="0"/>
              <a:t>Assets</a:t>
            </a:r>
            <a:r>
              <a:rPr lang="zh-TW" altLang="en-US" dirty="0"/>
              <a:t>資料夾</a:t>
            </a:r>
            <a:endParaRPr lang="en-US" altLang="zh-TW" dirty="0"/>
          </a:p>
          <a:p>
            <a:pPr lvl="1"/>
            <a:r>
              <a:rPr lang="zh-TW" altLang="en-US" dirty="0"/>
              <a:t>較不建議此方式，無法讓</a:t>
            </a:r>
            <a:r>
              <a:rPr lang="en-US" altLang="zh-TW" dirty="0"/>
              <a:t>Unity</a:t>
            </a:r>
            <a:r>
              <a:rPr lang="zh-TW" altLang="en-US" dirty="0"/>
              <a:t>經過一些預處理</a:t>
            </a:r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Project</a:t>
            </a:r>
            <a:r>
              <a:rPr lang="zh-TW" altLang="en-US" dirty="0"/>
              <a:t>區域，右鍵</a:t>
            </a:r>
            <a:r>
              <a:rPr lang="en-US" altLang="zh-TW" dirty="0"/>
              <a:t>Import New Asset</a:t>
            </a:r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從外部，拉入</a:t>
            </a:r>
            <a:r>
              <a:rPr lang="en-US" altLang="zh-TW" dirty="0"/>
              <a:t>Project</a:t>
            </a:r>
            <a:r>
              <a:rPr lang="zh-TW" altLang="en-US" dirty="0"/>
              <a:t>區域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4572000"/>
            <a:ext cx="471351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</a:t>
            </a:r>
            <a:r>
              <a:rPr lang="zh-TW" altLang="en-US" dirty="0"/>
              <a:t>影片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838200" y="3505200"/>
          <a:ext cx="7238999" cy="27537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3078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 dirty="0"/>
                        <a:t>.mp4</a:t>
                      </a:r>
                    </a:p>
                  </a:txBody>
                  <a:tcPr marL="21198" marR="21198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3200"/>
                        <a:t>常用影片格式，效能佳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992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/>
                        <a:t>.webm</a:t>
                      </a:r>
                    </a:p>
                  </a:txBody>
                  <a:tcPr marL="21198" marR="21198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3200" dirty="0"/>
                        <a:t>輕量網頁影片格式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539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/>
                        <a:t>.ogv</a:t>
                      </a:r>
                    </a:p>
                  </a:txBody>
                  <a:tcPr marL="21198" marR="21198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3200"/>
                        <a:t>開源影片格式</a:t>
                      </a:r>
                    </a:p>
                  </a:txBody>
                  <a:tcPr marL="21198" marR="21198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77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/>
                        <a:t>.mov</a:t>
                      </a:r>
                    </a:p>
                  </a:txBody>
                  <a:tcPr marL="21198" marR="21198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3200"/>
                        <a:t>QuickTime </a:t>
                      </a:r>
                      <a:r>
                        <a:rPr lang="zh-TW" altLang="en-US" sz="3200"/>
                        <a:t>影片（需系統支援）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/>
                        <a:t>.avi</a:t>
                      </a:r>
                    </a:p>
                  </a:txBody>
                  <a:tcPr marL="21198" marR="21198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3200" dirty="0"/>
                        <a:t>基本影片格式（檔案大）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內容版面配置區 2"/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lang="zh-TW" altLang="en-US" sz="2800" dirty="0"/>
              <a:t>現在常流行及時演出，除開頭、過場外，較少在遊戲中放入影片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</a:t>
            </a:r>
            <a:r>
              <a:rPr lang="zh-TW" altLang="en-US" dirty="0"/>
              <a:t>影片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通常影片不會做太多調整，如需要可自行查詢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8568" y="2971800"/>
            <a:ext cx="6306047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</a:t>
            </a:r>
            <a:r>
              <a:rPr lang="zh-TW" altLang="en-US" dirty="0"/>
              <a:t>聲音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38200" y="2209800"/>
          <a:ext cx="7162800" cy="19507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 b="1" dirty="0"/>
                        <a:t>.wav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3200"/>
                        <a:t>無壓縮，高音質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 b="1"/>
                        <a:t>.mp3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3200"/>
                        <a:t>常用壓縮音訊</a:t>
                      </a:r>
                    </a:p>
                  </a:txBody>
                  <a:tcPr marL="22860" marR="2286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 b="1"/>
                        <a:t>.ogg</a:t>
                      </a:r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3200" dirty="0"/>
                        <a:t>遊戲常用壓縮音訊，效能佳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b"/>
                      <a:r>
                        <a:rPr lang="en-US" sz="3200" b="1" dirty="0"/>
                        <a:t>.</a:t>
                      </a:r>
                      <a:r>
                        <a:rPr lang="en-US" sz="3200" b="1" dirty="0" err="1"/>
                        <a:t>aiff</a:t>
                      </a:r>
                      <a:endParaRPr lang="en-US" sz="3200" b="1" dirty="0"/>
                    </a:p>
                  </a:txBody>
                  <a:tcPr marL="22860" marR="22860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3200" dirty="0"/>
                        <a:t>蘋果系統常見格式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4343400"/>
            <a:ext cx="5219700" cy="2199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</a:t>
            </a:r>
            <a:r>
              <a:rPr lang="zh-TW" altLang="en-US" dirty="0"/>
              <a:t>聲音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962400" cy="4325112"/>
          </a:xfrm>
        </p:spPr>
        <p:txBody>
          <a:bodyPr/>
          <a:lstStyle/>
          <a:p>
            <a:r>
              <a:rPr lang="en-US" altLang="zh-TW" dirty="0"/>
              <a:t>Mono  </a:t>
            </a:r>
          </a:p>
          <a:p>
            <a:pPr lvl="1"/>
            <a:r>
              <a:rPr lang="zh-TW" altLang="en-US" dirty="0"/>
              <a:t>單聲道</a:t>
            </a:r>
            <a:endParaRPr lang="en-US" altLang="zh-TW" dirty="0"/>
          </a:p>
          <a:p>
            <a:r>
              <a:rPr lang="en-US" altLang="zh-TW" dirty="0"/>
              <a:t>Load in Background</a:t>
            </a:r>
          </a:p>
          <a:p>
            <a:pPr lvl="1"/>
            <a:r>
              <a:rPr lang="zh-TW" altLang="en-US" dirty="0"/>
              <a:t>在背景讀取</a:t>
            </a:r>
            <a:endParaRPr lang="en-US" altLang="zh-TW" dirty="0"/>
          </a:p>
          <a:p>
            <a:pPr lvl="1"/>
            <a:r>
              <a:rPr lang="zh-TW" altLang="en-US" sz="1800" dirty="0"/>
              <a:t>開啟：檔案讀取耗時而造成卡頓，可解決此問題，但可能會延後被讀取。</a:t>
            </a:r>
            <a:endParaRPr lang="en-US" altLang="zh-TW" sz="1800" dirty="0"/>
          </a:p>
          <a:p>
            <a:r>
              <a:rPr lang="en-US" altLang="zh-TW" dirty="0" err="1"/>
              <a:t>Ambisonic</a:t>
            </a:r>
            <a:endParaRPr lang="en-US" altLang="zh-TW" dirty="0"/>
          </a:p>
          <a:p>
            <a:pPr lvl="1"/>
            <a:r>
              <a:rPr lang="zh-TW" altLang="en-US" dirty="0"/>
              <a:t>球面音效相關</a:t>
            </a:r>
            <a:endParaRPr lang="en-US" altLang="zh-TW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209800"/>
            <a:ext cx="4482216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</a:t>
            </a:r>
            <a:r>
              <a:rPr lang="zh-TW" altLang="en-US" dirty="0"/>
              <a:t>聲音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114800" cy="432511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讀取方式</a:t>
            </a:r>
            <a:endParaRPr lang="en-US" altLang="zh-TW" dirty="0"/>
          </a:p>
          <a:p>
            <a:r>
              <a:rPr lang="en-US" altLang="zh-TW" dirty="0"/>
              <a:t>Preload</a:t>
            </a:r>
          </a:p>
          <a:p>
            <a:pPr lvl="1"/>
            <a:r>
              <a:rPr lang="zh-TW" altLang="en-US" dirty="0"/>
              <a:t>預先讀取聲音</a:t>
            </a:r>
            <a:endParaRPr lang="en-US" altLang="zh-TW" dirty="0"/>
          </a:p>
          <a:p>
            <a:r>
              <a:rPr lang="en-US" altLang="zh-TW" dirty="0"/>
              <a:t>Compress Format</a:t>
            </a:r>
          </a:p>
          <a:p>
            <a:pPr lvl="1"/>
            <a:r>
              <a:rPr lang="zh-TW" altLang="en-US" dirty="0"/>
              <a:t>壓縮格式</a:t>
            </a:r>
            <a:endParaRPr lang="en-US" altLang="zh-TW" dirty="0"/>
          </a:p>
          <a:p>
            <a:r>
              <a:rPr lang="en-US" altLang="zh-TW" dirty="0"/>
              <a:t>Quality</a:t>
            </a:r>
          </a:p>
          <a:p>
            <a:pPr lvl="1"/>
            <a:r>
              <a:rPr lang="zh-TW" altLang="en-US" dirty="0"/>
              <a:t>品質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sz="2400" dirty="0"/>
              <a:t>最下方可看到實際檔案大小與壓縮狀況</a:t>
            </a:r>
            <a:endParaRPr lang="zh-TW" alt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209800"/>
            <a:ext cx="4482216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2D</a:t>
            </a:r>
            <a:r>
              <a:rPr lang="zh-TW" altLang="en-US" dirty="0"/>
              <a:t>圖片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09600" y="2209800"/>
          <a:ext cx="7848600" cy="332485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23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4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467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b="1" dirty="0"/>
                        <a:t>.</a:t>
                      </a:r>
                      <a:r>
                        <a:rPr lang="en-US" sz="2800" b="1" dirty="0" err="1"/>
                        <a:t>png</a:t>
                      </a:r>
                      <a:endParaRPr lang="en-US" sz="2800" b="1" dirty="0"/>
                    </a:p>
                  </a:txBody>
                  <a:tcPr marL="11289" marR="11289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/>
                        <a:t>支援透明背景，常用 </a:t>
                      </a:r>
                      <a:r>
                        <a:rPr lang="en-US" altLang="zh-TW" sz="2800"/>
                        <a:t>UI </a:t>
                      </a:r>
                      <a:r>
                        <a:rPr lang="zh-TW" altLang="en-US" sz="2800"/>
                        <a:t>與貼圖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 dirty="0"/>
                        <a:t>.jpg / .jpeg</a:t>
                      </a:r>
                    </a:p>
                  </a:txBody>
                  <a:tcPr marL="11289" marR="11289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/>
                        <a:t>輕量但有壓縮損失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b="1"/>
                        <a:t>.tga</a:t>
                      </a:r>
                    </a:p>
                  </a:txBody>
                  <a:tcPr marL="11289" marR="11289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/>
                        <a:t>支援透明通道，常用於遊戲貼圖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b="1"/>
                        <a:t>.psd</a:t>
                      </a:r>
                    </a:p>
                  </a:txBody>
                  <a:tcPr marL="11289" marR="11289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2800"/>
                        <a:t>Photoshop </a:t>
                      </a:r>
                      <a:r>
                        <a:rPr lang="zh-TW" altLang="en-US" sz="2800"/>
                        <a:t>檔，可直接匯入並保留圖層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733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b="1"/>
                        <a:t>.bmp</a:t>
                      </a:r>
                    </a:p>
                  </a:txBody>
                  <a:tcPr marL="11289" marR="11289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/>
                        <a:t>基本點陣圖</a:t>
                      </a:r>
                    </a:p>
                  </a:txBody>
                  <a:tcPr marL="11289" marR="11289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b="1"/>
                        <a:t>.gif</a:t>
                      </a:r>
                    </a:p>
                  </a:txBody>
                  <a:tcPr marL="11289" marR="11289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/>
                        <a:t>支援靜態圖（不支援動態播放）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b="1" dirty="0"/>
                        <a:t>.</a:t>
                      </a:r>
                      <a:r>
                        <a:rPr lang="en-US" sz="2800" b="1" dirty="0" err="1"/>
                        <a:t>hdr</a:t>
                      </a:r>
                      <a:r>
                        <a:rPr lang="en-US" sz="2800" b="1" dirty="0"/>
                        <a:t> / .</a:t>
                      </a:r>
                      <a:r>
                        <a:rPr lang="en-US" sz="2800" b="1" dirty="0" err="1"/>
                        <a:t>exr</a:t>
                      </a:r>
                      <a:endParaRPr lang="en-US" sz="2800" b="1" dirty="0"/>
                    </a:p>
                  </a:txBody>
                  <a:tcPr marL="11289" marR="11289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dirty="0"/>
                        <a:t>高動態範圍貼圖（常用於環境光）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2D</a:t>
            </a:r>
            <a:r>
              <a:rPr lang="zh-TW" altLang="en-US" dirty="0"/>
              <a:t>圖片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343400" cy="432511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Texture Type</a:t>
            </a:r>
          </a:p>
          <a:p>
            <a:pPr lvl="1"/>
            <a:r>
              <a:rPr lang="en-US" altLang="zh-TW" dirty="0"/>
              <a:t>Default</a:t>
            </a:r>
            <a:r>
              <a:rPr lang="zh-TW" altLang="en-US" dirty="0"/>
              <a:t>  </a:t>
            </a:r>
            <a:r>
              <a:rPr lang="en-US" altLang="zh-TW" dirty="0"/>
              <a:t> </a:t>
            </a:r>
            <a:r>
              <a:rPr lang="zh-TW" altLang="en-US" dirty="0"/>
              <a:t>一般貼圖用</a:t>
            </a:r>
            <a:endParaRPr lang="en-US" altLang="zh-TW" dirty="0"/>
          </a:p>
          <a:p>
            <a:pPr lvl="1"/>
            <a:r>
              <a:rPr lang="en-US" altLang="zh-TW" dirty="0"/>
              <a:t>Sprite </a:t>
            </a:r>
            <a:r>
              <a:rPr lang="zh-TW" altLang="en-US" dirty="0"/>
              <a:t>   </a:t>
            </a:r>
            <a:r>
              <a:rPr lang="en-US" altLang="zh-TW" dirty="0"/>
              <a:t>2D</a:t>
            </a:r>
            <a:r>
              <a:rPr lang="zh-TW" altLang="en-US" dirty="0"/>
              <a:t>圖片 </a:t>
            </a:r>
            <a:r>
              <a:rPr lang="en-US" altLang="zh-TW" dirty="0"/>
              <a:t>(UI)</a:t>
            </a:r>
          </a:p>
          <a:p>
            <a:pPr lvl="1"/>
            <a:r>
              <a:rPr lang="en-US" altLang="zh-TW" dirty="0"/>
              <a:t>Cursor </a:t>
            </a:r>
            <a:r>
              <a:rPr lang="zh-TW" altLang="en-US" dirty="0"/>
              <a:t> 游標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Normal Map</a:t>
            </a:r>
          </a:p>
          <a:p>
            <a:pPr lvl="1"/>
            <a:r>
              <a:rPr lang="en-US" altLang="zh-TW" dirty="0"/>
              <a:t>Cookie</a:t>
            </a:r>
          </a:p>
          <a:p>
            <a:pPr lvl="1"/>
            <a:r>
              <a:rPr lang="en-US" altLang="zh-TW" dirty="0" err="1"/>
              <a:t>Lightmap</a:t>
            </a:r>
            <a:endParaRPr lang="en-US" altLang="zh-TW" dirty="0"/>
          </a:p>
          <a:p>
            <a:pPr lvl="1"/>
            <a:r>
              <a:rPr lang="en-US" altLang="zh-TW" dirty="0"/>
              <a:t>Shadow Mask</a:t>
            </a:r>
          </a:p>
          <a:p>
            <a:pPr lvl="1"/>
            <a:r>
              <a:rPr lang="en-US" altLang="zh-TW" dirty="0"/>
              <a:t>Single Channel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91762" y="1524000"/>
            <a:ext cx="4052237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2D</a:t>
            </a:r>
            <a:r>
              <a:rPr lang="zh-TW" altLang="en-US" dirty="0"/>
              <a:t>圖片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495800" cy="4325112"/>
          </a:xfrm>
        </p:spPr>
        <p:txBody>
          <a:bodyPr/>
          <a:lstStyle/>
          <a:p>
            <a:pPr marL="868680" lvl="1" indent="-457200">
              <a:buNone/>
            </a:pPr>
            <a:endParaRPr lang="en-US" altLang="zh-TW" sz="2200" dirty="0"/>
          </a:p>
          <a:p>
            <a:pPr lvl="1"/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371600"/>
            <a:ext cx="4052237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4876800" y="4495800"/>
            <a:ext cx="4267200" cy="533400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457200" y="2249424"/>
            <a:ext cx="43434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重複時的處理方式</a:t>
            </a:r>
            <a:endParaRPr kumimoji="0" lang="en-US" altLang="zh-TW" sz="26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lang="en-US" altLang="zh-TW" sz="2600" dirty="0">
              <a:solidFill>
                <a:schemeClr val="accent4"/>
              </a:solidFill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kumimoji="0" lang="zh-TW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圖片大小調整、圖片壓縮方式</a:t>
            </a:r>
            <a:endParaRPr kumimoji="0" lang="en-US" altLang="zh-TW" sz="26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22960" lvl="1" indent="-256032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</a:pPr>
            <a:endParaRPr kumimoji="0" lang="zh-TW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76800" y="5181600"/>
            <a:ext cx="4267200" cy="76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2D</a:t>
            </a:r>
            <a:r>
              <a:rPr lang="zh-TW" altLang="en-US" dirty="0"/>
              <a:t>圖片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495800" cy="4325112"/>
          </a:xfrm>
        </p:spPr>
        <p:txBody>
          <a:bodyPr/>
          <a:lstStyle/>
          <a:p>
            <a:r>
              <a:rPr lang="en-US" altLang="zh-TW" sz="2000" dirty="0"/>
              <a:t>Alpha Source/Is</a:t>
            </a:r>
            <a:r>
              <a:rPr lang="zh-TW" altLang="en-US" sz="2000" dirty="0"/>
              <a:t> </a:t>
            </a:r>
            <a:r>
              <a:rPr lang="en-US" altLang="zh-TW" sz="2000" dirty="0"/>
              <a:t>Transparency</a:t>
            </a:r>
          </a:p>
          <a:p>
            <a:pPr lvl="1"/>
            <a:r>
              <a:rPr lang="zh-TW" altLang="en-US" sz="2000" dirty="0"/>
              <a:t>決定透明相關參數</a:t>
            </a:r>
            <a:endParaRPr lang="en-US" altLang="zh-TW" sz="1800" dirty="0"/>
          </a:p>
          <a:p>
            <a:r>
              <a:rPr lang="en-US" altLang="zh-TW" sz="2400" dirty="0"/>
              <a:t>Read/Write</a:t>
            </a:r>
          </a:p>
          <a:p>
            <a:pPr lvl="1"/>
            <a:r>
              <a:rPr lang="zh-TW" altLang="en-US" sz="2000" dirty="0"/>
              <a:t>建議關閉，除非你需要修改</a:t>
            </a:r>
            <a:endParaRPr lang="en-US" altLang="zh-TW" sz="2000" dirty="0"/>
          </a:p>
          <a:p>
            <a:r>
              <a:rPr lang="en-US" altLang="zh-TW" sz="2400" dirty="0" err="1"/>
              <a:t>Mipmap</a:t>
            </a:r>
            <a:endParaRPr lang="en-US" altLang="zh-TW" sz="2400" dirty="0"/>
          </a:p>
          <a:p>
            <a:pPr lvl="1"/>
            <a:r>
              <a:rPr lang="zh-TW" altLang="en-US" sz="2200" dirty="0"/>
              <a:t>加快渲染速度用</a:t>
            </a:r>
            <a:endParaRPr lang="en-US" altLang="zh-TW" sz="2200" dirty="0"/>
          </a:p>
          <a:p>
            <a:pPr lvl="1"/>
            <a:endParaRPr lang="en-US" altLang="zh-TW" sz="2200" dirty="0"/>
          </a:p>
          <a:p>
            <a:pPr lvl="1"/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371600"/>
            <a:ext cx="4052237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 descr="Mipmaps introduction - Unity 手册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4648200"/>
            <a:ext cx="3124200" cy="16780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2D</a:t>
            </a:r>
            <a:r>
              <a:rPr lang="zh-TW" altLang="en-US" dirty="0"/>
              <a:t>圖片 </a:t>
            </a:r>
            <a:r>
              <a:rPr lang="en-US" altLang="zh-TW" dirty="0"/>
              <a:t>(Sprite</a:t>
            </a:r>
            <a:r>
              <a:rPr lang="zh-TW" altLang="en-US" dirty="0"/>
              <a:t>模式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962400" cy="4325112"/>
          </a:xfrm>
        </p:spPr>
        <p:txBody>
          <a:bodyPr/>
          <a:lstStyle/>
          <a:p>
            <a:r>
              <a:rPr lang="en-US" altLang="zh-TW" dirty="0"/>
              <a:t>Sprite Mode</a:t>
            </a:r>
          </a:p>
          <a:p>
            <a:pPr lvl="1"/>
            <a:r>
              <a:rPr lang="en-US" altLang="zh-TW" dirty="0"/>
              <a:t>Multiple : </a:t>
            </a:r>
            <a:r>
              <a:rPr lang="zh-TW" altLang="en-US" dirty="0"/>
              <a:t>可以讓一張貼圖做多張</a:t>
            </a:r>
            <a:r>
              <a:rPr lang="en-US" altLang="zh-TW" dirty="0"/>
              <a:t>Sprite</a:t>
            </a:r>
            <a:endParaRPr lang="zh-TW" altLang="en-US" dirty="0"/>
          </a:p>
        </p:txBody>
      </p:sp>
      <p:pic>
        <p:nvPicPr>
          <p:cNvPr id="29700" name="Picture 4" descr="Sprite Packer - Unity 手册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86200"/>
            <a:ext cx="4114800" cy="2802322"/>
          </a:xfrm>
          <a:prstGeom prst="rect">
            <a:avLst/>
          </a:prstGeom>
          <a:noFill/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362200"/>
            <a:ext cx="4329598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</a:t>
            </a:r>
            <a:r>
              <a:rPr lang="zh-TW" altLang="en-US" dirty="0"/>
              <a:t>文字檔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305090"/>
              </p:ext>
            </p:extLst>
          </p:nvPr>
        </p:nvGraphicFramePr>
        <p:xfrm>
          <a:off x="685800" y="2209800"/>
          <a:ext cx="7696200" cy="12801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787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dirty="0"/>
                        <a:t>.txt</a:t>
                      </a:r>
                    </a:p>
                  </a:txBody>
                  <a:tcPr marL="22523" marR="22523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dirty="0"/>
                        <a:t>文字檔</a:t>
                      </a:r>
                      <a:endParaRPr lang="en-US" altLang="zh-TW" sz="2800" dirty="0"/>
                    </a:p>
                  </a:txBody>
                  <a:tcPr marL="22523" marR="22523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787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dirty="0"/>
                        <a:t>.</a:t>
                      </a:r>
                      <a:r>
                        <a:rPr lang="en-US" sz="2800" dirty="0" err="1"/>
                        <a:t>dat</a:t>
                      </a:r>
                      <a:endParaRPr lang="en-US" sz="2800" dirty="0"/>
                    </a:p>
                  </a:txBody>
                  <a:tcPr marL="22523" marR="22523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dirty="0"/>
                        <a:t>資料檔</a:t>
                      </a:r>
                      <a:endParaRPr lang="en-US" altLang="zh-TW" sz="2800" dirty="0"/>
                    </a:p>
                  </a:txBody>
                  <a:tcPr marL="22523" marR="22523" marT="0" marB="0" anchor="b"/>
                </a:tc>
                <a:extLst>
                  <a:ext uri="{0D108BD9-81ED-4DB2-BD59-A6C34878D82A}">
                    <a16:rowId xmlns:a16="http://schemas.microsoft.com/office/drawing/2014/main" val="48170197"/>
                  </a:ext>
                </a:extLst>
              </a:tr>
              <a:tr h="265787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dirty="0"/>
                        <a:t>.csv</a:t>
                      </a:r>
                    </a:p>
                  </a:txBody>
                  <a:tcPr marL="22523" marR="22523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dirty="0"/>
                        <a:t>逗號分隔檔案</a:t>
                      </a:r>
                      <a:endParaRPr lang="en-US" altLang="zh-TW" sz="2800" dirty="0"/>
                    </a:p>
                  </a:txBody>
                  <a:tcPr marL="22523" marR="22523" marT="0" marB="0" anchor="b"/>
                </a:tc>
                <a:extLst>
                  <a:ext uri="{0D108BD9-81ED-4DB2-BD59-A6C34878D82A}">
                    <a16:rowId xmlns:a16="http://schemas.microsoft.com/office/drawing/2014/main" val="2211253693"/>
                  </a:ext>
                </a:extLst>
              </a:tr>
            </a:tbl>
          </a:graphicData>
        </a:graphic>
      </p:graphicFrame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FECA9-2040-BADE-980C-8448CA926BD4}"/>
              </a:ext>
            </a:extLst>
          </p:cNvPr>
          <p:cNvSpPr txBox="1">
            <a:spLocks/>
          </p:cNvSpPr>
          <p:nvPr/>
        </p:nvSpPr>
        <p:spPr>
          <a:xfrm>
            <a:off x="685800" y="3733800"/>
            <a:ext cx="7543800" cy="2840736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但怎麼運用這些文字檔，要看你怎麼撰寫程式碼</a:t>
            </a:r>
            <a:endParaRPr lang="en-US" altLang="zh-TW" dirty="0"/>
          </a:p>
          <a:p>
            <a:r>
              <a:rPr lang="zh-TW" altLang="en-US" dirty="0"/>
              <a:t>通常會思考</a:t>
            </a:r>
            <a:r>
              <a:rPr lang="en-US" altLang="zh-TW" dirty="0"/>
              <a:t>”</a:t>
            </a:r>
            <a:r>
              <a:rPr lang="zh-TW" altLang="en-US" dirty="0"/>
              <a:t>格式</a:t>
            </a:r>
            <a:r>
              <a:rPr lang="en-US" altLang="zh-TW" dirty="0"/>
              <a:t>”</a:t>
            </a:r>
            <a:r>
              <a:rPr lang="zh-TW" altLang="en-US" dirty="0"/>
              <a:t>來運用，常用的有</a:t>
            </a:r>
            <a:r>
              <a:rPr lang="en-US" altLang="zh-TW" dirty="0"/>
              <a:t>JSON</a:t>
            </a:r>
            <a:r>
              <a:rPr lang="zh-TW" altLang="en-US" dirty="0"/>
              <a:t>、</a:t>
            </a:r>
            <a:r>
              <a:rPr lang="en-US" altLang="zh-TW" dirty="0"/>
              <a:t>XML</a:t>
            </a:r>
            <a:r>
              <a:rPr lang="zh-TW" altLang="en-US" dirty="0"/>
              <a:t>等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無法使用</a:t>
            </a:r>
            <a:r>
              <a:rPr lang="en-US" altLang="zh-TW" dirty="0" err="1"/>
              <a:t>xls</a:t>
            </a:r>
            <a:r>
              <a:rPr lang="en-US" altLang="zh-TW" dirty="0"/>
              <a:t> (excel)</a:t>
            </a:r>
            <a:r>
              <a:rPr lang="zh-TW" altLang="en-US" dirty="0"/>
              <a:t>，但裝額外套件就可以使用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96377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</a:t>
            </a:r>
            <a:r>
              <a:rPr lang="zh-TW" altLang="en-US" dirty="0"/>
              <a:t>程式碼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685800" y="2209800"/>
          <a:ext cx="7696200" cy="4267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787">
                <a:tc>
                  <a:txBody>
                    <a:bodyPr/>
                    <a:lstStyle/>
                    <a:p>
                      <a:pPr rtl="0" fontAlgn="b"/>
                      <a:r>
                        <a:rPr lang="en-US" sz="2800" dirty="0"/>
                        <a:t>.</a:t>
                      </a:r>
                      <a:r>
                        <a:rPr lang="en-US" sz="2800" dirty="0" err="1"/>
                        <a:t>cs</a:t>
                      </a:r>
                      <a:endParaRPr lang="en-US" sz="2800" dirty="0"/>
                    </a:p>
                  </a:txBody>
                  <a:tcPr marL="22523" marR="22523" marT="0" marB="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2800" dirty="0"/>
                        <a:t>C#</a:t>
                      </a:r>
                      <a:r>
                        <a:rPr lang="zh-TW" altLang="en-US" sz="2800" dirty="0"/>
                        <a:t>程式碼檔案</a:t>
                      </a:r>
                      <a:endParaRPr lang="en-US" altLang="zh-TW" sz="2800" dirty="0"/>
                    </a:p>
                  </a:txBody>
                  <a:tcPr marL="22523" marR="22523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FECA9-2040-BADE-980C-8448CA926BD4}"/>
              </a:ext>
            </a:extLst>
          </p:cNvPr>
          <p:cNvSpPr txBox="1">
            <a:spLocks/>
          </p:cNvSpPr>
          <p:nvPr/>
        </p:nvSpPr>
        <p:spPr>
          <a:xfrm>
            <a:off x="685800" y="2971800"/>
            <a:ext cx="7543800" cy="36027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必須 繼承自 </a:t>
            </a:r>
            <a:r>
              <a:rPr lang="en-US" altLang="zh-TW" dirty="0" err="1"/>
              <a:t>MonoBehaviour</a:t>
            </a:r>
            <a:r>
              <a:rPr lang="zh-TW" altLang="en-US" dirty="0"/>
              <a:t>才能當元件</a:t>
            </a:r>
            <a:r>
              <a:rPr lang="en-US" altLang="zh-TW" dirty="0"/>
              <a:t>(Component)</a:t>
            </a:r>
            <a:r>
              <a:rPr lang="zh-TW" altLang="en-US" dirty="0"/>
              <a:t>使用</a:t>
            </a:r>
            <a:endParaRPr lang="en-US" altLang="zh-TW" dirty="0"/>
          </a:p>
          <a:p>
            <a:r>
              <a:rPr lang="zh-TW" altLang="en-US" dirty="0"/>
              <a:t>但一般的</a:t>
            </a:r>
            <a:r>
              <a:rPr lang="en-US" altLang="zh-TW" dirty="0"/>
              <a:t>cs</a:t>
            </a:r>
            <a:r>
              <a:rPr lang="zh-TW" altLang="en-US" dirty="0"/>
              <a:t>程式碼仍然可以使用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在安裝部分外掛後，可以執行其他的程式碼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3D</a:t>
            </a:r>
            <a:r>
              <a:rPr lang="zh-TW" altLang="en-US" dirty="0"/>
              <a:t>模型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09600" y="2209800"/>
          <a:ext cx="7848600" cy="366981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05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b="1" dirty="0"/>
                        <a:t>.</a:t>
                      </a:r>
                      <a:r>
                        <a:rPr lang="en-US" sz="2400" b="1" dirty="0" err="1"/>
                        <a:t>fbx</a:t>
                      </a:r>
                      <a:endParaRPr lang="en-US" sz="2400" b="1" dirty="0"/>
                    </a:p>
                  </a:txBody>
                  <a:tcPr marL="8063" marR="8063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2400"/>
                        <a:t>最常用格式，支援模型、動畫、材質設定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7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b="1" dirty="0"/>
                        <a:t>.</a:t>
                      </a:r>
                      <a:r>
                        <a:rPr lang="en-US" sz="2400" b="1" dirty="0" err="1"/>
                        <a:t>obj</a:t>
                      </a:r>
                      <a:endParaRPr lang="en-US" sz="2400" b="1" dirty="0"/>
                    </a:p>
                  </a:txBody>
                  <a:tcPr marL="8063" marR="8063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2400"/>
                        <a:t>常用靜態模型格式，不含動畫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0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b="1" dirty="0"/>
                        <a:t>.</a:t>
                      </a:r>
                      <a:r>
                        <a:rPr lang="en-US" sz="2400" b="1" dirty="0" err="1"/>
                        <a:t>dae</a:t>
                      </a:r>
                      <a:r>
                        <a:rPr lang="en-US" sz="2400" b="1" dirty="0"/>
                        <a:t> </a:t>
                      </a:r>
                      <a:r>
                        <a:rPr lang="en-US" sz="2000" b="1" dirty="0"/>
                        <a:t>(</a:t>
                      </a:r>
                      <a:r>
                        <a:rPr lang="en-US" sz="2000" b="1" dirty="0" err="1"/>
                        <a:t>Collada</a:t>
                      </a:r>
                      <a:r>
                        <a:rPr lang="en-US" sz="2000" b="1" dirty="0"/>
                        <a:t>)</a:t>
                      </a:r>
                      <a:endParaRPr lang="en-US" sz="2400" b="1" dirty="0"/>
                    </a:p>
                  </a:txBody>
                  <a:tcPr marL="8063" marR="8063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2400"/>
                        <a:t>跨平台支援的模型格式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52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b="1"/>
                        <a:t>.3ds</a:t>
                      </a:r>
                    </a:p>
                  </a:txBody>
                  <a:tcPr marL="8063" marR="8063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2400" dirty="0"/>
                        <a:t>舊 </a:t>
                      </a:r>
                      <a:r>
                        <a:rPr lang="en-US" altLang="zh-TW" sz="2400" dirty="0"/>
                        <a:t>3</a:t>
                      </a:r>
                      <a:r>
                        <a:rPr lang="en-US" sz="2400" dirty="0"/>
                        <a:t>D Studio Max </a:t>
                      </a:r>
                      <a:r>
                        <a:rPr lang="zh-TW" altLang="en-US" sz="2400" dirty="0"/>
                        <a:t>格式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7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b="1"/>
                        <a:t>.dxf</a:t>
                      </a:r>
                    </a:p>
                  </a:txBody>
                  <a:tcPr marL="8063" marR="8063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dirty="0"/>
                        <a:t>CAD </a:t>
                      </a:r>
                      <a:r>
                        <a:rPr lang="zh-TW" altLang="en-US" sz="2400" dirty="0"/>
                        <a:t>相關模型</a:t>
                      </a:r>
                    </a:p>
                  </a:txBody>
                  <a:tcPr marL="8063" marR="8063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24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b="1"/>
                        <a:t>.blend</a:t>
                      </a:r>
                    </a:p>
                  </a:txBody>
                  <a:tcPr marL="8063" marR="8063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/>
                        <a:t>Blender </a:t>
                      </a:r>
                      <a:r>
                        <a:rPr lang="zh-TW" altLang="en-US" sz="2400"/>
                        <a:t>專案檔（需安裝對應版本的 </a:t>
                      </a:r>
                      <a:r>
                        <a:rPr lang="en-US" sz="2400"/>
                        <a:t>Blender）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b="1"/>
                        <a:t>.max</a:t>
                      </a:r>
                    </a:p>
                  </a:txBody>
                  <a:tcPr marL="8063" marR="8063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/>
                        <a:t>3ds Max </a:t>
                      </a:r>
                      <a:r>
                        <a:rPr lang="zh-TW" altLang="en-US" sz="2400"/>
                        <a:t>專案檔（需安裝 </a:t>
                      </a:r>
                      <a:r>
                        <a:rPr lang="en-US" altLang="zh-TW" sz="2400"/>
                        <a:t>3</a:t>
                      </a:r>
                      <a:r>
                        <a:rPr lang="en-US" sz="2400"/>
                        <a:t>ds Max）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02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b="1" dirty="0"/>
                        <a:t>.</a:t>
                      </a:r>
                      <a:r>
                        <a:rPr lang="en-US" sz="2400" b="1" dirty="0" err="1"/>
                        <a:t>mb</a:t>
                      </a:r>
                      <a:r>
                        <a:rPr lang="en-US" sz="2400" b="1" dirty="0"/>
                        <a:t> / .ma</a:t>
                      </a:r>
                    </a:p>
                  </a:txBody>
                  <a:tcPr marL="8063" marR="8063" marT="0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400" dirty="0"/>
                        <a:t>Maya </a:t>
                      </a:r>
                      <a:r>
                        <a:rPr lang="zh-TW" altLang="en-US" sz="2400" dirty="0"/>
                        <a:t>專案檔（需安裝 </a:t>
                      </a:r>
                      <a:r>
                        <a:rPr lang="en-US" sz="2400" dirty="0"/>
                        <a:t>Maya）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素材種類 </a:t>
            </a:r>
            <a:r>
              <a:rPr lang="en-US" altLang="zh-TW" dirty="0"/>
              <a:t>– 3D</a:t>
            </a:r>
            <a:r>
              <a:rPr lang="zh-TW" altLang="en-US" dirty="0"/>
              <a:t>模型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推薦使用</a:t>
            </a:r>
            <a:r>
              <a:rPr lang="en-US" altLang="zh-TW" dirty="0"/>
              <a:t>.</a:t>
            </a:r>
            <a:r>
              <a:rPr lang="en-US" altLang="zh-TW" dirty="0" err="1"/>
              <a:t>fbx</a:t>
            </a:r>
            <a:r>
              <a:rPr lang="en-US" altLang="zh-TW" dirty="0"/>
              <a:t> .obj</a:t>
            </a:r>
            <a:r>
              <a:rPr lang="zh-TW" altLang="en-US" dirty="0"/>
              <a:t>，其他可能會有相容性問題</a:t>
            </a:r>
            <a:endParaRPr lang="en-US" altLang="zh-TW" dirty="0"/>
          </a:p>
          <a:p>
            <a:r>
              <a:rPr lang="en-US" altLang="zh-TW" dirty="0"/>
              <a:t>Unity</a:t>
            </a:r>
            <a:r>
              <a:rPr lang="zh-TW" altLang="en-US" dirty="0"/>
              <a:t>預設</a:t>
            </a:r>
            <a:r>
              <a:rPr lang="en-US" altLang="zh-TW" dirty="0"/>
              <a:t>1</a:t>
            </a:r>
            <a:r>
              <a:rPr lang="zh-TW" altLang="en-US" dirty="0"/>
              <a:t>單位為</a:t>
            </a:r>
            <a:r>
              <a:rPr lang="en-US" altLang="zh-TW" dirty="0"/>
              <a:t>1</a:t>
            </a:r>
            <a:r>
              <a:rPr lang="zh-TW" altLang="en-US" dirty="0"/>
              <a:t>公尺</a:t>
            </a:r>
            <a:endParaRPr lang="en-US" altLang="zh-TW" dirty="0"/>
          </a:p>
          <a:p>
            <a:r>
              <a:rPr lang="en-US" altLang="zh-TW" dirty="0"/>
              <a:t>Unity</a:t>
            </a:r>
            <a:r>
              <a:rPr lang="zh-TW" altLang="en-US" dirty="0"/>
              <a:t>為左手座標系，</a:t>
            </a:r>
            <a:r>
              <a:rPr lang="en-US" altLang="zh-TW" dirty="0"/>
              <a:t>y</a:t>
            </a:r>
            <a:r>
              <a:rPr lang="zh-TW" altLang="en-US" dirty="0"/>
              <a:t>軸為上方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正常會自動建立</a:t>
            </a:r>
            <a:r>
              <a:rPr lang="en-US" altLang="zh-TW" dirty="0"/>
              <a:t>Materials</a:t>
            </a:r>
            <a:r>
              <a:rPr lang="zh-TW" altLang="en-US" dirty="0"/>
              <a:t>資料夾，並嘗試套用貼圖，貼圖建議使用</a:t>
            </a:r>
            <a:r>
              <a:rPr lang="en-US" altLang="zh-TW" dirty="0" err="1"/>
              <a:t>png</a:t>
            </a:r>
            <a:r>
              <a:rPr lang="zh-TW" altLang="en-US" dirty="0"/>
              <a:t>或</a:t>
            </a:r>
            <a:r>
              <a:rPr lang="en-US" altLang="zh-TW" dirty="0" err="1"/>
              <a:t>tga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3D</a:t>
            </a:r>
            <a:r>
              <a:rPr lang="zh-TW" altLang="en-US" dirty="0"/>
              <a:t>模型匯入可能包含動畫，另外動畫匯入時，通常</a:t>
            </a:r>
            <a:r>
              <a:rPr lang="en-US" altLang="zh-TW" dirty="0"/>
              <a:t>Animation Type </a:t>
            </a:r>
            <a:r>
              <a:rPr lang="zh-TW" altLang="en-US" dirty="0"/>
              <a:t>設定為 </a:t>
            </a:r>
            <a:r>
              <a:rPr lang="en-US" altLang="zh-TW" dirty="0"/>
              <a:t>Humanoid </a:t>
            </a:r>
            <a:r>
              <a:rPr lang="zh-TW" altLang="en-US" dirty="0"/>
              <a:t>或 </a:t>
            </a:r>
            <a:r>
              <a:rPr lang="en-US" altLang="zh-TW" dirty="0"/>
              <a:t>Generic</a:t>
            </a:r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.meta</a:t>
            </a:r>
            <a:r>
              <a:rPr lang="zh-TW" altLang="en-US" dirty="0"/>
              <a:t>檔案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如果有注意到，我們前面對素材做了一些設定與操作，但實際上</a:t>
            </a:r>
            <a:r>
              <a:rPr lang="en-US" altLang="zh-TW" dirty="0"/>
              <a:t>Unity</a:t>
            </a:r>
            <a:r>
              <a:rPr lang="zh-TW" altLang="en-US" dirty="0"/>
              <a:t>並不會去改變素材內容，而是會</a:t>
            </a:r>
            <a:r>
              <a:rPr lang="zh-TW" altLang="en-US" b="1" dirty="0">
                <a:solidFill>
                  <a:schemeClr val="accent4"/>
                </a:solidFill>
              </a:rPr>
              <a:t>建立</a:t>
            </a:r>
            <a:r>
              <a:rPr lang="en-US" altLang="zh-TW" b="1" dirty="0">
                <a:solidFill>
                  <a:schemeClr val="accent4"/>
                </a:solidFill>
              </a:rPr>
              <a:t>.meta</a:t>
            </a:r>
            <a:r>
              <a:rPr lang="zh-TW" altLang="en-US" b="1" dirty="0">
                <a:solidFill>
                  <a:schemeClr val="accent4"/>
                </a:solidFill>
              </a:rPr>
              <a:t>檔案，並記錄那些資訊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這個檔案在</a:t>
            </a:r>
            <a:r>
              <a:rPr lang="en-US" altLang="zh-TW" dirty="0"/>
              <a:t>Unity</a:t>
            </a:r>
            <a:r>
              <a:rPr lang="zh-TW" altLang="en-US" dirty="0"/>
              <a:t>中看不到</a:t>
            </a:r>
            <a:endParaRPr lang="en-US" altLang="zh-TW" dirty="0"/>
          </a:p>
          <a:p>
            <a:pPr lvl="1"/>
            <a:r>
              <a:rPr lang="zh-TW" altLang="en-US" dirty="0"/>
              <a:t>它儲存了</a:t>
            </a:r>
            <a:r>
              <a:rPr lang="en-US" altLang="zh-TW" dirty="0"/>
              <a:t>Unity</a:t>
            </a:r>
            <a:r>
              <a:rPr lang="zh-TW" altLang="en-US" dirty="0"/>
              <a:t>對於該素材的一些設定資訊，不可以隨意刪除</a:t>
            </a:r>
            <a:endParaRPr lang="en-US" altLang="zh-TW" dirty="0"/>
          </a:p>
          <a:p>
            <a:pPr lvl="1"/>
            <a:r>
              <a:rPr lang="zh-TW" altLang="en-US" dirty="0"/>
              <a:t>如果希望將相關資訊交給別人，請一併給予</a:t>
            </a:r>
            <a:r>
              <a:rPr lang="en-US" altLang="zh-TW" dirty="0"/>
              <a:t>.meta</a:t>
            </a:r>
            <a:r>
              <a:rPr lang="zh-TW" altLang="en-US" dirty="0"/>
              <a:t>檔案 </a:t>
            </a:r>
            <a:r>
              <a:rPr lang="en-US" altLang="zh-TW" dirty="0"/>
              <a:t>(</a:t>
            </a:r>
            <a:r>
              <a:rPr lang="zh-TW" altLang="en-US" dirty="0"/>
              <a:t>但更推薦使用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7.2</a:t>
            </a:r>
            <a:br>
              <a:rPr lang="en-US" altLang="zh-TW" dirty="0"/>
            </a:br>
            <a:r>
              <a:rPr lang="zh-TW" altLang="en-US" dirty="0"/>
              <a:t>建立</a:t>
            </a:r>
            <a:r>
              <a:rPr lang="en-US" altLang="zh-TW" dirty="0"/>
              <a:t>Unity</a:t>
            </a:r>
            <a:r>
              <a:rPr lang="zh-TW" altLang="en-US" dirty="0"/>
              <a:t>資源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Unity</a:t>
            </a:r>
            <a:r>
              <a:rPr lang="zh-TW" altLang="en-US" dirty="0"/>
              <a:t>資源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867400" cy="4325112"/>
          </a:xfrm>
        </p:spPr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Project</a:t>
            </a:r>
            <a:r>
              <a:rPr lang="zh-TW" altLang="en-US" dirty="0"/>
              <a:t>中右鍵選擇</a:t>
            </a:r>
            <a:r>
              <a:rPr lang="en-US" altLang="zh-TW" dirty="0"/>
              <a:t>Create</a:t>
            </a:r>
            <a:r>
              <a:rPr lang="zh-TW" altLang="en-US" dirty="0"/>
              <a:t>可看到可建立的資源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數量非常多，很難一一介紹</a:t>
            </a:r>
            <a:endParaRPr lang="en-US" altLang="zh-TW" dirty="0"/>
          </a:p>
          <a:p>
            <a:r>
              <a:rPr lang="en-US" altLang="zh-TW" dirty="0"/>
              <a:t>Unity2022</a:t>
            </a:r>
            <a:r>
              <a:rPr lang="zh-TW" altLang="en-US" dirty="0"/>
              <a:t>與</a:t>
            </a:r>
            <a:r>
              <a:rPr lang="en-US" altLang="zh-TW" dirty="0"/>
              <a:t>Unity6</a:t>
            </a:r>
            <a:r>
              <a:rPr lang="zh-TW" altLang="en-US" dirty="0"/>
              <a:t>的排版方式略有不同</a:t>
            </a:r>
            <a:endParaRPr lang="en-US" altLang="zh-TW"/>
          </a:p>
          <a:p>
            <a:endParaRPr lang="en-US" altLang="zh-TW" dirty="0"/>
          </a:p>
          <a:p>
            <a:r>
              <a:rPr lang="zh-TW" altLang="en-US" dirty="0"/>
              <a:t>除此之外，我們可能由</a:t>
            </a:r>
            <a:r>
              <a:rPr lang="en-US" altLang="zh-TW" dirty="0"/>
              <a:t>Inspector</a:t>
            </a:r>
            <a:r>
              <a:rPr lang="zh-TW" altLang="en-US" dirty="0"/>
              <a:t>的某些選項也可能建立這些資源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2200" y="579437"/>
            <a:ext cx="2600325" cy="627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71800" y="1219200"/>
            <a:ext cx="5486400" cy="4974336"/>
          </a:xfrm>
        </p:spPr>
        <p:txBody>
          <a:bodyPr/>
          <a:lstStyle/>
          <a:p>
            <a:r>
              <a:rPr lang="en-US" altLang="zh-TW" dirty="0"/>
              <a:t>Folder </a:t>
            </a:r>
            <a:r>
              <a:rPr lang="zh-TW" altLang="en-US" dirty="0"/>
              <a:t>資料夾</a:t>
            </a:r>
            <a:endParaRPr lang="en-US" altLang="zh-TW" dirty="0"/>
          </a:p>
          <a:p>
            <a:r>
              <a:rPr lang="en-US" altLang="zh-TW" dirty="0"/>
              <a:t>Material </a:t>
            </a:r>
            <a:r>
              <a:rPr lang="zh-TW" altLang="en-US" dirty="0"/>
              <a:t>材質</a:t>
            </a:r>
            <a:endParaRPr lang="en-US" altLang="zh-TW" dirty="0"/>
          </a:p>
          <a:p>
            <a:r>
              <a:rPr lang="en-US" altLang="zh-TW" dirty="0" err="1"/>
              <a:t>MonoBehaviour</a:t>
            </a:r>
            <a:r>
              <a:rPr lang="en-US" altLang="zh-TW" dirty="0"/>
              <a:t> </a:t>
            </a:r>
            <a:r>
              <a:rPr lang="zh-TW" altLang="en-US" dirty="0"/>
              <a:t>程式碼</a:t>
            </a:r>
            <a:endParaRPr lang="en-US" altLang="zh-TW" dirty="0"/>
          </a:p>
          <a:p>
            <a:r>
              <a:rPr lang="en-US" altLang="zh-TW" dirty="0"/>
              <a:t>Prefab Variant </a:t>
            </a:r>
            <a:r>
              <a:rPr lang="zh-TW" altLang="en-US" dirty="0"/>
              <a:t>預製體變體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685800"/>
            <a:ext cx="2600325" cy="627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81000" y="533400"/>
            <a:ext cx="2438400" cy="1219200"/>
          </a:xfrm>
          <a:prstGeom prst="rect">
            <a:avLst/>
          </a:prstGeom>
          <a:solidFill>
            <a:srgbClr val="CCFFFF">
              <a:alpha val="25098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71800" y="1676400"/>
            <a:ext cx="5486400" cy="4517136"/>
          </a:xfrm>
        </p:spPr>
        <p:txBody>
          <a:bodyPr/>
          <a:lstStyle/>
          <a:p>
            <a:r>
              <a:rPr lang="en-US" altLang="zh-TW" dirty="0"/>
              <a:t>2D</a:t>
            </a:r>
          </a:p>
          <a:p>
            <a:r>
              <a:rPr lang="en-US" altLang="zh-TW" dirty="0"/>
              <a:t>Animation </a:t>
            </a:r>
            <a:r>
              <a:rPr lang="zh-TW" altLang="en-US" dirty="0"/>
              <a:t>動畫相關</a:t>
            </a:r>
            <a:endParaRPr lang="en-US" altLang="zh-TW" dirty="0"/>
          </a:p>
          <a:p>
            <a:r>
              <a:rPr lang="en-US" altLang="zh-TW" dirty="0"/>
              <a:t>Audio </a:t>
            </a:r>
            <a:r>
              <a:rPr lang="zh-TW" altLang="en-US" dirty="0"/>
              <a:t>聲音</a:t>
            </a:r>
            <a:endParaRPr lang="en-US" altLang="zh-TW" dirty="0"/>
          </a:p>
          <a:p>
            <a:r>
              <a:rPr lang="en-US" altLang="zh-TW" dirty="0"/>
              <a:t>Rendering </a:t>
            </a:r>
            <a:r>
              <a:rPr lang="zh-TW" altLang="en-US" dirty="0"/>
              <a:t>渲染</a:t>
            </a:r>
            <a:r>
              <a:rPr lang="en-US" altLang="zh-TW" dirty="0"/>
              <a:t>/</a:t>
            </a:r>
            <a:r>
              <a:rPr lang="zh-TW" altLang="en-US" dirty="0"/>
              <a:t>顯示相關</a:t>
            </a:r>
            <a:endParaRPr lang="en-US" altLang="zh-TW" dirty="0"/>
          </a:p>
          <a:p>
            <a:r>
              <a:rPr lang="en-US" altLang="zh-TW" dirty="0"/>
              <a:t>Scene </a:t>
            </a:r>
            <a:r>
              <a:rPr lang="zh-TW" altLang="en-US" dirty="0"/>
              <a:t>場景</a:t>
            </a:r>
            <a:endParaRPr lang="en-US" altLang="zh-TW" dirty="0"/>
          </a:p>
          <a:p>
            <a:r>
              <a:rPr lang="en-US" altLang="zh-TW" dirty="0"/>
              <a:t>Scripting </a:t>
            </a:r>
            <a:r>
              <a:rPr lang="zh-TW" altLang="en-US" dirty="0"/>
              <a:t>程式碼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685800"/>
            <a:ext cx="2600325" cy="627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04800" y="1676400"/>
            <a:ext cx="2667000" cy="1600200"/>
          </a:xfrm>
          <a:prstGeom prst="rect">
            <a:avLst/>
          </a:prstGeom>
          <a:solidFill>
            <a:srgbClr val="CCFFFF">
              <a:alpha val="25098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Unity</a:t>
            </a:r>
            <a:r>
              <a:rPr lang="zh-TW" altLang="en-US" dirty="0"/>
              <a:t>資源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每個分類下有更多可建立的資源</a:t>
            </a:r>
            <a:endParaRPr lang="en-US" altLang="zh-TW" dirty="0"/>
          </a:p>
          <a:p>
            <a:r>
              <a:rPr lang="zh-TW" altLang="en-US" dirty="0"/>
              <a:t>這個建立資源的排序方式可能因為</a:t>
            </a:r>
            <a:r>
              <a:rPr lang="en-US" altLang="zh-TW" dirty="0"/>
              <a:t>Unity</a:t>
            </a:r>
            <a:r>
              <a:rPr lang="zh-TW" altLang="en-US" dirty="0"/>
              <a:t>版本而有所不同 </a:t>
            </a:r>
            <a:r>
              <a:rPr lang="en-US" altLang="zh-TW" dirty="0"/>
              <a:t>( 2022 / 6 )</a:t>
            </a:r>
          </a:p>
          <a:p>
            <a:endParaRPr lang="en-US" altLang="zh-TW" dirty="0"/>
          </a:p>
          <a:p>
            <a:r>
              <a:rPr lang="zh-TW" altLang="en-US" dirty="0"/>
              <a:t>我們甚至可以自定義自己的資源</a:t>
            </a:r>
            <a:endParaRPr lang="en-US" altLang="zh-TW" dirty="0"/>
          </a:p>
          <a:p>
            <a:r>
              <a:rPr lang="zh-TW" altLang="en-US" dirty="0"/>
              <a:t>每一種資源產生的副檔名不一定相同，但都會產生</a:t>
            </a:r>
            <a:r>
              <a:rPr lang="en-US" altLang="zh-TW" dirty="0"/>
              <a:t>.meta</a:t>
            </a:r>
            <a:r>
              <a:rPr lang="zh-TW" altLang="en-US" dirty="0"/>
              <a:t>檔案</a:t>
            </a:r>
            <a:endParaRPr lang="en-US" altLang="zh-TW" dirty="0"/>
          </a:p>
          <a:p>
            <a:pPr lvl="1"/>
            <a:r>
              <a:rPr lang="zh-TW" altLang="en-US" dirty="0"/>
              <a:t>蠻多的副檔名為</a:t>
            </a:r>
            <a:r>
              <a:rPr lang="en-US" altLang="zh-TW" dirty="0"/>
              <a:t>.asset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7.3</a:t>
            </a:r>
            <a:br>
              <a:rPr lang="en-US" altLang="zh-TW" dirty="0"/>
            </a:br>
            <a:r>
              <a:rPr lang="zh-TW" altLang="en-US" dirty="0"/>
              <a:t>資源管理：資料夾編排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資源管理：資料夾編排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資源管理</a:t>
            </a:r>
            <a:endParaRPr lang="en-US" altLang="zh-TW" dirty="0"/>
          </a:p>
          <a:p>
            <a:pPr lvl="1"/>
            <a:r>
              <a:rPr lang="zh-TW" altLang="en-US" dirty="0"/>
              <a:t>遊戲中的素材只要在</a:t>
            </a:r>
            <a:r>
              <a:rPr lang="en-US" altLang="zh-TW" dirty="0"/>
              <a:t>Assets</a:t>
            </a:r>
            <a:r>
              <a:rPr lang="zh-TW" altLang="en-US" dirty="0"/>
              <a:t>之下都是可行的，但如何編排資料夾、如何決定檔案名稱是看團隊的需求與默契的。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資源管理：資料夾編排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以資源種類分資料夾     </a:t>
            </a:r>
            <a:r>
              <a:rPr lang="en-US" altLang="zh-TW" dirty="0"/>
              <a:t>/  </a:t>
            </a:r>
            <a:r>
              <a:rPr lang="zh-TW" altLang="en-US" dirty="0"/>
              <a:t>   以功能分資料夾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804161"/>
            <a:ext cx="3200400" cy="374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2743200"/>
            <a:ext cx="2993281" cy="3974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資源管理：資料夾編排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以資源種類分資料夾     </a:t>
            </a:r>
            <a:r>
              <a:rPr lang="en-US" altLang="zh-TW" dirty="0"/>
              <a:t>/  </a:t>
            </a:r>
            <a:r>
              <a:rPr lang="zh-TW" altLang="en-US" dirty="0"/>
              <a:t>   以功能分資料夾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804161"/>
            <a:ext cx="3200400" cy="3749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2743200"/>
            <a:ext cx="2993281" cy="3974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5437</TotalTime>
  <Words>1110</Words>
  <Application>Microsoft Office PowerPoint</Application>
  <PresentationFormat>如螢幕大小 (4:3)</PresentationFormat>
  <Paragraphs>194</Paragraphs>
  <Slides>28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4" baseType="lpstr">
      <vt:lpstr>微軟正黑體</vt:lpstr>
      <vt:lpstr>Arial</vt:lpstr>
      <vt:lpstr>Georgia</vt:lpstr>
      <vt:lpstr>Times New Roman</vt:lpstr>
      <vt:lpstr>Wingdings 2</vt:lpstr>
      <vt:lpstr>都會</vt:lpstr>
      <vt:lpstr>Lesson 7 素材/資源 的 匯入與管理</vt:lpstr>
      <vt:lpstr>素材/資源</vt:lpstr>
      <vt:lpstr>素材匯入 – 直接匯入素材</vt:lpstr>
      <vt:lpstr>素材匯入 – 直接匯入素材</vt:lpstr>
      <vt:lpstr>素材種類 – 影片</vt:lpstr>
      <vt:lpstr>素材種類 – 影片</vt:lpstr>
      <vt:lpstr>素材種類 – 聲音</vt:lpstr>
      <vt:lpstr>素材種類 – 聲音</vt:lpstr>
      <vt:lpstr>素材種類 – 聲音</vt:lpstr>
      <vt:lpstr>素材種類 – 2D圖片</vt:lpstr>
      <vt:lpstr>素材種類 – 2D圖片</vt:lpstr>
      <vt:lpstr>素材種類 – 2D圖片</vt:lpstr>
      <vt:lpstr>素材種類 – 2D圖片</vt:lpstr>
      <vt:lpstr>素材種類 – 2D圖片 (Sprite模式)</vt:lpstr>
      <vt:lpstr>素材種類 – 文字檔</vt:lpstr>
      <vt:lpstr>素材種類 – 程式碼</vt:lpstr>
      <vt:lpstr>素材種類 – 3D模型</vt:lpstr>
      <vt:lpstr>素材種類 – 3D模型</vt:lpstr>
      <vt:lpstr>.meta檔案</vt:lpstr>
      <vt:lpstr>Lesson 7.2 建立Unity資源</vt:lpstr>
      <vt:lpstr>建立Unity資源</vt:lpstr>
      <vt:lpstr>PowerPoint 簡報</vt:lpstr>
      <vt:lpstr>PowerPoint 簡報</vt:lpstr>
      <vt:lpstr>建立Unity資源</vt:lpstr>
      <vt:lpstr>Lesson 7.3 資源管理：資料夾編排</vt:lpstr>
      <vt:lpstr>資源管理：資料夾編排</vt:lpstr>
      <vt:lpstr>資源管理：資料夾編排</vt:lpstr>
      <vt:lpstr>資源管理：資料夾編排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326</cp:revision>
  <dcterms:created xsi:type="dcterms:W3CDTF">2024-11-18T05:57:07Z</dcterms:created>
  <dcterms:modified xsi:type="dcterms:W3CDTF">2025-10-20T02:33:33Z</dcterms:modified>
</cp:coreProperties>
</file>