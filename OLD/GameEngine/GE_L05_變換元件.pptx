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92" r:id="rId3"/>
    <p:sldId id="264" r:id="rId4"/>
    <p:sldId id="296" r:id="rId5"/>
    <p:sldId id="297" r:id="rId6"/>
    <p:sldId id="298" r:id="rId7"/>
    <p:sldId id="293" r:id="rId8"/>
    <p:sldId id="299" r:id="rId9"/>
    <p:sldId id="301" r:id="rId10"/>
    <p:sldId id="291" r:id="rId11"/>
    <p:sldId id="302" r:id="rId12"/>
    <p:sldId id="303" r:id="rId13"/>
    <p:sldId id="305" r:id="rId14"/>
    <p:sldId id="307" r:id="rId15"/>
    <p:sldId id="306" r:id="rId16"/>
    <p:sldId id="308" r:id="rId17"/>
    <p:sldId id="309" r:id="rId18"/>
    <p:sldId id="318" r:id="rId19"/>
    <p:sldId id="311" r:id="rId20"/>
    <p:sldId id="310" r:id="rId21"/>
    <p:sldId id="315" r:id="rId22"/>
    <p:sldId id="317" r:id="rId23"/>
    <p:sldId id="316" r:id="rId24"/>
    <p:sldId id="304" r:id="rId25"/>
    <p:sldId id="319" r:id="rId26"/>
    <p:sldId id="320" r:id="rId27"/>
    <p:sldId id="312" r:id="rId28"/>
    <p:sldId id="321" r:id="rId29"/>
    <p:sldId id="322" r:id="rId30"/>
    <p:sldId id="333" r:id="rId31"/>
    <p:sldId id="325" r:id="rId3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youtube.com/watch?v=vLDn-ZITDgA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5</a:t>
            </a:r>
            <a:br>
              <a:rPr lang="en-US" altLang="zh-TW" dirty="0"/>
            </a:br>
            <a:r>
              <a:rPr lang="en-US" altLang="zh-TW" dirty="0"/>
              <a:t>Transform (</a:t>
            </a:r>
            <a:r>
              <a:rPr lang="zh-TW" altLang="en-US" dirty="0"/>
              <a:t>變換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</a:t>
            </a:r>
            <a:r>
              <a:rPr lang="zh-TW" altLang="en-US">
                <a:solidFill>
                  <a:srgbClr val="003399"/>
                </a:solidFill>
                <a:latin typeface="Times New Roman" panose="02020603050405020304" pitchFamily="18" charset="0"/>
              </a:rPr>
              <a:t>引擎應用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FB9A7-15B3-E818-46BA-67F095205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建立一個立方體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F4EE75-5F2C-4FB2-1792-6F55013C4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122912" cy="4325112"/>
          </a:xfrm>
        </p:spPr>
        <p:txBody>
          <a:bodyPr/>
          <a:lstStyle/>
          <a:p>
            <a:r>
              <a:rPr lang="en-US" altLang="zh-TW" dirty="0" err="1"/>
              <a:t>Hierachy</a:t>
            </a:r>
            <a:r>
              <a:rPr lang="zh-TW" altLang="en-US" dirty="0"/>
              <a:t>中按下右鍵，選擇</a:t>
            </a:r>
            <a:r>
              <a:rPr lang="en-US" altLang="zh-TW" dirty="0"/>
              <a:t>3D</a:t>
            </a:r>
            <a:r>
              <a:rPr lang="zh-TW" altLang="en-US" dirty="0"/>
              <a:t> </a:t>
            </a:r>
            <a:r>
              <a:rPr lang="en-US" altLang="zh-TW" dirty="0"/>
              <a:t>Object &gt; Cube</a:t>
            </a:r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要在遊戲場景中建立新</a:t>
            </a:r>
            <a:r>
              <a:rPr lang="en-US" altLang="zh-TW" dirty="0"/>
              <a:t>[</a:t>
            </a:r>
            <a:r>
              <a:rPr lang="en-US" altLang="zh-TW" dirty="0" err="1"/>
              <a:t>GameObject</a:t>
            </a:r>
            <a:r>
              <a:rPr lang="zh-TW" altLang="en-US" dirty="0"/>
              <a:t>遊戲物件</a:t>
            </a:r>
            <a:r>
              <a:rPr lang="en-US" altLang="zh-TW" dirty="0"/>
              <a:t>]</a:t>
            </a:r>
            <a:r>
              <a:rPr lang="zh-TW" altLang="en-US" dirty="0"/>
              <a:t>時，通常經由此方法建立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613D167-C3B5-078F-B644-585E86A87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166" y="476672"/>
            <a:ext cx="3104818" cy="3789040"/>
          </a:xfrm>
          <a:prstGeom prst="rect">
            <a:avLst/>
          </a:prstGeom>
        </p:spPr>
      </p:pic>
      <p:pic>
        <p:nvPicPr>
          <p:cNvPr id="8" name="內容版面配置區 4">
            <a:extLst>
              <a:ext uri="{FF2B5EF4-FFF2-40B4-BE49-F238E27FC236}">
                <a16:creationId xmlns:a16="http://schemas.microsoft.com/office/drawing/2014/main" id="{403CD3F0-5730-DF74-B6C9-BDF5415E2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4411980"/>
            <a:ext cx="3716959" cy="24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76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GameObject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dirty="0"/>
              <a:t>Component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在</a:t>
            </a:r>
            <a:r>
              <a:rPr lang="en-US" altLang="zh-TW" dirty="0"/>
              <a:t>Unity</a:t>
            </a:r>
            <a:r>
              <a:rPr lang="zh-TW" altLang="en-US" dirty="0"/>
              <a:t>中，在階層</a:t>
            </a:r>
            <a:r>
              <a:rPr lang="en-US" altLang="zh-TW" dirty="0"/>
              <a:t>(Hierarchy)</a:t>
            </a:r>
            <a:r>
              <a:rPr lang="zh-TW" altLang="en-US" dirty="0"/>
              <a:t>中看到的每個名稱都為一個遊戲物件</a:t>
            </a:r>
            <a:r>
              <a:rPr lang="en-US" altLang="zh-TW" dirty="0"/>
              <a:t>(Game Object)</a:t>
            </a:r>
          </a:p>
          <a:p>
            <a:endParaRPr lang="en-US" altLang="zh-TW" dirty="0"/>
          </a:p>
          <a:p>
            <a:r>
              <a:rPr lang="zh-TW" altLang="en-US" dirty="0"/>
              <a:t>每個遊戲物件可以擁有多個元件</a:t>
            </a:r>
            <a:r>
              <a:rPr lang="en-US" altLang="zh-TW" dirty="0"/>
              <a:t>(</a:t>
            </a:r>
            <a:r>
              <a:rPr lang="en-US" altLang="zh-TW" dirty="0" err="1"/>
              <a:t>Componet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而遊戲物件必定會有變換元件</a:t>
            </a:r>
            <a:r>
              <a:rPr lang="en-US" altLang="zh-TW" dirty="0"/>
              <a:t>(Transform)</a:t>
            </a:r>
            <a:r>
              <a:rPr lang="zh-TW" altLang="en-US" dirty="0"/>
              <a:t>，</a:t>
            </a:r>
            <a:r>
              <a:rPr lang="en-US" altLang="zh-TW" dirty="0"/>
              <a:t>UI</a:t>
            </a:r>
            <a:r>
              <a:rPr lang="zh-TW" altLang="en-US" dirty="0"/>
              <a:t>物件除外。</a:t>
            </a:r>
            <a:endParaRPr lang="en-US" altLang="zh-TW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830D55-0AD4-9303-002B-ED4E145F2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Transform</a:t>
            </a:r>
            <a:r>
              <a:rPr lang="zh-TW" altLang="en-US" dirty="0"/>
              <a:t> 變換元件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032D00-15A8-7092-CB09-AECFC92BE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[</a:t>
            </a:r>
            <a:r>
              <a:rPr lang="en-US" altLang="zh-TW" dirty="0" err="1"/>
              <a:t>GameObject</a:t>
            </a:r>
            <a:r>
              <a:rPr lang="en-US" altLang="zh-TW" dirty="0"/>
              <a:t> </a:t>
            </a:r>
            <a:r>
              <a:rPr lang="zh-TW" altLang="en-US" dirty="0"/>
              <a:t>遊戲物件</a:t>
            </a:r>
            <a:r>
              <a:rPr lang="en-US" altLang="zh-TW" dirty="0"/>
              <a:t>]</a:t>
            </a:r>
            <a:r>
              <a:rPr lang="zh-TW" altLang="en-US" dirty="0"/>
              <a:t> 必定會有的 </a:t>
            </a:r>
            <a:r>
              <a:rPr lang="en-US" altLang="zh-TW" dirty="0"/>
              <a:t>[Component</a:t>
            </a:r>
            <a:r>
              <a:rPr lang="zh-TW" altLang="en-US" dirty="0"/>
              <a:t> 元件</a:t>
            </a:r>
            <a:r>
              <a:rPr lang="en-US" altLang="zh-TW" dirty="0"/>
              <a:t>]</a:t>
            </a:r>
            <a:r>
              <a:rPr lang="zh-TW" altLang="en-US" dirty="0"/>
              <a:t> </a:t>
            </a:r>
            <a:r>
              <a:rPr lang="en-US" altLang="zh-TW" dirty="0"/>
              <a:t>(UI</a:t>
            </a:r>
            <a:r>
              <a:rPr lang="zh-TW" altLang="en-US" dirty="0"/>
              <a:t>除外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en-US" altLang="zh-TW" dirty="0"/>
              <a:t>Position</a:t>
            </a:r>
            <a:r>
              <a:rPr lang="zh-TW" altLang="en-US" dirty="0"/>
              <a:t> 位置</a:t>
            </a:r>
            <a:endParaRPr lang="en-US" altLang="zh-TW" dirty="0"/>
          </a:p>
          <a:p>
            <a:pPr lvl="1"/>
            <a:r>
              <a:rPr lang="en-US" altLang="zh-TW" dirty="0"/>
              <a:t>Vector 3 (</a:t>
            </a:r>
            <a:r>
              <a:rPr lang="zh-TW" altLang="en-US" dirty="0"/>
              <a:t>三維向量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Rotation</a:t>
            </a:r>
            <a:r>
              <a:rPr lang="zh-TW" altLang="en-US" dirty="0"/>
              <a:t> 轉動</a:t>
            </a:r>
            <a:endParaRPr lang="en-US" altLang="zh-TW" dirty="0"/>
          </a:p>
          <a:p>
            <a:pPr lvl="1"/>
            <a:r>
              <a:rPr lang="en-US" altLang="zh-TW" dirty="0"/>
              <a:t>Quaternion (</a:t>
            </a:r>
            <a:r>
              <a:rPr lang="zh-TW" altLang="en-US" dirty="0"/>
              <a:t>四元數、歐拉角顯示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Scale</a:t>
            </a:r>
            <a:r>
              <a:rPr lang="zh-TW" altLang="en-US" dirty="0"/>
              <a:t> 縮放</a:t>
            </a:r>
            <a:endParaRPr lang="en-US" altLang="zh-TW" dirty="0"/>
          </a:p>
          <a:p>
            <a:pPr lvl="1"/>
            <a:r>
              <a:rPr lang="en-US" altLang="zh-TW" dirty="0"/>
              <a:t>Vector 3 (</a:t>
            </a:r>
            <a:r>
              <a:rPr lang="zh-TW" altLang="en-US" dirty="0"/>
              <a:t>三維向量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955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286701-822A-F2C9-BCAD-1EB94AB80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座標系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58BF60-420F-6A98-3709-23C28C0BC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：左手座標系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x</a:t>
            </a:r>
          </a:p>
          <a:p>
            <a:r>
              <a:rPr lang="en-US" altLang="zh-TW" dirty="0"/>
              <a:t>y:</a:t>
            </a:r>
            <a:r>
              <a:rPr lang="zh-TW" altLang="en-US" dirty="0"/>
              <a:t>高度</a:t>
            </a:r>
            <a:endParaRPr lang="en-US" altLang="zh-TW" dirty="0"/>
          </a:p>
          <a:p>
            <a:r>
              <a:rPr lang="en-US" altLang="zh-TW" dirty="0"/>
              <a:t>z:</a:t>
            </a:r>
            <a:r>
              <a:rPr lang="zh-TW" altLang="en-US" dirty="0"/>
              <a:t>深度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3FC76C-3E02-EB61-7134-969A092E9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9008" y="3174324"/>
            <a:ext cx="3643338" cy="3691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3E88C5-D70D-A90F-5C02-4B6B05A10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31840" y="2907202"/>
            <a:ext cx="2398579" cy="3979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0952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調整物件</a:t>
            </a:r>
            <a:r>
              <a:rPr lang="en-US" altLang="zh-TW" dirty="0"/>
              <a:t>Transform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變換組件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Position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位置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Rotation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旋轉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Scale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大小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4243410"/>
            <a:ext cx="7507287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3286124"/>
            <a:ext cx="5214942" cy="870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5119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BD9446-5B42-1823-4830-0388E70A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82" y="910711"/>
            <a:ext cx="8229600" cy="1066800"/>
          </a:xfrm>
        </p:spPr>
        <p:txBody>
          <a:bodyPr/>
          <a:lstStyle/>
          <a:p>
            <a:r>
              <a:rPr lang="zh-TW" altLang="en-US" dirty="0"/>
              <a:t>英文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4CDDAF0-D373-5069-0A1C-31D5DC8D0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347305"/>
              </p:ext>
            </p:extLst>
          </p:nvPr>
        </p:nvGraphicFramePr>
        <p:xfrm>
          <a:off x="611560" y="1988840"/>
          <a:ext cx="8075240" cy="47963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17316374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2426916"/>
                    </a:ext>
                  </a:extLst>
                </a:gridCol>
                <a:gridCol w="4330824">
                  <a:extLst>
                    <a:ext uri="{9D8B030D-6E8A-4147-A177-3AD203B41FA5}">
                      <a16:colId xmlns:a16="http://schemas.microsoft.com/office/drawing/2014/main" val="1836957082"/>
                    </a:ext>
                  </a:extLst>
                </a:gridCol>
              </a:tblGrid>
              <a:tr h="571128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Game Object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遊戲物件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kumimoji="0" lang="en-US" altLang="zh-TW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Unity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在場景中運作的基本單位，可在</a:t>
                      </a:r>
                      <a:r>
                        <a:rPr kumimoji="0" lang="en-US" altLang="zh-TW" sz="1800" b="0" kern="120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Hierachy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或</a:t>
                      </a:r>
                      <a:r>
                        <a:rPr kumimoji="0" lang="en-US" altLang="zh-TW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Scene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介面中找到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4294642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Component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元件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影響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GO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中的行為，一個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GO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可擁有多個元件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58920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Transform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變換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一般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GO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的基礎元件，表示其位置轉動縮放等等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26562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Position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表示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GO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的位置，儲存型態為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Vector3</a:t>
                      </a:r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584998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Rotation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轉動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/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旋轉</a:t>
                      </a:r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表示</a:t>
                      </a:r>
                      <a:r>
                        <a:rPr kumimoji="0" lang="en-US" altLang="zh-TW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GO</a:t>
                      </a:r>
                      <a:r>
                        <a:rPr kumimoji="0" lang="zh-TW" altLang="en-US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的旋轉狀態，儲存型態為</a:t>
                      </a:r>
                      <a:r>
                        <a:rPr kumimoji="0" lang="en-US" altLang="zh-TW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Quaternion</a:t>
                      </a:r>
                      <a:endParaRPr kumimoji="0" lang="zh-TW" altLang="en-US" sz="1600" b="0" kern="120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2872403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Scale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縮放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表示</a:t>
                      </a:r>
                      <a:r>
                        <a:rPr kumimoji="0" lang="en-US" altLang="zh-TW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GO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的大小，儲存型態為</a:t>
                      </a:r>
                      <a:r>
                        <a:rPr kumimoji="0" lang="en-US" altLang="zh-TW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Vector3</a:t>
                      </a:r>
                      <a:endParaRPr kumimoji="0" lang="zh-TW" altLang="en-US" sz="1800" b="0" kern="120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846255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Vector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向量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多個實數組成的數組，代表一個有方向性的數值，通常為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3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個實數，如 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(0.5,1.5,2.5)</a:t>
                      </a:r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957201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kumimoji="0" lang="en-US" altLang="zh-TW" sz="18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Quaternion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四元數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由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4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個實數組成的數組，在數學中通常用來表示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3D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空間的轉動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729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78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3200" dirty="0"/>
              <a:t>Section 2</a:t>
            </a:r>
            <a:br>
              <a:rPr lang="en-US" altLang="zh-TW" dirty="0"/>
            </a:br>
            <a:r>
              <a:rPr lang="zh-TW" altLang="en-US" dirty="0"/>
              <a:t>向量 </a:t>
            </a:r>
            <a:r>
              <a:rPr lang="en-US" altLang="zh-TW" dirty="0"/>
              <a:t>Vector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r>
              <a:rPr lang="en-US" altLang="zh-TW" dirty="0">
                <a:solidFill>
                  <a:srgbClr val="003399"/>
                </a:solidFill>
                <a:latin typeface="Times New Roman" panose="02020603050405020304" pitchFamily="18" charset="0"/>
              </a:rPr>
              <a:t>(Y2)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7955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830D55-0AD4-9303-002B-ED4E145F2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Transform</a:t>
            </a:r>
            <a:r>
              <a:rPr lang="zh-TW" altLang="en-US" dirty="0"/>
              <a:t> 變換元件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032D00-15A8-7092-CB09-AECFC92BE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Position</a:t>
            </a:r>
            <a:r>
              <a:rPr lang="zh-TW" altLang="en-US" dirty="0"/>
              <a:t> 位置</a:t>
            </a:r>
            <a:endParaRPr lang="en-US" altLang="zh-TW" dirty="0"/>
          </a:p>
          <a:p>
            <a:pPr lvl="1"/>
            <a:r>
              <a:rPr lang="en-US" altLang="zh-TW" dirty="0"/>
              <a:t>Vector 3 (</a:t>
            </a:r>
            <a:r>
              <a:rPr lang="zh-TW" altLang="en-US" dirty="0"/>
              <a:t>三維向量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Rotation</a:t>
            </a:r>
            <a:r>
              <a:rPr lang="zh-TW" altLang="en-US" dirty="0"/>
              <a:t> 轉動</a:t>
            </a:r>
            <a:endParaRPr lang="en-US" altLang="zh-TW" dirty="0"/>
          </a:p>
          <a:p>
            <a:pPr lvl="1"/>
            <a:r>
              <a:rPr lang="en-US" altLang="zh-TW" dirty="0"/>
              <a:t>Quaternion (</a:t>
            </a:r>
            <a:r>
              <a:rPr lang="zh-TW" altLang="en-US" dirty="0"/>
              <a:t>四元數、歐拉角顯示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Scale</a:t>
            </a:r>
            <a:r>
              <a:rPr lang="zh-TW" altLang="en-US" dirty="0"/>
              <a:t> 縮放</a:t>
            </a:r>
            <a:endParaRPr lang="en-US" altLang="zh-TW" dirty="0"/>
          </a:p>
          <a:p>
            <a:pPr lvl="1"/>
            <a:r>
              <a:rPr lang="en-US" altLang="zh-TW" dirty="0"/>
              <a:t>Vector 3 (</a:t>
            </a:r>
            <a:r>
              <a:rPr lang="zh-TW" altLang="en-US" dirty="0"/>
              <a:t>三維向量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2390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363292-EA0C-8693-3EAF-4A892F156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Vector3</a:t>
            </a:r>
            <a:r>
              <a:rPr lang="zh-TW" altLang="en-US" dirty="0"/>
              <a:t> </a:t>
            </a:r>
            <a:r>
              <a:rPr lang="en-US" altLang="zh-TW" dirty="0"/>
              <a:t>(3</a:t>
            </a:r>
            <a:r>
              <a:rPr lang="zh-TW" altLang="en-US" dirty="0"/>
              <a:t>維向量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4861CF-D99C-9059-DE11-B94799F5F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4524536" cy="4325112"/>
          </a:xfrm>
        </p:spPr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/>
              <a:t>3D </a:t>
            </a:r>
            <a:r>
              <a:rPr lang="zh-TW" altLang="en-US" dirty="0"/>
              <a:t>空間中表示一個點或方向</a:t>
            </a:r>
            <a:endParaRPr lang="en-US" altLang="zh-TW" dirty="0"/>
          </a:p>
          <a:p>
            <a:r>
              <a:rPr lang="en-US" altLang="zh-TW" dirty="0"/>
              <a:t>Vector3 (</a:t>
            </a:r>
            <a:r>
              <a:rPr lang="en-US" altLang="zh-TW" dirty="0" err="1"/>
              <a:t>x,y,z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Unity</a:t>
            </a:r>
            <a:r>
              <a:rPr lang="zh-TW" altLang="en-US" dirty="0"/>
              <a:t>中，使用單精度浮點數 </a:t>
            </a:r>
            <a:r>
              <a:rPr lang="en-US" altLang="zh-TW" dirty="0"/>
              <a:t>(</a:t>
            </a:r>
            <a:r>
              <a:rPr lang="zh-TW" altLang="en-US" dirty="0"/>
              <a:t>小數、</a:t>
            </a:r>
            <a:r>
              <a:rPr lang="en-US" altLang="zh-TW" dirty="0"/>
              <a:t>float)</a:t>
            </a:r>
            <a:r>
              <a:rPr lang="zh-TW" altLang="en-US" dirty="0"/>
              <a:t>來計算數值</a:t>
            </a:r>
            <a:endParaRPr lang="en-US" altLang="zh-TW" dirty="0"/>
          </a:p>
          <a:p>
            <a:endParaRPr lang="en-US" altLang="zh-TW" dirty="0"/>
          </a:p>
        </p:txBody>
      </p: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F36E88CD-2D32-FF01-E1EE-2E1481FF9E9C}"/>
              </a:ext>
            </a:extLst>
          </p:cNvPr>
          <p:cNvGrpSpPr/>
          <p:nvPr/>
        </p:nvGrpSpPr>
        <p:grpSpPr>
          <a:xfrm>
            <a:off x="5220072" y="3449247"/>
            <a:ext cx="3021144" cy="3245451"/>
            <a:chOff x="3423640" y="3256019"/>
            <a:chExt cx="3021144" cy="3245451"/>
          </a:xfrm>
        </p:grpSpPr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20D31C39-B328-2779-7336-6237E96B744D}"/>
                </a:ext>
              </a:extLst>
            </p:cNvPr>
            <p:cNvGrpSpPr/>
            <p:nvPr/>
          </p:nvGrpSpPr>
          <p:grpSpPr>
            <a:xfrm>
              <a:off x="3758177" y="3429000"/>
              <a:ext cx="2686607" cy="2751029"/>
              <a:chOff x="3758177" y="3429000"/>
              <a:chExt cx="2686607" cy="2751029"/>
            </a:xfrm>
          </p:grpSpPr>
          <p:cxnSp>
            <p:nvCxnSpPr>
              <p:cNvPr id="68" name="直線單箭頭接點 67">
                <a:extLst>
                  <a:ext uri="{FF2B5EF4-FFF2-40B4-BE49-F238E27FC236}">
                    <a16:creationId xmlns:a16="http://schemas.microsoft.com/office/drawing/2014/main" id="{42FC595F-92B5-5726-E498-35F40795BC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6024657"/>
                <a:ext cx="2209935" cy="20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>
                <a:extLst>
                  <a:ext uri="{FF2B5EF4-FFF2-40B4-BE49-F238E27FC236}">
                    <a16:creationId xmlns:a16="http://schemas.microsoft.com/office/drawing/2014/main" id="{BF14E0AD-2F8F-4D23-A256-CBC6655E0A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113" y="3866481"/>
                <a:ext cx="0" cy="2178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單箭頭接點 69">
                <a:extLst>
                  <a:ext uri="{FF2B5EF4-FFF2-40B4-BE49-F238E27FC236}">
                    <a16:creationId xmlns:a16="http://schemas.microsoft.com/office/drawing/2014/main" id="{F1FAE0B7-322D-529F-646A-8262FD01B7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4955824"/>
                <a:ext cx="1800200" cy="10893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1D2BA5E9-C0AB-CE05-C6FC-E10BA4B9E783}"/>
                  </a:ext>
                </a:extLst>
              </p:cNvPr>
              <p:cNvSpPr txBox="1"/>
              <p:nvPr/>
            </p:nvSpPr>
            <p:spPr>
              <a:xfrm>
                <a:off x="6206448" y="581069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x</a:t>
                </a:r>
                <a:endParaRPr lang="zh-TW" altLang="en-US" dirty="0"/>
              </a:p>
            </p:txBody>
          </p:sp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39683862-900E-2C7E-6818-29BD7F791DB6}"/>
                  </a:ext>
                </a:extLst>
              </p:cNvPr>
              <p:cNvSpPr txBox="1"/>
              <p:nvPr/>
            </p:nvSpPr>
            <p:spPr>
              <a:xfrm>
                <a:off x="3758177" y="3429000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y</a:t>
                </a:r>
                <a:endParaRPr lang="zh-TW" altLang="en-US" dirty="0"/>
              </a:p>
            </p:txBody>
          </p:sp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77DE062B-3896-75D7-1FC6-6B49D23B62E7}"/>
                  </a:ext>
                </a:extLst>
              </p:cNvPr>
              <p:cNvSpPr txBox="1"/>
              <p:nvPr/>
            </p:nvSpPr>
            <p:spPr>
              <a:xfrm>
                <a:off x="5790708" y="464927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z</a:t>
                </a:r>
                <a:endParaRPr lang="zh-TW" altLang="en-US" dirty="0"/>
              </a:p>
            </p:txBody>
          </p:sp>
        </p:grp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55503736-F8A2-6DD7-B5D1-721E7E576883}"/>
                </a:ext>
              </a:extLst>
            </p:cNvPr>
            <p:cNvGrpSpPr/>
            <p:nvPr/>
          </p:nvGrpSpPr>
          <p:grpSpPr>
            <a:xfrm>
              <a:off x="3456453" y="5961681"/>
              <a:ext cx="1080119" cy="539789"/>
              <a:chOff x="3456453" y="5961681"/>
              <a:chExt cx="1080119" cy="539789"/>
            </a:xfrm>
          </p:grpSpPr>
          <p:sp>
            <p:nvSpPr>
              <p:cNvPr id="66" name="橢圓 65">
                <a:extLst>
                  <a:ext uri="{FF2B5EF4-FFF2-40B4-BE49-F238E27FC236}">
                    <a16:creationId xmlns:a16="http://schemas.microsoft.com/office/drawing/2014/main" id="{D1F5298D-844D-4314-9D3F-242876FA3760}"/>
                  </a:ext>
                </a:extLst>
              </p:cNvPr>
              <p:cNvSpPr/>
              <p:nvPr/>
            </p:nvSpPr>
            <p:spPr>
              <a:xfrm>
                <a:off x="3913347" y="5961681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CADF2E67-2DBE-F338-0AA3-7367560D0AA0}"/>
                  </a:ext>
                </a:extLst>
              </p:cNvPr>
              <p:cNvSpPr txBox="1"/>
              <p:nvPr/>
            </p:nvSpPr>
            <p:spPr>
              <a:xfrm>
                <a:off x="3456453" y="6132138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(0,0,0)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0C9902FF-632F-0C6F-E9B5-4BD7F79DE215}"/>
                </a:ext>
              </a:extLst>
            </p:cNvPr>
            <p:cNvSpPr/>
            <p:nvPr/>
          </p:nvSpPr>
          <p:spPr>
            <a:xfrm>
              <a:off x="3911642" y="429514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BC1F3299-5FFF-077D-A343-EDD84EF4A306}"/>
                </a:ext>
              </a:extLst>
            </p:cNvPr>
            <p:cNvSpPr txBox="1"/>
            <p:nvPr/>
          </p:nvSpPr>
          <p:spPr>
            <a:xfrm>
              <a:off x="3423640" y="3920792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(0,1,0)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56" name="群組 55">
              <a:extLst>
                <a:ext uri="{FF2B5EF4-FFF2-40B4-BE49-F238E27FC236}">
                  <a16:creationId xmlns:a16="http://schemas.microsoft.com/office/drawing/2014/main" id="{7DBF33DF-1663-62D5-82EA-C31173BAEA4B}"/>
                </a:ext>
              </a:extLst>
            </p:cNvPr>
            <p:cNvGrpSpPr/>
            <p:nvPr/>
          </p:nvGrpSpPr>
          <p:grpSpPr>
            <a:xfrm>
              <a:off x="4644008" y="5251635"/>
              <a:ext cx="1080119" cy="539789"/>
              <a:chOff x="4644008" y="5251635"/>
              <a:chExt cx="1080119" cy="539789"/>
            </a:xfrm>
          </p:grpSpPr>
          <p:sp>
            <p:nvSpPr>
              <p:cNvPr id="64" name="橢圓 63">
                <a:extLst>
                  <a:ext uri="{FF2B5EF4-FFF2-40B4-BE49-F238E27FC236}">
                    <a16:creationId xmlns:a16="http://schemas.microsoft.com/office/drawing/2014/main" id="{67133659-7401-AB7F-F543-A9275C924959}"/>
                  </a:ext>
                </a:extLst>
              </p:cNvPr>
              <p:cNvSpPr/>
              <p:nvPr/>
            </p:nvSpPr>
            <p:spPr>
              <a:xfrm>
                <a:off x="5100902" y="5251635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B7AE1152-CF67-34D8-E2CA-E06B34B05F25}"/>
                  </a:ext>
                </a:extLst>
              </p:cNvPr>
              <p:cNvSpPr txBox="1"/>
              <p:nvPr/>
            </p:nvSpPr>
            <p:spPr>
              <a:xfrm>
                <a:off x="4644008" y="5422092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(0,0,1)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57" name="橢圓 56">
              <a:extLst>
                <a:ext uri="{FF2B5EF4-FFF2-40B4-BE49-F238E27FC236}">
                  <a16:creationId xmlns:a16="http://schemas.microsoft.com/office/drawing/2014/main" id="{2AB579ED-DC45-0DD9-F01C-3C640E49B1E8}"/>
                </a:ext>
              </a:extLst>
            </p:cNvPr>
            <p:cNvSpPr/>
            <p:nvPr/>
          </p:nvSpPr>
          <p:spPr>
            <a:xfrm>
              <a:off x="5100902" y="363717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5F5F6C4-3938-4D86-5A5E-FDAF29E98B75}"/>
                </a:ext>
              </a:extLst>
            </p:cNvPr>
            <p:cNvSpPr txBox="1"/>
            <p:nvPr/>
          </p:nvSpPr>
          <p:spPr>
            <a:xfrm>
              <a:off x="4644008" y="3256019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(0,1,1)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4825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363292-EA0C-8693-3EAF-4A892F156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Vector3 </a:t>
            </a:r>
            <a:r>
              <a:rPr lang="zh-TW" altLang="en-US" dirty="0"/>
              <a:t> </a:t>
            </a:r>
            <a:r>
              <a:rPr lang="en-US" altLang="zh-TW" dirty="0"/>
              <a:t>(3</a:t>
            </a:r>
            <a:r>
              <a:rPr lang="zh-TW" altLang="en-US" dirty="0"/>
              <a:t>維向量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4861CF-D99C-9059-DE11-B94799F5F407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/>
              <a:t>3D </a:t>
            </a:r>
            <a:r>
              <a:rPr lang="zh-TW" altLang="en-US" dirty="0"/>
              <a:t>空間中表示一個點或方向</a:t>
            </a:r>
            <a:endParaRPr lang="en-US" altLang="zh-TW" dirty="0"/>
          </a:p>
          <a:p>
            <a:r>
              <a:rPr lang="en-US" altLang="zh-TW" dirty="0"/>
              <a:t>Vector3 (</a:t>
            </a:r>
            <a:r>
              <a:rPr lang="en-US" altLang="zh-TW" dirty="0" err="1"/>
              <a:t>x,y,z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37" name="內容版面配置區 2">
            <a:extLst>
              <a:ext uri="{FF2B5EF4-FFF2-40B4-BE49-F238E27FC236}">
                <a16:creationId xmlns:a16="http://schemas.microsoft.com/office/drawing/2014/main" id="{2D5AD4D8-5B3E-3955-6E78-EE7F39BB2C8A}"/>
              </a:ext>
            </a:extLst>
          </p:cNvPr>
          <p:cNvSpPr txBox="1">
            <a:spLocks/>
          </p:cNvSpPr>
          <p:nvPr/>
        </p:nvSpPr>
        <p:spPr>
          <a:xfrm>
            <a:off x="3087709" y="4612112"/>
            <a:ext cx="2098576" cy="162628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en-US" altLang="zh-TW">
                <a:solidFill>
                  <a:srgbClr val="FF0000"/>
                </a:solidFill>
              </a:rPr>
              <a:t>(0,1,0)</a:t>
            </a:r>
          </a:p>
          <a:p>
            <a:pPr marL="109728" indent="0">
              <a:buFont typeface="Georgia"/>
              <a:buNone/>
            </a:pPr>
            <a:r>
              <a:rPr lang="en-US" altLang="zh-TW">
                <a:solidFill>
                  <a:srgbClr val="0070C0"/>
                </a:solidFill>
              </a:rPr>
              <a:t>(0,0,1)</a:t>
            </a:r>
          </a:p>
          <a:p>
            <a:pPr marL="109728" indent="0">
              <a:buFont typeface="Georgia"/>
              <a:buNone/>
            </a:pPr>
            <a:r>
              <a:rPr lang="en-US" altLang="zh-TW">
                <a:solidFill>
                  <a:srgbClr val="00B050"/>
                </a:solidFill>
              </a:rPr>
              <a:t>(0,1,1)</a:t>
            </a:r>
          </a:p>
          <a:p>
            <a:endParaRPr lang="zh-TW" altLang="en-US" dirty="0"/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0D927671-2176-4EF7-7609-BDD753B6CD18}"/>
              </a:ext>
            </a:extLst>
          </p:cNvPr>
          <p:cNvGrpSpPr/>
          <p:nvPr/>
        </p:nvGrpSpPr>
        <p:grpSpPr>
          <a:xfrm>
            <a:off x="5220072" y="3449247"/>
            <a:ext cx="3021144" cy="3245451"/>
            <a:chOff x="3423640" y="3256019"/>
            <a:chExt cx="3021144" cy="3245451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B27D57DD-5F7D-7658-3EC6-14CC5140139F}"/>
                </a:ext>
              </a:extLst>
            </p:cNvPr>
            <p:cNvGrpSpPr/>
            <p:nvPr/>
          </p:nvGrpSpPr>
          <p:grpSpPr>
            <a:xfrm>
              <a:off x="3758177" y="3429000"/>
              <a:ext cx="2686607" cy="2751029"/>
              <a:chOff x="3758177" y="3429000"/>
              <a:chExt cx="2686607" cy="2751029"/>
            </a:xfrm>
          </p:grpSpPr>
          <p:cxnSp>
            <p:nvCxnSpPr>
              <p:cNvPr id="55" name="直線單箭頭接點 54">
                <a:extLst>
                  <a:ext uri="{FF2B5EF4-FFF2-40B4-BE49-F238E27FC236}">
                    <a16:creationId xmlns:a16="http://schemas.microsoft.com/office/drawing/2014/main" id="{C2EFD3A3-011B-0CDE-525F-174F2A37AB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6024657"/>
                <a:ext cx="2209935" cy="20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線單箭頭接點 55">
                <a:extLst>
                  <a:ext uri="{FF2B5EF4-FFF2-40B4-BE49-F238E27FC236}">
                    <a16:creationId xmlns:a16="http://schemas.microsoft.com/office/drawing/2014/main" id="{D3856A92-5835-6D0B-BEA9-A601DAA331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113" y="3866481"/>
                <a:ext cx="0" cy="2178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線單箭頭接點 56">
                <a:extLst>
                  <a:ext uri="{FF2B5EF4-FFF2-40B4-BE49-F238E27FC236}">
                    <a16:creationId xmlns:a16="http://schemas.microsoft.com/office/drawing/2014/main" id="{DC3714CE-0131-6C00-C6A0-5046862503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4955824"/>
                <a:ext cx="1800200" cy="10893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5207E4FD-6FED-3C5A-6381-856D0585E060}"/>
                  </a:ext>
                </a:extLst>
              </p:cNvPr>
              <p:cNvSpPr txBox="1"/>
              <p:nvPr/>
            </p:nvSpPr>
            <p:spPr>
              <a:xfrm>
                <a:off x="6206448" y="581069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x</a:t>
                </a:r>
                <a:endParaRPr lang="zh-TW" altLang="en-US" dirty="0"/>
              </a:p>
            </p:txBody>
          </p:sp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58606FC8-4E66-A38B-8360-B7347BA926C4}"/>
                  </a:ext>
                </a:extLst>
              </p:cNvPr>
              <p:cNvSpPr txBox="1"/>
              <p:nvPr/>
            </p:nvSpPr>
            <p:spPr>
              <a:xfrm>
                <a:off x="3758177" y="3429000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y</a:t>
                </a:r>
                <a:endParaRPr lang="zh-TW" altLang="en-US" dirty="0"/>
              </a:p>
            </p:txBody>
          </p:sp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7992D7F-6E18-1532-9E1B-072FA73CC259}"/>
                  </a:ext>
                </a:extLst>
              </p:cNvPr>
              <p:cNvSpPr txBox="1"/>
              <p:nvPr/>
            </p:nvSpPr>
            <p:spPr>
              <a:xfrm>
                <a:off x="5790708" y="464927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z</a:t>
                </a:r>
                <a:endParaRPr lang="zh-TW" altLang="en-US" dirty="0"/>
              </a:p>
            </p:txBody>
          </p:sp>
        </p:grpSp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C4963C2E-4329-7CAF-87B1-91C5E77DBB96}"/>
                </a:ext>
              </a:extLst>
            </p:cNvPr>
            <p:cNvGrpSpPr/>
            <p:nvPr/>
          </p:nvGrpSpPr>
          <p:grpSpPr>
            <a:xfrm>
              <a:off x="3456453" y="5961681"/>
              <a:ext cx="1080119" cy="539789"/>
              <a:chOff x="3456453" y="5961681"/>
              <a:chExt cx="1080119" cy="539789"/>
            </a:xfrm>
          </p:grpSpPr>
          <p:sp>
            <p:nvSpPr>
              <p:cNvPr id="53" name="橢圓 52">
                <a:extLst>
                  <a:ext uri="{FF2B5EF4-FFF2-40B4-BE49-F238E27FC236}">
                    <a16:creationId xmlns:a16="http://schemas.microsoft.com/office/drawing/2014/main" id="{76A9615E-6209-E3DB-B2A7-90910F5A410D}"/>
                  </a:ext>
                </a:extLst>
              </p:cNvPr>
              <p:cNvSpPr/>
              <p:nvPr/>
            </p:nvSpPr>
            <p:spPr>
              <a:xfrm>
                <a:off x="3913347" y="5961681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7023E83F-ED3F-9F32-A5FB-562D20D77E8C}"/>
                  </a:ext>
                </a:extLst>
              </p:cNvPr>
              <p:cNvSpPr txBox="1"/>
              <p:nvPr/>
            </p:nvSpPr>
            <p:spPr>
              <a:xfrm>
                <a:off x="3456453" y="6132138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(0,0,0)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1DD8D9CB-B655-F2A6-93B9-B279596BE637}"/>
                </a:ext>
              </a:extLst>
            </p:cNvPr>
            <p:cNvSpPr/>
            <p:nvPr/>
          </p:nvSpPr>
          <p:spPr>
            <a:xfrm>
              <a:off x="3911642" y="429514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CF2E37B5-A270-2E5A-F908-35881184B759}"/>
                </a:ext>
              </a:extLst>
            </p:cNvPr>
            <p:cNvSpPr txBox="1"/>
            <p:nvPr/>
          </p:nvSpPr>
          <p:spPr>
            <a:xfrm>
              <a:off x="3423640" y="3920792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(0,1,0)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43" name="群組 42">
              <a:extLst>
                <a:ext uri="{FF2B5EF4-FFF2-40B4-BE49-F238E27FC236}">
                  <a16:creationId xmlns:a16="http://schemas.microsoft.com/office/drawing/2014/main" id="{B5552FE8-77F8-D353-F020-2F58D228B213}"/>
                </a:ext>
              </a:extLst>
            </p:cNvPr>
            <p:cNvGrpSpPr/>
            <p:nvPr/>
          </p:nvGrpSpPr>
          <p:grpSpPr>
            <a:xfrm>
              <a:off x="4644008" y="5251635"/>
              <a:ext cx="1080119" cy="539789"/>
              <a:chOff x="4644008" y="5251635"/>
              <a:chExt cx="1080119" cy="539789"/>
            </a:xfrm>
          </p:grpSpPr>
          <p:sp>
            <p:nvSpPr>
              <p:cNvPr id="51" name="橢圓 50">
                <a:extLst>
                  <a:ext uri="{FF2B5EF4-FFF2-40B4-BE49-F238E27FC236}">
                    <a16:creationId xmlns:a16="http://schemas.microsoft.com/office/drawing/2014/main" id="{0516AF54-F584-2F3B-5184-4EE613C5CBD0}"/>
                  </a:ext>
                </a:extLst>
              </p:cNvPr>
              <p:cNvSpPr/>
              <p:nvPr/>
            </p:nvSpPr>
            <p:spPr>
              <a:xfrm>
                <a:off x="5100902" y="5251635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07E11A71-A11D-7277-2CBC-A02114E74586}"/>
                  </a:ext>
                </a:extLst>
              </p:cNvPr>
              <p:cNvSpPr txBox="1"/>
              <p:nvPr/>
            </p:nvSpPr>
            <p:spPr>
              <a:xfrm>
                <a:off x="4644008" y="5422092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(0,0,1)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F4B92410-4382-76EB-2D24-D00BBF701459}"/>
                </a:ext>
              </a:extLst>
            </p:cNvPr>
            <p:cNvSpPr/>
            <p:nvPr/>
          </p:nvSpPr>
          <p:spPr>
            <a:xfrm>
              <a:off x="5100902" y="363717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BB0658E9-8195-8666-672E-6F9EAE6C00CD}"/>
                </a:ext>
              </a:extLst>
            </p:cNvPr>
            <p:cNvSpPr txBox="1"/>
            <p:nvPr/>
          </p:nvSpPr>
          <p:spPr>
            <a:xfrm>
              <a:off x="4644008" y="3256019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(0,1,1)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46" name="直線單箭頭接點 45">
              <a:extLst>
                <a:ext uri="{FF2B5EF4-FFF2-40B4-BE49-F238E27FC236}">
                  <a16:creationId xmlns:a16="http://schemas.microsoft.com/office/drawing/2014/main" id="{B9B8C64A-0EF7-F826-6F28-709443E3B17E}"/>
                </a:ext>
              </a:extLst>
            </p:cNvPr>
            <p:cNvCxnSpPr/>
            <p:nvPr/>
          </p:nvCxnSpPr>
          <p:spPr>
            <a:xfrm flipV="1">
              <a:off x="3994806" y="4471546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7" name="直線單箭頭接點 46">
              <a:extLst>
                <a:ext uri="{FF2B5EF4-FFF2-40B4-BE49-F238E27FC236}">
                  <a16:creationId xmlns:a16="http://schemas.microsoft.com/office/drawing/2014/main" id="{86C766E7-765A-C47B-76E1-B2CA93882E11}"/>
                </a:ext>
              </a:extLst>
            </p:cNvPr>
            <p:cNvCxnSpPr/>
            <p:nvPr/>
          </p:nvCxnSpPr>
          <p:spPr>
            <a:xfrm flipV="1">
              <a:off x="5184066" y="3768774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8" name="直線單箭頭接點 47">
              <a:extLst>
                <a:ext uri="{FF2B5EF4-FFF2-40B4-BE49-F238E27FC236}">
                  <a16:creationId xmlns:a16="http://schemas.microsoft.com/office/drawing/2014/main" id="{B0460157-9A9F-DF47-84D2-B4BAD86103D9}"/>
                </a:ext>
              </a:extLst>
            </p:cNvPr>
            <p:cNvCxnSpPr>
              <a:cxnSpLocks/>
              <a:stCxn id="41" idx="6"/>
              <a:endCxn id="44" idx="3"/>
            </p:cNvCxnSpPr>
            <p:nvPr/>
          </p:nvCxnSpPr>
          <p:spPr>
            <a:xfrm flipV="1">
              <a:off x="4077971" y="3787743"/>
              <a:ext cx="1047289" cy="59560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8B2A6748-0C81-730B-FB35-B193497D7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0187" y="5398001"/>
              <a:ext cx="1047289" cy="59560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0" name="直線單箭頭接點 49">
              <a:extLst>
                <a:ext uri="{FF2B5EF4-FFF2-40B4-BE49-F238E27FC236}">
                  <a16:creationId xmlns:a16="http://schemas.microsoft.com/office/drawing/2014/main" id="{0BAF73B6-60A1-BC34-05F0-5F821DF5EA26}"/>
                </a:ext>
              </a:extLst>
            </p:cNvPr>
            <p:cNvCxnSpPr>
              <a:cxnSpLocks/>
              <a:stCxn id="53" idx="7"/>
            </p:cNvCxnSpPr>
            <p:nvPr/>
          </p:nvCxnSpPr>
          <p:spPr>
            <a:xfrm flipV="1">
              <a:off x="4055318" y="3866481"/>
              <a:ext cx="1088570" cy="212103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1166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3FF3D0-5F45-0035-064A-C15A52D6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Vector3</a:t>
            </a:r>
            <a:r>
              <a:rPr lang="zh-TW" altLang="en-US" dirty="0"/>
              <a:t>的加法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B4424C-8ABF-0BDE-EF7B-F8F9E06E2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7709" y="4612112"/>
            <a:ext cx="2098576" cy="1626284"/>
          </a:xfrm>
        </p:spPr>
        <p:txBody>
          <a:bodyPr/>
          <a:lstStyle/>
          <a:p>
            <a:pPr marL="109728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(0,1,0)</a:t>
            </a:r>
          </a:p>
          <a:p>
            <a:pPr marL="109728" indent="0">
              <a:buNone/>
            </a:pPr>
            <a:r>
              <a:rPr lang="en-US" altLang="zh-TW" dirty="0">
                <a:solidFill>
                  <a:srgbClr val="0070C0"/>
                </a:solidFill>
              </a:rPr>
              <a:t>(0,0,1)</a:t>
            </a:r>
          </a:p>
          <a:p>
            <a:pPr marL="109728" indent="0">
              <a:buNone/>
            </a:pPr>
            <a:r>
              <a:rPr lang="en-US" altLang="zh-TW" dirty="0">
                <a:solidFill>
                  <a:srgbClr val="00B050"/>
                </a:solidFill>
              </a:rPr>
              <a:t>(0,1,1)</a:t>
            </a:r>
          </a:p>
          <a:p>
            <a:endParaRPr lang="zh-TW" altLang="en-US" dirty="0"/>
          </a:p>
        </p:txBody>
      </p: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5B735D54-CEA2-B8E0-F3CF-E01DB34C47E4}"/>
              </a:ext>
            </a:extLst>
          </p:cNvPr>
          <p:cNvGrpSpPr/>
          <p:nvPr/>
        </p:nvGrpSpPr>
        <p:grpSpPr>
          <a:xfrm>
            <a:off x="5220072" y="3449247"/>
            <a:ext cx="3021144" cy="3245451"/>
            <a:chOff x="3423640" y="3256019"/>
            <a:chExt cx="3021144" cy="3245451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5CB5A5B7-239B-2762-0ACC-AFF90D8EBF12}"/>
                </a:ext>
              </a:extLst>
            </p:cNvPr>
            <p:cNvGrpSpPr/>
            <p:nvPr/>
          </p:nvGrpSpPr>
          <p:grpSpPr>
            <a:xfrm>
              <a:off x="3758177" y="3429000"/>
              <a:ext cx="2686607" cy="2751029"/>
              <a:chOff x="3758177" y="3429000"/>
              <a:chExt cx="2686607" cy="2751029"/>
            </a:xfrm>
          </p:grpSpPr>
          <p:cxnSp>
            <p:nvCxnSpPr>
              <p:cNvPr id="27" name="直線單箭頭接點 26">
                <a:extLst>
                  <a:ext uri="{FF2B5EF4-FFF2-40B4-BE49-F238E27FC236}">
                    <a16:creationId xmlns:a16="http://schemas.microsoft.com/office/drawing/2014/main" id="{93D8B472-2DD5-0539-65A0-7298DB6AAD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6024657"/>
                <a:ext cx="2209935" cy="20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單箭頭接點 27">
                <a:extLst>
                  <a:ext uri="{FF2B5EF4-FFF2-40B4-BE49-F238E27FC236}">
                    <a16:creationId xmlns:a16="http://schemas.microsoft.com/office/drawing/2014/main" id="{9979C8FF-5B91-AA23-0981-CC76419645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113" y="3866481"/>
                <a:ext cx="0" cy="2178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單箭頭接點 28">
                <a:extLst>
                  <a:ext uri="{FF2B5EF4-FFF2-40B4-BE49-F238E27FC236}">
                    <a16:creationId xmlns:a16="http://schemas.microsoft.com/office/drawing/2014/main" id="{AE2C9F7E-EB8C-899C-A755-BB42C93EAF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4955824"/>
                <a:ext cx="1800200" cy="10893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5661B4FF-E56C-6117-2C92-D50E9D4B430B}"/>
                  </a:ext>
                </a:extLst>
              </p:cNvPr>
              <p:cNvSpPr txBox="1"/>
              <p:nvPr/>
            </p:nvSpPr>
            <p:spPr>
              <a:xfrm>
                <a:off x="6206448" y="581069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x</a:t>
                </a:r>
                <a:endParaRPr lang="zh-TW" altLang="en-US" dirty="0"/>
              </a:p>
            </p:txBody>
          </p:sp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1223FB47-F7F9-1FE1-53AC-EC8B62843516}"/>
                  </a:ext>
                </a:extLst>
              </p:cNvPr>
              <p:cNvSpPr txBox="1"/>
              <p:nvPr/>
            </p:nvSpPr>
            <p:spPr>
              <a:xfrm>
                <a:off x="3758177" y="3429000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y</a:t>
                </a:r>
                <a:endParaRPr lang="zh-TW" altLang="en-US" dirty="0"/>
              </a:p>
            </p:txBody>
          </p:sp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0EBB338-1530-A02A-0531-F9A12CA128F5}"/>
                  </a:ext>
                </a:extLst>
              </p:cNvPr>
              <p:cNvSpPr txBox="1"/>
              <p:nvPr/>
            </p:nvSpPr>
            <p:spPr>
              <a:xfrm>
                <a:off x="5790708" y="464927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z</a:t>
                </a:r>
                <a:endParaRPr lang="zh-TW" altLang="en-US" dirty="0"/>
              </a:p>
            </p:txBody>
          </p:sp>
        </p:grp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2F6295CF-4623-BD7C-A225-BBB3614C4F98}"/>
                </a:ext>
              </a:extLst>
            </p:cNvPr>
            <p:cNvGrpSpPr/>
            <p:nvPr/>
          </p:nvGrpSpPr>
          <p:grpSpPr>
            <a:xfrm>
              <a:off x="3456453" y="5961681"/>
              <a:ext cx="1080119" cy="539789"/>
              <a:chOff x="3456453" y="5961681"/>
              <a:chExt cx="1080119" cy="539789"/>
            </a:xfrm>
          </p:grpSpPr>
          <p:sp>
            <p:nvSpPr>
              <p:cNvPr id="34" name="橢圓 33">
                <a:extLst>
                  <a:ext uri="{FF2B5EF4-FFF2-40B4-BE49-F238E27FC236}">
                    <a16:creationId xmlns:a16="http://schemas.microsoft.com/office/drawing/2014/main" id="{106E9078-AF7B-0017-0C44-00F1B2E85A19}"/>
                  </a:ext>
                </a:extLst>
              </p:cNvPr>
              <p:cNvSpPr/>
              <p:nvPr/>
            </p:nvSpPr>
            <p:spPr>
              <a:xfrm>
                <a:off x="3913347" y="5961681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E9D9A4D3-906B-4799-D086-2C0E7FB49EA2}"/>
                  </a:ext>
                </a:extLst>
              </p:cNvPr>
              <p:cNvSpPr txBox="1"/>
              <p:nvPr/>
            </p:nvSpPr>
            <p:spPr>
              <a:xfrm>
                <a:off x="3456453" y="6132138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(0,0,0)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539CD196-C9A2-F011-CCD2-9BB24C32833C}"/>
                </a:ext>
              </a:extLst>
            </p:cNvPr>
            <p:cNvSpPr/>
            <p:nvPr/>
          </p:nvSpPr>
          <p:spPr>
            <a:xfrm>
              <a:off x="3911642" y="429514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41171A48-7F45-F0CF-121F-744F29A36556}"/>
                </a:ext>
              </a:extLst>
            </p:cNvPr>
            <p:cNvSpPr txBox="1"/>
            <p:nvPr/>
          </p:nvSpPr>
          <p:spPr>
            <a:xfrm>
              <a:off x="3423640" y="3920792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(0,1,0)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1BE4A581-0393-FED7-9807-534259DEA0CE}"/>
                </a:ext>
              </a:extLst>
            </p:cNvPr>
            <p:cNvGrpSpPr/>
            <p:nvPr/>
          </p:nvGrpSpPr>
          <p:grpSpPr>
            <a:xfrm>
              <a:off x="4644008" y="5251635"/>
              <a:ext cx="1080119" cy="539789"/>
              <a:chOff x="4644008" y="5251635"/>
              <a:chExt cx="1080119" cy="539789"/>
            </a:xfrm>
          </p:grpSpPr>
          <p:sp>
            <p:nvSpPr>
              <p:cNvPr id="39" name="橢圓 38">
                <a:extLst>
                  <a:ext uri="{FF2B5EF4-FFF2-40B4-BE49-F238E27FC236}">
                    <a16:creationId xmlns:a16="http://schemas.microsoft.com/office/drawing/2014/main" id="{9310F362-84A7-5B78-A775-D477B176BDE3}"/>
                  </a:ext>
                </a:extLst>
              </p:cNvPr>
              <p:cNvSpPr/>
              <p:nvPr/>
            </p:nvSpPr>
            <p:spPr>
              <a:xfrm>
                <a:off x="5100902" y="5251635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F9BF407A-26F5-7120-704B-050DC0C3EAC0}"/>
                  </a:ext>
                </a:extLst>
              </p:cNvPr>
              <p:cNvSpPr txBox="1"/>
              <p:nvPr/>
            </p:nvSpPr>
            <p:spPr>
              <a:xfrm>
                <a:off x="4644008" y="5422092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(0,0,1)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25E8CE5F-7967-B6EA-0010-9ABD9707D372}"/>
                </a:ext>
              </a:extLst>
            </p:cNvPr>
            <p:cNvSpPr/>
            <p:nvPr/>
          </p:nvSpPr>
          <p:spPr>
            <a:xfrm>
              <a:off x="5100902" y="363717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7C384830-44CB-7006-9B1B-53239CAD2BFD}"/>
                </a:ext>
              </a:extLst>
            </p:cNvPr>
            <p:cNvSpPr txBox="1"/>
            <p:nvPr/>
          </p:nvSpPr>
          <p:spPr>
            <a:xfrm>
              <a:off x="4644008" y="3256019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(0,1,1)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4D2994E1-6643-D95E-903E-A44088309B4D}"/>
                </a:ext>
              </a:extLst>
            </p:cNvPr>
            <p:cNvCxnSpPr/>
            <p:nvPr/>
          </p:nvCxnSpPr>
          <p:spPr>
            <a:xfrm flipV="1">
              <a:off x="3994806" y="4471546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012D4954-4CF3-0E05-D147-E8083BB40CB6}"/>
                </a:ext>
              </a:extLst>
            </p:cNvPr>
            <p:cNvCxnSpPr/>
            <p:nvPr/>
          </p:nvCxnSpPr>
          <p:spPr>
            <a:xfrm flipV="1">
              <a:off x="5184066" y="3768774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BA1E294C-A28D-8E02-243A-4AF091DD8A70}"/>
                </a:ext>
              </a:extLst>
            </p:cNvPr>
            <p:cNvCxnSpPr>
              <a:cxnSpLocks/>
              <a:stCxn id="36" idx="6"/>
              <a:endCxn id="41" idx="3"/>
            </p:cNvCxnSpPr>
            <p:nvPr/>
          </p:nvCxnSpPr>
          <p:spPr>
            <a:xfrm flipV="1">
              <a:off x="4077971" y="3787743"/>
              <a:ext cx="1047289" cy="59560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6" name="直線單箭頭接點 45">
              <a:extLst>
                <a:ext uri="{FF2B5EF4-FFF2-40B4-BE49-F238E27FC236}">
                  <a16:creationId xmlns:a16="http://schemas.microsoft.com/office/drawing/2014/main" id="{D56B932A-5A91-859B-557F-7231C20866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0187" y="5398001"/>
              <a:ext cx="1047289" cy="59560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7" name="直線單箭頭接點 46">
              <a:extLst>
                <a:ext uri="{FF2B5EF4-FFF2-40B4-BE49-F238E27FC236}">
                  <a16:creationId xmlns:a16="http://schemas.microsoft.com/office/drawing/2014/main" id="{FBCE0D4D-CE16-C1BA-2A5F-4F0CE6AB2AA9}"/>
                </a:ext>
              </a:extLst>
            </p:cNvPr>
            <p:cNvCxnSpPr>
              <a:cxnSpLocks/>
              <a:stCxn id="34" idx="7"/>
            </p:cNvCxnSpPr>
            <p:nvPr/>
          </p:nvCxnSpPr>
          <p:spPr>
            <a:xfrm flipV="1">
              <a:off x="4055318" y="3866481"/>
              <a:ext cx="1088570" cy="212103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93FB9A5C-00BE-31CB-5F15-8EC0C7F955DF}"/>
              </a:ext>
            </a:extLst>
          </p:cNvPr>
          <p:cNvSpPr txBox="1">
            <a:spLocks/>
          </p:cNvSpPr>
          <p:nvPr/>
        </p:nvSpPr>
        <p:spPr>
          <a:xfrm>
            <a:off x="457200" y="2249424"/>
            <a:ext cx="8229600" cy="4325112"/>
          </a:xfrm>
          <a:prstGeom prst="rect">
            <a:avLst/>
          </a:prstGeom>
          <a:ln>
            <a:noFill/>
          </a:ln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向量相加：平行四邊形法</a:t>
            </a:r>
            <a:endParaRPr lang="en-US" altLang="zh-TW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(0,1,0)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(0,0,1)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B050"/>
                </a:solidFill>
              </a:rPr>
              <a:t>(0,1,1)</a:t>
            </a:r>
          </a:p>
          <a:p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也可以視為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移動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</a:t>
            </a:r>
          </a:p>
          <a:p>
            <a:pPr lvl="1"/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(0,0,1)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r>
              <a:rPr lang="en-US" altLang="zh-TW" dirty="0">
                <a:solidFill>
                  <a:srgbClr val="FF0000"/>
                </a:solidFill>
              </a:rPr>
              <a:t> (0,1,0)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(0,1,1)</a:t>
            </a:r>
          </a:p>
          <a:p>
            <a:pPr marL="109728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	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05415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3FF3D0-5F45-0035-064A-C15A52D6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Vector3</a:t>
            </a:r>
            <a:r>
              <a:rPr lang="zh-TW" altLang="en-US" dirty="0"/>
              <a:t>與純數的乘法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B4424C-8ABF-0BDE-EF7B-F8F9E06E2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5635" y="4444611"/>
            <a:ext cx="2098576" cy="1626284"/>
          </a:xfrm>
        </p:spPr>
        <p:txBody>
          <a:bodyPr/>
          <a:lstStyle/>
          <a:p>
            <a:pPr marL="109728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(0,1,0)</a:t>
            </a:r>
          </a:p>
          <a:p>
            <a:endParaRPr lang="zh-TW" altLang="en-US" dirty="0"/>
          </a:p>
        </p:txBody>
      </p: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5B735D54-CEA2-B8E0-F3CF-E01DB34C47E4}"/>
              </a:ext>
            </a:extLst>
          </p:cNvPr>
          <p:cNvGrpSpPr/>
          <p:nvPr/>
        </p:nvGrpSpPr>
        <p:grpSpPr>
          <a:xfrm>
            <a:off x="5508104" y="2469549"/>
            <a:ext cx="3021144" cy="3245451"/>
            <a:chOff x="3423640" y="3256019"/>
            <a:chExt cx="3021144" cy="3245451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5CB5A5B7-239B-2762-0ACC-AFF90D8EBF12}"/>
                </a:ext>
              </a:extLst>
            </p:cNvPr>
            <p:cNvGrpSpPr/>
            <p:nvPr/>
          </p:nvGrpSpPr>
          <p:grpSpPr>
            <a:xfrm>
              <a:off x="3758177" y="3429000"/>
              <a:ext cx="2686607" cy="2751029"/>
              <a:chOff x="3758177" y="3429000"/>
              <a:chExt cx="2686607" cy="2751029"/>
            </a:xfrm>
          </p:grpSpPr>
          <p:cxnSp>
            <p:nvCxnSpPr>
              <p:cNvPr id="27" name="直線單箭頭接點 26">
                <a:extLst>
                  <a:ext uri="{FF2B5EF4-FFF2-40B4-BE49-F238E27FC236}">
                    <a16:creationId xmlns:a16="http://schemas.microsoft.com/office/drawing/2014/main" id="{93D8B472-2DD5-0539-65A0-7298DB6AAD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6024657"/>
                <a:ext cx="2209935" cy="20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單箭頭接點 27">
                <a:extLst>
                  <a:ext uri="{FF2B5EF4-FFF2-40B4-BE49-F238E27FC236}">
                    <a16:creationId xmlns:a16="http://schemas.microsoft.com/office/drawing/2014/main" id="{9979C8FF-5B91-AA23-0981-CC76419645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113" y="3866481"/>
                <a:ext cx="0" cy="2178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單箭頭接點 28">
                <a:extLst>
                  <a:ext uri="{FF2B5EF4-FFF2-40B4-BE49-F238E27FC236}">
                    <a16:creationId xmlns:a16="http://schemas.microsoft.com/office/drawing/2014/main" id="{AE2C9F7E-EB8C-899C-A755-BB42C93EAF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4955824"/>
                <a:ext cx="1800200" cy="10893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5661B4FF-E56C-6117-2C92-D50E9D4B430B}"/>
                  </a:ext>
                </a:extLst>
              </p:cNvPr>
              <p:cNvSpPr txBox="1"/>
              <p:nvPr/>
            </p:nvSpPr>
            <p:spPr>
              <a:xfrm>
                <a:off x="6206448" y="581069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x</a:t>
                </a:r>
                <a:endParaRPr lang="zh-TW" altLang="en-US" dirty="0"/>
              </a:p>
            </p:txBody>
          </p:sp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1223FB47-F7F9-1FE1-53AC-EC8B62843516}"/>
                  </a:ext>
                </a:extLst>
              </p:cNvPr>
              <p:cNvSpPr txBox="1"/>
              <p:nvPr/>
            </p:nvSpPr>
            <p:spPr>
              <a:xfrm>
                <a:off x="3758177" y="3429000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y</a:t>
                </a:r>
                <a:endParaRPr lang="zh-TW" altLang="en-US" dirty="0"/>
              </a:p>
            </p:txBody>
          </p:sp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0EBB338-1530-A02A-0531-F9A12CA128F5}"/>
                  </a:ext>
                </a:extLst>
              </p:cNvPr>
              <p:cNvSpPr txBox="1"/>
              <p:nvPr/>
            </p:nvSpPr>
            <p:spPr>
              <a:xfrm>
                <a:off x="5790708" y="464927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z</a:t>
                </a:r>
                <a:endParaRPr lang="zh-TW" altLang="en-US" dirty="0"/>
              </a:p>
            </p:txBody>
          </p:sp>
        </p:grp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2F6295CF-4623-BD7C-A225-BBB3614C4F98}"/>
                </a:ext>
              </a:extLst>
            </p:cNvPr>
            <p:cNvGrpSpPr/>
            <p:nvPr/>
          </p:nvGrpSpPr>
          <p:grpSpPr>
            <a:xfrm>
              <a:off x="3456453" y="5961681"/>
              <a:ext cx="1080119" cy="539789"/>
              <a:chOff x="3456453" y="5961681"/>
              <a:chExt cx="1080119" cy="539789"/>
            </a:xfrm>
          </p:grpSpPr>
          <p:sp>
            <p:nvSpPr>
              <p:cNvPr id="34" name="橢圓 33">
                <a:extLst>
                  <a:ext uri="{FF2B5EF4-FFF2-40B4-BE49-F238E27FC236}">
                    <a16:creationId xmlns:a16="http://schemas.microsoft.com/office/drawing/2014/main" id="{106E9078-AF7B-0017-0C44-00F1B2E85A19}"/>
                  </a:ext>
                </a:extLst>
              </p:cNvPr>
              <p:cNvSpPr/>
              <p:nvPr/>
            </p:nvSpPr>
            <p:spPr>
              <a:xfrm>
                <a:off x="3913347" y="5961681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E9D9A4D3-906B-4799-D086-2C0E7FB49EA2}"/>
                  </a:ext>
                </a:extLst>
              </p:cNvPr>
              <p:cNvSpPr txBox="1"/>
              <p:nvPr/>
            </p:nvSpPr>
            <p:spPr>
              <a:xfrm>
                <a:off x="3456453" y="6132138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(0,0,0)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539CD196-C9A2-F011-CCD2-9BB24C32833C}"/>
                </a:ext>
              </a:extLst>
            </p:cNvPr>
            <p:cNvSpPr/>
            <p:nvPr/>
          </p:nvSpPr>
          <p:spPr>
            <a:xfrm>
              <a:off x="3911642" y="429514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41171A48-7F45-F0CF-121F-744F29A36556}"/>
                </a:ext>
              </a:extLst>
            </p:cNvPr>
            <p:cNvSpPr txBox="1"/>
            <p:nvPr/>
          </p:nvSpPr>
          <p:spPr>
            <a:xfrm>
              <a:off x="3423640" y="3920792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(0,1,0)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1BE4A581-0393-FED7-9807-534259DEA0CE}"/>
                </a:ext>
              </a:extLst>
            </p:cNvPr>
            <p:cNvGrpSpPr/>
            <p:nvPr/>
          </p:nvGrpSpPr>
          <p:grpSpPr>
            <a:xfrm>
              <a:off x="4644008" y="5251635"/>
              <a:ext cx="1080119" cy="539789"/>
              <a:chOff x="4644008" y="5251635"/>
              <a:chExt cx="1080119" cy="539789"/>
            </a:xfrm>
          </p:grpSpPr>
          <p:sp>
            <p:nvSpPr>
              <p:cNvPr id="39" name="橢圓 38">
                <a:extLst>
                  <a:ext uri="{FF2B5EF4-FFF2-40B4-BE49-F238E27FC236}">
                    <a16:creationId xmlns:a16="http://schemas.microsoft.com/office/drawing/2014/main" id="{9310F362-84A7-5B78-A775-D477B176BDE3}"/>
                  </a:ext>
                </a:extLst>
              </p:cNvPr>
              <p:cNvSpPr/>
              <p:nvPr/>
            </p:nvSpPr>
            <p:spPr>
              <a:xfrm>
                <a:off x="5100902" y="5251635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F9BF407A-26F5-7120-704B-050DC0C3EAC0}"/>
                  </a:ext>
                </a:extLst>
              </p:cNvPr>
              <p:cNvSpPr txBox="1"/>
              <p:nvPr/>
            </p:nvSpPr>
            <p:spPr>
              <a:xfrm>
                <a:off x="4644008" y="5422092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(0,0,1)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25E8CE5F-7967-B6EA-0010-9ABD9707D372}"/>
                </a:ext>
              </a:extLst>
            </p:cNvPr>
            <p:cNvSpPr/>
            <p:nvPr/>
          </p:nvSpPr>
          <p:spPr>
            <a:xfrm>
              <a:off x="5100902" y="363717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7C384830-44CB-7006-9B1B-53239CAD2BFD}"/>
                </a:ext>
              </a:extLst>
            </p:cNvPr>
            <p:cNvSpPr txBox="1"/>
            <p:nvPr/>
          </p:nvSpPr>
          <p:spPr>
            <a:xfrm>
              <a:off x="4644008" y="3256019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(0,1,1)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4D2994E1-6643-D95E-903E-A44088309B4D}"/>
                </a:ext>
              </a:extLst>
            </p:cNvPr>
            <p:cNvCxnSpPr/>
            <p:nvPr/>
          </p:nvCxnSpPr>
          <p:spPr>
            <a:xfrm flipV="1">
              <a:off x="3994806" y="4471546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93FB9A5C-00BE-31CB-5F15-8EC0C7F955DF}"/>
              </a:ext>
            </a:extLst>
          </p:cNvPr>
          <p:cNvSpPr txBox="1">
            <a:spLocks/>
          </p:cNvSpPr>
          <p:nvPr/>
        </p:nvSpPr>
        <p:spPr>
          <a:xfrm>
            <a:off x="457200" y="2249424"/>
            <a:ext cx="8229600" cy="4325112"/>
          </a:xfrm>
          <a:prstGeom prst="rect">
            <a:avLst/>
          </a:prstGeom>
          <a:ln>
            <a:noFill/>
          </a:ln>
        </p:spPr>
        <p:txBody>
          <a:bodyPr vert="horz">
            <a:normAutofit fontScale="92500" lnSpcReduction="200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乘上正數</a:t>
            </a:r>
            <a:endParaRPr lang="en-US" altLang="zh-TW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zh-TW" altLang="en-US" dirty="0">
                <a:solidFill>
                  <a:schemeClr val="tx1"/>
                </a:solidFill>
              </a:rPr>
              <a:t>改變長度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(1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以外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en-US" altLang="zh-TW" dirty="0">
              <a:solidFill>
                <a:schemeClr val="tx1"/>
              </a:solidFill>
            </a:endParaRPr>
          </a:p>
          <a:p>
            <a:pPr lvl="1"/>
            <a:r>
              <a:rPr lang="zh-TW" altLang="en-US" dirty="0">
                <a:solidFill>
                  <a:schemeClr val="tx1"/>
                </a:solidFill>
              </a:rPr>
              <a:t>方向不變</a:t>
            </a:r>
            <a:endParaRPr lang="en-US" altLang="zh-TW" dirty="0">
              <a:solidFill>
                <a:schemeClr val="tx1"/>
              </a:solidFill>
            </a:endParaRP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(0,1,0)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x 2 =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dirty="0">
                <a:solidFill>
                  <a:srgbClr val="FFC000"/>
                </a:solidFill>
              </a:rPr>
              <a:t>(0,2,0)</a:t>
            </a:r>
          </a:p>
          <a:p>
            <a:pPr marL="411480" lvl="1" indent="0">
              <a:buNone/>
            </a:pPr>
            <a:endParaRPr lang="en-US" altLang="zh-TW" dirty="0">
              <a:solidFill>
                <a:srgbClr val="FFC000"/>
              </a:solidFill>
            </a:endParaRPr>
          </a:p>
          <a:p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乘上負數</a:t>
            </a:r>
            <a:endParaRPr lang="en-US" altLang="zh-TW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改變長度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(1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以外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lvl="1"/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方向反轉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(reverse)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(0,1,0)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x -1 =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accent3"/>
                </a:solidFill>
              </a:rPr>
              <a:t>(0,-1,0)</a:t>
            </a:r>
          </a:p>
          <a:p>
            <a:endParaRPr lang="en-US" altLang="zh-TW" dirty="0">
              <a:solidFill>
                <a:schemeClr val="accent3"/>
              </a:solidFill>
            </a:endParaRPr>
          </a:p>
          <a:p>
            <a:r>
              <a:rPr lang="zh-TW" altLang="en-US" dirty="0"/>
              <a:t>乘上</a:t>
            </a:r>
            <a:r>
              <a:rPr lang="en-US" altLang="zh-TW" dirty="0"/>
              <a:t> 0 </a:t>
            </a:r>
          </a:p>
          <a:p>
            <a:pPr lvl="1"/>
            <a:r>
              <a:rPr lang="zh-TW" altLang="en-US" dirty="0">
                <a:solidFill>
                  <a:schemeClr val="tx1"/>
                </a:solidFill>
              </a:rPr>
              <a:t>一律變為</a:t>
            </a:r>
            <a:r>
              <a:rPr lang="en-US" altLang="zh-TW" dirty="0">
                <a:solidFill>
                  <a:schemeClr val="tx1"/>
                </a:solidFill>
              </a:rPr>
              <a:t>(0,0,0)</a:t>
            </a:r>
          </a:p>
          <a:p>
            <a:endParaRPr lang="en-US" altLang="zh-TW" dirty="0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BDF314B1-F05A-A823-314C-6F0DE199A410}"/>
              </a:ext>
            </a:extLst>
          </p:cNvPr>
          <p:cNvCxnSpPr>
            <a:cxnSpLocks/>
          </p:cNvCxnSpPr>
          <p:nvPr/>
        </p:nvCxnSpPr>
        <p:spPr>
          <a:xfrm flipV="1">
            <a:off x="6315509" y="1916832"/>
            <a:ext cx="0" cy="3179096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17137881-EF2B-792C-6D68-3561134EBEA7}"/>
              </a:ext>
            </a:extLst>
          </p:cNvPr>
          <p:cNvCxnSpPr>
            <a:cxnSpLocks/>
          </p:cNvCxnSpPr>
          <p:nvPr/>
        </p:nvCxnSpPr>
        <p:spPr>
          <a:xfrm flipH="1">
            <a:off x="6576304" y="3429000"/>
            <a:ext cx="11920" cy="1572677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685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2A4C25-B1CD-25F9-42EE-9DC9B10F5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 Vector </a:t>
            </a:r>
            <a:r>
              <a:rPr lang="zh-TW" altLang="en-US" dirty="0"/>
              <a:t>單位向量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BC782D-BFF1-479A-9CD6-9F4CDC8F7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4297889" cy="4325112"/>
          </a:xfrm>
        </p:spPr>
        <p:txBody>
          <a:bodyPr/>
          <a:lstStyle/>
          <a:p>
            <a:r>
              <a:rPr lang="zh-TW" altLang="en-US" dirty="0"/>
              <a:t>長度為</a:t>
            </a:r>
            <a:r>
              <a:rPr lang="en-US" altLang="zh-TW" dirty="0"/>
              <a:t>1</a:t>
            </a:r>
            <a:r>
              <a:rPr lang="zh-TW" altLang="en-US" dirty="0"/>
              <a:t>的向量，此時的紅藍向量皆為單位向量。</a:t>
            </a:r>
            <a:endParaRPr lang="en-US" altLang="zh-TW" dirty="0"/>
          </a:p>
          <a:p>
            <a:r>
              <a:rPr lang="en-US" altLang="zh-TW" dirty="0"/>
              <a:t>(0,1,1)</a:t>
            </a:r>
            <a:r>
              <a:rPr lang="zh-TW" altLang="en-US" dirty="0"/>
              <a:t>的單位向量為</a:t>
            </a:r>
            <a:endParaRPr lang="en-US" altLang="zh-TW" dirty="0"/>
          </a:p>
          <a:p>
            <a:pPr marL="109728" indent="0">
              <a:buNone/>
            </a:pPr>
            <a:r>
              <a:rPr lang="en-US" altLang="zh-TW" dirty="0"/>
              <a:t>     (0,0.707,0.707)</a:t>
            </a: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EC18CA2A-5802-3C79-B840-C019191A28F7}"/>
              </a:ext>
            </a:extLst>
          </p:cNvPr>
          <p:cNvGrpSpPr/>
          <p:nvPr/>
        </p:nvGrpSpPr>
        <p:grpSpPr>
          <a:xfrm>
            <a:off x="5148064" y="3140968"/>
            <a:ext cx="3021144" cy="3245451"/>
            <a:chOff x="3423640" y="3256019"/>
            <a:chExt cx="3021144" cy="3245451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E50A31DB-6C8C-79E7-9569-C8B2138078DA}"/>
                </a:ext>
              </a:extLst>
            </p:cNvPr>
            <p:cNvGrpSpPr/>
            <p:nvPr/>
          </p:nvGrpSpPr>
          <p:grpSpPr>
            <a:xfrm>
              <a:off x="3758177" y="3429000"/>
              <a:ext cx="2686607" cy="2751029"/>
              <a:chOff x="3758177" y="3429000"/>
              <a:chExt cx="2686607" cy="2751029"/>
            </a:xfrm>
          </p:grpSpPr>
          <p:cxnSp>
            <p:nvCxnSpPr>
              <p:cNvPr id="21" name="直線單箭頭接點 20">
                <a:extLst>
                  <a:ext uri="{FF2B5EF4-FFF2-40B4-BE49-F238E27FC236}">
                    <a16:creationId xmlns:a16="http://schemas.microsoft.com/office/drawing/2014/main" id="{91130E61-96B5-47B1-225F-8E1AB072F5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6024657"/>
                <a:ext cx="2209935" cy="20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>
                <a:extLst>
                  <a:ext uri="{FF2B5EF4-FFF2-40B4-BE49-F238E27FC236}">
                    <a16:creationId xmlns:a16="http://schemas.microsoft.com/office/drawing/2014/main" id="{AF0D96E6-0E23-86B2-BD32-65CB5A227A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113" y="3866481"/>
                <a:ext cx="0" cy="2178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>
                <a:extLst>
                  <a:ext uri="{FF2B5EF4-FFF2-40B4-BE49-F238E27FC236}">
                    <a16:creationId xmlns:a16="http://schemas.microsoft.com/office/drawing/2014/main" id="{2F3082FB-62FB-0C98-5264-254464C32C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4955824"/>
                <a:ext cx="1800200" cy="10893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56FFEC5-F4BB-BC14-10EA-D86A42E89890}"/>
                  </a:ext>
                </a:extLst>
              </p:cNvPr>
              <p:cNvSpPr txBox="1"/>
              <p:nvPr/>
            </p:nvSpPr>
            <p:spPr>
              <a:xfrm>
                <a:off x="6206448" y="581069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x</a:t>
                </a:r>
                <a:endParaRPr lang="zh-TW" altLang="en-US" dirty="0"/>
              </a:p>
            </p:txBody>
          </p: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036A93AE-35C4-3F15-9E80-9672E0B8EA2A}"/>
                  </a:ext>
                </a:extLst>
              </p:cNvPr>
              <p:cNvSpPr txBox="1"/>
              <p:nvPr/>
            </p:nvSpPr>
            <p:spPr>
              <a:xfrm>
                <a:off x="3758177" y="3429000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y</a:t>
                </a:r>
                <a:endParaRPr lang="zh-TW" altLang="en-US" dirty="0"/>
              </a:p>
            </p:txBody>
          </p:sp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F1AB435-941D-7EB4-8D52-5BB14BF5AC69}"/>
                  </a:ext>
                </a:extLst>
              </p:cNvPr>
              <p:cNvSpPr txBox="1"/>
              <p:nvPr/>
            </p:nvSpPr>
            <p:spPr>
              <a:xfrm>
                <a:off x="5790708" y="464927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z</a:t>
                </a:r>
                <a:endParaRPr lang="zh-TW" altLang="en-US" dirty="0"/>
              </a:p>
            </p:txBody>
          </p:sp>
        </p:grp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BBD6DA55-8667-930A-D233-E863815EEF79}"/>
                </a:ext>
              </a:extLst>
            </p:cNvPr>
            <p:cNvGrpSpPr/>
            <p:nvPr/>
          </p:nvGrpSpPr>
          <p:grpSpPr>
            <a:xfrm>
              <a:off x="3456453" y="5961681"/>
              <a:ext cx="1080119" cy="539789"/>
              <a:chOff x="3456453" y="5961681"/>
              <a:chExt cx="1080119" cy="539789"/>
            </a:xfrm>
          </p:grpSpPr>
          <p:sp>
            <p:nvSpPr>
              <p:cNvPr id="19" name="橢圓 18">
                <a:extLst>
                  <a:ext uri="{FF2B5EF4-FFF2-40B4-BE49-F238E27FC236}">
                    <a16:creationId xmlns:a16="http://schemas.microsoft.com/office/drawing/2014/main" id="{B1CA329D-96D6-522A-7CAB-428841E0D3F1}"/>
                  </a:ext>
                </a:extLst>
              </p:cNvPr>
              <p:cNvSpPr/>
              <p:nvPr/>
            </p:nvSpPr>
            <p:spPr>
              <a:xfrm>
                <a:off x="3913347" y="5961681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D0399D3-F101-5BF3-99E4-5CC3332D785E}"/>
                  </a:ext>
                </a:extLst>
              </p:cNvPr>
              <p:cNvSpPr txBox="1"/>
              <p:nvPr/>
            </p:nvSpPr>
            <p:spPr>
              <a:xfrm>
                <a:off x="3456453" y="6132138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(0,0,0)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2DD5DC27-184C-196E-122A-411E3EBE18AE}"/>
                </a:ext>
              </a:extLst>
            </p:cNvPr>
            <p:cNvSpPr/>
            <p:nvPr/>
          </p:nvSpPr>
          <p:spPr>
            <a:xfrm>
              <a:off x="3911642" y="429514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798DFD9D-0FA5-5F25-BA6E-8548ADE2BBC9}"/>
                </a:ext>
              </a:extLst>
            </p:cNvPr>
            <p:cNvSpPr txBox="1"/>
            <p:nvPr/>
          </p:nvSpPr>
          <p:spPr>
            <a:xfrm>
              <a:off x="3423640" y="3920792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(0,1,0)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94D51CE3-8FB5-E81C-6DD7-A1DC8BF466FB}"/>
                </a:ext>
              </a:extLst>
            </p:cNvPr>
            <p:cNvGrpSpPr/>
            <p:nvPr/>
          </p:nvGrpSpPr>
          <p:grpSpPr>
            <a:xfrm>
              <a:off x="4644008" y="5251635"/>
              <a:ext cx="1080119" cy="539789"/>
              <a:chOff x="4644008" y="5251635"/>
              <a:chExt cx="1080119" cy="539789"/>
            </a:xfrm>
          </p:grpSpPr>
          <p:sp>
            <p:nvSpPr>
              <p:cNvPr id="17" name="橢圓 16">
                <a:extLst>
                  <a:ext uri="{FF2B5EF4-FFF2-40B4-BE49-F238E27FC236}">
                    <a16:creationId xmlns:a16="http://schemas.microsoft.com/office/drawing/2014/main" id="{CFE3113E-E25B-3D29-9AEA-CD92C2E952BF}"/>
                  </a:ext>
                </a:extLst>
              </p:cNvPr>
              <p:cNvSpPr/>
              <p:nvPr/>
            </p:nvSpPr>
            <p:spPr>
              <a:xfrm>
                <a:off x="5100902" y="5251635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5479C8B2-82C2-91CF-9B75-FB4DC3DAB019}"/>
                  </a:ext>
                </a:extLst>
              </p:cNvPr>
              <p:cNvSpPr txBox="1"/>
              <p:nvPr/>
            </p:nvSpPr>
            <p:spPr>
              <a:xfrm>
                <a:off x="4644008" y="5422092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(0,0,1)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524A2836-3A3D-D969-178B-9D31E7E33B89}"/>
                </a:ext>
              </a:extLst>
            </p:cNvPr>
            <p:cNvSpPr/>
            <p:nvPr/>
          </p:nvSpPr>
          <p:spPr>
            <a:xfrm>
              <a:off x="5100902" y="363717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2F3119C5-5A8A-917F-B8A3-BB41979E6C08}"/>
                </a:ext>
              </a:extLst>
            </p:cNvPr>
            <p:cNvSpPr txBox="1"/>
            <p:nvPr/>
          </p:nvSpPr>
          <p:spPr>
            <a:xfrm>
              <a:off x="4644008" y="3256019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(0,1,1)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D4D6C960-ED0D-AD12-DE84-2F57A7883830}"/>
                </a:ext>
              </a:extLst>
            </p:cNvPr>
            <p:cNvCxnSpPr/>
            <p:nvPr/>
          </p:nvCxnSpPr>
          <p:spPr>
            <a:xfrm flipV="1">
              <a:off x="3994806" y="4471546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7FB8EC3D-6330-EE46-D9C2-71EAE9286AF3}"/>
                </a:ext>
              </a:extLst>
            </p:cNvPr>
            <p:cNvCxnSpPr/>
            <p:nvPr/>
          </p:nvCxnSpPr>
          <p:spPr>
            <a:xfrm flipV="1">
              <a:off x="5184066" y="3768774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54473844-591B-22E9-96CF-16C7ECF13B31}"/>
                </a:ext>
              </a:extLst>
            </p:cNvPr>
            <p:cNvCxnSpPr>
              <a:cxnSpLocks/>
              <a:stCxn id="7" idx="6"/>
              <a:endCxn id="10" idx="3"/>
            </p:cNvCxnSpPr>
            <p:nvPr/>
          </p:nvCxnSpPr>
          <p:spPr>
            <a:xfrm flipV="1">
              <a:off x="4077971" y="3787743"/>
              <a:ext cx="1047289" cy="59560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2FD693AF-7473-C8FD-A6EA-1CBBB8B6F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0187" y="5398001"/>
              <a:ext cx="1047289" cy="59560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E3A6ECB2-8234-8143-B55C-390ED9F20704}"/>
                </a:ext>
              </a:extLst>
            </p:cNvPr>
            <p:cNvCxnSpPr>
              <a:cxnSpLocks/>
              <a:stCxn id="19" idx="7"/>
            </p:cNvCxnSpPr>
            <p:nvPr/>
          </p:nvCxnSpPr>
          <p:spPr>
            <a:xfrm flipV="1">
              <a:off x="4055318" y="3866481"/>
              <a:ext cx="1088570" cy="212103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27" name="內容版面配置區 2">
            <a:extLst>
              <a:ext uri="{FF2B5EF4-FFF2-40B4-BE49-F238E27FC236}">
                <a16:creationId xmlns:a16="http://schemas.microsoft.com/office/drawing/2014/main" id="{6F8C25E6-31F0-2EDB-3F14-9D1902288D6E}"/>
              </a:ext>
            </a:extLst>
          </p:cNvPr>
          <p:cNvSpPr txBox="1">
            <a:spLocks/>
          </p:cNvSpPr>
          <p:nvPr/>
        </p:nvSpPr>
        <p:spPr>
          <a:xfrm>
            <a:off x="3945368" y="5110644"/>
            <a:ext cx="2098576" cy="162628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en-US" altLang="zh-TW" dirty="0">
                <a:solidFill>
                  <a:srgbClr val="FF0000"/>
                </a:solidFill>
              </a:rPr>
              <a:t>(0,1,0)</a:t>
            </a:r>
          </a:p>
          <a:p>
            <a:pPr marL="109728" indent="0">
              <a:buFont typeface="Georgia"/>
              <a:buNone/>
            </a:pPr>
            <a:r>
              <a:rPr lang="en-US" altLang="zh-TW" dirty="0">
                <a:solidFill>
                  <a:srgbClr val="0070C0"/>
                </a:solidFill>
              </a:rPr>
              <a:t>(0,0,1)</a:t>
            </a:r>
          </a:p>
          <a:p>
            <a:pPr marL="109728" indent="0">
              <a:buFont typeface="Georgia"/>
              <a:buNone/>
            </a:pPr>
            <a:r>
              <a:rPr lang="en-US" altLang="zh-TW" dirty="0">
                <a:solidFill>
                  <a:srgbClr val="00B050"/>
                </a:solidFill>
              </a:rPr>
              <a:t>(0,1,1)</a:t>
            </a:r>
          </a:p>
          <a:p>
            <a:endParaRPr lang="zh-TW" altLang="en-US" dirty="0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D0490228-BB04-17E8-E567-AD97F7C34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04" y="4539588"/>
            <a:ext cx="1923026" cy="86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629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3FF3D0-5F45-0035-064A-C15A52D6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Vector3</a:t>
            </a:r>
            <a:r>
              <a:rPr lang="zh-TW" altLang="en-US" dirty="0"/>
              <a:t> 減法</a:t>
            </a:r>
          </a:p>
        </p:txBody>
      </p: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93FB9A5C-00BE-31CB-5F15-8EC0C7F955DF}"/>
              </a:ext>
            </a:extLst>
          </p:cNvPr>
          <p:cNvSpPr txBox="1">
            <a:spLocks/>
          </p:cNvSpPr>
          <p:nvPr/>
        </p:nvSpPr>
        <p:spPr>
          <a:xfrm>
            <a:off x="457200" y="2249424"/>
            <a:ext cx="4385789" cy="4325112"/>
          </a:xfrm>
          <a:prstGeom prst="rect">
            <a:avLst/>
          </a:prstGeom>
          <a:ln>
            <a:noFill/>
          </a:ln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如同一般的加減法</a:t>
            </a:r>
            <a:endParaRPr lang="en-US" altLang="zh-TW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– B = A + (-1 * B)</a:t>
            </a:r>
          </a:p>
          <a:p>
            <a:pPr lvl="1"/>
            <a:endParaRPr lang="en-US" altLang="zh-TW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zh-TW" dirty="0">
                <a:solidFill>
                  <a:srgbClr val="00B050"/>
                </a:solidFill>
              </a:rPr>
              <a:t>(0,1,1)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en-US" altLang="zh-TW" dirty="0">
                <a:solidFill>
                  <a:srgbClr val="FF0000"/>
                </a:solidFill>
              </a:rPr>
              <a:t>(0,1,0)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</a:t>
            </a:r>
            <a:r>
              <a:rPr lang="en-US" altLang="zh-TW" dirty="0">
                <a:solidFill>
                  <a:srgbClr val="0070C0"/>
                </a:solidFill>
              </a:rPr>
              <a:t>(0,0,1)</a:t>
            </a:r>
          </a:p>
        </p:txBody>
      </p:sp>
      <p:sp>
        <p:nvSpPr>
          <p:cNvPr id="46" name="內容版面配置區 2">
            <a:extLst>
              <a:ext uri="{FF2B5EF4-FFF2-40B4-BE49-F238E27FC236}">
                <a16:creationId xmlns:a16="http://schemas.microsoft.com/office/drawing/2014/main" id="{7A160269-7E3B-B92D-2A2E-DD6C7821EA49}"/>
              </a:ext>
            </a:extLst>
          </p:cNvPr>
          <p:cNvSpPr txBox="1">
            <a:spLocks/>
          </p:cNvSpPr>
          <p:nvPr/>
        </p:nvSpPr>
        <p:spPr>
          <a:xfrm>
            <a:off x="3841576" y="4899060"/>
            <a:ext cx="2098576" cy="162628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en-US" altLang="zh-TW" dirty="0">
                <a:solidFill>
                  <a:srgbClr val="FF0000"/>
                </a:solidFill>
              </a:rPr>
              <a:t>(0,1,0)</a:t>
            </a:r>
          </a:p>
          <a:p>
            <a:pPr marL="109728" indent="0">
              <a:buFont typeface="Georgia"/>
              <a:buNone/>
            </a:pPr>
            <a:r>
              <a:rPr lang="en-US" altLang="zh-TW" dirty="0">
                <a:solidFill>
                  <a:srgbClr val="0070C0"/>
                </a:solidFill>
              </a:rPr>
              <a:t>(0,0,1)</a:t>
            </a:r>
          </a:p>
          <a:p>
            <a:pPr marL="109728" indent="0">
              <a:buFont typeface="Georgia"/>
              <a:buNone/>
            </a:pPr>
            <a:r>
              <a:rPr lang="en-US" altLang="zh-TW" dirty="0">
                <a:solidFill>
                  <a:srgbClr val="00B050"/>
                </a:solidFill>
              </a:rPr>
              <a:t>(0,1,1)</a:t>
            </a:r>
          </a:p>
          <a:p>
            <a:endParaRPr lang="zh-TW" altLang="en-US" dirty="0"/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EED67151-8B79-343A-EE18-FE1F0637D74F}"/>
              </a:ext>
            </a:extLst>
          </p:cNvPr>
          <p:cNvGrpSpPr/>
          <p:nvPr/>
        </p:nvGrpSpPr>
        <p:grpSpPr>
          <a:xfrm>
            <a:off x="5372472" y="3212976"/>
            <a:ext cx="3021144" cy="3245451"/>
            <a:chOff x="3423640" y="3256019"/>
            <a:chExt cx="3021144" cy="3245451"/>
          </a:xfrm>
        </p:grpSpPr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269E6D06-3ADE-4133-BA64-A255D21165A9}"/>
                </a:ext>
              </a:extLst>
            </p:cNvPr>
            <p:cNvGrpSpPr/>
            <p:nvPr/>
          </p:nvGrpSpPr>
          <p:grpSpPr>
            <a:xfrm>
              <a:off x="3758177" y="3429000"/>
              <a:ext cx="2686607" cy="2751029"/>
              <a:chOff x="3758177" y="3429000"/>
              <a:chExt cx="2686607" cy="2751029"/>
            </a:xfrm>
          </p:grpSpPr>
          <p:cxnSp>
            <p:nvCxnSpPr>
              <p:cNvPr id="69" name="直線單箭頭接點 68">
                <a:extLst>
                  <a:ext uri="{FF2B5EF4-FFF2-40B4-BE49-F238E27FC236}">
                    <a16:creationId xmlns:a16="http://schemas.microsoft.com/office/drawing/2014/main" id="{532C0FCA-3AE7-34EA-C29A-D96E439ED2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6024657"/>
                <a:ext cx="2209935" cy="20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單箭頭接點 69">
                <a:extLst>
                  <a:ext uri="{FF2B5EF4-FFF2-40B4-BE49-F238E27FC236}">
                    <a16:creationId xmlns:a16="http://schemas.microsoft.com/office/drawing/2014/main" id="{4D2159C3-69CD-175A-F689-936841DD02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113" y="3866481"/>
                <a:ext cx="0" cy="2178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線單箭頭接點 70">
                <a:extLst>
                  <a:ext uri="{FF2B5EF4-FFF2-40B4-BE49-F238E27FC236}">
                    <a16:creationId xmlns:a16="http://schemas.microsoft.com/office/drawing/2014/main" id="{DD72D3AF-01EC-7756-BD7B-3E7FA5B4F0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4955824"/>
                <a:ext cx="1800200" cy="10893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78F78232-0053-385D-5483-4ECDCAC11A41}"/>
                  </a:ext>
                </a:extLst>
              </p:cNvPr>
              <p:cNvSpPr txBox="1"/>
              <p:nvPr/>
            </p:nvSpPr>
            <p:spPr>
              <a:xfrm>
                <a:off x="6206448" y="581069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x</a:t>
                </a:r>
                <a:endParaRPr lang="zh-TW" altLang="en-US" dirty="0"/>
              </a:p>
            </p:txBody>
          </p:sp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F9610A1B-B923-33A1-E2B1-671F8B904E4E}"/>
                  </a:ext>
                </a:extLst>
              </p:cNvPr>
              <p:cNvSpPr txBox="1"/>
              <p:nvPr/>
            </p:nvSpPr>
            <p:spPr>
              <a:xfrm>
                <a:off x="3758177" y="3429000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y</a:t>
                </a:r>
                <a:endParaRPr lang="zh-TW" altLang="en-US" dirty="0"/>
              </a:p>
            </p:txBody>
          </p:sp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27DEFA73-4EDD-4B84-4796-6796215407B6}"/>
                  </a:ext>
                </a:extLst>
              </p:cNvPr>
              <p:cNvSpPr txBox="1"/>
              <p:nvPr/>
            </p:nvSpPr>
            <p:spPr>
              <a:xfrm>
                <a:off x="5790708" y="464927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z</a:t>
                </a:r>
                <a:endParaRPr lang="zh-TW" altLang="en-US" dirty="0"/>
              </a:p>
            </p:txBody>
          </p:sp>
        </p:grpSp>
        <p:grpSp>
          <p:nvGrpSpPr>
            <p:cNvPr id="54" name="群組 53">
              <a:extLst>
                <a:ext uri="{FF2B5EF4-FFF2-40B4-BE49-F238E27FC236}">
                  <a16:creationId xmlns:a16="http://schemas.microsoft.com/office/drawing/2014/main" id="{ECFEA8F1-A313-69BA-09F3-D0EEA69879B1}"/>
                </a:ext>
              </a:extLst>
            </p:cNvPr>
            <p:cNvGrpSpPr/>
            <p:nvPr/>
          </p:nvGrpSpPr>
          <p:grpSpPr>
            <a:xfrm>
              <a:off x="3456453" y="5961681"/>
              <a:ext cx="1080119" cy="539789"/>
              <a:chOff x="3456453" y="5961681"/>
              <a:chExt cx="1080119" cy="539789"/>
            </a:xfrm>
          </p:grpSpPr>
          <p:sp>
            <p:nvSpPr>
              <p:cNvPr id="67" name="橢圓 66">
                <a:extLst>
                  <a:ext uri="{FF2B5EF4-FFF2-40B4-BE49-F238E27FC236}">
                    <a16:creationId xmlns:a16="http://schemas.microsoft.com/office/drawing/2014/main" id="{44B25545-F1E1-BCAD-2379-982DD3FE35F0}"/>
                  </a:ext>
                </a:extLst>
              </p:cNvPr>
              <p:cNvSpPr/>
              <p:nvPr/>
            </p:nvSpPr>
            <p:spPr>
              <a:xfrm>
                <a:off x="3913347" y="5961681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D88F077B-B412-6E8C-5EF2-7866E9E3FC81}"/>
                  </a:ext>
                </a:extLst>
              </p:cNvPr>
              <p:cNvSpPr txBox="1"/>
              <p:nvPr/>
            </p:nvSpPr>
            <p:spPr>
              <a:xfrm>
                <a:off x="3456453" y="6132138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(0,0,0)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55" name="橢圓 54">
              <a:extLst>
                <a:ext uri="{FF2B5EF4-FFF2-40B4-BE49-F238E27FC236}">
                  <a16:creationId xmlns:a16="http://schemas.microsoft.com/office/drawing/2014/main" id="{24957055-33C9-16B1-E78B-4B351FF60B22}"/>
                </a:ext>
              </a:extLst>
            </p:cNvPr>
            <p:cNvSpPr/>
            <p:nvPr/>
          </p:nvSpPr>
          <p:spPr>
            <a:xfrm>
              <a:off x="3911642" y="429514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717889B4-985C-3C64-5D7C-317D3DECBBE8}"/>
                </a:ext>
              </a:extLst>
            </p:cNvPr>
            <p:cNvSpPr txBox="1"/>
            <p:nvPr/>
          </p:nvSpPr>
          <p:spPr>
            <a:xfrm>
              <a:off x="3423640" y="3920792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(0,1,0)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4AC3E7E8-F2FC-A684-E4D5-3C37A2D1F006}"/>
                </a:ext>
              </a:extLst>
            </p:cNvPr>
            <p:cNvGrpSpPr/>
            <p:nvPr/>
          </p:nvGrpSpPr>
          <p:grpSpPr>
            <a:xfrm>
              <a:off x="4644008" y="5251635"/>
              <a:ext cx="1080119" cy="539789"/>
              <a:chOff x="4644008" y="5251635"/>
              <a:chExt cx="1080119" cy="539789"/>
            </a:xfrm>
          </p:grpSpPr>
          <p:sp>
            <p:nvSpPr>
              <p:cNvPr id="65" name="橢圓 64">
                <a:extLst>
                  <a:ext uri="{FF2B5EF4-FFF2-40B4-BE49-F238E27FC236}">
                    <a16:creationId xmlns:a16="http://schemas.microsoft.com/office/drawing/2014/main" id="{CD7D2BAF-33C2-126A-E276-8FDCB3CC2DB0}"/>
                  </a:ext>
                </a:extLst>
              </p:cNvPr>
              <p:cNvSpPr/>
              <p:nvPr/>
            </p:nvSpPr>
            <p:spPr>
              <a:xfrm>
                <a:off x="5100902" y="5251635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E0C334D8-15D4-0EFB-E3B6-C7B37C9147DB}"/>
                  </a:ext>
                </a:extLst>
              </p:cNvPr>
              <p:cNvSpPr txBox="1"/>
              <p:nvPr/>
            </p:nvSpPr>
            <p:spPr>
              <a:xfrm>
                <a:off x="4644008" y="5422092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(0,0,1)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58" name="橢圓 57">
              <a:extLst>
                <a:ext uri="{FF2B5EF4-FFF2-40B4-BE49-F238E27FC236}">
                  <a16:creationId xmlns:a16="http://schemas.microsoft.com/office/drawing/2014/main" id="{0E2D3DB8-4EE9-25DB-9113-AF90013FDEF4}"/>
                </a:ext>
              </a:extLst>
            </p:cNvPr>
            <p:cNvSpPr/>
            <p:nvPr/>
          </p:nvSpPr>
          <p:spPr>
            <a:xfrm>
              <a:off x="5100902" y="363717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B5A6F0B3-0E13-5218-6230-2BAEE4B933EE}"/>
                </a:ext>
              </a:extLst>
            </p:cNvPr>
            <p:cNvSpPr txBox="1"/>
            <p:nvPr/>
          </p:nvSpPr>
          <p:spPr>
            <a:xfrm>
              <a:off x="4644008" y="3256019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(0,1,1)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3455B072-929C-5697-7178-28EB5A6267C9}"/>
                </a:ext>
              </a:extLst>
            </p:cNvPr>
            <p:cNvCxnSpPr/>
            <p:nvPr/>
          </p:nvCxnSpPr>
          <p:spPr>
            <a:xfrm flipV="1">
              <a:off x="3994806" y="4471546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1" name="直線單箭頭接點 60">
              <a:extLst>
                <a:ext uri="{FF2B5EF4-FFF2-40B4-BE49-F238E27FC236}">
                  <a16:creationId xmlns:a16="http://schemas.microsoft.com/office/drawing/2014/main" id="{DBB4F0DD-B171-F0A1-4C8C-65E6F260AF8C}"/>
                </a:ext>
              </a:extLst>
            </p:cNvPr>
            <p:cNvCxnSpPr/>
            <p:nvPr/>
          </p:nvCxnSpPr>
          <p:spPr>
            <a:xfrm flipV="1">
              <a:off x="5184066" y="3768774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12245239-A56C-8BB0-B7BD-B4BDA52D5C75}"/>
                </a:ext>
              </a:extLst>
            </p:cNvPr>
            <p:cNvCxnSpPr>
              <a:cxnSpLocks/>
              <a:stCxn id="55" idx="6"/>
              <a:endCxn id="58" idx="3"/>
            </p:cNvCxnSpPr>
            <p:nvPr/>
          </p:nvCxnSpPr>
          <p:spPr>
            <a:xfrm flipV="1">
              <a:off x="4077971" y="3787743"/>
              <a:ext cx="1047289" cy="59560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F632E4C4-41B8-3C91-1159-A1330A1C55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0187" y="5398001"/>
              <a:ext cx="1047289" cy="59560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4" name="直線單箭頭接點 63">
              <a:extLst>
                <a:ext uri="{FF2B5EF4-FFF2-40B4-BE49-F238E27FC236}">
                  <a16:creationId xmlns:a16="http://schemas.microsoft.com/office/drawing/2014/main" id="{ED22B3EC-15BE-B3B9-B396-D2D61704ECB5}"/>
                </a:ext>
              </a:extLst>
            </p:cNvPr>
            <p:cNvCxnSpPr>
              <a:cxnSpLocks/>
              <a:stCxn id="67" idx="7"/>
            </p:cNvCxnSpPr>
            <p:nvPr/>
          </p:nvCxnSpPr>
          <p:spPr>
            <a:xfrm flipV="1">
              <a:off x="4055318" y="3866481"/>
              <a:ext cx="1088570" cy="212103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91128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435023-B38E-46E7-8E51-1019BA8E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向量外積 </a:t>
            </a:r>
            <a:r>
              <a:rPr lang="en-US" altLang="zh-TW" dirty="0"/>
              <a:t>(cross product)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E67F35-0C7C-64FF-F53D-8589C1E4A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482952" cy="4325112"/>
          </a:xfrm>
        </p:spPr>
        <p:txBody>
          <a:bodyPr/>
          <a:lstStyle/>
          <a:p>
            <a:r>
              <a:rPr lang="zh-TW" altLang="en-US" dirty="0"/>
              <a:t>叉積</a:t>
            </a:r>
            <a:endParaRPr lang="en-US" altLang="zh-TW" dirty="0"/>
          </a:p>
          <a:p>
            <a:r>
              <a:rPr lang="en-US" altLang="zh-TW" dirty="0"/>
              <a:t>a x b  (</a:t>
            </a:r>
            <a:r>
              <a:rPr lang="en-US" altLang="zh-TW" dirty="0" err="1"/>
              <a:t>a,b</a:t>
            </a:r>
            <a:r>
              <a:rPr lang="zh-TW" altLang="en-US" dirty="0"/>
              <a:t>為三維向量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結果為一個向量</a:t>
            </a:r>
            <a:r>
              <a:rPr lang="en-US" altLang="zh-TW" dirty="0"/>
              <a:t>c</a:t>
            </a:r>
            <a:r>
              <a:rPr lang="zh-TW" altLang="en-US" dirty="0"/>
              <a:t>，必各自與</a:t>
            </a:r>
            <a:r>
              <a:rPr lang="en-US" altLang="zh-TW" dirty="0" err="1"/>
              <a:t>a,b</a:t>
            </a:r>
            <a:r>
              <a:rPr lang="zh-TW" altLang="en-US" dirty="0"/>
              <a:t>垂直。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不做太多說明，主要用法為計算</a:t>
            </a:r>
            <a:r>
              <a:rPr lang="en-US" altLang="zh-TW" dirty="0"/>
              <a:t>”</a:t>
            </a:r>
            <a:r>
              <a:rPr lang="zh-TW" altLang="en-US" dirty="0"/>
              <a:t>法向量</a:t>
            </a:r>
            <a:r>
              <a:rPr lang="en-US" altLang="zh-TW" dirty="0"/>
              <a:t>”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A837B94-6B27-472E-7872-BA3DDDB35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634" y="976310"/>
            <a:ext cx="2438740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12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8D8809-5950-C90A-D360-B192DCD88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向量內積 </a:t>
            </a:r>
            <a:r>
              <a:rPr lang="en-US" altLang="zh-TW" dirty="0"/>
              <a:t>(dot product)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104705-2E60-A08C-D3BB-640E932F7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122912" cy="4325112"/>
          </a:xfrm>
        </p:spPr>
        <p:txBody>
          <a:bodyPr/>
          <a:lstStyle/>
          <a:p>
            <a:r>
              <a:rPr lang="zh-TW" altLang="en-US" dirty="0"/>
              <a:t>點積</a:t>
            </a:r>
            <a:endParaRPr lang="en-US" altLang="zh-TW" dirty="0"/>
          </a:p>
          <a:p>
            <a:r>
              <a:rPr lang="en-US" altLang="zh-TW" dirty="0"/>
              <a:t>a · b (</a:t>
            </a:r>
            <a:r>
              <a:rPr lang="en-US" altLang="zh-TW" dirty="0" err="1"/>
              <a:t>a,b</a:t>
            </a:r>
            <a:r>
              <a:rPr lang="zh-TW" altLang="en-US" dirty="0"/>
              <a:t>為同維向量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結果為小數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可以想成</a:t>
            </a:r>
            <a:r>
              <a:rPr lang="en-US" altLang="zh-TW" dirty="0"/>
              <a:t>a </a:t>
            </a:r>
            <a:r>
              <a:rPr lang="zh-TW" altLang="en-US" dirty="0"/>
              <a:t>在 </a:t>
            </a:r>
            <a:r>
              <a:rPr lang="en-US" altLang="zh-TW" dirty="0"/>
              <a:t>b</a:t>
            </a:r>
            <a:r>
              <a:rPr lang="zh-TW" altLang="en-US" dirty="0"/>
              <a:t>方向上的投影</a:t>
            </a:r>
            <a:endParaRPr lang="en-US" altLang="zh-TW" dirty="0"/>
          </a:p>
          <a:p>
            <a:r>
              <a:rPr lang="zh-TW" altLang="en-US" dirty="0"/>
              <a:t>可用來計算角度，如數值越大就代表</a:t>
            </a:r>
            <a:r>
              <a:rPr lang="en-US" altLang="zh-TW" dirty="0"/>
              <a:t>a</a:t>
            </a:r>
            <a:r>
              <a:rPr lang="zh-TW" altLang="en-US" dirty="0"/>
              <a:t>的角度越接近</a:t>
            </a:r>
            <a:r>
              <a:rPr lang="en-US" altLang="zh-TW" dirty="0"/>
              <a:t>b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B20E3EB-B127-7774-4A9A-9FBA63100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4149080"/>
            <a:ext cx="3069996" cy="222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361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5181600" cy="4325112"/>
          </a:xfrm>
        </p:spPr>
        <p:txBody>
          <a:bodyPr/>
          <a:lstStyle/>
          <a:p>
            <a:r>
              <a:rPr lang="zh-TW" altLang="en-US" dirty="0"/>
              <a:t>角色在</a:t>
            </a:r>
            <a:r>
              <a:rPr lang="en-US" altLang="zh-TW" dirty="0"/>
              <a:t>A</a:t>
            </a:r>
            <a:r>
              <a:rPr lang="zh-TW" altLang="en-US" dirty="0"/>
              <a:t>點，希望讓角色往</a:t>
            </a:r>
            <a:r>
              <a:rPr lang="en-US" altLang="zh-TW" dirty="0"/>
              <a:t>C</a:t>
            </a:r>
            <a:r>
              <a:rPr lang="zh-TW" altLang="en-US" dirty="0"/>
              <a:t>點前進，人物移動速度為</a:t>
            </a:r>
            <a:r>
              <a:rPr lang="en-US" altLang="zh-TW" dirty="0"/>
              <a:t>20/s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座標</a:t>
            </a:r>
            <a:r>
              <a:rPr lang="en-US" altLang="zh-TW" sz="2000" dirty="0"/>
              <a:t>C</a:t>
            </a:r>
            <a:r>
              <a:rPr lang="zh-TW" altLang="en-US" dirty="0"/>
              <a:t> </a:t>
            </a:r>
            <a:r>
              <a:rPr lang="en-US" altLang="zh-TW" dirty="0"/>
              <a:t>-</a:t>
            </a:r>
            <a:r>
              <a:rPr lang="zh-TW" altLang="en-US" dirty="0"/>
              <a:t> 座標</a:t>
            </a:r>
            <a:r>
              <a:rPr lang="en-US" altLang="zh-TW" sz="2000" dirty="0"/>
              <a:t>A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向量</a:t>
            </a:r>
            <a:r>
              <a:rPr lang="en-US" altLang="zh-TW" sz="2000" dirty="0"/>
              <a:t>AC</a:t>
            </a:r>
          </a:p>
          <a:p>
            <a:r>
              <a:rPr lang="zh-TW" altLang="en-US" dirty="0"/>
              <a:t>取得向量</a:t>
            </a:r>
            <a:r>
              <a:rPr lang="en-US" altLang="zh-TW" sz="2000" dirty="0"/>
              <a:t>AC</a:t>
            </a:r>
            <a:r>
              <a:rPr lang="zh-TW" altLang="en-US" dirty="0"/>
              <a:t>的單位向量 </a:t>
            </a:r>
            <a:r>
              <a:rPr lang="en-US" altLang="zh-TW" dirty="0"/>
              <a:t>V</a:t>
            </a:r>
          </a:p>
          <a:p>
            <a:r>
              <a:rPr lang="zh-TW" altLang="en-US" dirty="0"/>
              <a:t>將</a:t>
            </a:r>
            <a:r>
              <a:rPr lang="en-US" altLang="zh-TW" dirty="0"/>
              <a:t>V</a:t>
            </a:r>
            <a:r>
              <a:rPr lang="zh-TW" altLang="en-US" dirty="0"/>
              <a:t>乘上</a:t>
            </a:r>
            <a:r>
              <a:rPr lang="en-US" altLang="zh-TW" dirty="0"/>
              <a:t>20</a:t>
            </a:r>
            <a:r>
              <a:rPr lang="zh-TW" altLang="en-US" dirty="0"/>
              <a:t>即為每秒速度</a:t>
            </a:r>
            <a:r>
              <a:rPr lang="en-US" altLang="zh-TW" dirty="0"/>
              <a:t>(/s)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6400800" y="5638800"/>
            <a:ext cx="762000" cy="521732"/>
            <a:chOff x="5715000" y="5638800"/>
            <a:chExt cx="762000" cy="521732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44B25545-F1E1-BCAD-2379-982DD3FE35F0}"/>
                </a:ext>
              </a:extLst>
            </p:cNvPr>
            <p:cNvSpPr/>
            <p:nvPr/>
          </p:nvSpPr>
          <p:spPr>
            <a:xfrm>
              <a:off x="6019800" y="5638800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5715000" y="5791200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A</a:t>
              </a:r>
              <a:endParaRPr lang="zh-TW" altLang="en-US" dirty="0"/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8077200" y="3733800"/>
            <a:ext cx="762000" cy="481200"/>
            <a:chOff x="5715000" y="5334000"/>
            <a:chExt cx="762000" cy="481200"/>
          </a:xfrm>
        </p:grpSpPr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44B25545-F1E1-BCAD-2379-982DD3FE35F0}"/>
                </a:ext>
              </a:extLst>
            </p:cNvPr>
            <p:cNvSpPr/>
            <p:nvPr/>
          </p:nvSpPr>
          <p:spPr>
            <a:xfrm>
              <a:off x="6019800" y="5638800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5715000" y="5334000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C</a:t>
              </a:r>
              <a:endParaRPr lang="zh-TW" altLang="en-US" dirty="0"/>
            </a:p>
          </p:txBody>
        </p:sp>
      </p:grp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DBB4F0DD-B171-F0A1-4C8C-65E6F260AF8C}"/>
              </a:ext>
            </a:extLst>
          </p:cNvPr>
          <p:cNvCxnSpPr/>
          <p:nvPr/>
        </p:nvCxnSpPr>
        <p:spPr>
          <a:xfrm rot="5400000" flipH="1" flipV="1">
            <a:off x="6889231" y="4147507"/>
            <a:ext cx="1475466" cy="155878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BD9446-5B42-1823-4830-0388E70A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82" y="910711"/>
            <a:ext cx="8229600" cy="1066800"/>
          </a:xfrm>
        </p:spPr>
        <p:txBody>
          <a:bodyPr/>
          <a:lstStyle/>
          <a:p>
            <a:r>
              <a:rPr lang="zh-TW" altLang="en-US" dirty="0"/>
              <a:t>英文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4CDDAF0-D373-5069-0A1C-31D5DC8D0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213533"/>
              </p:ext>
            </p:extLst>
          </p:nvPr>
        </p:nvGraphicFramePr>
        <p:xfrm>
          <a:off x="611560" y="1988840"/>
          <a:ext cx="8075240" cy="448308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17316374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2426916"/>
                    </a:ext>
                  </a:extLst>
                </a:gridCol>
                <a:gridCol w="4330824">
                  <a:extLst>
                    <a:ext uri="{9D8B030D-6E8A-4147-A177-3AD203B41FA5}">
                      <a16:colId xmlns:a16="http://schemas.microsoft.com/office/drawing/2014/main" val="1836957082"/>
                    </a:ext>
                  </a:extLst>
                </a:gridCol>
              </a:tblGrid>
              <a:tr h="712088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Vector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向量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600" b="0" dirty="0">
                          <a:latin typeface="+mj-ea"/>
                          <a:ea typeface="+mj-ea"/>
                        </a:rPr>
                        <a:t>多個實數組成的數組，代表一個有方向性的數值，通常為</a:t>
                      </a:r>
                      <a:r>
                        <a:rPr lang="en-US" altLang="zh-TW" sz="1600" b="0" dirty="0">
                          <a:latin typeface="+mj-ea"/>
                          <a:ea typeface="+mj-ea"/>
                        </a:rPr>
                        <a:t>3</a:t>
                      </a:r>
                      <a:r>
                        <a:rPr lang="zh-TW" altLang="en-US" sz="1600" b="0" dirty="0">
                          <a:latin typeface="+mj-ea"/>
                          <a:ea typeface="+mj-ea"/>
                        </a:rPr>
                        <a:t>個實數，如 </a:t>
                      </a:r>
                      <a:r>
                        <a:rPr lang="en-US" altLang="zh-TW" sz="1600" b="0" dirty="0">
                          <a:latin typeface="+mj-ea"/>
                          <a:ea typeface="+mj-ea"/>
                        </a:rPr>
                        <a:t>(0.5,1.5,2.5)</a:t>
                      </a:r>
                      <a:endParaRPr lang="zh-TW" altLang="en-US" sz="16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4294642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Add/Plus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加法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600" b="0" dirty="0">
                          <a:latin typeface="+mj-ea"/>
                          <a:ea typeface="+mj-ea"/>
                        </a:rPr>
                        <a:t>加法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58920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Minus/Subtract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減法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600" b="0" dirty="0">
                          <a:latin typeface="+mj-ea"/>
                          <a:ea typeface="+mj-ea"/>
                        </a:rPr>
                        <a:t>減法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26562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Times/Multiply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乘法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600" b="0" dirty="0">
                          <a:latin typeface="+mj-ea"/>
                          <a:ea typeface="+mj-ea"/>
                        </a:rPr>
                        <a:t>乘法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584998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Product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乘積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乘法的結果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2872403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Unit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單位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即「單位量詞」中的單位</a:t>
                      </a:r>
                      <a:br>
                        <a:rPr kumimoji="0" lang="en-US" altLang="zh-TW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</a:br>
                      <a:r>
                        <a:rPr kumimoji="0" lang="zh-TW" altLang="en-US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但英文中也可以視為「一單位」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846255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Unit</a:t>
                      </a:r>
                      <a:r>
                        <a:rPr lang="zh-TW" altLang="en-US" sz="1800" b="1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Vector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單位向量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600" b="0" dirty="0">
                          <a:latin typeface="+mj-ea"/>
                          <a:ea typeface="+mj-ea"/>
                        </a:rPr>
                        <a:t>長度為</a:t>
                      </a:r>
                      <a:r>
                        <a:rPr lang="en-US" altLang="zh-TW" sz="1600" b="0" dirty="0">
                          <a:latin typeface="+mj-ea"/>
                          <a:ea typeface="+mj-ea"/>
                        </a:rPr>
                        <a:t>1(</a:t>
                      </a:r>
                      <a:r>
                        <a:rPr lang="zh-TW" altLang="en-US" sz="1600" b="0" dirty="0">
                          <a:latin typeface="+mj-ea"/>
                          <a:ea typeface="+mj-ea"/>
                        </a:rPr>
                        <a:t>單位</a:t>
                      </a:r>
                      <a:r>
                        <a:rPr lang="en-US" altLang="zh-TW" sz="1600" b="0" dirty="0">
                          <a:latin typeface="+mj-ea"/>
                          <a:ea typeface="+mj-ea"/>
                        </a:rPr>
                        <a:t>)</a:t>
                      </a:r>
                      <a:r>
                        <a:rPr lang="zh-TW" altLang="en-US" sz="1600" b="0" dirty="0">
                          <a:latin typeface="+mj-ea"/>
                          <a:ea typeface="+mj-ea"/>
                        </a:rPr>
                        <a:t>的向量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957201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729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4014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3200" dirty="0"/>
              <a:t>Section 3</a:t>
            </a:r>
            <a:br>
              <a:rPr lang="en-US" altLang="zh-TW" dirty="0"/>
            </a:br>
            <a:r>
              <a:rPr lang="zh-TW" altLang="en-US" dirty="0"/>
              <a:t>位置、縮放、旋轉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r>
              <a:rPr lang="en-US" altLang="zh-TW" dirty="0">
                <a:solidFill>
                  <a:srgbClr val="003399"/>
                </a:solidFill>
                <a:latin typeface="Times New Roman" panose="02020603050405020304" pitchFamily="18" charset="0"/>
              </a:rPr>
              <a:t>(Y2)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2250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調整物件</a:t>
            </a:r>
            <a:r>
              <a:rPr lang="en-US" altLang="zh-TW" dirty="0"/>
              <a:t>Transform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變換組件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Position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位置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Rotation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旋轉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Scale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大小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4243410"/>
            <a:ext cx="7507287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3286124"/>
            <a:ext cx="5214942" cy="870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0759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E2AE52-5E76-C894-A622-4AAC9462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Position </a:t>
            </a:r>
            <a:r>
              <a:rPr lang="zh-TW" altLang="en-US" dirty="0"/>
              <a:t>位置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4CAAD3-B75A-D98C-DB69-0CAA84392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Vector3</a:t>
            </a:r>
            <a:r>
              <a:rPr lang="zh-TW" altLang="en-US" dirty="0"/>
              <a:t> 三維向量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手動修改數值</a:t>
            </a:r>
            <a:endParaRPr lang="en-US" altLang="zh-TW" dirty="0"/>
          </a:p>
          <a:p>
            <a:pPr lvl="1"/>
            <a:r>
              <a:rPr lang="zh-TW" altLang="en-US" dirty="0"/>
              <a:t>運算式</a:t>
            </a:r>
            <a:endParaRPr lang="en-US" altLang="zh-TW" dirty="0"/>
          </a:p>
          <a:p>
            <a:pPr lvl="1"/>
            <a:r>
              <a:rPr lang="zh-TW" altLang="en-US" dirty="0"/>
              <a:t>拖拉數值</a:t>
            </a:r>
            <a:endParaRPr lang="en-US" altLang="zh-TW" dirty="0"/>
          </a:p>
          <a:p>
            <a:r>
              <a:rPr lang="zh-TW" altLang="en-US" dirty="0"/>
              <a:t>在場景內修改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4E91AD0-8729-DB58-0644-55D017AC4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r="66287"/>
          <a:stretch/>
        </p:blipFill>
        <p:spPr bwMode="auto">
          <a:xfrm>
            <a:off x="6228184" y="4174236"/>
            <a:ext cx="2530948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12619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Scale </a:t>
            </a:r>
            <a:r>
              <a:rPr lang="zh-TW" altLang="en-US" dirty="0"/>
              <a:t>縮放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Vector3</a:t>
            </a:r>
            <a:r>
              <a:rPr lang="zh-TW" altLang="en-US" dirty="0"/>
              <a:t> 三維向量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手動修改數值</a:t>
            </a:r>
            <a:endParaRPr lang="en-US" altLang="zh-TW" dirty="0"/>
          </a:p>
          <a:p>
            <a:pPr lvl="1"/>
            <a:r>
              <a:rPr lang="zh-TW" altLang="en-US" dirty="0"/>
              <a:t>運算式</a:t>
            </a:r>
            <a:endParaRPr lang="en-US" altLang="zh-TW" dirty="0"/>
          </a:p>
          <a:p>
            <a:pPr lvl="1"/>
            <a:r>
              <a:rPr lang="zh-TW" altLang="en-US" dirty="0"/>
              <a:t>等比縮放</a:t>
            </a:r>
            <a:endParaRPr lang="en-US" altLang="zh-TW" dirty="0"/>
          </a:p>
          <a:p>
            <a:pPr lvl="1"/>
            <a:r>
              <a:rPr lang="zh-TW" altLang="en-US" dirty="0"/>
              <a:t>拖拉數值</a:t>
            </a:r>
            <a:endParaRPr lang="en-US" altLang="zh-TW" dirty="0"/>
          </a:p>
          <a:p>
            <a:r>
              <a:rPr lang="zh-TW" altLang="en-US" dirty="0"/>
              <a:t>在場景內修改</a:t>
            </a:r>
          </a:p>
          <a:p>
            <a:endParaRPr lang="zh-TW" altLang="en-US" dirty="0"/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43636" y="4071942"/>
            <a:ext cx="2613859" cy="2647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45018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699BB1-8807-5A1C-DAE0-3189BF88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Rotation</a:t>
            </a:r>
            <a:r>
              <a:rPr lang="zh-TW" altLang="en-US" dirty="0"/>
              <a:t> 轉動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D21AA3-CA00-1509-24C7-FF3F1E0E6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dk1"/>
                </a:solidFill>
                <a:latin typeface="+mj-ea"/>
                <a:ea typeface="+mj-ea"/>
              </a:rPr>
              <a:t>Quaternion</a:t>
            </a:r>
            <a:r>
              <a:rPr lang="zh-TW" altLang="en-US" dirty="0">
                <a:solidFill>
                  <a:schemeClr val="dk1"/>
                </a:solidFill>
                <a:latin typeface="+mj-ea"/>
                <a:ea typeface="+mj-ea"/>
              </a:rPr>
              <a:t>  四元數  </a:t>
            </a:r>
            <a:r>
              <a:rPr lang="en-US" altLang="zh-TW" dirty="0">
                <a:solidFill>
                  <a:schemeClr val="dk1"/>
                </a:solidFill>
                <a:latin typeface="+mj-ea"/>
                <a:ea typeface="+mj-ea"/>
              </a:rPr>
              <a:t>(</a:t>
            </a:r>
            <a:r>
              <a:rPr lang="zh-TW" altLang="en-US" dirty="0">
                <a:solidFill>
                  <a:schemeClr val="dk1"/>
                </a:solidFill>
                <a:latin typeface="+mj-ea"/>
                <a:ea typeface="+mj-ea"/>
              </a:rPr>
              <a:t>實際在電腦中儲存</a:t>
            </a:r>
            <a:r>
              <a:rPr lang="en-US" altLang="zh-TW" dirty="0">
                <a:solidFill>
                  <a:schemeClr val="dk1"/>
                </a:solidFill>
                <a:latin typeface="+mj-ea"/>
                <a:ea typeface="+mj-ea"/>
              </a:rPr>
              <a:t>)</a:t>
            </a:r>
          </a:p>
          <a:p>
            <a:r>
              <a:rPr lang="en-US" altLang="zh-TW" dirty="0" err="1">
                <a:latin typeface="+mj-ea"/>
                <a:ea typeface="+mj-ea"/>
              </a:rPr>
              <a:t>Eular</a:t>
            </a:r>
            <a:r>
              <a:rPr lang="en-US" altLang="zh-TW" dirty="0">
                <a:latin typeface="+mj-ea"/>
                <a:ea typeface="+mj-ea"/>
              </a:rPr>
              <a:t> Angles </a:t>
            </a:r>
            <a:r>
              <a:rPr lang="zh-TW" altLang="en-US" dirty="0">
                <a:latin typeface="+mj-ea"/>
                <a:ea typeface="+mj-ea"/>
              </a:rPr>
              <a:t>歐拉角 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我們所看到的</a:t>
            </a:r>
            <a:r>
              <a:rPr lang="en-US" altLang="zh-TW" dirty="0">
                <a:latin typeface="+mj-ea"/>
                <a:ea typeface="+mj-ea"/>
              </a:rPr>
              <a:t>)</a:t>
            </a:r>
            <a:endParaRPr lang="en-US" altLang="zh-TW" dirty="0">
              <a:solidFill>
                <a:schemeClr val="dk1"/>
              </a:solidFill>
              <a:latin typeface="+mj-ea"/>
              <a:ea typeface="+mj-ea"/>
            </a:endParaRPr>
          </a:p>
          <a:p>
            <a:endParaRPr lang="en-US" altLang="zh-TW" dirty="0">
              <a:solidFill>
                <a:schemeClr val="dk1"/>
              </a:solidFill>
              <a:latin typeface="+mj-ea"/>
              <a:ea typeface="+mj-ea"/>
            </a:endParaRPr>
          </a:p>
          <a:p>
            <a:r>
              <a:rPr lang="zh-TW" altLang="en-US" dirty="0">
                <a:latin typeface="+mj-ea"/>
                <a:ea typeface="+mj-ea"/>
              </a:rPr>
              <a:t>手動修改數值 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使用歐拉角</a:t>
            </a:r>
            <a:r>
              <a:rPr lang="en-US" altLang="zh-TW" dirty="0">
                <a:latin typeface="+mj-ea"/>
                <a:ea typeface="+mj-ea"/>
              </a:rPr>
              <a:t>)</a:t>
            </a:r>
          </a:p>
          <a:p>
            <a:pPr lvl="1"/>
            <a:r>
              <a:rPr lang="zh-TW" altLang="en-US" dirty="0">
                <a:latin typeface="+mj-ea"/>
                <a:ea typeface="+mj-ea"/>
              </a:rPr>
              <a:t>運算式</a:t>
            </a:r>
            <a:endParaRPr lang="en-US" altLang="zh-TW" dirty="0">
              <a:latin typeface="+mj-ea"/>
              <a:ea typeface="+mj-ea"/>
            </a:endParaRPr>
          </a:p>
          <a:p>
            <a:pPr lvl="1"/>
            <a:r>
              <a:rPr lang="zh-TW" altLang="en-US" dirty="0">
                <a:latin typeface="+mj-ea"/>
                <a:ea typeface="+mj-ea"/>
              </a:rPr>
              <a:t>拖拉數值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zh-TW" altLang="en-US" dirty="0">
                <a:latin typeface="+mj-ea"/>
                <a:ea typeface="+mj-ea"/>
              </a:rPr>
              <a:t>在場景內修改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05742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ty – Lucky's Not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72200" y="4876800"/>
            <a:ext cx="2895600" cy="1875246"/>
          </a:xfrm>
          <a:prstGeom prst="rect">
            <a:avLst/>
          </a:prstGeom>
          <a:noFill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+mj-ea"/>
              </a:rPr>
              <a:t>Eular</a:t>
            </a:r>
            <a:r>
              <a:rPr lang="en-US" altLang="zh-TW" dirty="0">
                <a:latin typeface="+mj-ea"/>
              </a:rPr>
              <a:t> Angles </a:t>
            </a:r>
            <a:r>
              <a:rPr lang="zh-TW" altLang="en-US" dirty="0">
                <a:latin typeface="+mj-ea"/>
              </a:rPr>
              <a:t>歐拉角 </a:t>
            </a:r>
            <a:r>
              <a:rPr lang="en-US" altLang="zh-TW" dirty="0">
                <a:latin typeface="+mj-ea"/>
              </a:rPr>
              <a:t>/ </a:t>
            </a:r>
            <a:r>
              <a:rPr lang="zh-TW" altLang="en-US" dirty="0">
                <a:latin typeface="+mj-ea"/>
              </a:rPr>
              <a:t>尤拉角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形容物體旋轉的方式，三維世界中，可用三個角度來表示。人類比較好理解的方式。</a:t>
            </a:r>
            <a:endParaRPr lang="en-US" altLang="zh-TW" dirty="0"/>
          </a:p>
          <a:p>
            <a:r>
              <a:rPr lang="zh-TW" altLang="en-US" dirty="0"/>
              <a:t>由於只是三個角度，</a:t>
            </a:r>
            <a:r>
              <a:rPr lang="zh-TW" altLang="en-US" b="1" dirty="0"/>
              <a:t>必須描述順序，不同順序則結果不同</a:t>
            </a:r>
            <a:endParaRPr lang="en-US" altLang="zh-TW" b="1" dirty="0"/>
          </a:p>
          <a:p>
            <a:pPr lvl="1"/>
            <a:r>
              <a:rPr lang="zh-TW" altLang="en-US" dirty="0"/>
              <a:t>角度通常用 </a:t>
            </a:r>
            <a:r>
              <a:rPr lang="en-US" altLang="zh-TW" dirty="0"/>
              <a:t>0~360</a:t>
            </a:r>
            <a:r>
              <a:rPr lang="zh-TW" altLang="en-US" dirty="0"/>
              <a:t>度 </a:t>
            </a:r>
            <a:r>
              <a:rPr lang="en-US" altLang="zh-TW" dirty="0"/>
              <a:t>(0~2</a:t>
            </a:r>
            <a:r>
              <a:rPr lang="el-GR" altLang="zh-TW" dirty="0"/>
              <a:t>π</a:t>
            </a:r>
            <a:r>
              <a:rPr lang="en-US" altLang="zh-TW" dirty="0"/>
              <a:t>) </a:t>
            </a:r>
            <a:r>
              <a:rPr lang="zh-TW" altLang="en-US" dirty="0"/>
              <a:t>表示</a:t>
            </a:r>
            <a:endParaRPr lang="en-US" altLang="zh-TW" dirty="0"/>
          </a:p>
          <a:p>
            <a:pPr lvl="1"/>
            <a:r>
              <a:rPr lang="zh-TW" altLang="en-US" dirty="0"/>
              <a:t>將該物體依照此順序轉動至該狀態</a:t>
            </a:r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Unity</a:t>
            </a:r>
            <a:r>
              <a:rPr lang="zh-TW" altLang="en-US" dirty="0"/>
              <a:t>中，</a:t>
            </a:r>
            <a:r>
              <a:rPr lang="en-US" altLang="zh-TW" dirty="0"/>
              <a:t>x</a:t>
            </a:r>
            <a:r>
              <a:rPr lang="zh-TW" altLang="en-US" dirty="0"/>
              <a:t>的數值為以</a:t>
            </a:r>
            <a:r>
              <a:rPr lang="en-US" altLang="zh-TW" dirty="0"/>
              <a:t>x</a:t>
            </a:r>
            <a:r>
              <a:rPr lang="zh-TW" altLang="en-US" dirty="0"/>
              <a:t>軸轉動的角度</a:t>
            </a:r>
            <a:endParaRPr lang="en-US" altLang="zh-TW" dirty="0"/>
          </a:p>
          <a:p>
            <a:pPr lvl="1"/>
            <a:r>
              <a:rPr lang="zh-TW" altLang="en-US" dirty="0"/>
              <a:t>其他數值同理</a:t>
            </a:r>
            <a:endParaRPr lang="en-US" altLang="zh-TW" dirty="0"/>
          </a:p>
          <a:p>
            <a:pPr lvl="1"/>
            <a:r>
              <a:rPr lang="zh-TW" altLang="en-US" dirty="0"/>
              <a:t>允許</a:t>
            </a:r>
            <a:r>
              <a:rPr lang="en-US" altLang="zh-TW" dirty="0"/>
              <a:t>0~360</a:t>
            </a:r>
            <a:r>
              <a:rPr lang="zh-TW" altLang="en-US" dirty="0"/>
              <a:t>度、也允許負值</a:t>
            </a:r>
            <a:endParaRPr lang="en-US" altLang="zh-TW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</a:rPr>
              <a:t>歐拉角的問題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6400800" cy="4325112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萬向死鎖</a:t>
            </a:r>
            <a:r>
              <a:rPr lang="en-US" altLang="zh-TW" dirty="0"/>
              <a:t>/</a:t>
            </a:r>
            <a:r>
              <a:rPr lang="zh-TW" altLang="en-US" dirty="0"/>
              <a:t>環架鎖定 </a:t>
            </a:r>
            <a:r>
              <a:rPr lang="en-US" altLang="zh-TW" dirty="0" err="1"/>
              <a:t>Gimbal</a:t>
            </a:r>
            <a:r>
              <a:rPr lang="en-US" altLang="zh-TW" dirty="0"/>
              <a:t> Lock</a:t>
            </a:r>
          </a:p>
          <a:p>
            <a:pPr lvl="1"/>
            <a:r>
              <a:rPr lang="en-US" altLang="zh-TW" dirty="0">
                <a:hlinkClick r:id="rId2"/>
              </a:rPr>
              <a:t>https://www.youtube.com/watch?v=vLDn-ZITDgA</a:t>
            </a:r>
            <a:endParaRPr lang="en-US" altLang="zh-TW" dirty="0"/>
          </a:p>
          <a:p>
            <a:pPr lvl="1"/>
            <a:r>
              <a:rPr lang="en-US" altLang="zh-TW" dirty="0"/>
              <a:t>Unity</a:t>
            </a:r>
            <a:r>
              <a:rPr lang="zh-TW" altLang="en-US" dirty="0"/>
              <a:t>：將</a:t>
            </a:r>
            <a:r>
              <a:rPr lang="en-US" altLang="zh-TW" dirty="0"/>
              <a:t>x</a:t>
            </a:r>
            <a:r>
              <a:rPr lang="zh-TW" altLang="en-US" dirty="0"/>
              <a:t>設定為</a:t>
            </a:r>
            <a:r>
              <a:rPr lang="en-US" altLang="zh-TW" dirty="0"/>
              <a:t>90</a:t>
            </a:r>
            <a:r>
              <a:rPr lang="zh-TW" altLang="en-US" dirty="0"/>
              <a:t>、此時</a:t>
            </a:r>
            <a:r>
              <a:rPr lang="en-US" altLang="zh-TW" dirty="0" err="1"/>
              <a:t>y,z</a:t>
            </a:r>
            <a:r>
              <a:rPr lang="zh-TW" altLang="en-US" dirty="0"/>
              <a:t>的轉動都會相同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此問題絕對存在，但通常沒那麼容易遇到</a:t>
            </a:r>
            <a:r>
              <a:rPr lang="en-US" altLang="zh-TW" dirty="0"/>
              <a:t>…</a:t>
            </a:r>
          </a:p>
          <a:p>
            <a:pPr lvl="1"/>
            <a:r>
              <a:rPr lang="zh-TW" altLang="en-US" dirty="0"/>
              <a:t>為了解決此問題，電腦使用四元數來計算轉動</a:t>
            </a:r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3"/>
          <a:srcRect b="15365"/>
          <a:stretch>
            <a:fillRect/>
          </a:stretch>
        </p:blipFill>
        <p:spPr bwMode="auto">
          <a:xfrm>
            <a:off x="6858000" y="1447800"/>
            <a:ext cx="1913619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699BB1-8807-5A1C-DAE0-3189BF88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TW" dirty="0">
                <a:solidFill>
                  <a:schemeClr val="dk1"/>
                </a:solidFill>
                <a:latin typeface="+mj-ea"/>
              </a:rPr>
              <a:t>Quaternion</a:t>
            </a:r>
            <a:r>
              <a:rPr lang="zh-TW" altLang="en-US" dirty="0">
                <a:solidFill>
                  <a:schemeClr val="dk1"/>
                </a:solidFill>
                <a:latin typeface="+mj-ea"/>
              </a:rPr>
              <a:t> 四元數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D21AA3-CA00-1509-24C7-FF3F1E0E6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為啥使用四元數</a:t>
            </a:r>
            <a:endParaRPr lang="en-US" altLang="zh-TW" dirty="0"/>
          </a:p>
          <a:p>
            <a:pPr lvl="1"/>
            <a:r>
              <a:rPr lang="zh-TW" altLang="en-US" dirty="0"/>
              <a:t>解決萬向鎖問題</a:t>
            </a:r>
            <a:endParaRPr lang="en-US" altLang="zh-TW" dirty="0"/>
          </a:p>
          <a:p>
            <a:pPr lvl="1"/>
            <a:r>
              <a:rPr lang="zh-TW" altLang="en-US" dirty="0"/>
              <a:t>電腦計算方便</a:t>
            </a:r>
            <a:endParaRPr lang="en-US" altLang="zh-TW" dirty="0"/>
          </a:p>
          <a:p>
            <a:pPr lvl="1"/>
            <a:r>
              <a:rPr lang="zh-TW" altLang="en-US" dirty="0"/>
              <a:t>不需要管順序</a:t>
            </a:r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Unity</a:t>
            </a:r>
            <a:r>
              <a:rPr lang="zh-TW" altLang="en-US" dirty="0"/>
              <a:t>中，通常使用</a:t>
            </a:r>
            <a:r>
              <a:rPr lang="en-US" altLang="zh-TW" dirty="0"/>
              <a:t>(</a:t>
            </a:r>
            <a:r>
              <a:rPr lang="en-US" altLang="zh-TW" dirty="0" err="1"/>
              <a:t>x,y,z,w</a:t>
            </a:r>
            <a:r>
              <a:rPr lang="en-US" altLang="zh-TW" dirty="0"/>
              <a:t>)</a:t>
            </a:r>
            <a:r>
              <a:rPr lang="zh-TW" altLang="en-US" dirty="0"/>
              <a:t>紀錄，其</a:t>
            </a:r>
            <a:r>
              <a:rPr lang="en-US" altLang="zh-TW" dirty="0" err="1"/>
              <a:t>x,y,z</a:t>
            </a:r>
            <a:r>
              <a:rPr lang="zh-TW" altLang="en-US" dirty="0"/>
              <a:t>類似於前面提到的旋轉，並且會將它轉為單位四元數儲存</a:t>
            </a:r>
            <a:endParaRPr lang="en-US" altLang="zh-TW" dirty="0"/>
          </a:p>
          <a:p>
            <a:r>
              <a:rPr lang="zh-TW" altLang="en-US" dirty="0"/>
              <a:t>這邊不需要理解運算細節，只要知道我們可以在四元數與歐拉角轉換，並且未來可使用四元數的運算</a:t>
            </a:r>
          </a:p>
        </p:txBody>
      </p:sp>
    </p:spTree>
    <p:extLst>
      <p:ext uri="{BB962C8B-B14F-4D97-AF65-F5344CB8AC3E}">
        <p14:creationId xmlns:p14="http://schemas.microsoft.com/office/powerpoint/2010/main" val="971575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中的使用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如果直接在場景中轉動，此時不會照「順序」執行，會重新計算歐拉角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使用歐拉角來調整，但使用</a:t>
            </a:r>
            <a:r>
              <a:rPr lang="en-US" altLang="zh-TW" dirty="0"/>
              <a:t>(</a:t>
            </a:r>
            <a:r>
              <a:rPr lang="zh-TW" altLang="en-US" dirty="0"/>
              <a:t>單位</a:t>
            </a:r>
            <a:r>
              <a:rPr lang="en-US" altLang="zh-TW" dirty="0"/>
              <a:t>)</a:t>
            </a:r>
            <a:r>
              <a:rPr lang="zh-TW" altLang="en-US" dirty="0"/>
              <a:t>四元數儲存</a:t>
            </a:r>
            <a:endParaRPr lang="en-US" altLang="zh-TW" dirty="0"/>
          </a:p>
          <a:p>
            <a:pPr lvl="1"/>
            <a:r>
              <a:rPr lang="zh-TW" altLang="en-US" dirty="0"/>
              <a:t>可以在角度位置右鍵來複製</a:t>
            </a:r>
            <a:r>
              <a:rPr lang="en-US" altLang="zh-TW" dirty="0"/>
              <a:t>” </a:t>
            </a:r>
            <a:r>
              <a:rPr lang="zh-TW" altLang="en-US" dirty="0"/>
              <a:t>四元數</a:t>
            </a:r>
            <a:r>
              <a:rPr lang="en-US" altLang="zh-TW" dirty="0"/>
              <a:t>”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BD9446-5B42-1823-4830-0388E70A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82" y="910711"/>
            <a:ext cx="8229600" cy="1066800"/>
          </a:xfrm>
        </p:spPr>
        <p:txBody>
          <a:bodyPr/>
          <a:lstStyle/>
          <a:p>
            <a:r>
              <a:rPr lang="zh-TW" altLang="en-US" dirty="0"/>
              <a:t>英文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4CDDAF0-D373-5069-0A1C-31D5DC8D0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347305"/>
              </p:ext>
            </p:extLst>
          </p:nvPr>
        </p:nvGraphicFramePr>
        <p:xfrm>
          <a:off x="611560" y="1988840"/>
          <a:ext cx="8075240" cy="216706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17316374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2426916"/>
                    </a:ext>
                  </a:extLst>
                </a:gridCol>
                <a:gridCol w="4330824">
                  <a:extLst>
                    <a:ext uri="{9D8B030D-6E8A-4147-A177-3AD203B41FA5}">
                      <a16:colId xmlns:a16="http://schemas.microsoft.com/office/drawing/2014/main" val="1836957082"/>
                    </a:ext>
                  </a:extLst>
                </a:gridCol>
              </a:tblGrid>
              <a:tr h="571128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Rotation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旋轉</a:t>
                      </a:r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表示</a:t>
                      </a:r>
                      <a:r>
                        <a:rPr kumimoji="0" lang="en-US" altLang="zh-TW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GO</a:t>
                      </a:r>
                      <a:r>
                        <a:rPr kumimoji="0" lang="zh-TW" altLang="en-US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的旋轉狀態，儲存型態為</a:t>
                      </a:r>
                      <a:r>
                        <a:rPr kumimoji="0" lang="en-US" altLang="zh-TW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Quaternion</a:t>
                      </a:r>
                      <a:endParaRPr kumimoji="0" lang="zh-TW" altLang="en-US" sz="1600" b="0" kern="120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4294642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kumimoji="0" lang="en-US" altLang="zh-TW" sz="18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Quaternion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四元數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數學上表示三維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旋轉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狀態的方式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58920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Euler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歐拉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Leonhard Euler</a:t>
                      </a:r>
                      <a:r>
                        <a:rPr kumimoji="0" lang="zh-TW" altLang="en-US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，著名數學家</a:t>
                      </a:r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26562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kumimoji="0" lang="en-US" altLang="zh-TW" sz="18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Euler</a:t>
                      </a:r>
                      <a:r>
                        <a:rPr kumimoji="0" lang="zh-TW" altLang="en-US" sz="18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8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Angles</a:t>
                      </a:r>
                      <a:endParaRPr kumimoji="0" lang="zh-TW" altLang="en-US" sz="1800" b="1" kern="120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歐拉角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以角度方式表示物體的旋轉狀態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584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78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建立遊戲物件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這邊打算使用基礎模型，建立一把劍</a:t>
            </a:r>
            <a:endParaRPr lang="en-US" altLang="zh-TW" sz="2400" dirty="0"/>
          </a:p>
          <a:p>
            <a:pPr lvl="1"/>
            <a:r>
              <a:rPr lang="zh-TW" altLang="en-US" sz="2400" dirty="0"/>
              <a:t>圓柱體</a:t>
            </a:r>
            <a:r>
              <a:rPr lang="en-US" altLang="zh-TW" sz="2400" dirty="0"/>
              <a:t>(Cylinder)</a:t>
            </a:r>
            <a:r>
              <a:rPr lang="zh-TW" altLang="en-US" sz="2400" dirty="0"/>
              <a:t>  劍柄</a:t>
            </a:r>
            <a:endParaRPr lang="en-US" altLang="zh-TW" sz="2400" dirty="0"/>
          </a:p>
          <a:p>
            <a:pPr lvl="1"/>
            <a:r>
              <a:rPr lang="zh-TW" altLang="en-US" sz="2400" dirty="0"/>
              <a:t>膠囊體</a:t>
            </a:r>
            <a:r>
              <a:rPr lang="en-US" altLang="zh-TW" sz="2400" dirty="0"/>
              <a:t>(Capsule)</a:t>
            </a:r>
            <a:r>
              <a:rPr lang="zh-TW" altLang="en-US" sz="2400" dirty="0"/>
              <a:t>  護手</a:t>
            </a:r>
            <a:endParaRPr lang="en-US" altLang="zh-TW" sz="2400" dirty="0"/>
          </a:p>
          <a:p>
            <a:pPr lvl="1"/>
            <a:r>
              <a:rPr lang="zh-TW" altLang="en-US" sz="2400" dirty="0"/>
              <a:t>立方體</a:t>
            </a:r>
            <a:r>
              <a:rPr lang="en-US" altLang="zh-TW" sz="2400" dirty="0"/>
              <a:t>(Cube)</a:t>
            </a:r>
            <a:r>
              <a:rPr lang="zh-TW" altLang="en-US" sz="2400" dirty="0"/>
              <a:t>       劍身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3923470"/>
            <a:ext cx="7772400" cy="2858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調整位置與縮放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圓柱體</a:t>
            </a:r>
            <a:r>
              <a:rPr lang="en-US" altLang="zh-TW" dirty="0"/>
              <a:t>(Cylinder)</a:t>
            </a:r>
            <a:r>
              <a:rPr lang="zh-TW" altLang="en-US" dirty="0"/>
              <a:t>  劍柄</a:t>
            </a:r>
            <a:endParaRPr lang="en-US" altLang="zh-TW" dirty="0"/>
          </a:p>
          <a:p>
            <a:r>
              <a:rPr lang="zh-TW" altLang="en-US" dirty="0"/>
              <a:t>膠囊體</a:t>
            </a:r>
            <a:r>
              <a:rPr lang="en-US" altLang="zh-TW" dirty="0"/>
              <a:t>(Capsule)</a:t>
            </a:r>
            <a:r>
              <a:rPr lang="zh-TW" altLang="en-US" dirty="0"/>
              <a:t>  護手</a:t>
            </a:r>
            <a:endParaRPr lang="en-US" altLang="zh-TW" dirty="0"/>
          </a:p>
          <a:p>
            <a:r>
              <a:rPr lang="zh-TW" altLang="en-US" dirty="0"/>
              <a:t>立方體</a:t>
            </a:r>
            <a:r>
              <a:rPr lang="en-US" altLang="zh-TW" dirty="0"/>
              <a:t>(Cube)</a:t>
            </a:r>
            <a:r>
              <a:rPr lang="zh-TW" altLang="en-US" dirty="0"/>
              <a:t>       劍身</a:t>
            </a:r>
          </a:p>
          <a:p>
            <a:endParaRPr lang="en-US" altLang="zh-TW" dirty="0"/>
          </a:p>
          <a:p>
            <a:r>
              <a:rPr lang="zh-TW" altLang="en-US" b="1" u="sng" dirty="0"/>
              <a:t>請嘗試調整位置與縮放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5943600"/>
            <a:ext cx="338137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91200" y="838200"/>
            <a:ext cx="3295650" cy="577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5257</TotalTime>
  <Words>1484</Words>
  <Application>Microsoft Office PowerPoint</Application>
  <PresentationFormat>如螢幕大小 (4:3)</PresentationFormat>
  <Paragraphs>287</Paragraphs>
  <Slides>31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6" baseType="lpstr">
      <vt:lpstr>Arial</vt:lpstr>
      <vt:lpstr>Georgia</vt:lpstr>
      <vt:lpstr>Times New Roman</vt:lpstr>
      <vt:lpstr>Wingdings 2</vt:lpstr>
      <vt:lpstr>都會</vt:lpstr>
      <vt:lpstr>Lesson 5 Transform (變換)</vt:lpstr>
      <vt:lpstr>建立一個立方體</vt:lpstr>
      <vt:lpstr>GameObject 與 Component</vt:lpstr>
      <vt:lpstr>Transform 變換元件</vt:lpstr>
      <vt:lpstr>Unity座標系</vt:lpstr>
      <vt:lpstr>調整物件Transform (變換組件)</vt:lpstr>
      <vt:lpstr>英文</vt:lpstr>
      <vt:lpstr>Section 2 向量 Vector</vt:lpstr>
      <vt:lpstr>Transform 變換元件</vt:lpstr>
      <vt:lpstr>Vector3 (3維向量)</vt:lpstr>
      <vt:lpstr>Vector3  (3維向量)</vt:lpstr>
      <vt:lpstr>Vector3的加法</vt:lpstr>
      <vt:lpstr>Vector3與純數的乘法</vt:lpstr>
      <vt:lpstr>Unit Vector 單位向量</vt:lpstr>
      <vt:lpstr>Vector3 減法</vt:lpstr>
      <vt:lpstr>向量外積 (cross product)</vt:lpstr>
      <vt:lpstr>向量內積 (dot product)</vt:lpstr>
      <vt:lpstr>運用</vt:lpstr>
      <vt:lpstr>英文</vt:lpstr>
      <vt:lpstr>Section 3 位置、縮放、旋轉</vt:lpstr>
      <vt:lpstr>調整物件Transform (變換組件)</vt:lpstr>
      <vt:lpstr>Position 位置</vt:lpstr>
      <vt:lpstr>Scale 縮放</vt:lpstr>
      <vt:lpstr>Rotation 轉動</vt:lpstr>
      <vt:lpstr>Eular Angles 歐拉角 / 尤拉角</vt:lpstr>
      <vt:lpstr>歐拉角的問題</vt:lpstr>
      <vt:lpstr>Quaternion 四元數</vt:lpstr>
      <vt:lpstr>Unity中的使用</vt:lpstr>
      <vt:lpstr>英文</vt:lpstr>
      <vt:lpstr>建立遊戲物件</vt:lpstr>
      <vt:lpstr>調整位置與縮放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304</cp:revision>
  <dcterms:created xsi:type="dcterms:W3CDTF">2024-11-18T05:57:07Z</dcterms:created>
  <dcterms:modified xsi:type="dcterms:W3CDTF">2025-09-15T05:02:28Z</dcterms:modified>
</cp:coreProperties>
</file>