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5"/>
  </p:notesMasterIdLst>
  <p:sldIdLst>
    <p:sldId id="256" r:id="rId2"/>
    <p:sldId id="265" r:id="rId3"/>
    <p:sldId id="259" r:id="rId4"/>
    <p:sldId id="278" r:id="rId5"/>
    <p:sldId id="264" r:id="rId6"/>
    <p:sldId id="268" r:id="rId7"/>
    <p:sldId id="261" r:id="rId8"/>
    <p:sldId id="258" r:id="rId9"/>
    <p:sldId id="271" r:id="rId10"/>
    <p:sldId id="272" r:id="rId11"/>
    <p:sldId id="267" r:id="rId12"/>
    <p:sldId id="257" r:id="rId13"/>
    <p:sldId id="262" r:id="rId14"/>
    <p:sldId id="263" r:id="rId15"/>
    <p:sldId id="260" r:id="rId16"/>
    <p:sldId id="270" r:id="rId17"/>
    <p:sldId id="266" r:id="rId18"/>
    <p:sldId id="273" r:id="rId19"/>
    <p:sldId id="274" r:id="rId20"/>
    <p:sldId id="275" r:id="rId21"/>
    <p:sldId id="269" r:id="rId22"/>
    <p:sldId id="276" r:id="rId23"/>
    <p:sldId id="277" r:id="rId2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92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11" autoAdjust="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3EEAF-065D-475D-8058-07E926806314}" type="datetimeFigureOut">
              <a:rPr lang="zh-TW" altLang="en-US" smtClean="0"/>
              <a:pPr/>
              <a:t>2025/3/26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1F32F-E31F-492B-A213-F4B1D5897EA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1F32F-E31F-492B-A213-F4B1D5897EA8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2025/3/26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2025/3/26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2025/3/26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unity3d.com/6000.0/Documentation/Manual/execution-order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smos.com/calculator/1m25o6q5z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8</a:t>
            </a:r>
            <a:br>
              <a:rPr lang="en-US" altLang="zh-TW" dirty="0"/>
            </a:br>
            <a:r>
              <a:rPr lang="zh-TW" altLang="en-US" dirty="0"/>
              <a:t>遊戲迴圈 與 玩家操作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遊戲程式設計</a:t>
            </a:r>
            <a:endParaRPr lang="zh-TW" altLang="en-US" dirty="0"/>
          </a:p>
          <a:p>
            <a:endParaRPr lang="zh-TW" altLang="en-US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Game Loop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Unity Game Loop</a:t>
            </a:r>
          </a:p>
          <a:p>
            <a:pPr lvl="1"/>
            <a:r>
              <a:rPr lang="en-US" altLang="zh-TW" dirty="0">
                <a:hlinkClick r:id="rId2"/>
              </a:rPr>
              <a:t>Unity</a:t>
            </a:r>
            <a:r>
              <a:rPr lang="zh-TW" altLang="en-US" dirty="0">
                <a:hlinkClick r:id="rId2"/>
              </a:rPr>
              <a:t>官方</a:t>
            </a:r>
            <a:endParaRPr lang="zh-TW" altLang="en-US" dirty="0"/>
          </a:p>
        </p:txBody>
      </p:sp>
      <p:pic>
        <p:nvPicPr>
          <p:cNvPr id="1026" name="Picture 2" descr="https://miro.medium.com/v2/resize:fit:875/1*W07x4fyVp6ZXAIXMfMYSPg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37419" y="0"/>
            <a:ext cx="4906582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Game Loop </a:t>
            </a:r>
            <a:r>
              <a:rPr lang="zh-TW" altLang="en-US" dirty="0"/>
              <a:t>簡化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zh-TW" dirty="0"/>
              <a:t>while(true)</a:t>
            </a:r>
            <a:r>
              <a:rPr lang="zh-TW" altLang="en-US" dirty="0"/>
              <a:t>迴圈</a:t>
            </a:r>
            <a:endParaRPr lang="en-US" altLang="zh-TW"/>
          </a:p>
          <a:p>
            <a:pPr>
              <a:buNone/>
            </a:pPr>
            <a:r>
              <a:rPr lang="en-US" altLang="zh-TW"/>
              <a:t>{</a:t>
            </a:r>
            <a:endParaRPr lang="en-US" altLang="zh-TW" dirty="0"/>
          </a:p>
          <a:p>
            <a:pPr>
              <a:buNone/>
            </a:pPr>
            <a:r>
              <a:rPr lang="en-US" altLang="zh-TW" dirty="0"/>
              <a:t>	</a:t>
            </a:r>
            <a:r>
              <a:rPr lang="zh-TW" altLang="en-US" dirty="0"/>
              <a:t>接受玩家輸入</a:t>
            </a:r>
            <a:r>
              <a:rPr lang="en-US" altLang="zh-TW" dirty="0"/>
              <a:t>;</a:t>
            </a:r>
          </a:p>
          <a:p>
            <a:pPr>
              <a:buNone/>
            </a:pPr>
            <a:r>
              <a:rPr lang="en-US" altLang="zh-TW" dirty="0"/>
              <a:t>   </a:t>
            </a:r>
            <a:r>
              <a:rPr lang="zh-TW" altLang="en-US" dirty="0"/>
              <a:t>處理遊戲邏輯</a:t>
            </a:r>
            <a:r>
              <a:rPr lang="en-US" altLang="zh-TW" dirty="0"/>
              <a:t>;</a:t>
            </a:r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r>
              <a:rPr lang="en-US" altLang="zh-TW" dirty="0"/>
              <a:t>	</a:t>
            </a:r>
            <a:r>
              <a:rPr lang="zh-TW" altLang="en-US" dirty="0"/>
              <a:t>渲染遊戲畫面</a:t>
            </a:r>
            <a:r>
              <a:rPr lang="en-US" altLang="zh-TW" dirty="0"/>
              <a:t>;</a:t>
            </a:r>
          </a:p>
          <a:p>
            <a:pPr>
              <a:buNone/>
            </a:pPr>
            <a:r>
              <a:rPr lang="en-US" altLang="zh-TW" dirty="0"/>
              <a:t>	</a:t>
            </a:r>
            <a:r>
              <a:rPr lang="zh-TW" altLang="en-US" dirty="0"/>
              <a:t>等待</a:t>
            </a:r>
            <a:r>
              <a:rPr lang="en-US" altLang="zh-TW" dirty="0"/>
              <a:t>;</a:t>
            </a:r>
          </a:p>
          <a:p>
            <a:pPr>
              <a:buNone/>
            </a:pPr>
            <a:r>
              <a:rPr lang="en-US" altLang="zh-TW" dirty="0"/>
              <a:t>}</a:t>
            </a:r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BB4528-6A9C-B334-A26A-007B2C59F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Game Loop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7407D4-40C0-F385-AB85-8A4FF101F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一個迴圈即為一幀</a:t>
            </a:r>
            <a:r>
              <a:rPr lang="en-US" altLang="zh-TW" dirty="0"/>
              <a:t>(Frame,</a:t>
            </a:r>
            <a:r>
              <a:rPr lang="zh-TW" altLang="en-US" dirty="0"/>
              <a:t>張</a:t>
            </a:r>
            <a:r>
              <a:rPr lang="en-US" altLang="zh-TW" dirty="0"/>
              <a:t>)</a:t>
            </a:r>
            <a:r>
              <a:rPr lang="zh-TW" altLang="en-US" dirty="0"/>
              <a:t>，每秒能跑的幀數即為</a:t>
            </a:r>
            <a:r>
              <a:rPr lang="en-US" altLang="zh-TW" dirty="0"/>
              <a:t>FPS (Frames per Second)</a:t>
            </a:r>
          </a:p>
          <a:p>
            <a:r>
              <a:rPr lang="zh-TW" altLang="en-US" dirty="0"/>
              <a:t>如果一個</a:t>
            </a:r>
            <a:r>
              <a:rPr lang="en-US" altLang="zh-TW" dirty="0"/>
              <a:t>Frame</a:t>
            </a:r>
            <a:r>
              <a:rPr lang="zh-TW" altLang="en-US" dirty="0"/>
              <a:t>執行過久，就會出現畫面延遲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其他相關</a:t>
            </a:r>
            <a:endParaRPr lang="en-US" altLang="zh-TW" dirty="0"/>
          </a:p>
          <a:p>
            <a:pPr lvl="1"/>
            <a:r>
              <a:rPr lang="zh-TW" altLang="en-US" dirty="0"/>
              <a:t>垂直同步</a:t>
            </a:r>
            <a:endParaRPr lang="en-US" altLang="zh-TW" dirty="0"/>
          </a:p>
          <a:p>
            <a:pPr lvl="1"/>
            <a:r>
              <a:rPr lang="zh-TW" altLang="en-US" dirty="0"/>
              <a:t>雙倍、三倍緩衝</a:t>
            </a:r>
            <a:endParaRPr lang="en-US" altLang="zh-TW" dirty="0"/>
          </a:p>
          <a:p>
            <a:pPr lvl="1"/>
            <a:r>
              <a:rPr lang="en-US" altLang="zh-TW" dirty="0"/>
              <a:t>DLSS</a:t>
            </a:r>
          </a:p>
          <a:p>
            <a:pPr lvl="1"/>
            <a:r>
              <a:rPr lang="zh-TW" altLang="en-US"/>
              <a:t>補幀</a:t>
            </a:r>
            <a:endParaRPr lang="zh-TW" altLang="en-US" dirty="0"/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68093B66-344A-04DF-4BDB-A05530655200}"/>
              </a:ext>
            </a:extLst>
          </p:cNvPr>
          <p:cNvCxnSpPr>
            <a:cxnSpLocks/>
          </p:cNvCxnSpPr>
          <p:nvPr/>
        </p:nvCxnSpPr>
        <p:spPr>
          <a:xfrm>
            <a:off x="971600" y="2636912"/>
            <a:ext cx="59046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A085FACB-8ABC-E4AE-E089-E1E579650E24}"/>
              </a:ext>
            </a:extLst>
          </p:cNvPr>
          <p:cNvSpPr/>
          <p:nvPr/>
        </p:nvSpPr>
        <p:spPr>
          <a:xfrm>
            <a:off x="1403648" y="2492896"/>
            <a:ext cx="720080" cy="288008"/>
          </a:xfrm>
          <a:prstGeom prst="rect">
            <a:avLst/>
          </a:prstGeom>
          <a:solidFill>
            <a:srgbClr val="5C92B5">
              <a:alpha val="50196"/>
            </a:srgb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1F6F91C3-0829-1E0C-DFBD-C4871C2F48E8}"/>
              </a:ext>
            </a:extLst>
          </p:cNvPr>
          <p:cNvCxnSpPr/>
          <p:nvPr/>
        </p:nvCxnSpPr>
        <p:spPr>
          <a:xfrm>
            <a:off x="2483768" y="2492896"/>
            <a:ext cx="0" cy="288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B74C9ACA-742C-35A4-FBF2-366BA40BCF47}"/>
              </a:ext>
            </a:extLst>
          </p:cNvPr>
          <p:cNvSpPr/>
          <p:nvPr/>
        </p:nvSpPr>
        <p:spPr>
          <a:xfrm>
            <a:off x="2483768" y="2492896"/>
            <a:ext cx="720078" cy="288008"/>
          </a:xfrm>
          <a:prstGeom prst="rect">
            <a:avLst/>
          </a:prstGeom>
          <a:solidFill>
            <a:srgbClr val="5C92B5">
              <a:alpha val="50196"/>
            </a:srgb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028DE1C7-EC95-2D83-E54B-29639B30BEDE}"/>
              </a:ext>
            </a:extLst>
          </p:cNvPr>
          <p:cNvCxnSpPr/>
          <p:nvPr/>
        </p:nvCxnSpPr>
        <p:spPr>
          <a:xfrm>
            <a:off x="3563888" y="2492896"/>
            <a:ext cx="0" cy="288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70CA025D-738E-8CF6-DB02-99763CD6D9BB}"/>
              </a:ext>
            </a:extLst>
          </p:cNvPr>
          <p:cNvSpPr/>
          <p:nvPr/>
        </p:nvSpPr>
        <p:spPr>
          <a:xfrm>
            <a:off x="3563888" y="2492896"/>
            <a:ext cx="514399" cy="288008"/>
          </a:xfrm>
          <a:prstGeom prst="rect">
            <a:avLst/>
          </a:prstGeom>
          <a:solidFill>
            <a:srgbClr val="5C92B5">
              <a:alpha val="50196"/>
            </a:srgb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037B4FA-4934-2F69-3BBC-945904EBD103}"/>
              </a:ext>
            </a:extLst>
          </p:cNvPr>
          <p:cNvCxnSpPr/>
          <p:nvPr/>
        </p:nvCxnSpPr>
        <p:spPr>
          <a:xfrm>
            <a:off x="4644008" y="2492896"/>
            <a:ext cx="0" cy="288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5542B446-CF38-A02B-41D1-18A5B059232F}"/>
              </a:ext>
            </a:extLst>
          </p:cNvPr>
          <p:cNvSpPr/>
          <p:nvPr/>
        </p:nvSpPr>
        <p:spPr>
          <a:xfrm>
            <a:off x="4644008" y="2492896"/>
            <a:ext cx="936104" cy="288008"/>
          </a:xfrm>
          <a:prstGeom prst="rect">
            <a:avLst/>
          </a:prstGeom>
          <a:solidFill>
            <a:srgbClr val="5C92B5">
              <a:alpha val="50196"/>
            </a:srgb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1F542A2E-90C0-C74B-B566-9419D5B605FC}"/>
              </a:ext>
            </a:extLst>
          </p:cNvPr>
          <p:cNvCxnSpPr/>
          <p:nvPr/>
        </p:nvCxnSpPr>
        <p:spPr>
          <a:xfrm>
            <a:off x="5724128" y="2492896"/>
            <a:ext cx="0" cy="288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1DDC1B5C-53F0-E683-79E2-BB26F1E1BDC2}"/>
              </a:ext>
            </a:extLst>
          </p:cNvPr>
          <p:cNvSpPr/>
          <p:nvPr/>
        </p:nvSpPr>
        <p:spPr>
          <a:xfrm>
            <a:off x="5724128" y="2492896"/>
            <a:ext cx="648068" cy="288008"/>
          </a:xfrm>
          <a:prstGeom prst="rect">
            <a:avLst/>
          </a:prstGeom>
          <a:solidFill>
            <a:srgbClr val="5C92B5">
              <a:alpha val="50196"/>
            </a:srgb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4399E6B3-676D-DEAF-013F-3C367BED4E87}"/>
              </a:ext>
            </a:extLst>
          </p:cNvPr>
          <p:cNvCxnSpPr/>
          <p:nvPr/>
        </p:nvCxnSpPr>
        <p:spPr>
          <a:xfrm>
            <a:off x="6804248" y="2492896"/>
            <a:ext cx="0" cy="288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左大括弧 20">
            <a:extLst>
              <a:ext uri="{FF2B5EF4-FFF2-40B4-BE49-F238E27FC236}">
                <a16:creationId xmlns:a16="http://schemas.microsoft.com/office/drawing/2014/main" id="{2A414284-C4DD-A390-FC35-C3B7F7BC8342}"/>
              </a:ext>
            </a:extLst>
          </p:cNvPr>
          <p:cNvSpPr/>
          <p:nvPr/>
        </p:nvSpPr>
        <p:spPr>
          <a:xfrm rot="5400000">
            <a:off x="1773680" y="1727337"/>
            <a:ext cx="345799" cy="1085864"/>
          </a:xfrm>
          <a:prstGeom prst="leftBrace">
            <a:avLst>
              <a:gd name="adj1" fmla="val 1154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66A13-DB24-BBAA-FBCC-EA84E663FF6A}"/>
              </a:ext>
            </a:extLst>
          </p:cNvPr>
          <p:cNvSpPr/>
          <p:nvPr/>
        </p:nvSpPr>
        <p:spPr>
          <a:xfrm>
            <a:off x="4647239" y="2884469"/>
            <a:ext cx="1584176" cy="288008"/>
          </a:xfrm>
          <a:prstGeom prst="rect">
            <a:avLst/>
          </a:prstGeom>
          <a:solidFill>
            <a:srgbClr val="FF0000">
              <a:alpha val="50196"/>
            </a:srgb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00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遊戲迴圈 與 </a:t>
            </a:r>
            <a:r>
              <a:rPr lang="en-US" altLang="zh-TW" dirty="0"/>
              <a:t>Update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Update</a:t>
            </a:r>
          </a:p>
          <a:p>
            <a:pPr lvl="1"/>
            <a:r>
              <a:rPr lang="zh-TW" altLang="en-US" dirty="0"/>
              <a:t>遊戲邏輯</a:t>
            </a:r>
            <a:endParaRPr lang="en-US" altLang="zh-TW" dirty="0"/>
          </a:p>
          <a:p>
            <a:pPr lvl="1"/>
            <a:r>
              <a:rPr lang="en-US" altLang="zh-TW" dirty="0" err="1"/>
              <a:t>Time.deltaTime</a:t>
            </a:r>
            <a:r>
              <a:rPr lang="en-US" altLang="zh-TW" dirty="0"/>
              <a:t> </a:t>
            </a:r>
          </a:p>
          <a:p>
            <a:pPr lvl="1"/>
            <a:r>
              <a:rPr lang="zh-TW" altLang="en-US" dirty="0"/>
              <a:t>可設定 </a:t>
            </a:r>
            <a:r>
              <a:rPr lang="en-US" altLang="zh-TW" dirty="0" err="1"/>
              <a:t>Application.targetFrameRate</a:t>
            </a:r>
            <a:r>
              <a:rPr lang="zh-TW" altLang="en-US" dirty="0"/>
              <a:t> </a:t>
            </a:r>
            <a:r>
              <a:rPr lang="en-US" altLang="zh-TW" dirty="0"/>
              <a:t>= 60</a:t>
            </a:r>
          </a:p>
          <a:p>
            <a:pPr lvl="1"/>
            <a:r>
              <a:rPr lang="zh-TW" altLang="en-US" dirty="0"/>
              <a:t>可設定 </a:t>
            </a:r>
            <a:r>
              <a:rPr lang="en-US" altLang="zh-TW" dirty="0" err="1"/>
              <a:t>QualitySettings.vSyncCount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0 ~ 4</a:t>
            </a:r>
          </a:p>
          <a:p>
            <a:endParaRPr lang="en-US" altLang="zh-TW" dirty="0"/>
          </a:p>
          <a:p>
            <a:r>
              <a:rPr lang="en-US" altLang="zh-TW" dirty="0" err="1"/>
              <a:t>LateUpdate</a:t>
            </a:r>
            <a:endParaRPr lang="en-US" altLang="zh-TW" dirty="0"/>
          </a:p>
          <a:p>
            <a:pPr lvl="1"/>
            <a:r>
              <a:rPr lang="zh-TW" altLang="en-US" dirty="0"/>
              <a:t>遊戲邏輯：在</a:t>
            </a:r>
            <a:r>
              <a:rPr lang="en-US" altLang="zh-TW" dirty="0"/>
              <a:t>Update</a:t>
            </a:r>
            <a:r>
              <a:rPr lang="zh-TW" altLang="en-US" dirty="0"/>
              <a:t>與動畫後</a:t>
            </a:r>
            <a:endParaRPr lang="en-US" altLang="zh-TW" dirty="0"/>
          </a:p>
          <a:p>
            <a:pPr lvl="1"/>
            <a:r>
              <a:rPr lang="en-US" altLang="zh-TW" dirty="0" err="1"/>
              <a:t>Time.deltaTime</a:t>
            </a:r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遊戲迴圈 與 </a:t>
            </a:r>
            <a:r>
              <a:rPr lang="en-US" altLang="zh-TW" dirty="0" err="1"/>
              <a:t>FixedUpdate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FixedUpdate</a:t>
            </a:r>
            <a:endParaRPr lang="en-US" altLang="zh-TW" dirty="0"/>
          </a:p>
          <a:p>
            <a:pPr lvl="1"/>
            <a:r>
              <a:rPr lang="zh-TW" altLang="en-US" dirty="0"/>
              <a:t>物理</a:t>
            </a:r>
            <a:r>
              <a:rPr lang="en-US" altLang="zh-TW" dirty="0"/>
              <a:t>(Physic)</a:t>
            </a:r>
            <a:r>
              <a:rPr lang="zh-TW" altLang="en-US" dirty="0"/>
              <a:t>處理的間隔時間</a:t>
            </a:r>
            <a:endParaRPr lang="en-US" altLang="zh-TW" dirty="0"/>
          </a:p>
          <a:p>
            <a:pPr lvl="1"/>
            <a:r>
              <a:rPr lang="zh-TW" altLang="en-US" dirty="0"/>
              <a:t>通常為</a:t>
            </a:r>
            <a:r>
              <a:rPr lang="en-US" altLang="zh-TW" dirty="0"/>
              <a:t>0.02</a:t>
            </a:r>
            <a:r>
              <a:rPr lang="zh-TW" altLang="en-US" dirty="0"/>
              <a:t>秒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1/50</a:t>
            </a:r>
            <a:r>
              <a:rPr lang="zh-TW" altLang="en-US" dirty="0"/>
              <a:t>秒</a:t>
            </a:r>
            <a:r>
              <a:rPr lang="en-US" altLang="zh-TW" dirty="0"/>
              <a:t>  (</a:t>
            </a:r>
            <a:r>
              <a:rPr lang="en-US" altLang="zh-TW" dirty="0" err="1"/>
              <a:t>ProjectSetting</a:t>
            </a:r>
            <a:r>
              <a:rPr lang="en-US" altLang="zh-TW" dirty="0"/>
              <a:t>&gt;Time)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建立玩家物件 </a:t>
            </a:r>
            <a:r>
              <a:rPr lang="en-US" altLang="zh-TW" dirty="0"/>
              <a:t>(FPS)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5698976" cy="4325112"/>
          </a:xfrm>
        </p:spPr>
        <p:txBody>
          <a:bodyPr/>
          <a:lstStyle/>
          <a:p>
            <a:r>
              <a:rPr lang="zh-TW" altLang="en-US" u="sng" dirty="0"/>
              <a:t>玩家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空物件</a:t>
            </a:r>
            <a:r>
              <a:rPr lang="en-US" altLang="zh-TW" dirty="0"/>
              <a:t>Root</a:t>
            </a:r>
          </a:p>
          <a:p>
            <a:pPr lvl="1"/>
            <a:r>
              <a:rPr lang="zh-TW" altLang="en-US" dirty="0"/>
              <a:t>模型 </a:t>
            </a:r>
            <a:r>
              <a:rPr lang="en-US" altLang="zh-TW" dirty="0"/>
              <a:t>(</a:t>
            </a:r>
            <a:r>
              <a:rPr lang="zh-TW" altLang="en-US" dirty="0"/>
              <a:t>代表玩家角色，先用膠囊代替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攝影機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在</a:t>
            </a:r>
            <a:r>
              <a:rPr lang="zh-TW" altLang="en-US" u="sng" dirty="0"/>
              <a:t>玩家</a:t>
            </a:r>
            <a:r>
              <a:rPr lang="zh-TW" altLang="en-US" dirty="0"/>
              <a:t>物件加上</a:t>
            </a:r>
            <a:r>
              <a:rPr lang="en-US" altLang="zh-TW" dirty="0"/>
              <a:t>Player Input</a:t>
            </a:r>
          </a:p>
          <a:p>
            <a:pPr lvl="1"/>
            <a:r>
              <a:rPr lang="zh-TW" altLang="en-US" dirty="0"/>
              <a:t>新的輸入方式 </a:t>
            </a:r>
            <a:r>
              <a:rPr lang="en-US" altLang="zh-TW" dirty="0"/>
              <a:t>(Unity6</a:t>
            </a:r>
            <a:r>
              <a:rPr lang="zh-TW" altLang="en-US" dirty="0"/>
              <a:t>以上，其他版本要安裝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28184" y="3785235"/>
            <a:ext cx="227647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玩家操作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常用的有以下兩種方式，有各自優缺點，</a:t>
            </a:r>
            <a:r>
              <a:rPr lang="en-US" altLang="zh-TW" dirty="0"/>
              <a:t>Unity</a:t>
            </a:r>
            <a:r>
              <a:rPr lang="zh-TW" altLang="en-US" dirty="0"/>
              <a:t>對這塊處理不算太好</a:t>
            </a:r>
            <a:endParaRPr lang="en-US" altLang="zh-TW" dirty="0"/>
          </a:p>
          <a:p>
            <a:r>
              <a:rPr lang="en-US" altLang="zh-TW" dirty="0" err="1"/>
              <a:t>Rigidbody</a:t>
            </a:r>
            <a:r>
              <a:rPr lang="en-US" altLang="zh-TW" dirty="0"/>
              <a:t> + Collider</a:t>
            </a:r>
          </a:p>
          <a:p>
            <a:pPr lvl="1"/>
            <a:r>
              <a:rPr lang="zh-TW" altLang="en-US" dirty="0"/>
              <a:t>可支援物理相關功能 </a:t>
            </a:r>
            <a:r>
              <a:rPr lang="en-US" altLang="zh-TW" dirty="0"/>
              <a:t>(</a:t>
            </a:r>
            <a:r>
              <a:rPr lang="zh-TW" altLang="en-US" dirty="0"/>
              <a:t>重力、物理運動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操作也要使用物理相關</a:t>
            </a:r>
            <a:endParaRPr lang="en-US" altLang="zh-TW" dirty="0"/>
          </a:p>
          <a:p>
            <a:r>
              <a:rPr lang="en-US" altLang="zh-TW" dirty="0"/>
              <a:t>Character Controller</a:t>
            </a:r>
          </a:p>
          <a:p>
            <a:pPr lvl="1"/>
            <a:r>
              <a:rPr lang="zh-TW" altLang="en-US" dirty="0"/>
              <a:t>有些額外功能 </a:t>
            </a:r>
            <a:r>
              <a:rPr lang="en-US" altLang="zh-TW" dirty="0"/>
              <a:t>(</a:t>
            </a:r>
            <a:r>
              <a:rPr lang="zh-TW" altLang="en-US" dirty="0"/>
              <a:t>上樓梯、斜坡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物理特性要自己寫</a:t>
            </a:r>
            <a:endParaRPr lang="en-US" altLang="zh-TW" dirty="0"/>
          </a:p>
          <a:p>
            <a:pPr lvl="1"/>
            <a:r>
              <a:rPr lang="zh-TW" altLang="en-US" dirty="0"/>
              <a:t>可使用</a:t>
            </a:r>
            <a:r>
              <a:rPr lang="en-US" altLang="zh-TW" dirty="0" err="1"/>
              <a:t>NavMeshAgent</a:t>
            </a:r>
            <a:r>
              <a:rPr lang="en-US" altLang="zh-TW" dirty="0"/>
              <a:t> (</a:t>
            </a:r>
            <a:r>
              <a:rPr lang="zh-TW" altLang="en-US" dirty="0"/>
              <a:t>尋路</a:t>
            </a:r>
            <a:r>
              <a:rPr lang="en-US" altLang="zh-TW" dirty="0"/>
              <a:t>AI</a:t>
            </a:r>
            <a:r>
              <a:rPr lang="zh-TW" altLang="en-US" dirty="0"/>
              <a:t>相關</a:t>
            </a:r>
            <a:r>
              <a:rPr lang="en-US" altLang="zh-TW" dirty="0"/>
              <a:t>)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4325112"/>
          </a:xfrm>
        </p:spPr>
        <p:txBody>
          <a:bodyPr/>
          <a:lstStyle/>
          <a:p>
            <a:r>
              <a:rPr lang="zh-TW" altLang="en-US" dirty="0"/>
              <a:t>加法與減法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向量</a:t>
            </a:r>
            <a:r>
              <a:rPr lang="en-US" altLang="zh-TW" dirty="0"/>
              <a:t>,</a:t>
            </a:r>
            <a:r>
              <a:rPr lang="zh-TW" altLang="en-US" dirty="0"/>
              <a:t>分量</a:t>
            </a:r>
          </a:p>
        </p:txBody>
      </p:sp>
      <p:cxnSp>
        <p:nvCxnSpPr>
          <p:cNvPr id="8" name="直線單箭頭接點 7"/>
          <p:cNvCxnSpPr/>
          <p:nvPr/>
        </p:nvCxnSpPr>
        <p:spPr>
          <a:xfrm>
            <a:off x="1001689" y="5202808"/>
            <a:ext cx="22860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rot="5400000" flipH="1" flipV="1">
            <a:off x="2372510" y="4287614"/>
            <a:ext cx="18288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/>
          <p:cNvCxnSpPr/>
          <p:nvPr/>
        </p:nvCxnSpPr>
        <p:spPr>
          <a:xfrm flipV="1">
            <a:off x="1001689" y="3345420"/>
            <a:ext cx="2286016" cy="18573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3286116" y="4159826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(0,4)</a:t>
            </a:r>
            <a:endParaRPr lang="zh-TW" altLang="en-US" b="1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2216135" y="3404716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(5,4)</a:t>
            </a:r>
            <a:endParaRPr lang="zh-TW" altLang="en-US" b="1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2573325" y="5202808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(5,0)</a:t>
            </a:r>
            <a:endParaRPr lang="zh-TW" altLang="en-US" b="1" dirty="0"/>
          </a:p>
        </p:txBody>
      </p:sp>
      <p:cxnSp>
        <p:nvCxnSpPr>
          <p:cNvPr id="25" name="直線單箭頭接點 24"/>
          <p:cNvCxnSpPr/>
          <p:nvPr/>
        </p:nvCxnSpPr>
        <p:spPr>
          <a:xfrm rot="5400000" flipH="1" flipV="1">
            <a:off x="6179355" y="3552603"/>
            <a:ext cx="1428760" cy="9286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flipV="1">
            <a:off x="5072066" y="4731330"/>
            <a:ext cx="1357322" cy="42862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5643570" y="3802636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(5,4)</a:t>
            </a:r>
            <a:endParaRPr lang="zh-TW" altLang="en-US" b="1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6929454" y="4088388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(2,3)</a:t>
            </a:r>
            <a:endParaRPr lang="zh-TW" altLang="en-US" b="1" dirty="0"/>
          </a:p>
        </p:txBody>
      </p:sp>
      <p:cxnSp>
        <p:nvCxnSpPr>
          <p:cNvPr id="37" name="直線單箭頭接點 36"/>
          <p:cNvCxnSpPr/>
          <p:nvPr/>
        </p:nvCxnSpPr>
        <p:spPr>
          <a:xfrm flipV="1">
            <a:off x="5072066" y="3302570"/>
            <a:ext cx="2286016" cy="18573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9" name="文字方塊 38"/>
          <p:cNvSpPr txBox="1"/>
          <p:nvPr/>
        </p:nvSpPr>
        <p:spPr>
          <a:xfrm>
            <a:off x="5572132" y="5017082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(3,1)</a:t>
            </a:r>
            <a:endParaRPr lang="zh-TW" altLang="en-US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長度 與 單位向量</a:t>
            </a:r>
          </a:p>
        </p:txBody>
      </p:sp>
      <p:cxnSp>
        <p:nvCxnSpPr>
          <p:cNvPr id="4" name="直線單箭頭接點 3"/>
          <p:cNvCxnSpPr/>
          <p:nvPr/>
        </p:nvCxnSpPr>
        <p:spPr>
          <a:xfrm flipV="1">
            <a:off x="1214414" y="4143380"/>
            <a:ext cx="2286016" cy="18573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3500430" y="3714752"/>
            <a:ext cx="1000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( 5,4 )</a:t>
            </a:r>
            <a:endParaRPr lang="zh-TW" altLang="en-US" sz="2400" dirty="0"/>
          </a:p>
        </p:txBody>
      </p:sp>
      <p:cxnSp>
        <p:nvCxnSpPr>
          <p:cNvPr id="6" name="直線單箭頭接點 5"/>
          <p:cNvCxnSpPr/>
          <p:nvPr/>
        </p:nvCxnSpPr>
        <p:spPr>
          <a:xfrm flipV="1">
            <a:off x="1214414" y="5429264"/>
            <a:ext cx="714380" cy="57150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內容版面配置區 2"/>
          <p:cNvSpPr txBox="1">
            <a:spLocks/>
          </p:cNvSpPr>
          <p:nvPr/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內容版面配置區 2"/>
          <p:cNvSpPr txBox="1">
            <a:spLocks/>
          </p:cNvSpPr>
          <p:nvPr/>
        </p:nvSpPr>
        <p:spPr>
          <a:xfrm>
            <a:off x="609600" y="24018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長度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           </a:t>
            </a:r>
            <a:r>
              <a:rPr kumimoji="0" lang="en-US" altLang="zh-TW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2357430"/>
            <a:ext cx="11906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68" y="2409821"/>
            <a:ext cx="6572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43042" y="5715016"/>
            <a:ext cx="1800225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2" descr="https://cdn.discordapp.com/attachments/972022182286864434/1318158048790843402/images.png?ex=6763f0d9&amp;is=67629f59&amp;hm=8db7f68d3873ba12890b3441a599a1db8cfdc044d17f1a681e0ac76131237af4&amp;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14876" y="3857628"/>
            <a:ext cx="4122305" cy="27432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Vector3</a:t>
            </a:r>
            <a:r>
              <a:rPr lang="zh-TW" altLang="en-US" dirty="0"/>
              <a:t>常用函式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v3.normalized</a:t>
            </a:r>
          </a:p>
          <a:p>
            <a:pPr lvl="1"/>
            <a:r>
              <a:rPr lang="zh-TW" altLang="en-US" dirty="0"/>
              <a:t>獲得其方向不變的</a:t>
            </a:r>
            <a:r>
              <a:rPr lang="zh-TW" altLang="en-US" b="1" u="sng" dirty="0"/>
              <a:t>單位向量</a:t>
            </a:r>
            <a:r>
              <a:rPr lang="en-US" altLang="zh-TW" dirty="0"/>
              <a:t>(</a:t>
            </a:r>
            <a:r>
              <a:rPr lang="zh-TW" altLang="en-US" dirty="0"/>
              <a:t>長度為</a:t>
            </a:r>
            <a:r>
              <a:rPr lang="en-US" altLang="zh-TW" dirty="0"/>
              <a:t>1)(</a:t>
            </a:r>
            <a:r>
              <a:rPr lang="zh-TW" altLang="en-US" dirty="0"/>
              <a:t>仍為</a:t>
            </a:r>
            <a:r>
              <a:rPr lang="en-US" altLang="zh-TW" dirty="0"/>
              <a:t>Vector3)</a:t>
            </a:r>
          </a:p>
          <a:p>
            <a:r>
              <a:rPr lang="en-US" altLang="zh-TW" dirty="0"/>
              <a:t>v3. magnitude</a:t>
            </a:r>
          </a:p>
          <a:p>
            <a:pPr lvl="1"/>
            <a:r>
              <a:rPr lang="zh-TW" altLang="en-US" dirty="0"/>
              <a:t>回傳其</a:t>
            </a:r>
            <a:r>
              <a:rPr lang="zh-TW" altLang="en-US" b="1" u="sng" dirty="0"/>
              <a:t>長度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為</a:t>
            </a:r>
            <a:r>
              <a:rPr lang="en-US" altLang="zh-TW" dirty="0"/>
              <a:t>float)</a:t>
            </a:r>
          </a:p>
          <a:p>
            <a:r>
              <a:rPr lang="en-US" altLang="zh-TW" dirty="0"/>
              <a:t>v3.sqrMagnitude</a:t>
            </a:r>
          </a:p>
          <a:p>
            <a:pPr lvl="1"/>
            <a:r>
              <a:rPr lang="zh-TW" altLang="en-US" dirty="0"/>
              <a:t>回傳其長度的平方 </a:t>
            </a:r>
            <a:r>
              <a:rPr lang="en-US" altLang="zh-TW" dirty="0"/>
              <a:t>(</a:t>
            </a:r>
            <a:r>
              <a:rPr lang="zh-TW" altLang="en-US" dirty="0"/>
              <a:t>為</a:t>
            </a:r>
            <a:r>
              <a:rPr lang="en-US" altLang="zh-TW" dirty="0"/>
              <a:t>float)</a:t>
            </a:r>
          </a:p>
          <a:p>
            <a:pPr lvl="1"/>
            <a:r>
              <a:rPr lang="zh-TW" altLang="en-US" b="1" u="sng" dirty="0"/>
              <a:t>比較長度</a:t>
            </a:r>
            <a:r>
              <a:rPr lang="zh-TW" altLang="en-US" dirty="0"/>
              <a:t>時會使用「長度平方」來取代「長度」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Input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2757478" cy="4325112"/>
          </a:xfrm>
        </p:spPr>
        <p:txBody>
          <a:bodyPr/>
          <a:lstStyle/>
          <a:p>
            <a:r>
              <a:rPr lang="zh-TW" altLang="en-US" dirty="0"/>
              <a:t>編輯玩家操作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Action Map</a:t>
            </a:r>
          </a:p>
          <a:p>
            <a:pPr lvl="1"/>
            <a:r>
              <a:rPr lang="zh-TW" altLang="en-US" dirty="0"/>
              <a:t>指一種操作模式 </a:t>
            </a:r>
            <a:r>
              <a:rPr lang="en-US" altLang="zh-TW" dirty="0"/>
              <a:t>(</a:t>
            </a:r>
            <a:r>
              <a:rPr lang="zh-TW" altLang="en-US" dirty="0"/>
              <a:t>如：主頁面 </a:t>
            </a:r>
            <a:r>
              <a:rPr lang="en-US" altLang="zh-TW" dirty="0"/>
              <a:t>/ </a:t>
            </a:r>
            <a:r>
              <a:rPr lang="zh-TW" altLang="en-US" dirty="0"/>
              <a:t>戰鬥 </a:t>
            </a:r>
            <a:r>
              <a:rPr lang="en-US" altLang="zh-TW" dirty="0"/>
              <a:t>/ </a:t>
            </a:r>
            <a:r>
              <a:rPr lang="zh-TW" altLang="en-US" dirty="0"/>
              <a:t>觀戰模式等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06274" y="2786058"/>
            <a:ext cx="5966288" cy="4024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Input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Action</a:t>
            </a:r>
          </a:p>
          <a:p>
            <a:pPr lvl="1"/>
            <a:r>
              <a:rPr lang="zh-TW" altLang="en-US" dirty="0"/>
              <a:t>一種行動，如移動、跳躍等</a:t>
            </a:r>
            <a:endParaRPr lang="en-US" altLang="zh-TW" dirty="0"/>
          </a:p>
          <a:p>
            <a:pPr lvl="1"/>
            <a:r>
              <a:rPr lang="zh-TW" altLang="en-US" dirty="0"/>
              <a:t>允許多種輸入類型</a:t>
            </a:r>
            <a:endParaRPr lang="en-US" altLang="zh-TW" dirty="0"/>
          </a:p>
          <a:p>
            <a:pPr lvl="1"/>
            <a:r>
              <a:rPr lang="zh-TW" altLang="en-US" dirty="0"/>
              <a:t>常用為</a:t>
            </a:r>
            <a:r>
              <a:rPr lang="en-US" altLang="zh-TW" dirty="0"/>
              <a:t>Button</a:t>
            </a:r>
            <a:r>
              <a:rPr lang="zh-TW" altLang="en-US" dirty="0"/>
              <a:t>、</a:t>
            </a:r>
            <a:r>
              <a:rPr lang="en-US" altLang="zh-TW" dirty="0"/>
              <a:t>Value-Vector2(</a:t>
            </a:r>
            <a:r>
              <a:rPr lang="zh-TW" altLang="en-US" dirty="0"/>
              <a:t>平面移動</a:t>
            </a:r>
            <a:r>
              <a:rPr lang="en-US" altLang="zh-TW" dirty="0"/>
              <a:t>)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Binding</a:t>
            </a:r>
          </a:p>
          <a:p>
            <a:pPr lvl="1"/>
            <a:r>
              <a:rPr lang="zh-TW" altLang="en-US" dirty="0"/>
              <a:t>每個</a:t>
            </a:r>
            <a:r>
              <a:rPr lang="en-US" altLang="zh-TW" dirty="0"/>
              <a:t>Action</a:t>
            </a:r>
            <a:r>
              <a:rPr lang="zh-TW" altLang="en-US" dirty="0"/>
              <a:t>可以有多種</a:t>
            </a:r>
            <a:r>
              <a:rPr lang="en-US" altLang="zh-TW" dirty="0"/>
              <a:t>Binding</a:t>
            </a:r>
          </a:p>
          <a:p>
            <a:pPr lvl="1"/>
            <a:r>
              <a:rPr lang="zh-TW" altLang="en-US" dirty="0"/>
              <a:t>通常每種操作模式會有一個</a:t>
            </a:r>
            <a:r>
              <a:rPr lang="en-US" altLang="zh-TW" dirty="0"/>
              <a:t>Binding</a:t>
            </a:r>
          </a:p>
          <a:p>
            <a:pPr lvl="1"/>
            <a:r>
              <a:rPr lang="zh-TW" altLang="en-US" dirty="0"/>
              <a:t>切換到</a:t>
            </a:r>
            <a:r>
              <a:rPr lang="en-US" altLang="zh-TW" dirty="0"/>
              <a:t>All</a:t>
            </a:r>
            <a:r>
              <a:rPr lang="zh-TW" altLang="en-US" dirty="0"/>
              <a:t> </a:t>
            </a:r>
            <a:r>
              <a:rPr lang="en-US" altLang="zh-TW" dirty="0"/>
              <a:t>Control Schemes</a:t>
            </a:r>
            <a:r>
              <a:rPr lang="zh-TW" altLang="en-US" dirty="0"/>
              <a:t>確認所有操作</a:t>
            </a:r>
            <a:endParaRPr lang="en-US" altLang="zh-TW" dirty="0"/>
          </a:p>
          <a:p>
            <a:pPr lvl="2">
              <a:buNone/>
            </a:pPr>
            <a:endParaRPr lang="zh-TW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FPS</a:t>
            </a:r>
            <a:r>
              <a:rPr lang="zh-TW" altLang="en-US" dirty="0"/>
              <a:t>角色移動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8596" y="2214554"/>
            <a:ext cx="8229600" cy="4325112"/>
          </a:xfrm>
        </p:spPr>
        <p:txBody>
          <a:bodyPr/>
          <a:lstStyle/>
          <a:p>
            <a:r>
              <a:rPr lang="zh-TW" altLang="en-US" dirty="0"/>
              <a:t>輸入為 </a:t>
            </a:r>
            <a:r>
              <a:rPr lang="en-US" altLang="zh-TW" dirty="0"/>
              <a:t>Vector2</a:t>
            </a:r>
          </a:p>
          <a:p>
            <a:pPr lvl="1"/>
            <a:r>
              <a:rPr lang="en-US" altLang="zh-TW" dirty="0"/>
              <a:t>WASD</a:t>
            </a:r>
            <a:r>
              <a:rPr lang="zh-TW" altLang="en-US" dirty="0"/>
              <a:t>、上下左右</a:t>
            </a:r>
            <a:endParaRPr lang="en-US" altLang="zh-TW" dirty="0"/>
          </a:p>
          <a:p>
            <a:pPr lvl="1"/>
            <a:r>
              <a:rPr lang="zh-TW" altLang="en-US" dirty="0"/>
              <a:t>手把左搖桿</a:t>
            </a:r>
          </a:p>
        </p:txBody>
      </p:sp>
      <p:grpSp>
        <p:nvGrpSpPr>
          <p:cNvPr id="15" name="群組 14"/>
          <p:cNvGrpSpPr/>
          <p:nvPr/>
        </p:nvGrpSpPr>
        <p:grpSpPr>
          <a:xfrm>
            <a:off x="1571604" y="3929066"/>
            <a:ext cx="2428892" cy="2357454"/>
            <a:chOff x="785786" y="3214686"/>
            <a:chExt cx="2428892" cy="2357454"/>
          </a:xfrm>
        </p:grpSpPr>
        <p:cxnSp>
          <p:nvCxnSpPr>
            <p:cNvPr id="5" name="直線單箭頭接點 4"/>
            <p:cNvCxnSpPr/>
            <p:nvPr/>
          </p:nvCxnSpPr>
          <p:spPr>
            <a:xfrm>
              <a:off x="785786" y="4429132"/>
              <a:ext cx="2428892" cy="1588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/>
            <p:nvPr/>
          </p:nvCxnSpPr>
          <p:spPr>
            <a:xfrm rot="5400000" flipH="1" flipV="1">
              <a:off x="822299" y="4392619"/>
              <a:ext cx="2357454" cy="1588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2857488" y="4405978"/>
              <a:ext cx="3571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x</a:t>
              </a:r>
              <a:endParaRPr lang="zh-TW" altLang="en-US" sz="2800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1571604" y="3214686"/>
              <a:ext cx="3385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/>
                <a:t>y</a:t>
              </a:r>
              <a:endParaRPr lang="zh-TW" altLang="en-US" dirty="0"/>
            </a:p>
          </p:txBody>
        </p:sp>
      </p:grp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72198" y="2643182"/>
            <a:ext cx="2398579" cy="3979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基本設置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添加</a:t>
            </a:r>
            <a:r>
              <a:rPr lang="en-US" altLang="zh-TW" dirty="0"/>
              <a:t>Player Input</a:t>
            </a:r>
          </a:p>
          <a:p>
            <a:endParaRPr lang="en-US" altLang="zh-TW" dirty="0"/>
          </a:p>
          <a:p>
            <a:r>
              <a:rPr lang="zh-TW" altLang="en-US" dirty="0"/>
              <a:t>添加</a:t>
            </a:r>
            <a:r>
              <a:rPr lang="en-US" altLang="zh-TW" dirty="0"/>
              <a:t>Character Controller</a:t>
            </a:r>
          </a:p>
          <a:p>
            <a:pPr>
              <a:buNone/>
            </a:pPr>
            <a:endParaRPr lang="en-US" altLang="zh-TW" dirty="0"/>
          </a:p>
          <a:p>
            <a:r>
              <a:rPr lang="zh-TW" altLang="en-US" dirty="0"/>
              <a:t>添加自己的程式</a:t>
            </a:r>
            <a:endParaRPr lang="en-US" altLang="zh-TW" dirty="0"/>
          </a:p>
          <a:p>
            <a:pPr lvl="1"/>
            <a:r>
              <a:rPr lang="en-US" altLang="zh-TW" dirty="0"/>
              <a:t>Script Machine</a:t>
            </a:r>
          </a:p>
          <a:p>
            <a:pPr lvl="1"/>
            <a:r>
              <a:rPr lang="zh-TW" altLang="en-US" dirty="0"/>
              <a:t>按下</a:t>
            </a:r>
            <a:r>
              <a:rPr lang="en-US" altLang="zh-TW" dirty="0"/>
              <a:t>new </a:t>
            </a:r>
            <a:r>
              <a:rPr lang="zh-TW" altLang="en-US" dirty="0"/>
              <a:t>新增一個</a:t>
            </a:r>
            <a:r>
              <a:rPr lang="en-US" altLang="zh-TW" dirty="0" err="1"/>
              <a:t>VisualScript</a:t>
            </a:r>
            <a:endParaRPr lang="zh-TW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FPS</a:t>
            </a:r>
            <a:r>
              <a:rPr lang="zh-TW" altLang="en-US" dirty="0"/>
              <a:t>角色移動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移動速度向量 </a:t>
            </a:r>
            <a:r>
              <a:rPr lang="en-US" altLang="zh-TW" dirty="0"/>
              <a:t>=</a:t>
            </a:r>
            <a:r>
              <a:rPr lang="zh-TW" altLang="en-US" dirty="0"/>
              <a:t> 以下兩者相加</a:t>
            </a:r>
            <a:endParaRPr lang="en-US" altLang="zh-TW" dirty="0"/>
          </a:p>
          <a:p>
            <a:pPr lvl="1"/>
            <a:r>
              <a:rPr lang="zh-TW" altLang="en-US" dirty="0"/>
              <a:t>角色</a:t>
            </a:r>
            <a:r>
              <a:rPr lang="zh-TW" altLang="en-US" b="1" dirty="0"/>
              <a:t>前方</a:t>
            </a:r>
            <a:r>
              <a:rPr lang="zh-TW" altLang="en-US" dirty="0"/>
              <a:t>單位向量 </a:t>
            </a:r>
            <a:r>
              <a:rPr lang="en-US" altLang="zh-TW" dirty="0"/>
              <a:t>*</a:t>
            </a:r>
            <a:r>
              <a:rPr lang="zh-TW" altLang="en-US" dirty="0"/>
              <a:t> 輸入</a:t>
            </a:r>
            <a:r>
              <a:rPr lang="en-US" altLang="zh-TW" dirty="0"/>
              <a:t>Y</a:t>
            </a:r>
            <a:r>
              <a:rPr lang="zh-TW" altLang="en-US" dirty="0"/>
              <a:t>分量 </a:t>
            </a:r>
            <a:r>
              <a:rPr lang="en-US" altLang="zh-TW" dirty="0"/>
              <a:t>* </a:t>
            </a:r>
            <a:r>
              <a:rPr lang="zh-TW" altLang="en-US" dirty="0"/>
              <a:t>速度</a:t>
            </a:r>
            <a:endParaRPr lang="en-US" altLang="zh-TW" dirty="0"/>
          </a:p>
          <a:p>
            <a:pPr lvl="1"/>
            <a:r>
              <a:rPr lang="zh-TW" altLang="en-US" dirty="0"/>
              <a:t>角色</a:t>
            </a:r>
            <a:r>
              <a:rPr lang="zh-TW" altLang="en-US" b="1" dirty="0"/>
              <a:t>右方</a:t>
            </a:r>
            <a:r>
              <a:rPr lang="zh-TW" altLang="en-US" dirty="0"/>
              <a:t>單位向量 </a:t>
            </a:r>
            <a:r>
              <a:rPr lang="en-US" altLang="zh-TW" dirty="0"/>
              <a:t>*</a:t>
            </a:r>
            <a:r>
              <a:rPr lang="zh-TW" altLang="en-US" dirty="0"/>
              <a:t> 輸入</a:t>
            </a:r>
            <a:r>
              <a:rPr lang="en-US" altLang="zh-TW" dirty="0"/>
              <a:t>X</a:t>
            </a:r>
            <a:r>
              <a:rPr lang="zh-TW" altLang="en-US" dirty="0"/>
              <a:t>分量 </a:t>
            </a:r>
            <a:r>
              <a:rPr lang="en-US" altLang="zh-TW" dirty="0"/>
              <a:t>* </a:t>
            </a:r>
            <a:r>
              <a:rPr lang="zh-TW" altLang="en-US" dirty="0"/>
              <a:t>速度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由於移動在</a:t>
            </a:r>
            <a:r>
              <a:rPr lang="en-US" altLang="zh-TW" dirty="0"/>
              <a:t>Update</a:t>
            </a:r>
            <a:r>
              <a:rPr lang="zh-TW" altLang="en-US" dirty="0"/>
              <a:t>中進行</a:t>
            </a:r>
            <a:endParaRPr lang="en-US" altLang="zh-TW" dirty="0"/>
          </a:p>
          <a:p>
            <a:pPr lvl="1"/>
            <a:r>
              <a:rPr lang="zh-TW" altLang="en-US" dirty="0"/>
              <a:t>相加後 必須再乘上 </a:t>
            </a:r>
            <a:r>
              <a:rPr lang="en-US" altLang="zh-TW" dirty="0" err="1"/>
              <a:t>Time.deltaTime</a:t>
            </a:r>
            <a:endParaRPr lang="zh-TW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FPS</a:t>
            </a:r>
            <a:r>
              <a:rPr lang="zh-TW" altLang="en-US" dirty="0"/>
              <a:t>視角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輸入為 </a:t>
            </a:r>
            <a:r>
              <a:rPr lang="en-US" altLang="zh-TW" dirty="0"/>
              <a:t>Vector2 </a:t>
            </a:r>
          </a:p>
          <a:p>
            <a:pPr lvl="1"/>
            <a:r>
              <a:rPr lang="zh-TW" altLang="en-US" dirty="0"/>
              <a:t>滑鼠：</a:t>
            </a:r>
            <a:r>
              <a:rPr lang="en-US" altLang="zh-TW" dirty="0"/>
              <a:t>Delta [Pointer]</a:t>
            </a:r>
          </a:p>
          <a:p>
            <a:pPr lvl="1"/>
            <a:r>
              <a:rPr lang="zh-TW" altLang="en-US" dirty="0"/>
              <a:t>手把右搖桿</a:t>
            </a:r>
          </a:p>
        </p:txBody>
      </p:sp>
      <p:grpSp>
        <p:nvGrpSpPr>
          <p:cNvPr id="4" name="群組 3"/>
          <p:cNvGrpSpPr/>
          <p:nvPr/>
        </p:nvGrpSpPr>
        <p:grpSpPr>
          <a:xfrm>
            <a:off x="1785918" y="4071942"/>
            <a:ext cx="2428892" cy="2357454"/>
            <a:chOff x="785786" y="3214686"/>
            <a:chExt cx="2428892" cy="2357454"/>
          </a:xfrm>
        </p:grpSpPr>
        <p:cxnSp>
          <p:nvCxnSpPr>
            <p:cNvPr id="5" name="直線單箭頭接點 4"/>
            <p:cNvCxnSpPr/>
            <p:nvPr/>
          </p:nvCxnSpPr>
          <p:spPr>
            <a:xfrm>
              <a:off x="785786" y="4429132"/>
              <a:ext cx="2428892" cy="1588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單箭頭接點 5"/>
            <p:cNvCxnSpPr/>
            <p:nvPr/>
          </p:nvCxnSpPr>
          <p:spPr>
            <a:xfrm rot="5400000" flipH="1" flipV="1">
              <a:off x="822299" y="4392619"/>
              <a:ext cx="2357454" cy="1588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字方塊 6"/>
            <p:cNvSpPr txBox="1"/>
            <p:nvPr/>
          </p:nvSpPr>
          <p:spPr>
            <a:xfrm>
              <a:off x="2857488" y="4405978"/>
              <a:ext cx="3571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800" dirty="0"/>
                <a:t>x</a:t>
              </a:r>
              <a:endParaRPr lang="zh-TW" altLang="en-US" sz="280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1571604" y="3214686"/>
              <a:ext cx="3385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/>
                <a:t>y</a:t>
              </a:r>
              <a:endParaRPr lang="zh-TW" altLang="en-US" dirty="0"/>
            </a:p>
          </p:txBody>
        </p:sp>
      </p:grpSp>
      <p:pic>
        <p:nvPicPr>
          <p:cNvPr id="13" name="Picture 4" descr="The axes of Unitys left-handed coordinate system, showing that the direction of rotation from the positive x-axis to the positive y-axis is counterclockwise when looking along the positive z-axis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6380" y="3571876"/>
            <a:ext cx="3133725" cy="28098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FPS</a:t>
            </a:r>
            <a:r>
              <a:rPr lang="zh-TW" altLang="en-US" dirty="0"/>
              <a:t>視角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X</a:t>
            </a:r>
            <a:r>
              <a:rPr lang="zh-TW" altLang="en-US" dirty="0"/>
              <a:t>的變化</a:t>
            </a:r>
            <a:endParaRPr lang="en-US" altLang="zh-TW" dirty="0"/>
          </a:p>
          <a:p>
            <a:pPr lvl="1"/>
            <a:r>
              <a:rPr lang="en-US" altLang="zh-TW" dirty="0"/>
              <a:t>-1 * </a:t>
            </a:r>
            <a:r>
              <a:rPr lang="zh-TW" altLang="en-US" dirty="0"/>
              <a:t>輸入</a:t>
            </a:r>
            <a:r>
              <a:rPr lang="en-US" altLang="zh-TW" dirty="0"/>
              <a:t>Y</a:t>
            </a:r>
            <a:r>
              <a:rPr lang="zh-TW" altLang="en-US" dirty="0"/>
              <a:t>分量</a:t>
            </a:r>
            <a:r>
              <a:rPr lang="el-GR" altLang="zh-TW" dirty="0"/>
              <a:t>Δ</a:t>
            </a:r>
            <a:r>
              <a:rPr lang="en-US" altLang="zh-TW" dirty="0"/>
              <a:t> * </a:t>
            </a:r>
            <a:r>
              <a:rPr lang="zh-TW" altLang="en-US" dirty="0"/>
              <a:t>滑鼠靈敏度</a:t>
            </a:r>
            <a:r>
              <a:rPr lang="en-US" altLang="zh-TW" dirty="0"/>
              <a:t>(</a:t>
            </a:r>
            <a:r>
              <a:rPr lang="zh-TW" altLang="en-US" dirty="0"/>
              <a:t>轉動速度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必須被限制抬頭與低頭角度 </a:t>
            </a:r>
            <a:r>
              <a:rPr lang="en-US" altLang="zh-TW" dirty="0"/>
              <a:t>(ex.</a:t>
            </a:r>
            <a:r>
              <a:rPr lang="zh-TW" altLang="en-US" dirty="0"/>
              <a:t> </a:t>
            </a:r>
            <a:r>
              <a:rPr lang="en-US" altLang="zh-TW" dirty="0"/>
              <a:t>70</a:t>
            </a:r>
            <a:r>
              <a:rPr lang="zh-TW" altLang="en-US" dirty="0"/>
              <a:t>度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轉動角色「頭部」並帶領「眼睛</a:t>
            </a:r>
            <a:r>
              <a:rPr lang="en-US" altLang="zh-TW" dirty="0"/>
              <a:t>=</a:t>
            </a:r>
            <a:r>
              <a:rPr lang="zh-TW" altLang="en-US" dirty="0"/>
              <a:t>攝影機」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Y</a:t>
            </a:r>
            <a:r>
              <a:rPr lang="zh-TW" altLang="en-US" dirty="0"/>
              <a:t>的變化</a:t>
            </a:r>
            <a:endParaRPr lang="en-US" altLang="zh-TW" dirty="0"/>
          </a:p>
          <a:p>
            <a:pPr lvl="1"/>
            <a:r>
              <a:rPr lang="zh-TW" altLang="en-US" dirty="0"/>
              <a:t>輸入</a:t>
            </a:r>
            <a:r>
              <a:rPr lang="en-US" altLang="zh-TW" dirty="0"/>
              <a:t>X</a:t>
            </a:r>
            <a:r>
              <a:rPr lang="zh-TW" altLang="en-US" dirty="0"/>
              <a:t>分量</a:t>
            </a:r>
            <a:r>
              <a:rPr lang="el-GR" altLang="zh-TW" dirty="0"/>
              <a:t>Δ</a:t>
            </a:r>
            <a:r>
              <a:rPr lang="en-US" altLang="zh-TW" dirty="0"/>
              <a:t> * </a:t>
            </a:r>
            <a:r>
              <a:rPr lang="zh-TW" altLang="en-US" dirty="0"/>
              <a:t>滑鼠靈敏度</a:t>
            </a:r>
            <a:r>
              <a:rPr lang="en-US" altLang="zh-TW" dirty="0"/>
              <a:t>(</a:t>
            </a:r>
            <a:r>
              <a:rPr lang="zh-TW" altLang="en-US" dirty="0"/>
              <a:t>轉動速度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轉動角色的</a:t>
            </a:r>
            <a:r>
              <a:rPr lang="en-US" altLang="zh-TW" dirty="0"/>
              <a:t>Y</a:t>
            </a:r>
            <a:r>
              <a:rPr lang="zh-TW" altLang="en-US" dirty="0"/>
              <a:t>軸</a:t>
            </a:r>
            <a:endParaRPr lang="en-US" altLang="zh-TW" dirty="0"/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FPS</a:t>
            </a:r>
            <a:r>
              <a:rPr lang="zh-TW" altLang="en-US" dirty="0"/>
              <a:t> 重力與跳躍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由於使用</a:t>
            </a:r>
            <a:r>
              <a:rPr lang="en-US" altLang="zh-TW" dirty="0" err="1"/>
              <a:t>CharacterController</a:t>
            </a:r>
            <a:r>
              <a:rPr lang="zh-TW" altLang="en-US" dirty="0"/>
              <a:t>，而非</a:t>
            </a:r>
            <a:r>
              <a:rPr lang="en-US" altLang="zh-TW" dirty="0" err="1"/>
              <a:t>RigidBody</a:t>
            </a:r>
            <a:r>
              <a:rPr lang="zh-TW" altLang="en-US" dirty="0"/>
              <a:t>，所以沒有基本的物理重力。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 err="1"/>
              <a:t>characterController.isGrounded</a:t>
            </a:r>
            <a:endParaRPr lang="en-US" altLang="zh-TW" dirty="0"/>
          </a:p>
          <a:p>
            <a:pPr lvl="1"/>
            <a:r>
              <a:rPr lang="zh-TW" altLang="en-US" dirty="0"/>
              <a:t>必須持續給一個向下的移動，才會判定為在地面</a:t>
            </a:r>
            <a:endParaRPr lang="en-US" altLang="zh-TW" dirty="0"/>
          </a:p>
          <a:p>
            <a:pPr lvl="1"/>
            <a:r>
              <a:rPr lang="zh-TW" altLang="en-US" dirty="0"/>
              <a:t>速度 </a:t>
            </a:r>
            <a:r>
              <a:rPr lang="en-US" altLang="zh-TW" dirty="0"/>
              <a:t>=</a:t>
            </a:r>
            <a:r>
              <a:rPr lang="zh-TW" altLang="en-US" dirty="0"/>
              <a:t> 速度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/>
              <a:t>( </a:t>
            </a:r>
            <a:r>
              <a:rPr lang="zh-TW" altLang="en-US" dirty="0"/>
              <a:t>重力</a:t>
            </a:r>
            <a:r>
              <a:rPr lang="zh-TW" altLang="en-US" b="1" dirty="0"/>
              <a:t>加速度 </a:t>
            </a:r>
            <a:r>
              <a:rPr lang="zh-TW" altLang="en-US" dirty="0"/>
              <a:t>* </a:t>
            </a:r>
            <a:r>
              <a:rPr lang="en-US" altLang="zh-TW" dirty="0" err="1"/>
              <a:t>Time.DeltaTime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由於這也是角色位移的一部分，加入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FPS</a:t>
            </a:r>
            <a:r>
              <a:rPr lang="zh-TW" altLang="en-US" dirty="0"/>
              <a:t> 重力與跳躍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設置簡單的冷卻時間及條件</a:t>
            </a:r>
            <a:endParaRPr lang="en-US" altLang="zh-TW" dirty="0"/>
          </a:p>
          <a:p>
            <a:pPr lvl="1"/>
            <a:r>
              <a:rPr lang="zh-TW" altLang="en-US" dirty="0"/>
              <a:t>必須在地板上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給予初始速度 </a:t>
            </a:r>
            <a:endParaRPr lang="en-US" altLang="zh-TW" dirty="0"/>
          </a:p>
          <a:p>
            <a:pPr lvl="1"/>
            <a:r>
              <a:rPr lang="zh-TW" altLang="en-US" dirty="0"/>
              <a:t>計算跳躍高度 與 重力</a:t>
            </a:r>
            <a:endParaRPr lang="en-US" altLang="zh-TW" dirty="0"/>
          </a:p>
          <a:p>
            <a:pPr lvl="1"/>
            <a:r>
              <a:rPr lang="en-US" altLang="zh-TW" dirty="0"/>
              <a:t>  </a:t>
            </a:r>
          </a:p>
          <a:p>
            <a:pPr lvl="1"/>
            <a:r>
              <a:rPr lang="en-US" altLang="zh-TW" dirty="0"/>
              <a:t> </a:t>
            </a:r>
          </a:p>
          <a:p>
            <a:pPr lvl="1"/>
            <a:r>
              <a:rPr lang="en-US" altLang="zh-TW" dirty="0">
                <a:hlinkClick r:id="rId3"/>
              </a:rPr>
              <a:t>https://www.desmos.com/calculator/1m25o6q5zk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4414" y="4517056"/>
            <a:ext cx="1428760" cy="483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42976" y="5000639"/>
            <a:ext cx="3314700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遊戲速度 </a:t>
            </a:r>
            <a:r>
              <a:rPr lang="en-US" altLang="zh-TW" dirty="0" err="1"/>
              <a:t>Time.timeScale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 dirty="0"/>
              <a:t>可以透過</a:t>
            </a:r>
            <a:r>
              <a:rPr lang="en-US" altLang="zh-TW" sz="2400" dirty="0" err="1"/>
              <a:t>Time.timeScale</a:t>
            </a:r>
            <a:r>
              <a:rPr lang="zh-TW" altLang="en-US" sz="2400" dirty="0"/>
              <a:t>設定 </a:t>
            </a:r>
            <a:r>
              <a:rPr lang="en-US" altLang="zh-TW" sz="2400" dirty="0"/>
              <a:t>(</a:t>
            </a:r>
            <a:r>
              <a:rPr lang="zh-TW" altLang="en-US" sz="2400" dirty="0"/>
              <a:t>或</a:t>
            </a:r>
            <a:r>
              <a:rPr lang="en-US" altLang="zh-TW" sz="2400" dirty="0" err="1"/>
              <a:t>ProjectSetting</a:t>
            </a:r>
            <a:r>
              <a:rPr lang="en-US" altLang="zh-TW" sz="2400" dirty="0"/>
              <a:t>&gt;Time)</a:t>
            </a:r>
          </a:p>
          <a:p>
            <a:pPr lvl="1"/>
            <a:r>
              <a:rPr lang="zh-TW" altLang="en-US" dirty="0"/>
              <a:t>正常為</a:t>
            </a:r>
            <a:r>
              <a:rPr lang="en-US" altLang="zh-TW" dirty="0"/>
              <a:t>1</a:t>
            </a:r>
          </a:p>
          <a:p>
            <a:pPr lvl="1"/>
            <a:r>
              <a:rPr lang="zh-TW" altLang="en-US" dirty="0"/>
              <a:t>若為</a:t>
            </a:r>
            <a:r>
              <a:rPr lang="en-US" altLang="zh-TW" dirty="0"/>
              <a:t>0</a:t>
            </a:r>
            <a:r>
              <a:rPr lang="zh-TW" altLang="en-US" dirty="0"/>
              <a:t>，即為暫停</a:t>
            </a:r>
            <a:endParaRPr lang="en-US" altLang="zh-TW" dirty="0"/>
          </a:p>
          <a:p>
            <a:pPr lvl="1"/>
            <a:r>
              <a:rPr lang="zh-TW" altLang="en-US" dirty="0"/>
              <a:t>若低於</a:t>
            </a:r>
            <a:r>
              <a:rPr lang="en-US" altLang="zh-TW" dirty="0"/>
              <a:t>1</a:t>
            </a:r>
            <a:r>
              <a:rPr lang="zh-TW" altLang="en-US" dirty="0"/>
              <a:t>，即為慢動作 </a:t>
            </a:r>
            <a:r>
              <a:rPr lang="en-US" altLang="zh-TW" dirty="0"/>
              <a:t>(</a:t>
            </a:r>
            <a:r>
              <a:rPr lang="zh-TW" altLang="en-US" dirty="0"/>
              <a:t>如</a:t>
            </a:r>
            <a:r>
              <a:rPr lang="en-US" altLang="zh-TW" dirty="0"/>
              <a:t>0.5)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Update</a:t>
            </a:r>
            <a:r>
              <a:rPr lang="zh-TW" altLang="en-US" dirty="0"/>
              <a:t>仍然會維持原本設定 </a:t>
            </a:r>
            <a:r>
              <a:rPr lang="en-US" altLang="zh-TW" dirty="0"/>
              <a:t>(ex.60fps)</a:t>
            </a:r>
          </a:p>
          <a:p>
            <a:pPr lvl="1"/>
            <a:r>
              <a:rPr lang="en-US" altLang="zh-TW" dirty="0" err="1"/>
              <a:t>FixedUpdate</a:t>
            </a:r>
            <a:r>
              <a:rPr lang="zh-TW" altLang="en-US" dirty="0"/>
              <a:t>會跟隨遊戲速率執行 </a:t>
            </a:r>
            <a:r>
              <a:rPr lang="en-US" altLang="zh-TW" dirty="0"/>
              <a:t>(</a:t>
            </a:r>
            <a:r>
              <a:rPr lang="zh-TW" altLang="en-US" dirty="0"/>
              <a:t>若有需要可修改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sz="2400" dirty="0"/>
              <a:t>部分功能</a:t>
            </a:r>
            <a:r>
              <a:rPr lang="en-US" altLang="zh-TW" sz="2400" dirty="0"/>
              <a:t>(</a:t>
            </a:r>
            <a:r>
              <a:rPr lang="zh-TW" altLang="en-US" sz="2400" dirty="0"/>
              <a:t>如：動畫</a:t>
            </a:r>
            <a:r>
              <a:rPr lang="en-US" altLang="zh-TW" sz="2400" dirty="0"/>
              <a:t>)</a:t>
            </a:r>
            <a:r>
              <a:rPr lang="zh-TW" altLang="en-US" sz="2400" dirty="0"/>
              <a:t>可自行決定是否受遊戲速度影響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CF15B2-CAF4-2BAA-DE9E-9E2D5B69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還有更多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D06EDB-BEA2-DFDD-45FA-9EC79F8AE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移動</a:t>
            </a:r>
            <a:endParaRPr lang="en-US" altLang="zh-TW" dirty="0"/>
          </a:p>
          <a:p>
            <a:pPr lvl="1"/>
            <a:r>
              <a:rPr lang="zh-TW" altLang="en-US" b="1" dirty="0"/>
              <a:t>加速度</a:t>
            </a:r>
            <a:r>
              <a:rPr lang="zh-TW" altLang="en-US" dirty="0"/>
              <a:t>與停止的</a:t>
            </a:r>
            <a:r>
              <a:rPr lang="zh-TW" altLang="en-US" b="1" dirty="0"/>
              <a:t>減速度</a:t>
            </a:r>
            <a:endParaRPr lang="en-US" altLang="zh-TW" b="1" dirty="0"/>
          </a:p>
          <a:p>
            <a:pPr lvl="1"/>
            <a:r>
              <a:rPr lang="zh-TW" altLang="en-US" b="1" dirty="0"/>
              <a:t>往前</a:t>
            </a:r>
            <a:r>
              <a:rPr lang="zh-TW" altLang="en-US" dirty="0"/>
              <a:t>與</a:t>
            </a:r>
            <a:r>
              <a:rPr lang="zh-TW" altLang="en-US" b="1" dirty="0"/>
              <a:t>往後</a:t>
            </a:r>
            <a:r>
              <a:rPr lang="zh-TW" altLang="en-US" dirty="0"/>
              <a:t>的速度不一定要相同</a:t>
            </a:r>
            <a:endParaRPr lang="en-US" altLang="zh-TW" dirty="0"/>
          </a:p>
          <a:p>
            <a:r>
              <a:rPr lang="zh-TW" altLang="en-US" dirty="0"/>
              <a:t>跳躍</a:t>
            </a:r>
            <a:endParaRPr lang="en-US" altLang="zh-TW" dirty="0"/>
          </a:p>
          <a:p>
            <a:pPr lvl="1"/>
            <a:r>
              <a:rPr lang="zh-TW" altLang="en-US" dirty="0"/>
              <a:t>跳躍高度常做約</a:t>
            </a:r>
            <a:r>
              <a:rPr lang="en-US" altLang="zh-TW" dirty="0"/>
              <a:t>3-5</a:t>
            </a:r>
            <a:r>
              <a:rPr lang="zh-TW" altLang="en-US" dirty="0"/>
              <a:t>米 </a:t>
            </a:r>
            <a:r>
              <a:rPr lang="en-US" altLang="zh-TW" dirty="0"/>
              <a:t>(</a:t>
            </a:r>
            <a:r>
              <a:rPr lang="zh-TW" altLang="en-US" dirty="0"/>
              <a:t>身高為</a:t>
            </a:r>
            <a:r>
              <a:rPr lang="en-US" altLang="zh-TW" dirty="0"/>
              <a:t>2</a:t>
            </a:r>
            <a:r>
              <a:rPr lang="zh-TW" altLang="en-US" dirty="0"/>
              <a:t>米時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建議重力</a:t>
            </a:r>
            <a:r>
              <a:rPr lang="en-US" altLang="zh-TW" dirty="0"/>
              <a:t>&gt;9.8 (</a:t>
            </a:r>
            <a:r>
              <a:rPr lang="zh-TW" altLang="en-US" dirty="0"/>
              <a:t>可考慮約</a:t>
            </a:r>
            <a:r>
              <a:rPr lang="en-US" altLang="zh-TW" dirty="0"/>
              <a:t>2-3</a:t>
            </a:r>
            <a:r>
              <a:rPr lang="zh-TW" altLang="en-US" dirty="0"/>
              <a:t>倍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動態重力、延長</a:t>
            </a:r>
            <a:r>
              <a:rPr lang="en-US" altLang="zh-TW" dirty="0"/>
              <a:t>(</a:t>
            </a:r>
            <a:r>
              <a:rPr lang="zh-TW" altLang="en-US" dirty="0"/>
              <a:t>最高點</a:t>
            </a:r>
            <a:r>
              <a:rPr lang="en-US" altLang="zh-TW" dirty="0"/>
              <a:t>)</a:t>
            </a:r>
            <a:r>
              <a:rPr lang="zh-TW" altLang="en-US" dirty="0"/>
              <a:t>滯空時間</a:t>
            </a:r>
            <a:endParaRPr lang="en-US" altLang="zh-TW" dirty="0"/>
          </a:p>
          <a:p>
            <a:pPr lvl="1"/>
            <a:r>
              <a:rPr lang="zh-TW" altLang="en-US" dirty="0"/>
              <a:t>允許跳躍的寬限期 </a:t>
            </a:r>
            <a:r>
              <a:rPr lang="en-US" altLang="zh-TW" dirty="0"/>
              <a:t>(grace time)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9786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665646-1A99-828A-4679-A8CF1C565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還有更多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3D8C6D-AE8B-8AF9-0BFD-B57804C1B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奔跑</a:t>
            </a:r>
            <a:endParaRPr lang="en-US" altLang="zh-TW" dirty="0"/>
          </a:p>
          <a:p>
            <a:r>
              <a:rPr lang="zh-TW" altLang="en-US" dirty="0"/>
              <a:t>閃避 與 能量條</a:t>
            </a:r>
            <a:endParaRPr lang="en-US" altLang="zh-TW" dirty="0"/>
          </a:p>
          <a:p>
            <a:r>
              <a:rPr lang="zh-TW" altLang="en-US" dirty="0"/>
              <a:t>滑剷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二段跳</a:t>
            </a:r>
            <a:endParaRPr lang="en-US" altLang="zh-TW" dirty="0"/>
          </a:p>
          <a:p>
            <a:r>
              <a:rPr lang="zh-TW" altLang="en-US" dirty="0"/>
              <a:t>蹬牆跳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68346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6563</TotalTime>
  <Words>850</Words>
  <Application>Microsoft Office PowerPoint</Application>
  <PresentationFormat>如螢幕大小 (4:3)</PresentationFormat>
  <Paragraphs>172</Paragraphs>
  <Slides>23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9" baseType="lpstr">
      <vt:lpstr>Arial</vt:lpstr>
      <vt:lpstr>Calibri</vt:lpstr>
      <vt:lpstr>Georgia</vt:lpstr>
      <vt:lpstr>Times New Roman</vt:lpstr>
      <vt:lpstr>Wingdings 2</vt:lpstr>
      <vt:lpstr>都會</vt:lpstr>
      <vt:lpstr>Lesson 8 遊戲迴圈 與 玩家操作</vt:lpstr>
      <vt:lpstr>Game Loop</vt:lpstr>
      <vt:lpstr>Game Loop 簡化</vt:lpstr>
      <vt:lpstr>Game Loop</vt:lpstr>
      <vt:lpstr>遊戲迴圈 與 Update</vt:lpstr>
      <vt:lpstr>遊戲迴圈 與 FixedUpdate</vt:lpstr>
      <vt:lpstr>建立玩家物件 (FPS)</vt:lpstr>
      <vt:lpstr>玩家操作</vt:lpstr>
      <vt:lpstr>向量,分量</vt:lpstr>
      <vt:lpstr>長度 與 單位向量</vt:lpstr>
      <vt:lpstr>Vector3常用函式</vt:lpstr>
      <vt:lpstr>New Input System</vt:lpstr>
      <vt:lpstr>New Input System</vt:lpstr>
      <vt:lpstr>FPS角色移動</vt:lpstr>
      <vt:lpstr>基本設置</vt:lpstr>
      <vt:lpstr>FPS角色移動</vt:lpstr>
      <vt:lpstr>FPS視角</vt:lpstr>
      <vt:lpstr>FPS視角</vt:lpstr>
      <vt:lpstr>FPS 重力與跳躍</vt:lpstr>
      <vt:lpstr>FPS 重力與跳躍</vt:lpstr>
      <vt:lpstr>遊戲速度 Time.timeScale</vt:lpstr>
      <vt:lpstr>還有更多</vt:lpstr>
      <vt:lpstr>還有更多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433</cp:revision>
  <dcterms:created xsi:type="dcterms:W3CDTF">2024-11-18T05:57:07Z</dcterms:created>
  <dcterms:modified xsi:type="dcterms:W3CDTF">2025-03-25T23:58:43Z</dcterms:modified>
</cp:coreProperties>
</file>