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0"/>
  </p:notesMasterIdLst>
  <p:sldIdLst>
    <p:sldId id="256" r:id="rId2"/>
    <p:sldId id="272" r:id="rId3"/>
    <p:sldId id="273" r:id="rId4"/>
    <p:sldId id="257" r:id="rId5"/>
    <p:sldId id="258" r:id="rId6"/>
    <p:sldId id="260" r:id="rId7"/>
    <p:sldId id="262" r:id="rId8"/>
    <p:sldId id="268" r:id="rId9"/>
    <p:sldId id="276" r:id="rId10"/>
    <p:sldId id="275" r:id="rId11"/>
    <p:sldId id="277" r:id="rId12"/>
    <p:sldId id="281" r:id="rId13"/>
    <p:sldId id="280" r:id="rId14"/>
    <p:sldId id="274" r:id="rId15"/>
    <p:sldId id="283" r:id="rId16"/>
    <p:sldId id="284" r:id="rId17"/>
    <p:sldId id="285" r:id="rId18"/>
    <p:sldId id="286" r:id="rId19"/>
    <p:sldId id="271" r:id="rId20"/>
    <p:sldId id="287" r:id="rId21"/>
    <p:sldId id="288" r:id="rId22"/>
    <p:sldId id="289" r:id="rId23"/>
    <p:sldId id="291" r:id="rId24"/>
    <p:sldId id="290" r:id="rId25"/>
    <p:sldId id="292" r:id="rId26"/>
    <p:sldId id="293" r:id="rId27"/>
    <p:sldId id="294" r:id="rId28"/>
    <p:sldId id="295" r:id="rId2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19" d="100"/>
          <a:sy n="119" d="100"/>
        </p:scale>
        <p:origin x="-1786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FCF86-7227-4377-829F-7A7284FFC17C}" type="datetimeFigureOut">
              <a:rPr lang="zh-TW" altLang="en-US" smtClean="0"/>
              <a:pPr/>
              <a:t>2025/10/25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2955DD-706D-481E-9D4D-808645359D9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087414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2025/10/25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2025/10/25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2025/10/25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 10</a:t>
            </a:r>
            <a:br>
              <a:rPr lang="en-US" altLang="zh-TW" dirty="0"/>
            </a:br>
            <a:r>
              <a:rPr lang="zh-TW" altLang="en-US" dirty="0"/>
              <a:t>物理模擬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dirty="0">
                <a:solidFill>
                  <a:srgbClr val="003399"/>
                </a:solidFill>
                <a:latin typeface="Times New Roman" panose="02020603050405020304" pitchFamily="18" charset="0"/>
              </a:rPr>
              <a:t>基礎遊戲引擎應用</a:t>
            </a:r>
            <a:endParaRPr lang="zh-TW" altLang="en-US" dirty="0"/>
          </a:p>
          <a:p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[</a:t>
            </a:r>
            <a:r>
              <a:rPr lang="zh-TW" altLang="en-US" dirty="0"/>
              <a:t>通用</a:t>
            </a:r>
            <a:r>
              <a:rPr lang="en-US" altLang="zh-TW" dirty="0"/>
              <a:t>]</a:t>
            </a:r>
            <a:r>
              <a:rPr lang="zh-TW" altLang="en-US" dirty="0"/>
              <a:t>遊戲引擎功能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accent6">
                    <a:lumMod val="75000"/>
                  </a:schemeClr>
                </a:solidFill>
              </a:rPr>
              <a:t>視覺與渲染</a:t>
            </a:r>
            <a:endParaRPr lang="en-US" altLang="zh-TW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TW" altLang="en-US" b="1" u="sng" dirty="0">
                <a:solidFill>
                  <a:srgbClr val="00B050"/>
                </a:solidFill>
              </a:rPr>
              <a:t>物理模擬</a:t>
            </a:r>
            <a:endParaRPr lang="en-US" altLang="zh-TW" b="1" u="sng" dirty="0">
              <a:solidFill>
                <a:srgbClr val="00B050"/>
              </a:solidFill>
            </a:endParaRPr>
          </a:p>
          <a:p>
            <a:r>
              <a:rPr lang="zh-TW" altLang="en-US" dirty="0"/>
              <a:t>動畫系統</a:t>
            </a:r>
            <a:endParaRPr lang="en-US" altLang="zh-TW" dirty="0"/>
          </a:p>
          <a:p>
            <a:r>
              <a:rPr lang="zh-TW" altLang="en-US" dirty="0"/>
              <a:t>音效與音樂</a:t>
            </a:r>
            <a:endParaRPr lang="en-US" altLang="zh-TW" dirty="0"/>
          </a:p>
          <a:p>
            <a:r>
              <a:rPr lang="zh-TW" altLang="en-US" dirty="0"/>
              <a:t>使用者互動 </a:t>
            </a:r>
            <a:r>
              <a:rPr lang="en-US" altLang="zh-TW" dirty="0"/>
              <a:t>(</a:t>
            </a:r>
            <a:r>
              <a:rPr lang="zh-TW" altLang="en-US" dirty="0"/>
              <a:t>輸入</a:t>
            </a:r>
            <a:r>
              <a:rPr lang="en-US" altLang="zh-TW" dirty="0"/>
              <a:t>&amp;</a:t>
            </a:r>
            <a:r>
              <a:rPr lang="zh-TW" altLang="en-US" dirty="0"/>
              <a:t>回應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使用者介面 </a:t>
            </a:r>
            <a:r>
              <a:rPr lang="en-US" altLang="zh-TW" dirty="0"/>
              <a:t>(UI)</a:t>
            </a:r>
          </a:p>
          <a:p>
            <a:r>
              <a:rPr lang="zh-TW" altLang="en-US" dirty="0"/>
              <a:t>場景與資源管理 </a:t>
            </a:r>
            <a:r>
              <a:rPr lang="en-US" altLang="zh-TW" dirty="0"/>
              <a:t>	</a:t>
            </a:r>
          </a:p>
          <a:p>
            <a:r>
              <a:rPr lang="zh-TW" altLang="en-US" dirty="0"/>
              <a:t>遊戲邏輯與腳本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物理模擬與物理引擎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物理引擎是模擬現實物理規律的引擎，常用於遊戲、動畫等。</a:t>
            </a:r>
            <a:endParaRPr lang="en-US" altLang="zh-TW" dirty="0"/>
          </a:p>
          <a:p>
            <a:r>
              <a:rPr lang="en-US" altLang="zh-TW" dirty="0"/>
              <a:t>Unity</a:t>
            </a:r>
            <a:r>
              <a:rPr lang="zh-TW" altLang="en-US" dirty="0"/>
              <a:t>內使用</a:t>
            </a:r>
            <a:r>
              <a:rPr lang="en-US" altLang="zh-TW" dirty="0" err="1"/>
              <a:t>PhysX</a:t>
            </a:r>
            <a:r>
              <a:rPr lang="en-US" altLang="zh-TW" dirty="0"/>
              <a:t> </a:t>
            </a:r>
            <a:r>
              <a:rPr lang="zh-TW" altLang="en-US" dirty="0"/>
              <a:t>與 </a:t>
            </a:r>
            <a:r>
              <a:rPr lang="en-US" altLang="zh-TW" dirty="0" smtClean="0"/>
              <a:t>Box2D</a:t>
            </a:r>
            <a:r>
              <a:rPr lang="zh-TW" altLang="en-US" dirty="0" smtClean="0"/>
              <a:t> 兩套系統</a:t>
            </a:r>
            <a:endParaRPr lang="en-US" altLang="zh-TW" dirty="0"/>
          </a:p>
          <a:p>
            <a:r>
              <a:rPr lang="zh-TW" altLang="en-US" dirty="0"/>
              <a:t>常見的運用</a:t>
            </a:r>
            <a:endParaRPr lang="en-US" altLang="zh-TW" dirty="0"/>
          </a:p>
          <a:p>
            <a:pPr lvl="1"/>
            <a:r>
              <a:rPr lang="zh-TW" altLang="en-US" dirty="0"/>
              <a:t>剛體動力學</a:t>
            </a:r>
            <a:endParaRPr lang="en-US" altLang="zh-TW" dirty="0"/>
          </a:p>
          <a:p>
            <a:pPr lvl="1"/>
            <a:r>
              <a:rPr lang="zh-TW" altLang="en-US" dirty="0"/>
              <a:t>碰撞檢測</a:t>
            </a:r>
            <a:endParaRPr lang="en-US" altLang="zh-TW" dirty="0"/>
          </a:p>
          <a:p>
            <a:pPr lvl="1"/>
            <a:r>
              <a:rPr lang="zh-TW" altLang="en-US" dirty="0"/>
              <a:t>頭髮、布料模擬</a:t>
            </a:r>
            <a:endParaRPr lang="en-US" altLang="zh-TW" dirty="0"/>
          </a:p>
          <a:p>
            <a:pPr lvl="1"/>
            <a:r>
              <a:rPr lang="zh-TW" altLang="en-US" dirty="0"/>
              <a:t>流體模擬</a:t>
            </a:r>
            <a:endParaRPr lang="en-US" altLang="zh-TW" dirty="0"/>
          </a:p>
          <a:p>
            <a:pPr lvl="1"/>
            <a:r>
              <a:rPr lang="zh-TW" altLang="en-US" dirty="0"/>
              <a:t>約束系統</a:t>
            </a:r>
            <a:endParaRPr lang="en-US" altLang="zh-TW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重新檢視</a:t>
            </a:r>
            <a:r>
              <a:rPr lang="en-US" altLang="zh-TW" dirty="0"/>
              <a:t>Cube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Transform</a:t>
            </a:r>
          </a:p>
          <a:p>
            <a:r>
              <a:rPr lang="en-US" altLang="zh-TW" dirty="0"/>
              <a:t>Mesh Filter</a:t>
            </a:r>
          </a:p>
          <a:p>
            <a:pPr lvl="1"/>
            <a:r>
              <a:rPr lang="zh-TW" altLang="en-US" dirty="0"/>
              <a:t>模型</a:t>
            </a:r>
            <a:endParaRPr lang="en-US" altLang="zh-TW" dirty="0"/>
          </a:p>
          <a:p>
            <a:r>
              <a:rPr lang="en-US" altLang="zh-TW" dirty="0"/>
              <a:t>Mesh Renderer</a:t>
            </a:r>
          </a:p>
          <a:p>
            <a:pPr lvl="1"/>
            <a:r>
              <a:rPr lang="zh-TW" altLang="en-US" dirty="0"/>
              <a:t>渲染</a:t>
            </a:r>
            <a:endParaRPr lang="en-US" altLang="zh-TW" dirty="0"/>
          </a:p>
          <a:p>
            <a:pPr lvl="1"/>
            <a:r>
              <a:rPr lang="en-US" altLang="zh-TW" dirty="0"/>
              <a:t>Material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en-US" altLang="zh-TW" dirty="0" err="1"/>
              <a:t>Shader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Box Collider</a:t>
            </a:r>
          </a:p>
          <a:p>
            <a:pPr lvl="1"/>
            <a:r>
              <a:rPr lang="zh-TW" altLang="en-US" dirty="0"/>
              <a:t>盒型的碰撞器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3D Collider</a:t>
            </a:r>
            <a:r>
              <a:rPr lang="zh-TW" altLang="en-US" dirty="0"/>
              <a:t>種類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Box</a:t>
            </a:r>
            <a:r>
              <a:rPr lang="zh-TW" altLang="en-US" dirty="0"/>
              <a:t> 盒型</a:t>
            </a:r>
            <a:endParaRPr lang="en-US" altLang="zh-TW" dirty="0"/>
          </a:p>
          <a:p>
            <a:r>
              <a:rPr lang="en-US" altLang="zh-TW" dirty="0"/>
              <a:t>Capsule </a:t>
            </a:r>
            <a:r>
              <a:rPr lang="zh-TW" altLang="en-US" dirty="0"/>
              <a:t>膠囊</a:t>
            </a:r>
            <a:endParaRPr lang="en-US" altLang="zh-TW" dirty="0"/>
          </a:p>
          <a:p>
            <a:r>
              <a:rPr lang="en-US" altLang="zh-TW" dirty="0"/>
              <a:t>Sphere </a:t>
            </a:r>
            <a:r>
              <a:rPr lang="zh-TW" altLang="en-US" dirty="0"/>
              <a:t>球型</a:t>
            </a:r>
            <a:endParaRPr lang="en-US" altLang="zh-TW" dirty="0"/>
          </a:p>
          <a:p>
            <a:r>
              <a:rPr lang="en-US" altLang="zh-TW" dirty="0"/>
              <a:t>Wheel </a:t>
            </a:r>
            <a:r>
              <a:rPr lang="zh-TW" altLang="en-US" dirty="0"/>
              <a:t>輪狀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Mesh </a:t>
            </a:r>
            <a:r>
              <a:rPr lang="zh-TW" altLang="en-US" dirty="0"/>
              <a:t>網格</a:t>
            </a:r>
            <a:endParaRPr lang="en-US" altLang="zh-TW" dirty="0"/>
          </a:p>
          <a:p>
            <a:pPr lvl="1"/>
            <a:r>
              <a:rPr lang="zh-TW" altLang="en-US" dirty="0"/>
              <a:t>盡量少用，就算使用也盡量簡化 </a:t>
            </a:r>
            <a:r>
              <a:rPr lang="en-US" altLang="zh-TW" dirty="0"/>
              <a:t>&amp;</a:t>
            </a:r>
            <a:r>
              <a:rPr lang="zh-TW" altLang="en-US" dirty="0"/>
              <a:t> 凸多面體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3D Collider</a:t>
            </a:r>
            <a:r>
              <a:rPr lang="zh-TW" altLang="en-US" dirty="0"/>
              <a:t>種類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Terrain</a:t>
            </a:r>
            <a:r>
              <a:rPr lang="zh-TW" altLang="en-US" dirty="0"/>
              <a:t> 地形專用</a:t>
            </a:r>
            <a:endParaRPr lang="en-US" altLang="zh-TW" dirty="0"/>
          </a:p>
          <a:p>
            <a:pPr lvl="1"/>
            <a:r>
              <a:rPr lang="zh-TW" altLang="en-US" dirty="0"/>
              <a:t> </a:t>
            </a:r>
            <a:r>
              <a:rPr lang="en-US" altLang="zh-TW" dirty="0"/>
              <a:t>tree(</a:t>
            </a:r>
            <a:r>
              <a:rPr lang="zh-TW" altLang="en-US" dirty="0"/>
              <a:t>樹木</a:t>
            </a:r>
            <a:r>
              <a:rPr lang="en-US" altLang="zh-TW" dirty="0"/>
              <a:t>)</a:t>
            </a:r>
            <a:r>
              <a:rPr lang="zh-TW" altLang="en-US" dirty="0"/>
              <a:t>可選擇開關是否有碰撞</a:t>
            </a:r>
            <a:endParaRPr lang="en-US" altLang="zh-TW" dirty="0"/>
          </a:p>
          <a:p>
            <a:pPr lvl="1"/>
            <a:r>
              <a:rPr lang="en-US" altLang="zh-TW" dirty="0"/>
              <a:t>detail(</a:t>
            </a:r>
            <a:r>
              <a:rPr lang="zh-TW" altLang="en-US" dirty="0"/>
              <a:t>草、其他裝飾物</a:t>
            </a:r>
            <a:r>
              <a:rPr lang="en-US" altLang="zh-TW" dirty="0"/>
              <a:t>)</a:t>
            </a:r>
            <a:r>
              <a:rPr lang="zh-TW" altLang="en-US" dirty="0"/>
              <a:t>無法擁有碰撞</a:t>
            </a:r>
            <a:endParaRPr lang="en-US" altLang="zh-TW" dirty="0"/>
          </a:p>
          <a:p>
            <a:pPr lvl="1"/>
            <a:r>
              <a:rPr lang="zh-TW" altLang="en-US" dirty="0"/>
              <a:t>以上物件可設置是否有碰撞</a:t>
            </a:r>
            <a:endParaRPr lang="en-US" altLang="zh-TW" dirty="0"/>
          </a:p>
          <a:p>
            <a:pPr lvl="1"/>
            <a:r>
              <a:rPr lang="zh-TW" altLang="en-US" dirty="0"/>
              <a:t>由於地形為一體性的，所以若有需要讓玩家互動的物件，就必須用其他擺放方式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複合式</a:t>
            </a:r>
            <a:endParaRPr lang="en-US" altLang="zh-TW" dirty="0"/>
          </a:p>
          <a:p>
            <a:pPr lvl="1"/>
            <a:r>
              <a:rPr lang="zh-TW" altLang="en-US" dirty="0"/>
              <a:t>你可以自己宣告數個空的子物件只掛載</a:t>
            </a:r>
            <a:r>
              <a:rPr lang="en-US" altLang="zh-TW" dirty="0"/>
              <a:t>Collider</a:t>
            </a:r>
            <a:r>
              <a:rPr lang="zh-TW" altLang="en-US" dirty="0"/>
              <a:t>，來為其上層物件組合出一個</a:t>
            </a:r>
            <a:r>
              <a:rPr lang="en-US" altLang="zh-TW" dirty="0"/>
              <a:t>Collider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pPr lvl="1"/>
            <a:endParaRPr lang="zh-TW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Collider</a:t>
            </a:r>
            <a:r>
              <a:rPr lang="zh-TW" altLang="en-US" dirty="0"/>
              <a:t>的概念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添加了</a:t>
            </a:r>
            <a:r>
              <a:rPr lang="en-US" altLang="zh-TW" dirty="0"/>
              <a:t>Collider</a:t>
            </a:r>
            <a:r>
              <a:rPr lang="zh-TW" altLang="en-US" dirty="0"/>
              <a:t>，實際上只是定義了「物理邊界」至於功能性為何，還可以做更多設定。</a:t>
            </a:r>
            <a:endParaRPr lang="en-US" altLang="zh-TW" dirty="0"/>
          </a:p>
          <a:p>
            <a:pPr lvl="1"/>
            <a:r>
              <a:rPr lang="zh-TW" altLang="en-US" dirty="0"/>
              <a:t>添加了</a:t>
            </a:r>
            <a:r>
              <a:rPr lang="en-US" altLang="zh-TW" dirty="0"/>
              <a:t>Collider</a:t>
            </a:r>
            <a:r>
              <a:rPr lang="zh-TW" altLang="en-US" b="1" u="sng" dirty="0"/>
              <a:t>不代表有物理現象</a:t>
            </a:r>
            <a:r>
              <a:rPr lang="en-US" altLang="zh-TW" dirty="0"/>
              <a:t>(</a:t>
            </a:r>
            <a:r>
              <a:rPr lang="zh-TW" altLang="en-US" dirty="0"/>
              <a:t>如：重力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b="1" u="sng" dirty="0"/>
              <a:t>物件的樣貌不需要與</a:t>
            </a:r>
            <a:r>
              <a:rPr lang="en-US" altLang="zh-TW" b="1" u="sng" dirty="0"/>
              <a:t>Collider</a:t>
            </a:r>
            <a:r>
              <a:rPr lang="zh-TW" altLang="en-US" b="1" u="sng" dirty="0"/>
              <a:t>相同</a:t>
            </a:r>
            <a:endParaRPr lang="en-US" altLang="zh-TW" b="1" u="sng" dirty="0"/>
          </a:p>
          <a:p>
            <a:pPr lvl="1"/>
            <a:r>
              <a:rPr lang="zh-TW" altLang="en-US" dirty="0"/>
              <a:t>甚至無物件也可以使用</a:t>
            </a:r>
            <a:r>
              <a:rPr lang="en-US" altLang="zh-TW" dirty="0"/>
              <a:t>Collider</a:t>
            </a:r>
            <a:r>
              <a:rPr lang="zh-TW" altLang="en-US" dirty="0"/>
              <a:t>，互動區域、透明牆等等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盡可能的選擇較簡單的</a:t>
            </a:r>
            <a:r>
              <a:rPr lang="en-US" altLang="zh-TW" dirty="0"/>
              <a:t>Collider</a:t>
            </a:r>
          </a:p>
          <a:p>
            <a:pPr lvl="1"/>
            <a:r>
              <a:rPr lang="zh-TW" altLang="en-US" dirty="0"/>
              <a:t>模型與</a:t>
            </a:r>
            <a:r>
              <a:rPr lang="en-US" altLang="zh-TW" dirty="0"/>
              <a:t>Collider</a:t>
            </a:r>
            <a:r>
              <a:rPr lang="zh-TW" altLang="en-US" dirty="0"/>
              <a:t>不一定需要一致</a:t>
            </a:r>
            <a:endParaRPr lang="en-US" altLang="zh-TW" dirty="0"/>
          </a:p>
          <a:p>
            <a:pPr lvl="1"/>
            <a:r>
              <a:rPr lang="zh-TW" altLang="en-US" dirty="0"/>
              <a:t>少用</a:t>
            </a:r>
            <a:r>
              <a:rPr lang="en-US" altLang="zh-TW" dirty="0"/>
              <a:t>Mesh</a:t>
            </a:r>
            <a:endParaRPr lang="zh-TW" altLang="en-US" dirty="0"/>
          </a:p>
          <a:p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3200" y="6172200"/>
            <a:ext cx="6164263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常見用法</a:t>
            </a:r>
            <a:r>
              <a:rPr lang="en-US" altLang="zh-TW" dirty="0"/>
              <a:t>1</a:t>
            </a:r>
            <a:r>
              <a:rPr lang="zh-TW" altLang="en-US" dirty="0"/>
              <a:t>：靜態物件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純粹的碰撞體，不會有物理運動，不符合真實物理的固定物件</a:t>
            </a:r>
            <a:endParaRPr lang="en-US" altLang="zh-TW" dirty="0"/>
          </a:p>
          <a:p>
            <a:pPr lvl="1"/>
            <a:r>
              <a:rPr lang="zh-TW" altLang="en-US" dirty="0"/>
              <a:t>建築</a:t>
            </a:r>
            <a:endParaRPr lang="en-US" altLang="zh-TW" dirty="0"/>
          </a:p>
          <a:p>
            <a:pPr lvl="1"/>
            <a:r>
              <a:rPr lang="zh-TW" altLang="en-US" dirty="0"/>
              <a:t>牆  </a:t>
            </a:r>
            <a:r>
              <a:rPr lang="en-US" altLang="zh-TW" dirty="0"/>
              <a:t>/  </a:t>
            </a:r>
            <a:r>
              <a:rPr lang="zh-TW" altLang="en-US" dirty="0"/>
              <a:t>透明牆 </a:t>
            </a:r>
            <a:r>
              <a:rPr lang="en-US" altLang="zh-TW" dirty="0"/>
              <a:t>(</a:t>
            </a:r>
            <a:r>
              <a:rPr lang="zh-TW" altLang="en-US" dirty="0"/>
              <a:t>無</a:t>
            </a:r>
            <a:r>
              <a:rPr lang="en-US" altLang="zh-TW" dirty="0"/>
              <a:t>Renderer)</a:t>
            </a:r>
          </a:p>
          <a:p>
            <a:pPr lvl="1"/>
            <a:r>
              <a:rPr lang="zh-TW" altLang="en-US" dirty="0"/>
              <a:t>不可被移動、推動的場景物件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添加正確的</a:t>
            </a:r>
            <a:r>
              <a:rPr lang="en-US" altLang="zh-TW" dirty="0"/>
              <a:t>Collider</a:t>
            </a:r>
          </a:p>
          <a:p>
            <a:pPr lvl="1"/>
            <a:r>
              <a:rPr lang="zh-TW" altLang="en-US" dirty="0"/>
              <a:t>通常會設為</a:t>
            </a:r>
            <a:r>
              <a:rPr lang="en-US" altLang="zh-TW" dirty="0"/>
              <a:t>Static</a:t>
            </a:r>
            <a:r>
              <a:rPr lang="zh-TW" altLang="en-US" dirty="0"/>
              <a:t>，但不是必定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IsTrigger</a:t>
            </a:r>
            <a:r>
              <a:rPr lang="zh-TW" altLang="en-US" dirty="0"/>
              <a:t>標籤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打勾則設置為「觸發器」</a:t>
            </a:r>
            <a:endParaRPr lang="en-US" altLang="zh-TW" dirty="0"/>
          </a:p>
          <a:p>
            <a:pPr lvl="1"/>
            <a:r>
              <a:rPr lang="zh-TW" altLang="en-US" dirty="0"/>
              <a:t>將無法與其他物件產生物理碰撞，但改為「觸發」事件</a:t>
            </a:r>
            <a:endParaRPr lang="en-US" altLang="zh-TW" dirty="0"/>
          </a:p>
          <a:p>
            <a:pPr lvl="1"/>
            <a:r>
              <a:rPr lang="zh-TW" altLang="en-US" dirty="0"/>
              <a:t>可以偵測物件「進入」、「離開」、「停留」</a:t>
            </a:r>
            <a:endParaRPr lang="en-US" altLang="zh-TW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常見用法</a:t>
            </a:r>
            <a:r>
              <a:rPr lang="en-US" altLang="zh-TW" dirty="0"/>
              <a:t>2 </a:t>
            </a:r>
            <a:r>
              <a:rPr lang="zh-TW" altLang="en-US" dirty="0"/>
              <a:t>：觸發區域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，不會和物件碰撞，通常用於觸發事件，或純粹「框出一個範圍」</a:t>
            </a:r>
            <a:endParaRPr lang="en-US" altLang="zh-TW" dirty="0"/>
          </a:p>
          <a:p>
            <a:pPr lvl="1"/>
            <a:r>
              <a:rPr lang="zh-TW" altLang="en-US" dirty="0"/>
              <a:t>走到「某區域」會出現過場動畫</a:t>
            </a:r>
            <a:endParaRPr lang="en-US" altLang="zh-TW" dirty="0"/>
          </a:p>
          <a:p>
            <a:pPr lvl="1"/>
            <a:r>
              <a:rPr lang="zh-TW" altLang="en-US" dirty="0"/>
              <a:t>在「某區域」就允許特定的操作</a:t>
            </a:r>
            <a:endParaRPr lang="en-US" altLang="zh-TW" dirty="0"/>
          </a:p>
          <a:p>
            <a:pPr lvl="1"/>
            <a:r>
              <a:rPr lang="zh-TW" altLang="en-US" dirty="0"/>
              <a:t>傳送門</a:t>
            </a:r>
            <a:endParaRPr lang="en-US" altLang="zh-TW" dirty="0"/>
          </a:p>
          <a:p>
            <a:pPr lvl="1"/>
            <a:r>
              <a:rPr lang="zh-TW" altLang="en-US" dirty="0"/>
              <a:t>馬利歐中可以吃的金幣</a:t>
            </a:r>
            <a:endParaRPr lang="en-US" altLang="zh-TW" dirty="0"/>
          </a:p>
          <a:p>
            <a:pPr lvl="1"/>
            <a:r>
              <a:rPr lang="zh-TW" altLang="en-US" dirty="0"/>
              <a:t>敵人的視線範圍</a:t>
            </a:r>
            <a:endParaRPr lang="en-US" altLang="zh-TW" dirty="0"/>
          </a:p>
          <a:p>
            <a:pPr lvl="1"/>
            <a:endParaRPr lang="zh-TW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剛體 </a:t>
            </a:r>
            <a:r>
              <a:rPr lang="en-US" altLang="zh-TW" dirty="0" err="1"/>
              <a:t>Rigidbody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剛體是物理學上的理想型態，指物件不會被壓縮或變形的物體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加上剛體 </a:t>
            </a:r>
            <a:r>
              <a:rPr lang="en-US" altLang="zh-TW" dirty="0"/>
              <a:t>(</a:t>
            </a:r>
            <a:r>
              <a:rPr lang="zh-TW" altLang="en-US" dirty="0"/>
              <a:t>不要將</a:t>
            </a:r>
            <a:r>
              <a:rPr lang="en-US" dirty="0"/>
              <a:t>Is</a:t>
            </a:r>
            <a:r>
              <a:rPr lang="zh-TW" altLang="en-US" dirty="0"/>
              <a:t> </a:t>
            </a:r>
            <a:r>
              <a:rPr lang="en-US" dirty="0"/>
              <a:t>Kinematic</a:t>
            </a:r>
            <a:r>
              <a:rPr lang="zh-TW" altLang="en-US" dirty="0"/>
              <a:t>打勾</a:t>
            </a:r>
            <a:r>
              <a:rPr lang="en-US" altLang="zh-TW" dirty="0"/>
              <a:t>)</a:t>
            </a:r>
            <a:r>
              <a:rPr lang="zh-TW" altLang="en-US" dirty="0"/>
              <a:t>時，此時物體就會受到物理影響。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剛體 </a:t>
            </a:r>
            <a:r>
              <a:rPr lang="en-US" altLang="zh-TW" dirty="0" err="1"/>
              <a:t>Rigidbody</a:t>
            </a:r>
            <a:r>
              <a:rPr lang="zh-TW" altLang="en-US" dirty="0"/>
              <a:t>的重要屬性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Mass（</a:t>
            </a:r>
            <a:r>
              <a:rPr lang="zh-TW" altLang="en-US" dirty="0"/>
              <a:t>質量）</a:t>
            </a:r>
          </a:p>
          <a:p>
            <a:r>
              <a:rPr lang="en-US" dirty="0"/>
              <a:t>Drag（</a:t>
            </a:r>
            <a:r>
              <a:rPr lang="zh-TW" altLang="en-US" dirty="0"/>
              <a:t>阻力）</a:t>
            </a:r>
          </a:p>
          <a:p>
            <a:r>
              <a:rPr lang="en-US" dirty="0"/>
              <a:t>Angular</a:t>
            </a:r>
            <a:r>
              <a:rPr lang="zh-TW" altLang="en-US" dirty="0"/>
              <a:t> </a:t>
            </a:r>
            <a:r>
              <a:rPr lang="en-US" dirty="0"/>
              <a:t>Drag（</a:t>
            </a:r>
            <a:r>
              <a:rPr lang="zh-TW" altLang="en-US" dirty="0"/>
              <a:t>旋轉阻力）</a:t>
            </a:r>
          </a:p>
          <a:p>
            <a:r>
              <a:rPr lang="en-US" dirty="0"/>
              <a:t>Use</a:t>
            </a:r>
            <a:r>
              <a:rPr lang="zh-TW" altLang="en-US" dirty="0"/>
              <a:t> </a:t>
            </a:r>
            <a:r>
              <a:rPr lang="en-US" dirty="0"/>
              <a:t>Gravity（</a:t>
            </a:r>
            <a:r>
              <a:rPr lang="zh-TW" altLang="en-US" dirty="0"/>
              <a:t>是否受重力影響）</a:t>
            </a:r>
          </a:p>
          <a:p>
            <a:r>
              <a:rPr lang="en-US" dirty="0"/>
              <a:t>Is</a:t>
            </a:r>
            <a:r>
              <a:rPr lang="zh-TW" altLang="en-US" dirty="0"/>
              <a:t> </a:t>
            </a:r>
            <a:r>
              <a:rPr lang="en-US" dirty="0"/>
              <a:t>Kinematic（</a:t>
            </a:r>
            <a:r>
              <a:rPr lang="zh-TW" altLang="en-US" dirty="0"/>
              <a:t>是否由程式控制而非物理）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剛體 </a:t>
            </a:r>
            <a:r>
              <a:rPr lang="en-US" altLang="zh-TW" dirty="0" err="1"/>
              <a:t>Rigidbody</a:t>
            </a:r>
            <a:r>
              <a:rPr lang="zh-TW" altLang="en-US" dirty="0"/>
              <a:t>的用途</a:t>
            </a:r>
            <a:r>
              <a:rPr lang="en-US" altLang="zh-TW" dirty="0"/>
              <a:t>1,2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重力</a:t>
            </a:r>
            <a:endParaRPr lang="en-US" altLang="zh-TW" dirty="0"/>
          </a:p>
          <a:p>
            <a:pPr lvl="1"/>
            <a:r>
              <a:rPr lang="zh-TW" altLang="en-US" dirty="0"/>
              <a:t>建立一顆球</a:t>
            </a:r>
            <a:r>
              <a:rPr lang="en-US" altLang="zh-TW" dirty="0"/>
              <a:t>(Sphere)</a:t>
            </a:r>
            <a:r>
              <a:rPr lang="zh-TW" altLang="en-US" dirty="0"/>
              <a:t>，加上剛體</a:t>
            </a:r>
            <a:r>
              <a:rPr lang="en-US" altLang="zh-TW" dirty="0"/>
              <a:t>(</a:t>
            </a:r>
            <a:r>
              <a:rPr lang="en-US" altLang="zh-TW" dirty="0" err="1"/>
              <a:t>Rigidbody</a:t>
            </a:r>
            <a:r>
              <a:rPr lang="en-US" altLang="zh-TW" dirty="0"/>
              <a:t>)</a:t>
            </a:r>
            <a:r>
              <a:rPr lang="zh-TW" altLang="en-US" dirty="0"/>
              <a:t>，確保</a:t>
            </a:r>
            <a:r>
              <a:rPr lang="en-US" altLang="zh-TW" dirty="0" err="1"/>
              <a:t>UseGravity</a:t>
            </a:r>
            <a:r>
              <a:rPr lang="zh-TW" altLang="en-US" dirty="0"/>
              <a:t>開啟時，就能看它掉落。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碰撞</a:t>
            </a:r>
            <a:endParaRPr lang="en-US" altLang="zh-TW" dirty="0"/>
          </a:p>
          <a:p>
            <a:pPr lvl="1"/>
            <a:r>
              <a:rPr lang="zh-TW" altLang="en-US" dirty="0"/>
              <a:t>如果新增一塊地板</a:t>
            </a:r>
            <a:r>
              <a:rPr lang="en-US" altLang="zh-TW" dirty="0"/>
              <a:t>(Plane</a:t>
            </a:r>
            <a:r>
              <a:rPr lang="zh-TW" altLang="en-US" dirty="0"/>
              <a:t>或</a:t>
            </a:r>
            <a:r>
              <a:rPr lang="en-US" altLang="zh-TW" dirty="0"/>
              <a:t>Cube</a:t>
            </a:r>
            <a:r>
              <a:rPr lang="zh-TW" altLang="en-US" dirty="0"/>
              <a:t>都可以</a:t>
            </a:r>
            <a:r>
              <a:rPr lang="en-US" altLang="zh-TW" dirty="0"/>
              <a:t>)</a:t>
            </a:r>
            <a:r>
              <a:rPr lang="zh-TW" altLang="en-US" dirty="0"/>
              <a:t>，而且帶有</a:t>
            </a:r>
            <a:r>
              <a:rPr lang="en-US" altLang="zh-TW" dirty="0"/>
              <a:t>Collider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不可開啟</a:t>
            </a:r>
            <a:r>
              <a:rPr lang="en-US" altLang="zh-TW" dirty="0"/>
              <a:t>Trigger)</a:t>
            </a:r>
            <a:r>
              <a:rPr lang="zh-TW" altLang="en-US" dirty="0"/>
              <a:t>，則可以看到球會掉在地板上。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>
              <a:buNone/>
            </a:pP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剛體 </a:t>
            </a:r>
            <a:r>
              <a:rPr lang="en-US" altLang="zh-TW" dirty="0" err="1"/>
              <a:t>Rigidbody</a:t>
            </a:r>
            <a:r>
              <a:rPr lang="zh-TW" altLang="en-US" dirty="0"/>
              <a:t>的用途</a:t>
            </a:r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4953000" cy="4325112"/>
          </a:xfrm>
        </p:spPr>
        <p:txBody>
          <a:bodyPr/>
          <a:lstStyle/>
          <a:p>
            <a:r>
              <a:rPr lang="zh-TW" altLang="en-US" dirty="0"/>
              <a:t>兩個剛體的碰撞</a:t>
            </a:r>
            <a:endParaRPr lang="en-US" altLang="zh-TW" dirty="0"/>
          </a:p>
          <a:p>
            <a:pPr lvl="1"/>
            <a:r>
              <a:rPr lang="zh-TW" altLang="en-US" dirty="0"/>
              <a:t>在地板上新增一個膠囊體</a:t>
            </a:r>
            <a:r>
              <a:rPr lang="en-US" altLang="zh-TW" dirty="0"/>
              <a:t>(Capsule)</a:t>
            </a:r>
            <a:r>
              <a:rPr lang="zh-TW" altLang="en-US" dirty="0"/>
              <a:t>並且也加上剛體</a:t>
            </a:r>
            <a:r>
              <a:rPr lang="en-US" altLang="zh-TW" dirty="0"/>
              <a:t>(</a:t>
            </a:r>
            <a:r>
              <a:rPr lang="en-US" altLang="zh-TW" dirty="0" err="1"/>
              <a:t>RigidBody</a:t>
            </a:r>
            <a:r>
              <a:rPr lang="en-US" altLang="zh-TW" dirty="0"/>
              <a:t>)</a:t>
            </a:r>
            <a:r>
              <a:rPr lang="zh-TW" altLang="en-US" dirty="0"/>
              <a:t>，你可以看球掉落時，撞到膠囊的狀況</a:t>
            </a:r>
            <a:endParaRPr lang="en-US" altLang="zh-TW" dirty="0"/>
          </a:p>
          <a:p>
            <a:pPr lvl="1">
              <a:buNone/>
            </a:pPr>
            <a:endParaRPr lang="en-US" altLang="zh-TW" dirty="0"/>
          </a:p>
          <a:p>
            <a:pPr lvl="1"/>
            <a:r>
              <a:rPr lang="zh-TW" altLang="en-US" dirty="0"/>
              <a:t>可以嘗試把膠囊體上的剛體關閉，再次確認結果。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也可以嘗試調整</a:t>
            </a:r>
            <a:r>
              <a:rPr lang="en-US" altLang="zh-TW" dirty="0"/>
              <a:t>Mass</a:t>
            </a:r>
            <a:r>
              <a:rPr lang="zh-TW" altLang="en-US" dirty="0"/>
              <a:t>等等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62600" y="3733800"/>
            <a:ext cx="3358499" cy="294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剛體 </a:t>
            </a:r>
            <a:r>
              <a:rPr lang="en-US" altLang="zh-TW" dirty="0" err="1"/>
              <a:t>Rigidbody</a:t>
            </a:r>
            <a:r>
              <a:rPr lang="zh-TW" altLang="en-US" dirty="0"/>
              <a:t>的用途</a:t>
            </a:r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我們對於一個剛體，可以以程式方式給予力量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err="1"/>
              <a:t>AddForce</a:t>
            </a:r>
            <a:r>
              <a:rPr lang="en-US" altLang="zh-TW" dirty="0"/>
              <a:t>()</a:t>
            </a:r>
          </a:p>
          <a:p>
            <a:pPr lvl="1"/>
            <a:r>
              <a:rPr lang="zh-TW" altLang="en-US" dirty="0"/>
              <a:t>給予力量，可以是持續推力或瞬間推力</a:t>
            </a:r>
            <a:endParaRPr lang="en-US" altLang="zh-TW" dirty="0"/>
          </a:p>
          <a:p>
            <a:r>
              <a:rPr lang="en-US" altLang="zh-TW" dirty="0" err="1"/>
              <a:t>AddTorque</a:t>
            </a:r>
            <a:r>
              <a:rPr lang="en-US" altLang="zh-TW" dirty="0"/>
              <a:t>()</a:t>
            </a:r>
          </a:p>
          <a:p>
            <a:pPr lvl="1"/>
            <a:r>
              <a:rPr lang="zh-TW" altLang="en-US" dirty="0"/>
              <a:t>給予轉動力，使其旋轉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剛體 </a:t>
            </a:r>
            <a:r>
              <a:rPr lang="en-US" altLang="zh-TW" dirty="0" err="1"/>
              <a:t>Rigidbody</a:t>
            </a:r>
            <a:r>
              <a:rPr lang="zh-TW" altLang="en-US" dirty="0"/>
              <a:t>的重要屬性</a:t>
            </a:r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你可以關閉某個維度的移動或轉動</a:t>
            </a:r>
            <a:endParaRPr lang="en-US" altLang="zh-TW" dirty="0"/>
          </a:p>
          <a:p>
            <a:pPr lvl="1"/>
            <a:r>
              <a:rPr lang="en-US" altLang="zh-TW" dirty="0"/>
              <a:t>Freeze Position</a:t>
            </a:r>
          </a:p>
          <a:p>
            <a:pPr lvl="1"/>
            <a:r>
              <a:rPr lang="en-US" altLang="zh-TW" dirty="0"/>
              <a:t>Freeze Rotation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4343400"/>
            <a:ext cx="7688179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常見用法</a:t>
            </a:r>
            <a:r>
              <a:rPr lang="en-US" altLang="zh-TW" dirty="0"/>
              <a:t>3</a:t>
            </a:r>
            <a:r>
              <a:rPr lang="zh-TW" altLang="en-US" dirty="0"/>
              <a:t>：正常剛體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希望讓物體有正常物理運動</a:t>
            </a:r>
            <a:endParaRPr lang="en-US" altLang="zh-TW" dirty="0"/>
          </a:p>
          <a:p>
            <a:pPr lvl="1"/>
            <a:r>
              <a:rPr lang="zh-TW" altLang="en-US" dirty="0"/>
              <a:t>保齡球與球瓶</a:t>
            </a:r>
            <a:endParaRPr lang="en-US" altLang="zh-TW" dirty="0"/>
          </a:p>
          <a:p>
            <a:pPr lvl="1"/>
            <a:r>
              <a:rPr lang="zh-TW" altLang="en-US" dirty="0"/>
              <a:t>賽車</a:t>
            </a:r>
            <a:endParaRPr lang="en-US" altLang="zh-TW" dirty="0"/>
          </a:p>
          <a:p>
            <a:pPr lvl="1"/>
            <a:r>
              <a:rPr lang="zh-TW" altLang="en-US" dirty="0"/>
              <a:t>玩家角色 </a:t>
            </a:r>
            <a:r>
              <a:rPr lang="en-US" altLang="zh-TW" dirty="0"/>
              <a:t>(</a:t>
            </a:r>
            <a:r>
              <a:rPr lang="zh-TW" altLang="en-US" dirty="0"/>
              <a:t>不一定</a:t>
            </a:r>
            <a:r>
              <a:rPr lang="en-US" altLang="zh-TW" dirty="0"/>
              <a:t>)</a:t>
            </a:r>
          </a:p>
          <a:p>
            <a:pPr lvl="1"/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視情況可以調整前面提到的</a:t>
            </a:r>
            <a:endParaRPr lang="en-US" altLang="zh-TW" dirty="0"/>
          </a:p>
          <a:p>
            <a:pPr lvl="1"/>
            <a:r>
              <a:rPr lang="en-US" altLang="zh-TW" dirty="0"/>
              <a:t>Mass</a:t>
            </a:r>
          </a:p>
          <a:p>
            <a:pPr lvl="1"/>
            <a:r>
              <a:rPr lang="en-US" altLang="zh-TW" dirty="0"/>
              <a:t>Constraints</a:t>
            </a:r>
            <a:endParaRPr lang="zh-TW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物理材質 </a:t>
            </a:r>
            <a:r>
              <a:rPr lang="en-US" altLang="zh-TW" dirty="0"/>
              <a:t>(Physics Material)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為了更正確模擬物理世界，可以調整</a:t>
            </a:r>
            <a:r>
              <a:rPr lang="en-US" altLang="zh-TW" dirty="0"/>
              <a:t>Collider</a:t>
            </a:r>
            <a:r>
              <a:rPr lang="zh-TW" altLang="en-US" dirty="0"/>
              <a:t>的物理材質 </a:t>
            </a:r>
            <a:endParaRPr lang="en-US" altLang="zh-TW" dirty="0"/>
          </a:p>
          <a:p>
            <a:pPr lvl="1"/>
            <a:r>
              <a:rPr lang="zh-TW" altLang="en-US" dirty="0"/>
              <a:t>不是</a:t>
            </a:r>
            <a:r>
              <a:rPr lang="en-US" altLang="zh-TW" dirty="0" err="1"/>
              <a:t>Rigidbody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建立物理材質</a:t>
            </a:r>
            <a:endParaRPr lang="en-US" altLang="zh-TW" dirty="0"/>
          </a:p>
          <a:p>
            <a:pPr lvl="1"/>
            <a:r>
              <a:rPr lang="en-US" altLang="zh-TW" dirty="0"/>
              <a:t>Project</a:t>
            </a:r>
            <a:r>
              <a:rPr lang="zh-TW" altLang="en-US" dirty="0"/>
              <a:t> </a:t>
            </a:r>
            <a:r>
              <a:rPr lang="en-US" altLang="zh-TW" dirty="0"/>
              <a:t>&gt; </a:t>
            </a:r>
            <a:r>
              <a:rPr lang="zh-TW" altLang="en-US" dirty="0"/>
              <a:t>建立</a:t>
            </a:r>
            <a:r>
              <a:rPr lang="en-US" altLang="zh-TW" dirty="0"/>
              <a:t> &gt; </a:t>
            </a:r>
            <a:r>
              <a:rPr lang="zh-TW" altLang="en-US" dirty="0"/>
              <a:t>物理材質</a:t>
            </a:r>
            <a:endParaRPr lang="en-US" altLang="zh-TW" dirty="0"/>
          </a:p>
          <a:p>
            <a:pPr lvl="1"/>
            <a:r>
              <a:rPr lang="zh-TW" altLang="en-US" dirty="0"/>
              <a:t>是一個</a:t>
            </a:r>
            <a:r>
              <a:rPr lang="en-US" altLang="zh-TW" dirty="0"/>
              <a:t>Unity Asset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放入物件的</a:t>
            </a:r>
            <a:r>
              <a:rPr lang="en-US" altLang="zh-TW" dirty="0"/>
              <a:t>Collider</a:t>
            </a:r>
          </a:p>
          <a:p>
            <a:r>
              <a:rPr lang="zh-TW" altLang="en-US" dirty="0"/>
              <a:t>預設物理材質</a:t>
            </a:r>
            <a:r>
              <a:rPr lang="zh-TW" altLang="en-US" sz="2600" dirty="0"/>
              <a:t> </a:t>
            </a:r>
            <a:r>
              <a:rPr lang="en-US" altLang="zh-TW" sz="2600" dirty="0"/>
              <a:t>Edit/Project Setting/Physics/Setting</a:t>
            </a:r>
            <a:endParaRPr lang="zh-TW" altLang="en-US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F648A410-C28A-8143-7ECF-0B22C10B4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調整物理材質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F6F4A057-CC58-AF85-9DF8-EEBEB81E7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可調整內容</a:t>
            </a:r>
            <a:endParaRPr lang="en-US" altLang="zh-TW" dirty="0"/>
          </a:p>
          <a:p>
            <a:pPr lvl="1"/>
            <a:r>
              <a:rPr lang="en-US" altLang="zh-TW" dirty="0"/>
              <a:t>Friction </a:t>
            </a:r>
            <a:r>
              <a:rPr lang="zh-TW" altLang="en-US" dirty="0"/>
              <a:t>動</a:t>
            </a:r>
            <a:r>
              <a:rPr lang="en-US" altLang="zh-TW" dirty="0"/>
              <a:t>/</a:t>
            </a:r>
            <a:r>
              <a:rPr lang="zh-TW" altLang="en-US" dirty="0"/>
              <a:t>靜摩擦力</a:t>
            </a:r>
            <a:endParaRPr lang="en-US" altLang="zh-TW" dirty="0"/>
          </a:p>
          <a:p>
            <a:pPr lvl="1"/>
            <a:r>
              <a:rPr lang="en-US" altLang="zh-TW" dirty="0"/>
              <a:t>Bounciness </a:t>
            </a:r>
            <a:r>
              <a:rPr lang="zh-TW" altLang="en-US" dirty="0"/>
              <a:t>彈力</a:t>
            </a:r>
            <a:endParaRPr lang="en-US" altLang="zh-TW" dirty="0"/>
          </a:p>
          <a:p>
            <a:pPr lvl="1"/>
            <a:r>
              <a:rPr lang="zh-TW" altLang="en-US" dirty="0"/>
              <a:t>摩擦力與彈力的運算方式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4822636"/>
            <a:ext cx="6579035" cy="167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2847428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常見用法</a:t>
            </a:r>
            <a:r>
              <a:rPr lang="en-US" altLang="zh-TW" dirty="0"/>
              <a:t>4</a:t>
            </a:r>
            <a:r>
              <a:rPr lang="zh-TW" altLang="en-US" dirty="0"/>
              <a:t>：程式控制的剛體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掛載</a:t>
            </a:r>
            <a:r>
              <a:rPr lang="en-US" altLang="zh-TW" dirty="0" err="1"/>
              <a:t>Rigidbody</a:t>
            </a:r>
            <a:r>
              <a:rPr lang="zh-TW" altLang="en-US" dirty="0"/>
              <a:t> 且將</a:t>
            </a:r>
            <a:r>
              <a:rPr lang="en-US" dirty="0"/>
              <a:t>Is</a:t>
            </a:r>
            <a:r>
              <a:rPr lang="zh-TW" altLang="en-US" dirty="0"/>
              <a:t> </a:t>
            </a:r>
            <a:r>
              <a:rPr lang="en-US" dirty="0"/>
              <a:t>Kinematic</a:t>
            </a:r>
            <a:r>
              <a:rPr lang="zh-TW" altLang="en-US" dirty="0"/>
              <a:t> 打勾 此時會由程式控制其運動，而非物理引擎</a:t>
            </a:r>
            <a:endParaRPr lang="en-US" altLang="zh-TW" dirty="0"/>
          </a:p>
          <a:p>
            <a:pPr lvl="1"/>
            <a:r>
              <a:rPr lang="zh-TW" altLang="en-US" dirty="0"/>
              <a:t>不會被其他物件推動</a:t>
            </a:r>
            <a:endParaRPr lang="en-US" altLang="zh-TW" dirty="0"/>
          </a:p>
          <a:p>
            <a:pPr lvl="1"/>
            <a:r>
              <a:rPr lang="zh-TW" altLang="en-US" dirty="0"/>
              <a:t>但會影響其他</a:t>
            </a:r>
            <a:r>
              <a:rPr lang="en-US" altLang="zh-TW" dirty="0" err="1"/>
              <a:t>Rigidbody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常見用途</a:t>
            </a:r>
            <a:endParaRPr lang="en-US" altLang="zh-TW" dirty="0"/>
          </a:p>
          <a:p>
            <a:pPr lvl="1"/>
            <a:r>
              <a:rPr lang="zh-TW" altLang="en-US" dirty="0"/>
              <a:t>電梯、飄移平台</a:t>
            </a:r>
            <a:endParaRPr lang="en-US" altLang="zh-TW" dirty="0"/>
          </a:p>
          <a:p>
            <a:pPr lvl="1"/>
            <a:r>
              <a:rPr lang="zh-TW" altLang="en-US" dirty="0"/>
              <a:t>可開關的門</a:t>
            </a:r>
            <a:endParaRPr lang="en-US" altLang="zh-TW" dirty="0"/>
          </a:p>
          <a:p>
            <a:pPr lvl="1"/>
            <a:r>
              <a:rPr lang="zh-TW" altLang="en-US" dirty="0"/>
              <a:t>場地陷阱、機關</a:t>
            </a:r>
            <a:endParaRPr lang="en-US" altLang="zh-TW" dirty="0"/>
          </a:p>
          <a:p>
            <a:pPr lvl="1"/>
            <a:r>
              <a:rPr lang="zh-TW" altLang="en-US" dirty="0"/>
              <a:t>被抓取的物件</a:t>
            </a:r>
            <a:endParaRPr lang="en-US" altLang="zh-TW" dirty="0"/>
          </a:p>
          <a:p>
            <a:pPr lvl="1"/>
            <a:endParaRPr lang="en-US" altLang="zh-TW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剛體的遊戲邏輯運用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只有</a:t>
            </a:r>
            <a:r>
              <a:rPr lang="en-US" altLang="zh-TW" dirty="0" err="1"/>
              <a:t>Rigidbody</a:t>
            </a:r>
            <a:r>
              <a:rPr lang="zh-TW" altLang="en-US" dirty="0"/>
              <a:t>才能被偵測「碰撞」或「觸發」其他物件，</a:t>
            </a:r>
            <a:r>
              <a:rPr lang="en-US" altLang="zh-TW" dirty="0"/>
              <a:t>Collider</a:t>
            </a:r>
            <a:r>
              <a:rPr lang="zh-TW" altLang="en-US" dirty="0"/>
              <a:t>與</a:t>
            </a:r>
            <a:r>
              <a:rPr lang="en-US" altLang="zh-TW" dirty="0"/>
              <a:t>Collider</a:t>
            </a:r>
            <a:r>
              <a:rPr lang="zh-TW" altLang="en-US" dirty="0"/>
              <a:t>之間是不會「碰撞」的。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換言之，如果「碰撞」發生了，</a:t>
            </a:r>
            <a:r>
              <a:rPr lang="zh-TW" altLang="en-US" b="1" u="sng" dirty="0"/>
              <a:t>其中一方必定有</a:t>
            </a:r>
            <a:r>
              <a:rPr lang="en-US" altLang="zh-TW" dirty="0" err="1"/>
              <a:t>Rigidbody</a:t>
            </a:r>
            <a:r>
              <a:rPr lang="zh-TW" altLang="en-US" dirty="0"/>
              <a:t>，雙方都有</a:t>
            </a:r>
            <a:r>
              <a:rPr lang="en-US" altLang="zh-TW" dirty="0"/>
              <a:t>Collider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也可能雙方都有</a:t>
            </a:r>
            <a:r>
              <a:rPr lang="en-US" altLang="zh-TW" dirty="0" err="1"/>
              <a:t>Rigidbody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如果「觸發」發生了，其中一方必定有</a:t>
            </a:r>
            <a:r>
              <a:rPr lang="en-US" altLang="zh-TW" dirty="0" err="1"/>
              <a:t>Rigidbody</a:t>
            </a:r>
            <a:r>
              <a:rPr lang="zh-TW" altLang="en-US" dirty="0"/>
              <a:t>，另一方 必定有</a:t>
            </a:r>
            <a:r>
              <a:rPr lang="en-US" altLang="zh-TW" dirty="0"/>
              <a:t>Trigger Collider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9226B67-9E32-E012-C885-AAF0D7B36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Collider</a:t>
            </a:r>
            <a:r>
              <a:rPr lang="zh-TW" altLang="en-US" dirty="0"/>
              <a:t>的關係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F72B7C9E-D145-34E3-C928-13D1B94F2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Picture 2" descr="Colliedr matrix">
            <a:extLst>
              <a:ext uri="{FF2B5EF4-FFF2-40B4-BE49-F238E27FC236}">
                <a16:creationId xmlns:a16="http://schemas.microsoft.com/office/drawing/2014/main" xmlns="" id="{44EA36F9-7FAB-DE60-8CE5-0009C7A65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00240"/>
            <a:ext cx="9094277" cy="48577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9131174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 </a:t>
            </a:r>
            <a:r>
              <a:rPr lang="en-US" altLang="zh-TW" dirty="0" smtClean="0"/>
              <a:t>10.2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 smtClean="0"/>
              <a:t>射線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dirty="0">
                <a:solidFill>
                  <a:srgbClr val="003399"/>
                </a:solidFill>
                <a:latin typeface="Times New Roman" panose="02020603050405020304" pitchFamily="18" charset="0"/>
              </a:rPr>
              <a:t>基礎遊戲引擎應用</a:t>
            </a:r>
            <a:endParaRPr lang="zh-TW" altLang="en-US" dirty="0"/>
          </a:p>
          <a:p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Raycast</a:t>
            </a:r>
            <a:r>
              <a:rPr lang="en-US" altLang="zh-TW" dirty="0" smtClean="0"/>
              <a:t> </a:t>
            </a:r>
            <a:r>
              <a:rPr lang="zh-TW" altLang="en-US" dirty="0" smtClean="0"/>
              <a:t>射線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b="1" dirty="0" err="1" smtClean="0"/>
              <a:t>Raycast</a:t>
            </a:r>
            <a:r>
              <a:rPr lang="zh-TW" altLang="en-US" dirty="0" smtClean="0"/>
              <a:t> 是 </a:t>
            </a:r>
            <a:r>
              <a:rPr lang="en-US" altLang="zh-TW" dirty="0" smtClean="0"/>
              <a:t>Unity </a:t>
            </a:r>
            <a:r>
              <a:rPr lang="zh-TW" altLang="en-US" dirty="0" smtClean="0"/>
              <a:t>物理系統提供的一種「偵測工具」，它能從一個起點往一個方向發射一條「看不見的線」，用來檢查這條線是否「打到」某個物件。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常見功能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射擊判定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地面偵測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點擊選取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視線判定、路線遮擋</a:t>
            </a:r>
            <a:endParaRPr lang="en-US" altLang="zh-TW" dirty="0" smtClean="0"/>
          </a:p>
          <a:p>
            <a:pPr lvl="1"/>
            <a:endParaRPr lang="zh-TW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使用</a:t>
            </a:r>
            <a:r>
              <a:rPr lang="en-US" altLang="zh-TW" dirty="0" err="1" smtClean="0"/>
              <a:t>Raycast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通常使用類似以下的程式碼</a:t>
            </a:r>
            <a:endParaRPr lang="en-US" altLang="zh-TW" dirty="0" smtClean="0"/>
          </a:p>
          <a:p>
            <a:r>
              <a:rPr lang="en-US" altLang="zh-TW" sz="2400" dirty="0" err="1" smtClean="0"/>
              <a:t>Physics.Raycast</a:t>
            </a:r>
            <a:r>
              <a:rPr lang="en-US" altLang="zh-TW" sz="2400" dirty="0" smtClean="0"/>
              <a:t>(</a:t>
            </a:r>
            <a:r>
              <a:rPr lang="zh-TW" altLang="en-US" sz="2400" dirty="0" smtClean="0"/>
              <a:t>起點</a:t>
            </a:r>
            <a:r>
              <a:rPr lang="en-US" altLang="zh-TW" sz="2400" dirty="0" smtClean="0"/>
              <a:t>, </a:t>
            </a:r>
            <a:r>
              <a:rPr lang="zh-TW" altLang="en-US" sz="2400" dirty="0" smtClean="0"/>
              <a:t>方向</a:t>
            </a:r>
            <a:r>
              <a:rPr lang="en-US" altLang="zh-TW" sz="2400" dirty="0" smtClean="0"/>
              <a:t>, </a:t>
            </a:r>
            <a:r>
              <a:rPr lang="zh-TW" altLang="en-US" sz="2400" dirty="0" smtClean="0"/>
              <a:t>射程</a:t>
            </a:r>
            <a:r>
              <a:rPr lang="en-US" altLang="zh-TW" sz="2400" dirty="0" smtClean="0"/>
              <a:t>,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out </a:t>
            </a:r>
            <a:r>
              <a:rPr lang="zh-TW" altLang="en-US" sz="2400" dirty="0" smtClean="0"/>
              <a:t>擊中資訊</a:t>
            </a:r>
            <a:r>
              <a:rPr lang="en-US" altLang="zh-TW" sz="2400" dirty="0" smtClean="0"/>
              <a:t>);</a:t>
            </a:r>
          </a:p>
          <a:p>
            <a:endParaRPr lang="en-US" altLang="zh-TW" sz="2400" dirty="0" smtClean="0"/>
          </a:p>
          <a:p>
            <a:r>
              <a:rPr lang="zh-TW" altLang="en-US" sz="2400" dirty="0" smtClean="0"/>
              <a:t>被打中的物體必須帶有非</a:t>
            </a:r>
            <a:r>
              <a:rPr lang="en-US" altLang="zh-TW" sz="2400" dirty="0" smtClean="0"/>
              <a:t>trigger</a:t>
            </a:r>
            <a:r>
              <a:rPr lang="zh-TW" altLang="en-US" sz="2400" dirty="0" smtClean="0"/>
              <a:t>的</a:t>
            </a:r>
            <a:r>
              <a:rPr lang="en-US" altLang="zh-TW" sz="2400" dirty="0" smtClean="0"/>
              <a:t>Collider</a:t>
            </a:r>
          </a:p>
          <a:p>
            <a:r>
              <a:rPr lang="zh-TW" altLang="en-US" sz="2400" dirty="0" smtClean="0"/>
              <a:t>在集中資訊中，會有擊中點、擊中方向等資訊可利用</a:t>
            </a:r>
            <a:endParaRPr lang="en-US" altLang="zh-TW" sz="2400" dirty="0" smtClean="0"/>
          </a:p>
          <a:p>
            <a:endParaRPr lang="en-US" altLang="zh-TW" sz="2400" dirty="0" smtClean="0"/>
          </a:p>
          <a:p>
            <a:pPr>
              <a:buNone/>
            </a:pPr>
            <a:endParaRPr lang="zh-TW" altLang="en-US" sz="2400" dirty="0"/>
          </a:p>
        </p:txBody>
      </p:sp>
      <p:pic>
        <p:nvPicPr>
          <p:cNvPr id="1026" name="Picture 2" descr="Unity Raycast scripting Tutorial - VionixStudi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0" y="4591050"/>
            <a:ext cx="3623733" cy="2038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其他</a:t>
            </a:r>
            <a:r>
              <a:rPr lang="en-US" altLang="zh-TW" dirty="0" err="1" smtClean="0"/>
              <a:t>Physics.Cast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有其他方式的</a:t>
            </a:r>
            <a:r>
              <a:rPr lang="en-US" altLang="zh-TW" dirty="0" smtClean="0"/>
              <a:t>Cast</a:t>
            </a:r>
            <a:r>
              <a:rPr lang="zh-TW" altLang="en-US" dirty="0" smtClean="0"/>
              <a:t>可以運用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LineCast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BoxCast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SphereCast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CapsuleCast</a:t>
            </a:r>
            <a:endParaRPr lang="en-US" altLang="zh-TW" dirty="0" smtClean="0"/>
          </a:p>
          <a:p>
            <a:pPr lvl="1"/>
            <a:endParaRPr lang="en-US" altLang="zh-TW" dirty="0" smtClean="0"/>
          </a:p>
          <a:p>
            <a:r>
              <a:rPr lang="zh-TW" altLang="en-US" dirty="0" smtClean="0"/>
              <a:t>通常用於檢查角色或物件可否通過</a:t>
            </a:r>
            <a:endParaRPr lang="zh-TW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Physic.Overlay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另外有以下的功能可使用，可以檢查在某個形狀中的所有接觸到的</a:t>
            </a:r>
            <a:r>
              <a:rPr lang="en-US" altLang="zh-TW" dirty="0" smtClean="0"/>
              <a:t>Collider</a:t>
            </a:r>
          </a:p>
          <a:p>
            <a:pPr lvl="1"/>
            <a:r>
              <a:rPr lang="en-US" altLang="zh-TW" dirty="0" err="1" smtClean="0"/>
              <a:t>OverlayBox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OverlaySphere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OverlayCapsule</a:t>
            </a:r>
            <a:endParaRPr lang="zh-TW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Raycast</a:t>
            </a:r>
            <a:r>
              <a:rPr lang="zh-TW" altLang="en-US" dirty="0" smtClean="0"/>
              <a:t>常用功能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測試角色是否站在地板上。</a:t>
            </a:r>
            <a:endParaRPr lang="en-US" altLang="zh-TW" dirty="0" smtClean="0"/>
          </a:p>
          <a:p>
            <a:r>
              <a:rPr lang="zh-TW" altLang="en-US" dirty="0" smtClean="0"/>
              <a:t>如果場景高低是不一致的，如何把角色放在地板上。</a:t>
            </a:r>
            <a:endParaRPr lang="en-US" altLang="zh-TW" dirty="0" smtClean="0"/>
          </a:p>
          <a:p>
            <a:r>
              <a:rPr lang="zh-TW" altLang="en-US" dirty="0" smtClean="0"/>
              <a:t>射擊</a:t>
            </a:r>
            <a:r>
              <a:rPr lang="zh-TW" altLang="en-US" dirty="0" smtClean="0"/>
              <a:t>判定 </a:t>
            </a:r>
            <a:r>
              <a:rPr lang="en-US" altLang="zh-TW" dirty="0" smtClean="0"/>
              <a:t>(</a:t>
            </a:r>
            <a:r>
              <a:rPr lang="zh-TW" altLang="en-US" dirty="0" smtClean="0"/>
              <a:t>無子彈</a:t>
            </a:r>
            <a:r>
              <a:rPr lang="en-US" altLang="zh-TW" dirty="0" smtClean="0"/>
              <a:t>)</a:t>
            </a:r>
          </a:p>
          <a:p>
            <a:r>
              <a:rPr lang="zh-TW" altLang="en-US" dirty="0" smtClean="0"/>
              <a:t>互動物件判定</a:t>
            </a:r>
            <a:endParaRPr lang="en-US" altLang="zh-TW" dirty="0" smtClean="0"/>
          </a:p>
          <a:p>
            <a:r>
              <a:rPr lang="zh-TW" altLang="en-US" dirty="0" smtClean="0"/>
              <a:t>測試視線</a:t>
            </a:r>
            <a:endParaRPr lang="en-US" altLang="zh-TW" dirty="0" smtClean="0"/>
          </a:p>
          <a:p>
            <a:r>
              <a:rPr lang="zh-TW" altLang="en-US" dirty="0" smtClean="0"/>
              <a:t>提前測試碰撞</a:t>
            </a:r>
            <a:endParaRPr lang="zh-TW" altLang="en-US" dirty="0"/>
          </a:p>
        </p:txBody>
      </p:sp>
      <p:pic>
        <p:nvPicPr>
          <p:cNvPr id="1026" name="Picture 2" descr="分享《暗影戰略：將軍之刃Shadow Tactics: Blades of the Shogun》 - 遊戲板| Dcar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96466" y="4862512"/>
            <a:ext cx="3547534" cy="19954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6759</TotalTime>
  <Words>1149</Words>
  <Application>Microsoft Office PowerPoint</Application>
  <PresentationFormat>如螢幕大小 (4:3)</PresentationFormat>
  <Paragraphs>200</Paragraphs>
  <Slides>28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29" baseType="lpstr">
      <vt:lpstr>都會</vt:lpstr>
      <vt:lpstr>Lesson 10 物理模擬</vt:lpstr>
      <vt:lpstr>[通用]遊戲引擎功能</vt:lpstr>
      <vt:lpstr>物理模擬與物理引擎</vt:lpstr>
      <vt:lpstr>重新檢視Cube</vt:lpstr>
      <vt:lpstr>3D Collider種類</vt:lpstr>
      <vt:lpstr>3D Collider種類</vt:lpstr>
      <vt:lpstr>Collider的概念</vt:lpstr>
      <vt:lpstr>常見用法1：靜態物件</vt:lpstr>
      <vt:lpstr>IsTrigger標籤</vt:lpstr>
      <vt:lpstr>常見用法2 ：觸發區域</vt:lpstr>
      <vt:lpstr>剛體 Rigidbody</vt:lpstr>
      <vt:lpstr>剛體 Rigidbody的重要屬性</vt:lpstr>
      <vt:lpstr>剛體 Rigidbody的用途1,2</vt:lpstr>
      <vt:lpstr>剛體 Rigidbody的用途3</vt:lpstr>
      <vt:lpstr>剛體 Rigidbody的用途4</vt:lpstr>
      <vt:lpstr>剛體 Rigidbody的重要屬性2</vt:lpstr>
      <vt:lpstr>常見用法3：正常剛體</vt:lpstr>
      <vt:lpstr>物理材質 (Physics Material)</vt:lpstr>
      <vt:lpstr>調整物理材質</vt:lpstr>
      <vt:lpstr>常見用法4：程式控制的剛體</vt:lpstr>
      <vt:lpstr>剛體的遊戲邏輯運用</vt:lpstr>
      <vt:lpstr>Collider的關係</vt:lpstr>
      <vt:lpstr>Lesson 10.2 射線</vt:lpstr>
      <vt:lpstr>Raycast 射線</vt:lpstr>
      <vt:lpstr>使用Raycast</vt:lpstr>
      <vt:lpstr>其他Physics.Cast</vt:lpstr>
      <vt:lpstr>Physic.Overlay</vt:lpstr>
      <vt:lpstr>Raycast常用功能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user</cp:lastModifiedBy>
  <cp:revision>400</cp:revision>
  <dcterms:created xsi:type="dcterms:W3CDTF">2024-11-18T05:57:07Z</dcterms:created>
  <dcterms:modified xsi:type="dcterms:W3CDTF">2025-10-25T06:18:33Z</dcterms:modified>
</cp:coreProperties>
</file>