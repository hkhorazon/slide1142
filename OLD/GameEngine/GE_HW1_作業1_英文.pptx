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sldIdLst>
    <p:sldId id="327" r:id="rId2"/>
    <p:sldId id="326" r:id="rId3"/>
    <p:sldId id="329" r:id="rId4"/>
    <p:sldId id="328" r:id="rId5"/>
    <p:sldId id="330" r:id="rId6"/>
    <p:sldId id="331" r:id="rId7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F1AB2-1976-4502-BF36-3FF5EA218861}" styleName="中等深淺樣式 4 - 輔色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119" d="100"/>
          <a:sy n="119" d="100"/>
        </p:scale>
        <p:origin x="-1786" y="-8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矩形 22"/>
          <p:cNvSpPr/>
          <p:nvPr/>
        </p:nvSpPr>
        <p:spPr>
          <a:xfrm flipV="1">
            <a:off x="5410182" y="3810000"/>
            <a:ext cx="3733819" cy="910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4" name="矩形 23"/>
          <p:cNvSpPr/>
          <p:nvPr/>
        </p:nvSpPr>
        <p:spPr>
          <a:xfrm flipV="1">
            <a:off x="5410200" y="3897010"/>
            <a:ext cx="3733801" cy="192024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5" name="矩形 24"/>
          <p:cNvSpPr/>
          <p:nvPr/>
        </p:nvSpPr>
        <p:spPr>
          <a:xfrm flipV="1">
            <a:off x="5410200" y="4115167"/>
            <a:ext cx="3733801" cy="9144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6" name="矩形 25"/>
          <p:cNvSpPr/>
          <p:nvPr/>
        </p:nvSpPr>
        <p:spPr>
          <a:xfrm flipV="1">
            <a:off x="5410200" y="4164403"/>
            <a:ext cx="1965960" cy="18288"/>
          </a:xfrm>
          <a:prstGeom prst="rect">
            <a:avLst/>
          </a:prstGeom>
          <a:solidFill>
            <a:schemeClr val="accent2">
              <a:alpha val="6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7" name="矩形 26"/>
          <p:cNvSpPr/>
          <p:nvPr/>
        </p:nvSpPr>
        <p:spPr>
          <a:xfrm flipV="1">
            <a:off x="5410200" y="4199572"/>
            <a:ext cx="1965960" cy="9144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0" name="圓角矩形 29"/>
          <p:cNvSpPr/>
          <p:nvPr/>
        </p:nvSpPr>
        <p:spPr bwMode="white">
          <a:xfrm>
            <a:off x="5410200" y="3962400"/>
            <a:ext cx="3063240" cy="2743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1" name="圓角矩形 30"/>
          <p:cNvSpPr/>
          <p:nvPr/>
        </p:nvSpPr>
        <p:spPr bwMode="white">
          <a:xfrm>
            <a:off x="7376507" y="4060983"/>
            <a:ext cx="1600200" cy="36576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7" name="矩形 6"/>
          <p:cNvSpPr/>
          <p:nvPr/>
        </p:nvSpPr>
        <p:spPr>
          <a:xfrm>
            <a:off x="1" y="3649662"/>
            <a:ext cx="9144000" cy="244170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矩形 9"/>
          <p:cNvSpPr/>
          <p:nvPr/>
        </p:nvSpPr>
        <p:spPr>
          <a:xfrm>
            <a:off x="0" y="3675527"/>
            <a:ext cx="9144001" cy="14067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矩形 10"/>
          <p:cNvSpPr/>
          <p:nvPr/>
        </p:nvSpPr>
        <p:spPr>
          <a:xfrm flipV="1">
            <a:off x="6414051" y="3643090"/>
            <a:ext cx="2729950" cy="2484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9" name="矩形 18"/>
          <p:cNvSpPr/>
          <p:nvPr/>
        </p:nvSpPr>
        <p:spPr>
          <a:xfrm>
            <a:off x="0" y="0"/>
            <a:ext cx="9144000" cy="3701700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標題 7"/>
          <p:cNvSpPr>
            <a:spLocks noGrp="1"/>
          </p:cNvSpPr>
          <p:nvPr>
            <p:ph type="ctrTitle"/>
          </p:nvPr>
        </p:nvSpPr>
        <p:spPr>
          <a:xfrm>
            <a:off x="457200" y="2401887"/>
            <a:ext cx="8458200" cy="1470025"/>
          </a:xfrm>
        </p:spPr>
        <p:txBody>
          <a:bodyPr anchor="b"/>
          <a:lstStyle>
            <a:lvl1pPr>
              <a:defRPr sz="4400">
                <a:solidFill>
                  <a:schemeClr val="bg1"/>
                </a:solidFill>
              </a:defRPr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9" name="副標題 8"/>
          <p:cNvSpPr>
            <a:spLocks noGrp="1"/>
          </p:cNvSpPr>
          <p:nvPr>
            <p:ph type="subTitle" idx="1"/>
          </p:nvPr>
        </p:nvSpPr>
        <p:spPr>
          <a:xfrm>
            <a:off x="457200" y="3899938"/>
            <a:ext cx="4953000" cy="1752600"/>
          </a:xfrm>
        </p:spPr>
        <p:txBody>
          <a:bodyPr/>
          <a:lstStyle>
            <a:lvl1pPr marL="64008" indent="0" algn="l"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zh-TW" altLang="en-US"/>
              <a:t>按一下以編輯母片副標題樣式</a:t>
            </a:r>
            <a:endParaRPr kumimoji="0" lang="en-US"/>
          </a:p>
        </p:txBody>
      </p:sp>
      <p:sp>
        <p:nvSpPr>
          <p:cNvPr id="28" name="日期版面配置區 27"/>
          <p:cNvSpPr>
            <a:spLocks noGrp="1"/>
          </p:cNvSpPr>
          <p:nvPr>
            <p:ph type="dt" sz="half" idx="10"/>
          </p:nvPr>
        </p:nvSpPr>
        <p:spPr>
          <a:xfrm>
            <a:off x="6705600" y="4206240"/>
            <a:ext cx="960120" cy="457200"/>
          </a:xfrm>
        </p:spPr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2025/10/13</a:t>
            </a:fld>
            <a:endParaRPr lang="zh-TW" altLang="en-US"/>
          </a:p>
        </p:txBody>
      </p:sp>
      <p:sp>
        <p:nvSpPr>
          <p:cNvPr id="17" name="頁尾版面配置區 16"/>
          <p:cNvSpPr>
            <a:spLocks noGrp="1"/>
          </p:cNvSpPr>
          <p:nvPr>
            <p:ph type="ftr" sz="quarter" idx="11"/>
          </p:nvPr>
        </p:nvSpPr>
        <p:spPr>
          <a:xfrm>
            <a:off x="5410200" y="4205288"/>
            <a:ext cx="1295400" cy="457200"/>
          </a:xfrm>
        </p:spPr>
        <p:txBody>
          <a:bodyPr/>
          <a:lstStyle/>
          <a:p>
            <a:endParaRPr lang="zh-TW" altLang="en-US"/>
          </a:p>
        </p:txBody>
      </p:sp>
      <p:sp>
        <p:nvSpPr>
          <p:cNvPr id="29" name="投影片編號版面配置區 28"/>
          <p:cNvSpPr>
            <a:spLocks noGrp="1"/>
          </p:cNvSpPr>
          <p:nvPr>
            <p:ph type="sldNum" sz="quarter" idx="12"/>
          </p:nvPr>
        </p:nvSpPr>
        <p:spPr>
          <a:xfrm>
            <a:off x="8320088" y="1136"/>
            <a:ext cx="747712" cy="365760"/>
          </a:xfrm>
        </p:spPr>
        <p:txBody>
          <a:bodyPr/>
          <a:lstStyle>
            <a:lvl1pPr algn="r">
              <a:defRPr sz="1800">
                <a:solidFill>
                  <a:schemeClr val="bg1"/>
                </a:solidFill>
              </a:defRPr>
            </a:lvl1pPr>
          </a:lstStyle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2025/10/13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1981200"/>
            <a:ext cx="7772400" cy="1362075"/>
          </a:xfrm>
        </p:spPr>
        <p:txBody>
          <a:bodyPr anchor="b">
            <a:noAutofit/>
          </a:bodyPr>
          <a:lstStyle>
            <a:lvl1pPr algn="l">
              <a:buNone/>
              <a:defRPr sz="4300" b="1" cap="none" baseline="0">
                <a:ln w="12700">
                  <a:solidFill>
                    <a:schemeClr val="accent2">
                      <a:shade val="90000"/>
                      <a:satMod val="150000"/>
                    </a:schemeClr>
                  </a:solidFill>
                </a:ln>
                <a:solidFill>
                  <a:srgbClr val="FFFFFF"/>
                </a:solidFill>
                <a:effectLst>
                  <a:outerShdw blurRad="38100" dist="381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3367088"/>
            <a:ext cx="7772400" cy="1509712"/>
          </a:xfrm>
        </p:spPr>
        <p:txBody>
          <a:bodyPr anchor="t"/>
          <a:lstStyle>
            <a:lvl1pPr marL="45720" indent="0">
              <a:buNone/>
              <a:defRPr sz="2100" b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2025/10/13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2249424"/>
            <a:ext cx="4038600" cy="4525963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2249424"/>
            <a:ext cx="4038600" cy="4525963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2025/10/13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381000" y="1143000"/>
            <a:ext cx="8382000" cy="1069848"/>
          </a:xfrm>
        </p:spPr>
        <p:txBody>
          <a:bodyPr anchor="ctr"/>
          <a:lstStyle>
            <a:lvl1pPr>
              <a:defRPr sz="4000" b="0" i="0" cap="none" baseline="0"/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381000" y="2244970"/>
            <a:ext cx="4041648" cy="457200"/>
          </a:xfrm>
          <a:solidFill>
            <a:schemeClr val="accent2">
              <a:satMod val="15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3"/>
          </p:nvPr>
        </p:nvSpPr>
        <p:spPr>
          <a:xfrm>
            <a:off x="4721225" y="2244970"/>
            <a:ext cx="4041775" cy="457200"/>
          </a:xfrm>
          <a:solidFill>
            <a:schemeClr val="accent2">
              <a:satMod val="15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5" name="內容版面配置區 4"/>
          <p:cNvSpPr>
            <a:spLocks noGrp="1"/>
          </p:cNvSpPr>
          <p:nvPr>
            <p:ph sz="quarter" idx="2"/>
          </p:nvPr>
        </p:nvSpPr>
        <p:spPr>
          <a:xfrm>
            <a:off x="381000" y="2708519"/>
            <a:ext cx="4041648" cy="38862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718304" y="2708519"/>
            <a:ext cx="4041775" cy="38862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26" name="日期版面配置區 2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5BBEAD13-0566-4C6C-97E7-55F17F24B09F}" type="datetimeFigureOut">
              <a:rPr lang="zh-TW" altLang="en-US" smtClean="0"/>
              <a:pPr/>
              <a:t>2025/10/13</a:t>
            </a:fld>
            <a:endParaRPr lang="zh-TW" altLang="en-US"/>
          </a:p>
        </p:txBody>
      </p:sp>
      <p:sp>
        <p:nvSpPr>
          <p:cNvPr id="27" name="投影片編號版面配置區 26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  <p:sp>
        <p:nvSpPr>
          <p:cNvPr id="28" name="頁尾版面配置區 2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1143000"/>
            <a:ext cx="8229600" cy="1069848"/>
          </a:xfrm>
        </p:spPr>
        <p:txBody>
          <a:bodyPr anchor="ctr"/>
          <a:lstStyle>
            <a:lvl1pPr>
              <a:defRPr sz="4000">
                <a:solidFill>
                  <a:schemeClr val="tx2"/>
                </a:solidFill>
              </a:defRPr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>
          <a:xfrm>
            <a:off x="6583680" y="612648"/>
            <a:ext cx="957264" cy="457200"/>
          </a:xfrm>
        </p:spPr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2025/10/13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>
          <a:xfrm>
            <a:off x="5257800" y="612648"/>
            <a:ext cx="1325880" cy="457200"/>
          </a:xfrm>
        </p:spPr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>
          <a:xfrm>
            <a:off x="8174736" y="2272"/>
            <a:ext cx="762000" cy="365760"/>
          </a:xfrm>
        </p:spPr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2025/10/13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353496" y="1101970"/>
            <a:ext cx="3383280" cy="877824"/>
          </a:xfrm>
        </p:spPr>
        <p:txBody>
          <a:bodyPr anchor="b"/>
          <a:lstStyle>
            <a:lvl1pPr algn="l">
              <a:buNone/>
              <a:defRPr sz="1800" b="1"/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2"/>
          </p:nvPr>
        </p:nvSpPr>
        <p:spPr>
          <a:xfrm>
            <a:off x="5353496" y="2010727"/>
            <a:ext cx="3383280" cy="4617720"/>
          </a:xfrm>
        </p:spPr>
        <p:txBody>
          <a:bodyPr/>
          <a:lstStyle>
            <a:lvl1pPr marL="9144" indent="0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1"/>
          </p:nvPr>
        </p:nvSpPr>
        <p:spPr>
          <a:xfrm>
            <a:off x="152400" y="776287"/>
            <a:ext cx="5102352" cy="585216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2025/10/13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440434" y="1109160"/>
            <a:ext cx="586803" cy="4681637"/>
          </a:xfrm>
        </p:spPr>
        <p:txBody>
          <a:bodyPr vert="vert270" lIns="45720" tIns="0" rIns="45720" anchor="t"/>
          <a:lstStyle>
            <a:lvl1pPr algn="ctr">
              <a:buNone/>
              <a:defRPr sz="2000" b="1"/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403671" y="1143000"/>
            <a:ext cx="4572000" cy="4572000"/>
          </a:xfrm>
          <a:solidFill>
            <a:srgbClr val="EAEAEA"/>
          </a:solidFill>
          <a:ln w="50800">
            <a:solidFill>
              <a:srgbClr val="FFFFFF"/>
            </a:solidFill>
            <a:miter lim="800000"/>
          </a:ln>
          <a:effectLst>
            <a:outerShdw blurRad="57150" dist="31750" dir="4800000" algn="tl" rotWithShape="0">
              <a:srgbClr val="000000">
                <a:alpha val="2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2540">
            <a:bevelT w="25400" h="19050"/>
            <a:contourClr>
              <a:srgbClr val="AEAEAE"/>
            </a:contourClr>
          </a:sp3d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zh-TW" altLang="en-US"/>
              <a:t>按一下圖示以新增圖片</a:t>
            </a:r>
            <a:endParaRPr kumimoji="0" lang="en-US" dirty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88443" y="3274308"/>
            <a:ext cx="2590800" cy="2516489"/>
          </a:xfrm>
        </p:spPr>
        <p:txBody>
          <a:bodyPr lIns="0" tIns="0" rIns="45720" anchor="t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3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2025/10/13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2025/10/13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781800" y="1143000"/>
            <a:ext cx="1905000" cy="5486400"/>
          </a:xfrm>
        </p:spPr>
        <p:txBody>
          <a:bodyPr vert="eaVert"/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1143000"/>
            <a:ext cx="6248400" cy="5486400"/>
          </a:xfrm>
        </p:spPr>
        <p:txBody>
          <a:bodyPr vert="eaVert"/>
          <a:lstStyle/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2025/10/13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矩形 27"/>
          <p:cNvSpPr/>
          <p:nvPr/>
        </p:nvSpPr>
        <p:spPr>
          <a:xfrm>
            <a:off x="1" y="366818"/>
            <a:ext cx="9144000" cy="84407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9" name="矩形 28"/>
          <p:cNvSpPr/>
          <p:nvPr/>
        </p:nvSpPr>
        <p:spPr>
          <a:xfrm>
            <a:off x="0" y="-1"/>
            <a:ext cx="9144000" cy="310663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0" name="矩形 29"/>
          <p:cNvSpPr/>
          <p:nvPr/>
        </p:nvSpPr>
        <p:spPr>
          <a:xfrm>
            <a:off x="0" y="308276"/>
            <a:ext cx="9144001" cy="91441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1" name="矩形 30"/>
          <p:cNvSpPr/>
          <p:nvPr/>
        </p:nvSpPr>
        <p:spPr>
          <a:xfrm flipV="1">
            <a:off x="5410182" y="360246"/>
            <a:ext cx="3733819" cy="910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2" name="矩形 31"/>
          <p:cNvSpPr/>
          <p:nvPr/>
        </p:nvSpPr>
        <p:spPr>
          <a:xfrm flipV="1">
            <a:off x="5410200" y="440112"/>
            <a:ext cx="3733801" cy="180035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3" name="圓角矩形 32"/>
          <p:cNvSpPr/>
          <p:nvPr/>
        </p:nvSpPr>
        <p:spPr bwMode="white">
          <a:xfrm>
            <a:off x="5407339" y="497504"/>
            <a:ext cx="3063240" cy="2743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4" name="圓角矩形 33"/>
          <p:cNvSpPr/>
          <p:nvPr/>
        </p:nvSpPr>
        <p:spPr bwMode="white">
          <a:xfrm>
            <a:off x="7373646" y="588943"/>
            <a:ext cx="1600200" cy="36576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5" name="矩形 34"/>
          <p:cNvSpPr/>
          <p:nvPr/>
        </p:nvSpPr>
        <p:spPr bwMode="invGray">
          <a:xfrm>
            <a:off x="9084966" y="-2001"/>
            <a:ext cx="57626" cy="621792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6" name="矩形 35"/>
          <p:cNvSpPr/>
          <p:nvPr/>
        </p:nvSpPr>
        <p:spPr bwMode="invGray">
          <a:xfrm>
            <a:off x="9044481" y="-2001"/>
            <a:ext cx="27432" cy="621792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7" name="矩形 36"/>
          <p:cNvSpPr/>
          <p:nvPr/>
        </p:nvSpPr>
        <p:spPr bwMode="invGray">
          <a:xfrm>
            <a:off x="9025428" y="-2001"/>
            <a:ext cx="9144" cy="621792"/>
          </a:xfrm>
          <a:prstGeom prst="rect">
            <a:avLst/>
          </a:prstGeom>
          <a:solidFill>
            <a:srgbClr val="FFFFFF">
              <a:alpha val="6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8" name="矩形 37"/>
          <p:cNvSpPr/>
          <p:nvPr/>
        </p:nvSpPr>
        <p:spPr bwMode="invGray">
          <a:xfrm>
            <a:off x="8975423" y="-2001"/>
            <a:ext cx="27432" cy="621792"/>
          </a:xfrm>
          <a:prstGeom prst="rect">
            <a:avLst/>
          </a:prstGeom>
          <a:solidFill>
            <a:srgbClr val="FFFFFF">
              <a:alpha val="4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9" name="矩形 38"/>
          <p:cNvSpPr/>
          <p:nvPr/>
        </p:nvSpPr>
        <p:spPr bwMode="invGray">
          <a:xfrm>
            <a:off x="8915677" y="380"/>
            <a:ext cx="54864" cy="585216"/>
          </a:xfrm>
          <a:prstGeom prst="rect">
            <a:avLst/>
          </a:prstGeom>
          <a:solidFill>
            <a:srgbClr val="FFFFFF">
              <a:alpha val="2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40" name="矩形 39"/>
          <p:cNvSpPr/>
          <p:nvPr/>
        </p:nvSpPr>
        <p:spPr bwMode="invGray">
          <a:xfrm>
            <a:off x="8873475" y="380"/>
            <a:ext cx="9144" cy="585216"/>
          </a:xfrm>
          <a:prstGeom prst="rect">
            <a:avLst/>
          </a:prstGeom>
          <a:solidFill>
            <a:srgbClr val="FFFFFF">
              <a:alpha val="30196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2" name="標題版面配置區 21"/>
          <p:cNvSpPr>
            <a:spLocks noGrp="1"/>
          </p:cNvSpPr>
          <p:nvPr>
            <p:ph type="title"/>
          </p:nvPr>
        </p:nvSpPr>
        <p:spPr>
          <a:xfrm>
            <a:off x="457200" y="1143000"/>
            <a:ext cx="8229600" cy="10668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13" name="文字版面配置區 12"/>
          <p:cNvSpPr>
            <a:spLocks noGrp="1"/>
          </p:cNvSpPr>
          <p:nvPr>
            <p:ph type="body" idx="1"/>
          </p:nvPr>
        </p:nvSpPr>
        <p:spPr>
          <a:xfrm>
            <a:off x="457200" y="2249424"/>
            <a:ext cx="8229600" cy="432511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  <a:p>
            <a:pPr lvl="1" eaLnBrk="1" latinLnBrk="0" hangingPunct="1"/>
            <a:r>
              <a:rPr kumimoji="0" lang="zh-TW" altLang="en-US"/>
              <a:t>第二層</a:t>
            </a:r>
          </a:p>
          <a:p>
            <a:pPr lvl="2" eaLnBrk="1" latinLnBrk="0" hangingPunct="1"/>
            <a:r>
              <a:rPr kumimoji="0" lang="zh-TW" altLang="en-US"/>
              <a:t>第三層</a:t>
            </a:r>
          </a:p>
          <a:p>
            <a:pPr lvl="3" eaLnBrk="1" latinLnBrk="0" hangingPunct="1"/>
            <a:r>
              <a:rPr kumimoji="0" lang="zh-TW" altLang="en-US"/>
              <a:t>第四層</a:t>
            </a:r>
          </a:p>
          <a:p>
            <a:pPr lvl="4" eaLnBrk="1" latinLnBrk="0" hangingPunct="1"/>
            <a:r>
              <a:rPr kumimoji="0" lang="zh-TW" altLang="en-US"/>
              <a:t>第五層</a:t>
            </a:r>
            <a:endParaRPr kumimoji="0" lang="en-US"/>
          </a:p>
        </p:txBody>
      </p:sp>
      <p:sp>
        <p:nvSpPr>
          <p:cNvPr id="14" name="日期版面配置區 13"/>
          <p:cNvSpPr>
            <a:spLocks noGrp="1"/>
          </p:cNvSpPr>
          <p:nvPr>
            <p:ph type="dt" sz="half" idx="2"/>
          </p:nvPr>
        </p:nvSpPr>
        <p:spPr>
          <a:xfrm>
            <a:off x="6586536" y="612648"/>
            <a:ext cx="957264" cy="45720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800">
                <a:solidFill>
                  <a:schemeClr val="accent2"/>
                </a:solidFill>
              </a:defRPr>
            </a:lvl1pPr>
          </a:lstStyle>
          <a:p>
            <a:fld id="{5BBEAD13-0566-4C6C-97E7-55F17F24B09F}" type="datetimeFigureOut">
              <a:rPr lang="zh-TW" altLang="en-US" smtClean="0"/>
              <a:pPr/>
              <a:t>2025/10/13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3"/>
          </p:nvPr>
        </p:nvSpPr>
        <p:spPr>
          <a:xfrm>
            <a:off x="5257800" y="612648"/>
            <a:ext cx="1325880" cy="45720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800">
                <a:solidFill>
                  <a:schemeClr val="accent2"/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23" name="投影片編號版面配置區 22"/>
          <p:cNvSpPr>
            <a:spLocks noGrp="1"/>
          </p:cNvSpPr>
          <p:nvPr>
            <p:ph type="sldNum" sz="quarter" idx="4"/>
          </p:nvPr>
        </p:nvSpPr>
        <p:spPr>
          <a:xfrm>
            <a:off x="8174736" y="2272"/>
            <a:ext cx="762000" cy="365760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800">
                <a:solidFill>
                  <a:srgbClr val="FFFFFF"/>
                </a:solidFill>
              </a:defRPr>
            </a:lvl1pPr>
          </a:lstStyle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65760" indent="-256032" algn="l" rtl="0" eaLnBrk="1" latinLnBrk="0" hangingPunct="1">
        <a:spcBef>
          <a:spcPts val="300"/>
        </a:spcBef>
        <a:buClr>
          <a:schemeClr val="accent3"/>
        </a:buClr>
        <a:buFont typeface="Georgia"/>
        <a:buChar char="•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58368" indent="-246888" algn="l" rtl="0" eaLnBrk="1" latinLnBrk="0" hangingPunct="1">
        <a:spcBef>
          <a:spcPts val="300"/>
        </a:spcBef>
        <a:buClr>
          <a:schemeClr val="accent2"/>
        </a:buClr>
        <a:buFont typeface="Georgia"/>
        <a:buChar char="▫"/>
        <a:defRPr kumimoji="0" sz="2600" kern="1200">
          <a:solidFill>
            <a:schemeClr val="accent2"/>
          </a:solidFill>
          <a:latin typeface="+mn-lt"/>
          <a:ea typeface="+mn-ea"/>
          <a:cs typeface="+mn-cs"/>
        </a:defRPr>
      </a:lvl2pPr>
      <a:lvl3pPr marL="923544" indent="-219456" algn="l" rtl="0" eaLnBrk="1" latinLnBrk="0" hangingPunct="1">
        <a:spcBef>
          <a:spcPts val="300"/>
        </a:spcBef>
        <a:buClr>
          <a:schemeClr val="accent1"/>
        </a:buClr>
        <a:buFont typeface="Wingdings 2"/>
        <a:buChar char=""/>
        <a:defRPr kumimoji="0" sz="24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1179576" indent="-201168" algn="l" rtl="0" eaLnBrk="1" latinLnBrk="0" hangingPunct="1">
        <a:spcBef>
          <a:spcPts val="300"/>
        </a:spcBef>
        <a:buClr>
          <a:schemeClr val="accent1"/>
        </a:buClr>
        <a:buFont typeface="Wingdings 2"/>
        <a:buChar char=""/>
        <a:defRPr kumimoji="0" sz="22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1389888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2000" kern="1200">
          <a:solidFill>
            <a:schemeClr val="accent3"/>
          </a:solidFill>
          <a:latin typeface="+mn-lt"/>
          <a:ea typeface="+mn-ea"/>
          <a:cs typeface="+mn-cs"/>
        </a:defRPr>
      </a:lvl5pPr>
      <a:lvl6pPr marL="1609344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1800" kern="1200">
          <a:solidFill>
            <a:schemeClr val="accent3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1600" kern="1200">
          <a:solidFill>
            <a:schemeClr val="accent3"/>
          </a:solidFill>
          <a:latin typeface="+mn-lt"/>
          <a:ea typeface="+mn-ea"/>
          <a:cs typeface="+mn-cs"/>
        </a:defRPr>
      </a:lvl7pPr>
      <a:lvl8pPr marL="2029968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◦"/>
        <a:defRPr kumimoji="0" sz="1500" kern="1200">
          <a:solidFill>
            <a:schemeClr val="accent3"/>
          </a:solidFill>
          <a:latin typeface="+mn-lt"/>
          <a:ea typeface="+mn-ea"/>
          <a:cs typeface="+mn-cs"/>
        </a:defRPr>
      </a:lvl8pPr>
      <a:lvl9pPr marL="2240280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◦"/>
        <a:defRPr kumimoji="0" sz="1400" kern="1200" baseline="0">
          <a:solidFill>
            <a:schemeClr val="accent3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youtu.be/bsRbt6ivKcw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TW" altLang="en-US" dirty="0" smtClean="0"/>
              <a:t>作業</a:t>
            </a:r>
            <a:r>
              <a:rPr lang="en-US" altLang="zh-TW" dirty="0"/>
              <a:t>1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altLang="zh-TW" dirty="0"/>
          </a:p>
          <a:p>
            <a:r>
              <a:rPr lang="en-US" altLang="zh-TW" dirty="0"/>
              <a:t>Horazon</a:t>
            </a:r>
          </a:p>
          <a:p>
            <a:r>
              <a:rPr lang="zh-TW" altLang="en-US" dirty="0">
                <a:solidFill>
                  <a:srgbClr val="003399"/>
                </a:solidFill>
                <a:latin typeface="Times New Roman" panose="02020603050405020304" pitchFamily="18" charset="0"/>
              </a:rPr>
              <a:t>基礎遊戲引擎應用</a:t>
            </a:r>
            <a:r>
              <a:rPr lang="en-US" altLang="zh-TW" dirty="0">
                <a:solidFill>
                  <a:srgbClr val="003399"/>
                </a:solidFill>
                <a:latin typeface="Times New Roman" panose="02020603050405020304" pitchFamily="18" charset="0"/>
              </a:rPr>
              <a:t>(Y2)</a:t>
            </a:r>
            <a:endParaRPr lang="zh-TW" altLang="en-US" dirty="0"/>
          </a:p>
          <a:p>
            <a:endParaRPr lang="zh-TW" altLang="en-US" dirty="0"/>
          </a:p>
          <a:p>
            <a:endParaRPr lang="zh-TW" alt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作業內容預覽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>
                <a:hlinkClick r:id="rId2"/>
              </a:rPr>
              <a:t>https://youtu.be/bsRbt6ivKcw</a:t>
            </a:r>
            <a:endParaRPr lang="zh-TW" alt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371600" y="2819400"/>
            <a:ext cx="6705600" cy="375668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作業內容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Use </a:t>
            </a:r>
            <a:r>
              <a:rPr lang="en-US" sz="2400" b="1" dirty="0" smtClean="0"/>
              <a:t>Sphere</a:t>
            </a:r>
            <a:r>
              <a:rPr lang="en-US" sz="2400" dirty="0" smtClean="0"/>
              <a:t> to create the Sun, the Earth, and the Moon.</a:t>
            </a:r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 smtClean="0"/>
          </a:p>
          <a:p>
            <a:endParaRPr lang="en-US" altLang="zh-TW" dirty="0" smtClean="0"/>
          </a:p>
          <a:p>
            <a:endParaRPr lang="en-US" altLang="zh-TW" dirty="0"/>
          </a:p>
          <a:p>
            <a:r>
              <a:rPr lang="en-US" dirty="0" smtClean="0"/>
              <a:t>Distance between Sun and Earth = 20 </a:t>
            </a:r>
          </a:p>
          <a:p>
            <a:r>
              <a:rPr lang="en-US" dirty="0" smtClean="0"/>
              <a:t>Distance between Earth and Moon = 2</a:t>
            </a:r>
          </a:p>
          <a:p>
            <a:endParaRPr lang="zh-TW" altLang="en-US" dirty="0"/>
          </a:p>
        </p:txBody>
      </p:sp>
      <p:graphicFrame>
        <p:nvGraphicFramePr>
          <p:cNvPr id="4" name="表格 3"/>
          <p:cNvGraphicFramePr>
            <a:graphicFrameLocks noGrp="1"/>
          </p:cNvGraphicFramePr>
          <p:nvPr/>
        </p:nvGraphicFramePr>
        <p:xfrm>
          <a:off x="1371600" y="2819400"/>
          <a:ext cx="6324600" cy="2423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81150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1581150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1581150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1581150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</a:tblGrid>
              <a:tr h="533400">
                <a:tc>
                  <a:txBody>
                    <a:bodyPr/>
                    <a:lstStyle/>
                    <a:p>
                      <a:pPr lvl="0"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 altLang="zh-TW" dirty="0" smtClean="0"/>
                        <a:t>Sun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 altLang="zh-TW" dirty="0" smtClean="0"/>
                        <a:t>Earth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 altLang="zh-TW" dirty="0" smtClean="0"/>
                        <a:t>Moon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lvl="0" algn="ctr"/>
                      <a:r>
                        <a:rPr lang="en-US" altLang="zh-TW" dirty="0" smtClean="0"/>
                        <a:t>Color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 dirty="0" smtClean="0"/>
                        <a:t>Yellow 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 dirty="0" smtClean="0"/>
                        <a:t>Blue 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 dirty="0" smtClean="0"/>
                        <a:t>Gray 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lvl="0" algn="ctr"/>
                      <a:r>
                        <a:rPr lang="en-US" altLang="zh-TW" dirty="0" smtClean="0"/>
                        <a:t>Size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 altLang="zh-TW" dirty="0"/>
                        <a:t>5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 altLang="zh-TW" dirty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lvl="0" algn="ctr"/>
                      <a:r>
                        <a:rPr lang="en-US" altLang="zh-TW" sz="1600" dirty="0" smtClean="0"/>
                        <a:t>Rotation</a:t>
                      </a:r>
                      <a:r>
                        <a:rPr lang="en-US" altLang="zh-TW" sz="1600" baseline="0" dirty="0" smtClean="0"/>
                        <a:t> speed</a:t>
                      </a:r>
                      <a:r>
                        <a:rPr lang="en-US" altLang="zh-TW" sz="1600" dirty="0"/>
                        <a:t/>
                      </a:r>
                      <a:br>
                        <a:rPr lang="en-US" altLang="zh-TW" sz="1600" dirty="0"/>
                      </a:br>
                      <a:r>
                        <a:rPr lang="en-US" altLang="zh-TW" sz="1600" dirty="0" smtClean="0"/>
                        <a:t>(degree/</a:t>
                      </a:r>
                      <a:r>
                        <a:rPr lang="en-US" altLang="zh-TW" sz="1600" baseline="0" dirty="0" smtClean="0"/>
                        <a:t>second</a:t>
                      </a:r>
                      <a:r>
                        <a:rPr lang="en-US" altLang="zh-TW" sz="1600" dirty="0" smtClean="0"/>
                        <a:t>)</a:t>
                      </a:r>
                      <a:endParaRPr lang="zh-TW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 altLang="zh-TW" dirty="0"/>
                        <a:t>10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 altLang="zh-TW" dirty="0"/>
                        <a:t>120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如何繳交作業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2249424"/>
            <a:ext cx="8153400" cy="4325112"/>
          </a:xfrm>
        </p:spPr>
        <p:txBody>
          <a:bodyPr>
            <a:normAutofit/>
          </a:bodyPr>
          <a:lstStyle/>
          <a:p>
            <a:r>
              <a:rPr lang="en-US" dirty="0" smtClean="0"/>
              <a:t>Save the Scene </a:t>
            </a:r>
          </a:p>
          <a:p>
            <a:r>
              <a:rPr lang="en-US" dirty="0" smtClean="0"/>
              <a:t>After you are finished, be sure to save the scene via </a:t>
            </a:r>
            <a:r>
              <a:rPr lang="en-US" b="1" dirty="0" smtClean="0"/>
              <a:t>File &gt; Save</a:t>
            </a:r>
            <a:r>
              <a:rPr lang="en-US" dirty="0" smtClean="0"/>
              <a:t> (</a:t>
            </a:r>
            <a:r>
              <a:rPr lang="en-US" dirty="0" err="1" smtClean="0"/>
              <a:t>ctrl+s</a:t>
            </a:r>
            <a:r>
              <a:rPr lang="en-US" dirty="0" smtClean="0"/>
              <a:t>).</a:t>
            </a:r>
          </a:p>
          <a:p>
            <a:endParaRPr lang="en-US" dirty="0" smtClean="0"/>
          </a:p>
          <a:p>
            <a:r>
              <a:rPr lang="en-US" dirty="0" smtClean="0"/>
              <a:t>Find your scene in the </a:t>
            </a:r>
            <a:r>
              <a:rPr lang="en-US" b="1" dirty="0" smtClean="0"/>
              <a:t>Project</a:t>
            </a:r>
            <a:r>
              <a:rPr lang="en-US" dirty="0" smtClean="0"/>
              <a:t> window, usually located in Assets\Scene.</a:t>
            </a:r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838200"/>
            <a:ext cx="8229600" cy="1066800"/>
          </a:xfrm>
        </p:spPr>
        <p:txBody>
          <a:bodyPr/>
          <a:lstStyle/>
          <a:p>
            <a:r>
              <a:rPr lang="zh-TW" altLang="en-US" dirty="0"/>
              <a:t>如何繳交作業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752600"/>
            <a:ext cx="8229600" cy="4325112"/>
          </a:xfrm>
        </p:spPr>
        <p:txBody>
          <a:bodyPr>
            <a:normAutofit/>
          </a:bodyPr>
          <a:lstStyle/>
          <a:p>
            <a:r>
              <a:rPr lang="en-US" sz="2000" dirty="0" smtClean="0"/>
              <a:t>Right-click on the scene file and select </a:t>
            </a:r>
            <a:r>
              <a:rPr lang="en-US" sz="2000" b="1" dirty="0" smtClean="0"/>
              <a:t>Export Package...</a:t>
            </a:r>
            <a:r>
              <a:rPr lang="en-US" sz="2000" dirty="0" smtClean="0"/>
              <a:t>.</a:t>
            </a:r>
          </a:p>
          <a:p>
            <a:r>
              <a:rPr lang="en-US" sz="2000" dirty="0" smtClean="0"/>
              <a:t>Make sure to check the two options at the bottom (as shown in the image) and click </a:t>
            </a:r>
            <a:r>
              <a:rPr lang="en-US" sz="2000" b="1" dirty="0" smtClean="0"/>
              <a:t>Export...</a:t>
            </a:r>
            <a:r>
              <a:rPr lang="en-US" sz="2000" dirty="0" smtClean="0"/>
              <a:t>.</a:t>
            </a:r>
          </a:p>
          <a:p>
            <a:r>
              <a:rPr lang="en-US" sz="2000" dirty="0" smtClean="0"/>
              <a:t>Submit the generated </a:t>
            </a:r>
            <a:r>
              <a:rPr lang="en-US" sz="2000" b="1" dirty="0" smtClean="0"/>
              <a:t>.</a:t>
            </a:r>
            <a:r>
              <a:rPr lang="en-US" sz="2000" b="1" dirty="0" err="1" smtClean="0"/>
              <a:t>unitypackage</a:t>
            </a:r>
            <a:r>
              <a:rPr lang="en-US" sz="2000" dirty="0" smtClean="0"/>
              <a:t> file.</a:t>
            </a:r>
            <a:endParaRPr lang="en-US" sz="2000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667000" y="3200400"/>
            <a:ext cx="2286000" cy="35364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矩形 4"/>
          <p:cNvSpPr/>
          <p:nvPr/>
        </p:nvSpPr>
        <p:spPr>
          <a:xfrm>
            <a:off x="3048000" y="4755641"/>
            <a:ext cx="1828800" cy="152400"/>
          </a:xfrm>
          <a:prstGeom prst="rect">
            <a:avLst/>
          </a:prstGeom>
          <a:solidFill>
            <a:srgbClr val="FF0000">
              <a:alpha val="5000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n>
                <a:solidFill>
                  <a:schemeClr val="accent4"/>
                </a:solidFill>
              </a:ln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756062" y="3200400"/>
            <a:ext cx="3181928" cy="3505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矩形 6"/>
          <p:cNvSpPr/>
          <p:nvPr/>
        </p:nvSpPr>
        <p:spPr>
          <a:xfrm>
            <a:off x="5486400" y="6400800"/>
            <a:ext cx="2362200" cy="228600"/>
          </a:xfrm>
          <a:prstGeom prst="rect">
            <a:avLst/>
          </a:prstGeom>
          <a:solidFill>
            <a:srgbClr val="FF0000">
              <a:alpha val="5000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n>
                <a:solidFill>
                  <a:schemeClr val="accent4"/>
                </a:solidFill>
              </a:ln>
            </a:endParaRPr>
          </a:p>
        </p:txBody>
      </p:sp>
      <p:sp>
        <p:nvSpPr>
          <p:cNvPr id="8" name="矩形 7"/>
          <p:cNvSpPr/>
          <p:nvPr/>
        </p:nvSpPr>
        <p:spPr>
          <a:xfrm>
            <a:off x="8229600" y="6400800"/>
            <a:ext cx="685800" cy="228600"/>
          </a:xfrm>
          <a:prstGeom prst="rect">
            <a:avLst/>
          </a:prstGeom>
          <a:solidFill>
            <a:srgbClr val="FF0000">
              <a:alpha val="5000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n>
                <a:solidFill>
                  <a:schemeClr val="accent4"/>
                </a:solidFill>
              </a:ln>
            </a:endParaRPr>
          </a:p>
        </p:txBody>
      </p:sp>
      <p:cxnSp>
        <p:nvCxnSpPr>
          <p:cNvPr id="10" name="直線單箭頭接點 9"/>
          <p:cNvCxnSpPr>
            <a:stCxn id="5" idx="3"/>
            <a:endCxn id="7" idx="1"/>
          </p:cNvCxnSpPr>
          <p:nvPr/>
        </p:nvCxnSpPr>
        <p:spPr>
          <a:xfrm>
            <a:off x="4876800" y="4831841"/>
            <a:ext cx="609600" cy="1683259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2" name="直線單箭頭接點 11"/>
          <p:cNvCxnSpPr>
            <a:stCxn id="7" idx="3"/>
          </p:cNvCxnSpPr>
          <p:nvPr/>
        </p:nvCxnSpPr>
        <p:spPr>
          <a:xfrm>
            <a:off x="7848600" y="6515100"/>
            <a:ext cx="381000" cy="39688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57200" y="4114800"/>
            <a:ext cx="1676400" cy="7193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9" name="矩形 18"/>
          <p:cNvSpPr/>
          <p:nvPr/>
        </p:nvSpPr>
        <p:spPr>
          <a:xfrm>
            <a:off x="457200" y="4267200"/>
            <a:ext cx="1600200" cy="152400"/>
          </a:xfrm>
          <a:prstGeom prst="rect">
            <a:avLst/>
          </a:prstGeom>
          <a:solidFill>
            <a:srgbClr val="FF0000">
              <a:alpha val="5000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n>
                <a:solidFill>
                  <a:schemeClr val="accent4"/>
                </a:solidFill>
              </a:ln>
            </a:endParaRPr>
          </a:p>
        </p:txBody>
      </p:sp>
      <p:cxnSp>
        <p:nvCxnSpPr>
          <p:cNvPr id="20" name="直線單箭頭接點 19"/>
          <p:cNvCxnSpPr>
            <a:endCxn id="5" idx="1"/>
          </p:cNvCxnSpPr>
          <p:nvPr/>
        </p:nvCxnSpPr>
        <p:spPr>
          <a:xfrm>
            <a:off x="2057400" y="4343400"/>
            <a:ext cx="990600" cy="488441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提示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624078" indent="-514350">
              <a:buFont typeface="+mj-lt"/>
              <a:buAutoNum type="arabicPeriod"/>
            </a:pPr>
            <a:r>
              <a:rPr lang="en-US" dirty="0" smtClean="0"/>
              <a:t>First, create three spheres, adjust their sizes according to the assignment requirements, and place them in the corresponding positions.</a:t>
            </a:r>
          </a:p>
          <a:p>
            <a:pPr marL="624078" indent="-514350">
              <a:buFont typeface="+mj-lt"/>
              <a:buAutoNum type="arabicPeriod"/>
            </a:pPr>
            <a:r>
              <a:rPr lang="en-US" dirty="0" smtClean="0"/>
              <a:t>Create three materials, modify them according to the assignment requirements, and apply them to the three spheres.</a:t>
            </a:r>
          </a:p>
          <a:p>
            <a:pPr marL="624078" indent="-514350">
              <a:buFont typeface="+mj-lt"/>
              <a:buAutoNum type="arabicPeriod"/>
            </a:pPr>
            <a:r>
              <a:rPr lang="en-US" i="1" dirty="0" smtClean="0"/>
              <a:t>(Note: Even if step 2 is difficult, you can still try starting from this step.)</a:t>
            </a:r>
            <a:r>
              <a:rPr lang="en-US" dirty="0" smtClean="0"/>
              <a:t> </a:t>
            </a:r>
          </a:p>
          <a:p>
            <a:pPr lvl="1"/>
            <a:r>
              <a:rPr lang="en-US" dirty="0" smtClean="0"/>
              <a:t>Think about how to make the </a:t>
            </a:r>
            <a:r>
              <a:rPr lang="en-US" b="1" dirty="0" smtClean="0"/>
              <a:t>Earth revolve around the Sun</a:t>
            </a:r>
            <a:r>
              <a:rPr lang="en-US" dirty="0" smtClean="0"/>
              <a:t>.</a:t>
            </a:r>
          </a:p>
          <a:p>
            <a:pPr lvl="1"/>
            <a:r>
              <a:rPr lang="en-US" dirty="0" smtClean="0"/>
              <a:t>Think about how to make the </a:t>
            </a:r>
            <a:r>
              <a:rPr lang="en-US" b="1" dirty="0" smtClean="0"/>
              <a:t>Moon revolve around the Earth</a:t>
            </a:r>
            <a:r>
              <a:rPr lang="en-US" dirty="0" smtClean="0"/>
              <a:t>.</a:t>
            </a:r>
          </a:p>
          <a:p>
            <a:pPr lvl="1"/>
            <a:r>
              <a:rPr lang="en-US" dirty="0" smtClean="0"/>
              <a:t>Check if the preview condition is presented.</a:t>
            </a:r>
          </a:p>
          <a:p>
            <a:pPr lvl="1"/>
            <a:r>
              <a:rPr lang="en-US" dirty="0" smtClean="0"/>
              <a:t>Adjust the speeds of the two rotations.</a:t>
            </a:r>
            <a:endParaRPr lang="en-US"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都會">
  <a:themeElements>
    <a:clrScheme name="自訂 2">
      <a:dk1>
        <a:sysClr val="windowText" lastClr="000000"/>
      </a:dk1>
      <a:lt1>
        <a:sysClr val="window" lastClr="FFFFFF"/>
      </a:lt1>
      <a:dk2>
        <a:srgbClr val="424456"/>
      </a:dk2>
      <a:lt2>
        <a:srgbClr val="DEDEDE"/>
      </a:lt2>
      <a:accent1>
        <a:srgbClr val="53548A"/>
      </a:accent1>
      <a:accent2>
        <a:srgbClr val="53548A"/>
      </a:accent2>
      <a:accent3>
        <a:srgbClr val="A04DA3"/>
      </a:accent3>
      <a:accent4>
        <a:srgbClr val="C4652D"/>
      </a:accent4>
      <a:accent5>
        <a:srgbClr val="8B5D3D"/>
      </a:accent5>
      <a:accent6>
        <a:srgbClr val="5C92B5"/>
      </a:accent6>
      <a:hlink>
        <a:srgbClr val="67AFBD"/>
      </a:hlink>
      <a:folHlink>
        <a:srgbClr val="C2A874"/>
      </a:folHlink>
    </a:clrScheme>
    <a:fontScheme name="自訂 1">
      <a:majorFont>
        <a:latin typeface="Arial"/>
        <a:ea typeface="微軟正黑體"/>
        <a:cs typeface=""/>
      </a:majorFont>
      <a:minorFont>
        <a:latin typeface="Arial"/>
        <a:ea typeface="微軟正黑體"/>
        <a:cs typeface=""/>
      </a:minorFont>
    </a:fontScheme>
    <a:fmtScheme name="都會">
      <a:fillStyleLst>
        <a:solidFill>
          <a:schemeClr val="phClr"/>
        </a:solidFill>
        <a:gradFill rotWithShape="1">
          <a:gsLst>
            <a:gs pos="0">
              <a:schemeClr val="phClr">
                <a:tint val="1000"/>
                <a:satMod val="255000"/>
              </a:schemeClr>
            </a:gs>
            <a:gs pos="55000">
              <a:schemeClr val="phClr">
                <a:tint val="12000"/>
                <a:satMod val="255000"/>
              </a:schemeClr>
            </a:gs>
            <a:gs pos="100000">
              <a:schemeClr val="phClr">
                <a:tint val="45000"/>
                <a:satMod val="250000"/>
              </a:schemeClr>
            </a:gs>
          </a:gsLst>
          <a:path path="circle">
            <a:fillToRect l="-40000" t="-90000" r="140000" b="190000"/>
          </a:path>
        </a:gradFill>
        <a:gradFill rotWithShape="1">
          <a:gsLst>
            <a:gs pos="0">
              <a:schemeClr val="phClr">
                <a:tint val="43000"/>
                <a:satMod val="165000"/>
              </a:schemeClr>
            </a:gs>
            <a:gs pos="55000">
              <a:schemeClr val="phClr">
                <a:tint val="83000"/>
                <a:satMod val="155000"/>
              </a:schemeClr>
            </a:gs>
            <a:gs pos="100000">
              <a:schemeClr val="phClr">
                <a:shade val="85000"/>
              </a:schemeClr>
            </a:gs>
          </a:gsLst>
          <a:path path="circle">
            <a:fillToRect l="-40000" t="-90000" r="140000" b="19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15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flat" dir="t">
              <a:rot lat="0" lon="0" rev="20040000"/>
            </a:lightRig>
          </a:scene3d>
          <a:sp3d contourW="12700" prstMaterial="dkEdge">
            <a:bevelT w="25400" h="38100" prst="convex"/>
            <a:contourClr>
              <a:schemeClr val="phClr">
                <a:satMod val="115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100000">
              <a:schemeClr val="phClr">
                <a:tint val="80000"/>
                <a:satMod val="250000"/>
              </a:schemeClr>
            </a:gs>
            <a:gs pos="60000">
              <a:schemeClr val="phClr">
                <a:shade val="38000"/>
                <a:satMod val="175000"/>
              </a:schemeClr>
            </a:gs>
            <a:gs pos="0">
              <a:schemeClr val="phClr">
                <a:shade val="30000"/>
                <a:satMod val="175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</a:schemeClr>
              <a:schemeClr val="phClr">
                <a:tint val="96000"/>
                <a:satMod val="150000"/>
              </a:schemeClr>
            </a:duotone>
          </a:blip>
          <a:tile tx="0" ty="0" sx="80000" sy="8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Urban</Template>
  <TotalTime>5102</TotalTime>
  <Words>243</Words>
  <Application>Microsoft Office PowerPoint</Application>
  <PresentationFormat>如螢幕大小 (4:3)</PresentationFormat>
  <Paragraphs>48</Paragraphs>
  <Slides>6</Slides>
  <Notes>0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6</vt:i4>
      </vt:variant>
    </vt:vector>
  </HeadingPairs>
  <TitlesOfParts>
    <vt:vector size="7" baseType="lpstr">
      <vt:lpstr>都會</vt:lpstr>
      <vt:lpstr>作業1</vt:lpstr>
      <vt:lpstr>作業內容預覽</vt:lpstr>
      <vt:lpstr>作業內容</vt:lpstr>
      <vt:lpstr>如何繳交作業</vt:lpstr>
      <vt:lpstr>如何繳交作業</vt:lpstr>
      <vt:lpstr>提示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Lesson 1 遊戲引擎概論</dc:title>
  <dc:creator>user</dc:creator>
  <cp:lastModifiedBy>user</cp:lastModifiedBy>
  <cp:revision>295</cp:revision>
  <dcterms:created xsi:type="dcterms:W3CDTF">2024-11-18T05:57:07Z</dcterms:created>
  <dcterms:modified xsi:type="dcterms:W3CDTF">2025-10-13T13:31:59Z</dcterms:modified>
</cp:coreProperties>
</file>