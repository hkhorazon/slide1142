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9" r:id="rId3"/>
    <p:sldId id="261" r:id="rId4"/>
    <p:sldId id="260" r:id="rId5"/>
    <p:sldId id="257" r:id="rId6"/>
    <p:sldId id="262" r:id="rId7"/>
    <p:sldId id="258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182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>
          <a:xfrm flipV="1">
            <a:off x="5410182" y="3810000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4" name="矩形 23"/>
          <p:cNvSpPr/>
          <p:nvPr/>
        </p:nvSpPr>
        <p:spPr>
          <a:xfrm flipV="1">
            <a:off x="5410200" y="3897010"/>
            <a:ext cx="37338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5" name="矩形 24"/>
          <p:cNvSpPr/>
          <p:nvPr/>
        </p:nvSpPr>
        <p:spPr>
          <a:xfrm flipV="1">
            <a:off x="5410200" y="4115167"/>
            <a:ext cx="37338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6" name="矩形 25"/>
          <p:cNvSpPr/>
          <p:nvPr/>
        </p:nvSpPr>
        <p:spPr>
          <a:xfrm flipV="1">
            <a:off x="5410200" y="4164403"/>
            <a:ext cx="196596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矩形 26"/>
          <p:cNvSpPr/>
          <p:nvPr/>
        </p:nvSpPr>
        <p:spPr>
          <a:xfrm flipV="1">
            <a:off x="5410200" y="4199572"/>
            <a:ext cx="196596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0" name="圓角矩形 29"/>
          <p:cNvSpPr/>
          <p:nvPr/>
        </p:nvSpPr>
        <p:spPr bwMode="white">
          <a:xfrm>
            <a:off x="5410200" y="3962400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1" name="圓角矩形 30"/>
          <p:cNvSpPr/>
          <p:nvPr/>
        </p:nvSpPr>
        <p:spPr bwMode="white">
          <a:xfrm>
            <a:off x="7376507" y="406098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矩形 6"/>
          <p:cNvSpPr/>
          <p:nvPr/>
        </p:nvSpPr>
        <p:spPr>
          <a:xfrm>
            <a:off x="1" y="3649662"/>
            <a:ext cx="9144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矩形 9"/>
          <p:cNvSpPr/>
          <p:nvPr/>
        </p:nvSpPr>
        <p:spPr>
          <a:xfrm>
            <a:off x="0" y="3675527"/>
            <a:ext cx="9144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矩形 10"/>
          <p:cNvSpPr/>
          <p:nvPr/>
        </p:nvSpPr>
        <p:spPr>
          <a:xfrm flipV="1">
            <a:off x="6414051" y="3643090"/>
            <a:ext cx="2729950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矩形 18"/>
          <p:cNvSpPr/>
          <p:nvPr/>
        </p:nvSpPr>
        <p:spPr>
          <a:xfrm>
            <a:off x="0" y="0"/>
            <a:ext cx="9144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標題 7"/>
          <p:cNvSpPr>
            <a:spLocks noGrp="1"/>
          </p:cNvSpPr>
          <p:nvPr>
            <p:ph type="ctrTitle"/>
          </p:nvPr>
        </p:nvSpPr>
        <p:spPr>
          <a:xfrm>
            <a:off x="457200" y="2401887"/>
            <a:ext cx="84582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9" name="副標題 8"/>
          <p:cNvSpPr>
            <a:spLocks noGrp="1"/>
          </p:cNvSpPr>
          <p:nvPr>
            <p:ph type="subTitle" idx="1"/>
          </p:nvPr>
        </p:nvSpPr>
        <p:spPr>
          <a:xfrm>
            <a:off x="457200" y="3899938"/>
            <a:ext cx="4953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TW" altLang="en-US"/>
              <a:t>按一下以編輯母片副標題樣式</a:t>
            </a:r>
            <a:endParaRPr kumimoji="0" lang="en-US"/>
          </a:p>
        </p:txBody>
      </p:sp>
      <p:sp>
        <p:nvSpPr>
          <p:cNvPr id="28" name="日期版面配置區 27"/>
          <p:cNvSpPr>
            <a:spLocks noGrp="1"/>
          </p:cNvSpPr>
          <p:nvPr>
            <p:ph type="dt" sz="half" idx="10"/>
          </p:nvPr>
        </p:nvSpPr>
        <p:spPr>
          <a:xfrm>
            <a:off x="6705600" y="4206240"/>
            <a:ext cx="960120" cy="457200"/>
          </a:xfrm>
        </p:spPr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2025/9/10</a:t>
            </a:fld>
            <a:endParaRPr lang="zh-TW" altLang="en-US"/>
          </a:p>
        </p:txBody>
      </p:sp>
      <p:sp>
        <p:nvSpPr>
          <p:cNvPr id="17" name="頁尾版面配置區 16"/>
          <p:cNvSpPr>
            <a:spLocks noGrp="1"/>
          </p:cNvSpPr>
          <p:nvPr>
            <p:ph type="ftr" sz="quarter" idx="11"/>
          </p:nvPr>
        </p:nvSpPr>
        <p:spPr>
          <a:xfrm>
            <a:off x="5410200" y="4205288"/>
            <a:ext cx="1295400" cy="4572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29" name="投影片編號版面配置區 28"/>
          <p:cNvSpPr>
            <a:spLocks noGrp="1"/>
          </p:cNvSpPr>
          <p:nvPr>
            <p:ph type="sldNum" sz="quarter" idx="12"/>
          </p:nvPr>
        </p:nvSpPr>
        <p:spPr>
          <a:xfrm>
            <a:off x="8320088" y="1136"/>
            <a:ext cx="747712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2025/9/10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2025/9/10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2025/9/10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26" name="日期版面配置區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5BBEAD13-0566-4C6C-97E7-55F17F24B09F}" type="datetimeFigureOut">
              <a:rPr lang="zh-TW" altLang="en-US" smtClean="0"/>
              <a:pPr/>
              <a:t>2025/9/10</a:t>
            </a:fld>
            <a:endParaRPr lang="zh-TW" altLang="en-US"/>
          </a:p>
        </p:txBody>
      </p:sp>
      <p:sp>
        <p:nvSpPr>
          <p:cNvPr id="27" name="投影片編號版面配置區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28" name="頁尾版面配置區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>
          <a:xfrm>
            <a:off x="6583680" y="612648"/>
            <a:ext cx="957264" cy="457200"/>
          </a:xfrm>
        </p:spPr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2025/9/10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>
          <a:xfrm>
            <a:off x="5257800" y="612648"/>
            <a:ext cx="1325880" cy="4572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>
          <a:xfrm>
            <a:off x="8174736" y="2272"/>
            <a:ext cx="762000" cy="365760"/>
          </a:xfrm>
        </p:spPr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2025/9/10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2025/9/10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TW" altLang="en-US"/>
              <a:t>按一下圖示以新增圖片</a:t>
            </a:r>
            <a:endParaRPr kumimoji="0"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2025/9/10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2025/9/10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2025/9/10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/>
          <p:cNvSpPr/>
          <p:nvPr/>
        </p:nvSpPr>
        <p:spPr>
          <a:xfrm>
            <a:off x="1" y="366818"/>
            <a:ext cx="9144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矩形 28"/>
          <p:cNvSpPr/>
          <p:nvPr/>
        </p:nvSpPr>
        <p:spPr>
          <a:xfrm>
            <a:off x="0" y="-1"/>
            <a:ext cx="9144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0" name="矩形 29"/>
          <p:cNvSpPr/>
          <p:nvPr/>
        </p:nvSpPr>
        <p:spPr>
          <a:xfrm>
            <a:off x="0" y="308276"/>
            <a:ext cx="9144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1" name="矩形 30"/>
          <p:cNvSpPr/>
          <p:nvPr/>
        </p:nvSpPr>
        <p:spPr>
          <a:xfrm flipV="1">
            <a:off x="5410182" y="360246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矩形 31"/>
          <p:cNvSpPr/>
          <p:nvPr/>
        </p:nvSpPr>
        <p:spPr>
          <a:xfrm flipV="1">
            <a:off x="5410200" y="440112"/>
            <a:ext cx="37338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3" name="圓角矩形 32"/>
          <p:cNvSpPr/>
          <p:nvPr/>
        </p:nvSpPr>
        <p:spPr bwMode="white">
          <a:xfrm>
            <a:off x="5407339" y="497504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4" name="圓角矩形 33"/>
          <p:cNvSpPr/>
          <p:nvPr/>
        </p:nvSpPr>
        <p:spPr bwMode="white">
          <a:xfrm>
            <a:off x="7373646" y="58894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5" name="矩形 34"/>
          <p:cNvSpPr/>
          <p:nvPr/>
        </p:nvSpPr>
        <p:spPr bwMode="invGray">
          <a:xfrm>
            <a:off x="9084966" y="-2001"/>
            <a:ext cx="5762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6" name="矩形 35"/>
          <p:cNvSpPr/>
          <p:nvPr/>
        </p:nvSpPr>
        <p:spPr bwMode="invGray">
          <a:xfrm>
            <a:off x="9044481" y="-2001"/>
            <a:ext cx="27432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7" name="矩形 36"/>
          <p:cNvSpPr/>
          <p:nvPr/>
        </p:nvSpPr>
        <p:spPr bwMode="invGray">
          <a:xfrm>
            <a:off x="9025428" y="-2001"/>
            <a:ext cx="9144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8" name="矩形 37"/>
          <p:cNvSpPr/>
          <p:nvPr/>
        </p:nvSpPr>
        <p:spPr bwMode="invGray">
          <a:xfrm>
            <a:off x="8975423" y="-2001"/>
            <a:ext cx="27432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9" name="矩形 38"/>
          <p:cNvSpPr/>
          <p:nvPr/>
        </p:nvSpPr>
        <p:spPr bwMode="invGray">
          <a:xfrm>
            <a:off x="8915677" y="380"/>
            <a:ext cx="54864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0" name="矩形 39"/>
          <p:cNvSpPr/>
          <p:nvPr/>
        </p:nvSpPr>
        <p:spPr bwMode="invGray">
          <a:xfrm>
            <a:off x="8873475" y="380"/>
            <a:ext cx="9144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標題版面配置區 2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13" name="文字版面配置區 12"/>
          <p:cNvSpPr>
            <a:spLocks noGrp="1"/>
          </p:cNvSpPr>
          <p:nvPr>
            <p:ph type="body" idx="1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  <a:p>
            <a:pPr lvl="1" eaLnBrk="1" latinLnBrk="0" hangingPunct="1"/>
            <a:r>
              <a:rPr kumimoji="0" lang="zh-TW" altLang="en-US"/>
              <a:t>第二層</a:t>
            </a:r>
          </a:p>
          <a:p>
            <a:pPr lvl="2" eaLnBrk="1" latinLnBrk="0" hangingPunct="1"/>
            <a:r>
              <a:rPr kumimoji="0" lang="zh-TW" altLang="en-US"/>
              <a:t>第三層</a:t>
            </a:r>
          </a:p>
          <a:p>
            <a:pPr lvl="3" eaLnBrk="1" latinLnBrk="0" hangingPunct="1"/>
            <a:r>
              <a:rPr kumimoji="0" lang="zh-TW" altLang="en-US"/>
              <a:t>第四層</a:t>
            </a:r>
          </a:p>
          <a:p>
            <a:pPr lvl="4" eaLnBrk="1" latinLnBrk="0" hangingPunct="1"/>
            <a:r>
              <a:rPr kumimoji="0" lang="zh-TW" altLang="en-US"/>
              <a:t>第五層</a:t>
            </a:r>
            <a:endParaRPr kumimoji="0" lang="en-US"/>
          </a:p>
        </p:txBody>
      </p:sp>
      <p:sp>
        <p:nvSpPr>
          <p:cNvPr id="14" name="日期版面配置區 13"/>
          <p:cNvSpPr>
            <a:spLocks noGrp="1"/>
          </p:cNvSpPr>
          <p:nvPr>
            <p:ph type="dt" sz="half" idx="2"/>
          </p:nvPr>
        </p:nvSpPr>
        <p:spPr>
          <a:xfrm>
            <a:off x="6586536" y="612648"/>
            <a:ext cx="957264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fld id="{5BBEAD13-0566-4C6C-97E7-55F17F24B09F}" type="datetimeFigureOut">
              <a:rPr lang="zh-TW" altLang="en-US" smtClean="0"/>
              <a:pPr/>
              <a:t>2025/9/10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3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23" name="投影片編號版面配置區 22"/>
          <p:cNvSpPr>
            <a:spLocks noGrp="1"/>
          </p:cNvSpPr>
          <p:nvPr>
            <p:ph type="sldNum" sz="quarter" idx="4"/>
          </p:nvPr>
        </p:nvSpPr>
        <p:spPr>
          <a:xfrm>
            <a:off x="8174736" y="2272"/>
            <a:ext cx="762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unity.com/cn/download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Lesson 2</a:t>
            </a:r>
            <a:br>
              <a:rPr lang="en-US" altLang="zh-TW" dirty="0"/>
            </a:br>
            <a:r>
              <a:rPr lang="zh-TW" altLang="en-US" dirty="0"/>
              <a:t>安裝</a:t>
            </a:r>
            <a:r>
              <a:rPr lang="en-US" altLang="zh-TW" dirty="0"/>
              <a:t>Unity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/>
          </a:p>
          <a:p>
            <a:r>
              <a:rPr lang="en-US" altLang="zh-TW" dirty="0"/>
              <a:t>Horazon</a:t>
            </a:r>
          </a:p>
          <a:p>
            <a:r>
              <a:rPr lang="zh-TW" altLang="en-US" dirty="0">
                <a:solidFill>
                  <a:srgbClr val="003399"/>
                </a:solidFill>
                <a:latin typeface="Times New Roman" panose="02020603050405020304" pitchFamily="18" charset="0"/>
              </a:rPr>
              <a:t>基礎遊戲引擎應用</a:t>
            </a:r>
            <a:endParaRPr lang="zh-TW" altLang="en-US" dirty="0"/>
          </a:p>
          <a:p>
            <a:endParaRPr lang="zh-TW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Unity</a:t>
            </a:r>
            <a:r>
              <a:rPr lang="zh-TW" altLang="en-US" dirty="0"/>
              <a:t> </a:t>
            </a:r>
            <a:r>
              <a:rPr lang="en-US" altLang="zh-TW" dirty="0"/>
              <a:t>Hub</a:t>
            </a:r>
            <a:r>
              <a:rPr lang="zh-TW" altLang="en-US" dirty="0"/>
              <a:t>安裝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hlinkClick r:id="rId2"/>
              </a:rPr>
              <a:t>https://unity.com/cn/download</a:t>
            </a:r>
            <a:endParaRPr lang="zh-TW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14414" y="2786058"/>
            <a:ext cx="6656554" cy="39290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申請帳號 </a:t>
            </a:r>
            <a:r>
              <a:rPr lang="en-US" altLang="zh-TW" dirty="0"/>
              <a:t>&amp;</a:t>
            </a:r>
            <a:r>
              <a:rPr lang="zh-TW" altLang="en-US" dirty="0"/>
              <a:t> 授權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45" y="2357430"/>
            <a:ext cx="3807112" cy="32861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928926" y="2643182"/>
            <a:ext cx="5857884" cy="37377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Unity</a:t>
            </a:r>
            <a:r>
              <a:rPr lang="zh-TW" altLang="en-US" dirty="0"/>
              <a:t>安裝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42910" y="2500306"/>
            <a:ext cx="6095663" cy="42439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Unity</a:t>
            </a:r>
            <a:r>
              <a:rPr lang="zh-TW" altLang="en-US" dirty="0"/>
              <a:t> 版本選擇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>
                <a:latin typeface="+mj-ea"/>
                <a:ea typeface="+mj-ea"/>
              </a:rPr>
              <a:t>版本演進</a:t>
            </a:r>
            <a:endParaRPr lang="en-US" altLang="zh-TW" dirty="0">
              <a:latin typeface="+mj-ea"/>
              <a:ea typeface="+mj-ea"/>
            </a:endParaRPr>
          </a:p>
          <a:p>
            <a:pPr lvl="1"/>
            <a:r>
              <a:rPr lang="en-US" altLang="zh-TW" dirty="0">
                <a:latin typeface="+mj-ea"/>
                <a:ea typeface="+mj-ea"/>
              </a:rPr>
              <a:t>4, 5, 2017 … 2022, 2023, 6</a:t>
            </a:r>
            <a:r>
              <a:rPr lang="en-US" altLang="zh-TW" sz="1600" dirty="0">
                <a:latin typeface="+mj-ea"/>
                <a:ea typeface="+mj-ea"/>
              </a:rPr>
              <a:t>(6000)</a:t>
            </a:r>
          </a:p>
          <a:p>
            <a:pPr lvl="1"/>
            <a:endParaRPr lang="en-US" altLang="zh-TW" sz="1600" dirty="0">
              <a:latin typeface="+mj-ea"/>
              <a:ea typeface="+mj-ea"/>
            </a:endParaRPr>
          </a:p>
          <a:p>
            <a:r>
              <a:rPr lang="en-US" altLang="zh-TW" dirty="0"/>
              <a:t>2022, 2023, 6000</a:t>
            </a:r>
            <a:r>
              <a:rPr lang="zh-TW" altLang="en-US" dirty="0"/>
              <a:t>版本間，在推行一些渲染管道</a:t>
            </a:r>
            <a:r>
              <a:rPr lang="en-US" altLang="zh-TW" dirty="0"/>
              <a:t>(pipeline)</a:t>
            </a:r>
            <a:r>
              <a:rPr lang="zh-TW" altLang="en-US" dirty="0"/>
              <a:t>上有些差異</a:t>
            </a:r>
            <a:endParaRPr lang="en-US" altLang="zh-TW" dirty="0">
              <a:latin typeface="+mj-ea"/>
              <a:ea typeface="+mj-ea"/>
            </a:endParaRPr>
          </a:p>
          <a:p>
            <a:endParaRPr lang="en-US" altLang="zh-TW" dirty="0">
              <a:latin typeface="+mj-ea"/>
              <a:ea typeface="+mj-ea"/>
            </a:endParaRPr>
          </a:p>
          <a:p>
            <a:r>
              <a:rPr lang="en-US" altLang="zh-TW" dirty="0">
                <a:latin typeface="+mj-ea"/>
                <a:ea typeface="+mj-ea"/>
              </a:rPr>
              <a:t>LTS</a:t>
            </a:r>
            <a:r>
              <a:rPr lang="zh-TW" altLang="en-US" dirty="0">
                <a:latin typeface="+mj-ea"/>
                <a:ea typeface="+mj-ea"/>
              </a:rPr>
              <a:t>版本</a:t>
            </a:r>
            <a:endParaRPr lang="en-US" altLang="zh-TW" dirty="0">
              <a:latin typeface="+mj-ea"/>
              <a:ea typeface="+mj-ea"/>
            </a:endParaRPr>
          </a:p>
          <a:p>
            <a:pPr lvl="1"/>
            <a:r>
              <a:rPr lang="en-US" altLang="zh-TW" dirty="0">
                <a:latin typeface="+mj-ea"/>
                <a:ea typeface="+mj-ea"/>
              </a:rPr>
              <a:t>Long Term Support</a:t>
            </a:r>
          </a:p>
          <a:p>
            <a:pPr lvl="1"/>
            <a:r>
              <a:rPr lang="zh-TW" altLang="en-US" dirty="0">
                <a:latin typeface="+mj-ea"/>
                <a:ea typeface="+mj-ea"/>
              </a:rPr>
              <a:t>維護約</a:t>
            </a:r>
            <a:r>
              <a:rPr lang="en-US" altLang="zh-TW" dirty="0">
                <a:latin typeface="+mj-ea"/>
                <a:ea typeface="+mj-ea"/>
              </a:rPr>
              <a:t>2</a:t>
            </a:r>
            <a:r>
              <a:rPr lang="zh-TW" altLang="en-US" dirty="0">
                <a:latin typeface="+mj-ea"/>
                <a:ea typeface="+mj-ea"/>
              </a:rPr>
              <a:t>年</a:t>
            </a:r>
            <a:endParaRPr lang="en-US" altLang="zh-TW" dirty="0">
              <a:latin typeface="+mj-ea"/>
              <a:ea typeface="+mj-ea"/>
            </a:endParaRPr>
          </a:p>
          <a:p>
            <a:pPr lvl="1"/>
            <a:endParaRPr lang="en-US" altLang="zh-TW" dirty="0">
              <a:latin typeface="+mj-ea"/>
              <a:ea typeface="+mj-ea"/>
            </a:endParaRPr>
          </a:p>
          <a:p>
            <a:pPr lvl="1"/>
            <a:endParaRPr lang="zh-TW" altLang="en-US" dirty="0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Unity </a:t>
            </a:r>
            <a:r>
              <a:rPr lang="zh-TW" altLang="en-US" dirty="0"/>
              <a:t>開啟專案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新增</a:t>
            </a:r>
            <a:endParaRPr lang="en-US" altLang="zh-TW" dirty="0"/>
          </a:p>
          <a:p>
            <a:pPr lvl="1"/>
            <a:r>
              <a:rPr lang="zh-TW" altLang="en-US" dirty="0"/>
              <a:t>全新專案</a:t>
            </a:r>
            <a:endParaRPr lang="en-US" altLang="zh-TW" dirty="0"/>
          </a:p>
          <a:p>
            <a:pPr lvl="1"/>
            <a:r>
              <a:rPr lang="zh-TW" altLang="en-US" dirty="0"/>
              <a:t>其他來源</a:t>
            </a:r>
            <a:endParaRPr lang="en-US" altLang="zh-TW" dirty="0"/>
          </a:p>
          <a:p>
            <a:r>
              <a:rPr lang="zh-TW" altLang="en-US" dirty="0"/>
              <a:t>開啟</a:t>
            </a:r>
            <a:endParaRPr lang="en-US" altLang="zh-TW" dirty="0"/>
          </a:p>
          <a:p>
            <a:endParaRPr lang="zh-TW" altLang="en-US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643174" y="3571876"/>
            <a:ext cx="6500826" cy="47758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Unity </a:t>
            </a:r>
            <a:r>
              <a:rPr lang="zh-TW" altLang="en-US" dirty="0"/>
              <a:t>英文與中文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>
                <a:latin typeface="+mj-ea"/>
                <a:ea typeface="+mj-ea"/>
              </a:rPr>
              <a:t>強烈建議使用英文</a:t>
            </a:r>
            <a:endParaRPr lang="en-US" altLang="zh-TW" dirty="0">
              <a:latin typeface="+mj-ea"/>
              <a:ea typeface="+mj-ea"/>
            </a:endParaRPr>
          </a:p>
          <a:p>
            <a:r>
              <a:rPr lang="en-US" altLang="zh-TW" dirty="0">
                <a:latin typeface="+mj-ea"/>
                <a:ea typeface="+mj-ea"/>
              </a:rPr>
              <a:t>Edit &gt; Preferences &gt; Languages</a:t>
            </a:r>
          </a:p>
          <a:p>
            <a:pPr lvl="1"/>
            <a:r>
              <a:rPr lang="zh-TW" altLang="en-US" dirty="0">
                <a:latin typeface="+mj-ea"/>
                <a:ea typeface="+mj-ea"/>
              </a:rPr>
              <a:t>打勾第一樣，第二樣選中文</a:t>
            </a:r>
            <a:endParaRPr lang="en-US" altLang="zh-TW" dirty="0">
              <a:latin typeface="+mj-ea"/>
              <a:ea typeface="+mj-ea"/>
            </a:endParaRPr>
          </a:p>
          <a:p>
            <a:endParaRPr lang="zh-TW" altLang="en-US" dirty="0">
              <a:latin typeface="+mj-ea"/>
              <a:ea typeface="+mj-ea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47664" y="3717032"/>
            <a:ext cx="5206994" cy="30144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Lesson 2.1</a:t>
            </a:r>
            <a:br>
              <a:rPr lang="en-US" altLang="zh-TW" dirty="0"/>
            </a:br>
            <a:r>
              <a:rPr lang="zh-TW" altLang="en-US" dirty="0"/>
              <a:t>專案種類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/>
          </a:p>
          <a:p>
            <a:r>
              <a:rPr lang="en-US" altLang="zh-TW" dirty="0"/>
              <a:t>Horazon</a:t>
            </a:r>
          </a:p>
          <a:p>
            <a:r>
              <a:rPr lang="zh-TW" altLang="en-US" dirty="0">
                <a:solidFill>
                  <a:srgbClr val="003399"/>
                </a:solidFill>
                <a:latin typeface="Times New Roman" panose="02020603050405020304" pitchFamily="18" charset="0"/>
              </a:rPr>
              <a:t>基礎遊戲引擎應用</a:t>
            </a:r>
            <a:r>
              <a:rPr lang="en-US" altLang="zh-TW" dirty="0">
                <a:solidFill>
                  <a:srgbClr val="003399"/>
                </a:solidFill>
                <a:latin typeface="Times New Roman" panose="02020603050405020304" pitchFamily="18" charset="0"/>
              </a:rPr>
              <a:t>(Y2)</a:t>
            </a:r>
            <a:endParaRPr lang="zh-TW" altLang="en-US" dirty="0"/>
          </a:p>
          <a:p>
            <a:endParaRPr lang="zh-TW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新增專案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2285992"/>
            <a:ext cx="8229600" cy="4288544"/>
          </a:xfrm>
        </p:spPr>
        <p:txBody>
          <a:bodyPr/>
          <a:lstStyle/>
          <a:p>
            <a:endParaRPr lang="zh-TW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214942" y="1000108"/>
            <a:ext cx="3143250" cy="790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85721" y="2216129"/>
            <a:ext cx="8286808" cy="46418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橢圓 5"/>
          <p:cNvSpPr/>
          <p:nvPr/>
        </p:nvSpPr>
        <p:spPr>
          <a:xfrm>
            <a:off x="6715140" y="928670"/>
            <a:ext cx="1428760" cy="1000132"/>
          </a:xfrm>
          <a:prstGeom prst="ellipse">
            <a:avLst/>
          </a:prstGeom>
          <a:noFill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種類分法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3D / 2D</a:t>
            </a:r>
          </a:p>
          <a:p>
            <a:r>
              <a:rPr lang="zh-TW" altLang="en-US" dirty="0"/>
              <a:t>平台 </a:t>
            </a:r>
            <a:r>
              <a:rPr lang="en-US" altLang="zh-TW" dirty="0"/>
              <a:t>(PC/</a:t>
            </a:r>
            <a:r>
              <a:rPr lang="zh-TW" altLang="en-US" dirty="0"/>
              <a:t>手機</a:t>
            </a:r>
            <a:r>
              <a:rPr lang="en-US" altLang="zh-TW" dirty="0"/>
              <a:t>/VR)</a:t>
            </a:r>
          </a:p>
          <a:p>
            <a:endParaRPr lang="en-US" altLang="zh-TW" dirty="0"/>
          </a:p>
          <a:p>
            <a:r>
              <a:rPr lang="zh-TW" altLang="en-US" dirty="0"/>
              <a:t>其他需求</a:t>
            </a:r>
            <a:endParaRPr lang="en-US" altLang="zh-TW" dirty="0"/>
          </a:p>
          <a:p>
            <a:r>
              <a:rPr lang="zh-TW" altLang="en-US" dirty="0"/>
              <a:t>官方範本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全</a:t>
            </a:r>
            <a:r>
              <a:rPr lang="en-US" altLang="zh-TW" dirty="0"/>
              <a:t>3D (</a:t>
            </a:r>
            <a:r>
              <a:rPr lang="en-US" dirty="0"/>
              <a:t>Perspective </a:t>
            </a:r>
            <a:r>
              <a:rPr lang="en-US" altLang="zh-TW" dirty="0"/>
              <a:t>3D</a:t>
            </a:r>
            <a:r>
              <a:rPr lang="zh-TW" altLang="en-US" dirty="0"/>
              <a:t>、透視</a:t>
            </a:r>
            <a:r>
              <a:rPr lang="en-US" altLang="zh-TW" dirty="0"/>
              <a:t>3D)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3076" name="Picture 4" descr="A beginner's guide to Elden Ring: what it is and why you should play it |  Role playing games | The Guardian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2143117"/>
            <a:ext cx="4643469" cy="2786082"/>
          </a:xfrm>
          <a:prstGeom prst="rect">
            <a:avLst/>
          </a:prstGeom>
          <a:noFill/>
        </p:spPr>
      </p:pic>
      <p:pic>
        <p:nvPicPr>
          <p:cNvPr id="3074" name="Picture 2" descr="Apex Legends (2021) - Gameplay (PC UHD) [4K60FPS]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429124" y="4205882"/>
            <a:ext cx="4714876" cy="265211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正交</a:t>
            </a:r>
            <a:r>
              <a:rPr lang="en-US" altLang="zh-TW" dirty="0"/>
              <a:t>3D (Orthographic, Isometric)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zh-TW" altLang="en-US" dirty="0">
              <a:latin typeface="+mj-ea"/>
              <a:ea typeface="+mj-ea"/>
            </a:endParaRPr>
          </a:p>
        </p:txBody>
      </p:sp>
      <p:sp>
        <p:nvSpPr>
          <p:cNvPr id="2052" name="AutoShape 4" descr="How to Screenshot in League of Legends? (Easy Guide)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2054" name="AutoShape 6" descr="How to Screenshot in League of Legends? (Easy Guide)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2056" name="AutoShape 8" descr="How to Screenshot in League of Legends? (Easy Guide)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pic>
        <p:nvPicPr>
          <p:cNvPr id="2058" name="Picture 10" descr="Screenshot of League of Legends. LoL affords a variety of ways for... |  Download Scientific Diagram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4580" y="2218892"/>
            <a:ext cx="4827252" cy="2714620"/>
          </a:xfrm>
          <a:prstGeom prst="rect">
            <a:avLst/>
          </a:prstGeom>
          <a:noFill/>
        </p:spPr>
      </p:pic>
      <p:sp>
        <p:nvSpPr>
          <p:cNvPr id="2060" name="AutoShape 12" descr="Clash of Clans × Supercell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2062" name="AutoShape 14" descr="Clash of Clans × Supercell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pic>
        <p:nvPicPr>
          <p:cNvPr id="3074" name="Picture 2" descr="Path of Exile 2 First Impressions: Pound of Flesh - FullCleared">
            <a:extLst>
              <a:ext uri="{FF2B5EF4-FFF2-40B4-BE49-F238E27FC236}">
                <a16:creationId xmlns:a16="http://schemas.microsoft.com/office/drawing/2014/main" id="{53F94019-00D5-4F27-2DC9-EF6C7730BA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3928" y="3924019"/>
            <a:ext cx="5220072" cy="29362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3D</a:t>
            </a:r>
            <a:r>
              <a:rPr lang="zh-TW" altLang="en-US" dirty="0"/>
              <a:t>畫面的</a:t>
            </a:r>
            <a:r>
              <a:rPr lang="en-US" altLang="zh-TW" dirty="0"/>
              <a:t>2D(</a:t>
            </a:r>
            <a:r>
              <a:rPr lang="zh-TW" altLang="en-US" dirty="0"/>
              <a:t>移動</a:t>
            </a:r>
            <a:r>
              <a:rPr lang="en-US" altLang="zh-TW" dirty="0"/>
              <a:t>)</a:t>
            </a:r>
            <a:r>
              <a:rPr lang="zh-TW" altLang="en-US" dirty="0"/>
              <a:t>遊戲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18434" name="Picture 2" descr="波斯王子：失落王冠》| Ubisoft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142908" y="3929066"/>
            <a:ext cx="5206993" cy="2928934"/>
          </a:xfrm>
          <a:prstGeom prst="rect">
            <a:avLst/>
          </a:prstGeom>
          <a:noFill/>
        </p:spPr>
      </p:pic>
      <p:pic>
        <p:nvPicPr>
          <p:cNvPr id="18436" name="Picture 4" descr="教學各式各樣模式| 任天堂明星大亂鬥特別版| 任天堂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191049" y="2071678"/>
            <a:ext cx="4952951" cy="278603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混和式</a:t>
            </a:r>
            <a:r>
              <a:rPr lang="en-US" altLang="zh-TW" dirty="0"/>
              <a:t>3D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19458" name="Picture 2" descr="八方旅人 / 歧路旅人 1-2 - 商人第一章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2071678"/>
            <a:ext cx="5459268" cy="3071834"/>
          </a:xfrm>
          <a:prstGeom prst="rect">
            <a:avLst/>
          </a:prstGeom>
          <a:noFill/>
        </p:spPr>
      </p:pic>
      <p:pic>
        <p:nvPicPr>
          <p:cNvPr id="19460" name="Picture 4" descr="Official Ragnarok Online by Gravity Game Hub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821044" y="4252924"/>
            <a:ext cx="4322956" cy="260507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透視</a:t>
            </a:r>
            <a:r>
              <a:rPr lang="en-US" altLang="zh-TW" dirty="0"/>
              <a:t>2D (</a:t>
            </a:r>
            <a:r>
              <a:rPr lang="en-US" dirty="0"/>
              <a:t>Perspective 2D)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zh-TW" altLang="en-US" dirty="0">
              <a:latin typeface="+mj-ea"/>
              <a:ea typeface="+mj-ea"/>
            </a:endParaRPr>
          </a:p>
        </p:txBody>
      </p:sp>
      <p:pic>
        <p:nvPicPr>
          <p:cNvPr id="2052" name="Picture 4" descr="A 2D side-on game demo made with Unity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3990985"/>
            <a:ext cx="5085614" cy="2867015"/>
          </a:xfrm>
          <a:prstGeom prst="rect">
            <a:avLst/>
          </a:prstGeom>
          <a:noFill/>
        </p:spPr>
      </p:pic>
      <p:pic>
        <p:nvPicPr>
          <p:cNvPr id="2050" name="Picture 2" descr="https://shared.fastly.steamstatic.com/store_item_assets/steam/apps/1313140/ss_f4ca3fd0416c3f41c57bc3809bb45f8f20e684ec.1920x1080.jpg?t=1729515117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214810" y="2214554"/>
            <a:ext cx="4929190" cy="2772669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純</a:t>
            </a:r>
            <a:r>
              <a:rPr lang="en-US" altLang="zh-TW" dirty="0"/>
              <a:t>2D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3074" name="Picture 2" descr="Dazzling 2D games made with Unity - Unite Copenhagen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429124" y="3071809"/>
            <a:ext cx="4714876" cy="2652119"/>
          </a:xfrm>
          <a:prstGeom prst="rect">
            <a:avLst/>
          </a:prstGeom>
          <a:noFill/>
        </p:spPr>
      </p:pic>
      <p:pic>
        <p:nvPicPr>
          <p:cNvPr id="3076" name="Picture 4" descr="A top-down 2D game demo made with Unity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2143116"/>
            <a:ext cx="4352254" cy="435769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等角</a:t>
            </a:r>
            <a:r>
              <a:rPr lang="en-US" altLang="zh-TW" dirty="0"/>
              <a:t>2D Isometric 2D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1028" name="Picture 4" descr="Age of Empires II: Definitive Edition | Xbox">
            <a:extLst>
              <a:ext uri="{FF2B5EF4-FFF2-40B4-BE49-F238E27FC236}">
                <a16:creationId xmlns:a16="http://schemas.microsoft.com/office/drawing/2014/main" id="{3306C86F-3C02-2115-14BD-62B5FB9135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726" y="2209799"/>
            <a:ext cx="4863758" cy="2734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Design paradigm for 2D illustrated isometric games? - Unity Engine - Unity  Discussions">
            <a:extLst>
              <a:ext uri="{FF2B5EF4-FFF2-40B4-BE49-F238E27FC236}">
                <a16:creationId xmlns:a16="http://schemas.microsoft.com/office/drawing/2014/main" id="{079BF10E-F676-C0E7-E5E6-839279E1CD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4007" y="4328170"/>
            <a:ext cx="4498923" cy="25298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開啟專案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0034" y="2162492"/>
            <a:ext cx="8215370" cy="46240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橢圓 4"/>
          <p:cNvSpPr/>
          <p:nvPr/>
        </p:nvSpPr>
        <p:spPr>
          <a:xfrm>
            <a:off x="2500298" y="3500438"/>
            <a:ext cx="6357982" cy="1000132"/>
          </a:xfrm>
          <a:prstGeom prst="ellipse">
            <a:avLst/>
          </a:prstGeom>
          <a:noFill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F0AAA9E-E965-92CE-BC61-1192963FA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開啟新專案 </a:t>
            </a:r>
            <a:r>
              <a:rPr lang="en-US" altLang="zh-TW" dirty="0"/>
              <a:t>[</a:t>
            </a:r>
            <a:r>
              <a:rPr lang="zh-TW" altLang="en-US" dirty="0"/>
              <a:t>進階資訊</a:t>
            </a:r>
            <a:r>
              <a:rPr lang="en-US" altLang="zh-TW" dirty="0"/>
              <a:t>]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FA13CAE-16B3-3F1D-3028-B596ABD7AA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Build-in Render </a:t>
            </a:r>
            <a:r>
              <a:rPr lang="en-US" altLang="zh-TW" dirty="0" err="1"/>
              <a:t>Pipline</a:t>
            </a:r>
            <a:endParaRPr lang="en-US" altLang="zh-TW" dirty="0"/>
          </a:p>
          <a:p>
            <a:pPr lvl="1"/>
            <a:r>
              <a:rPr lang="en-US" altLang="zh-TW" dirty="0"/>
              <a:t>2022</a:t>
            </a:r>
            <a:r>
              <a:rPr lang="zh-TW" altLang="en-US" dirty="0"/>
              <a:t>版本</a:t>
            </a:r>
            <a:endParaRPr lang="en-US" altLang="zh-TW" dirty="0"/>
          </a:p>
          <a:p>
            <a:r>
              <a:rPr lang="en-US" altLang="zh-TW" dirty="0"/>
              <a:t>HDRP-3D (High Definition)</a:t>
            </a:r>
          </a:p>
          <a:p>
            <a:r>
              <a:rPr lang="en-US" altLang="zh-TW" dirty="0"/>
              <a:t>URP  (Universal)</a:t>
            </a:r>
            <a:endParaRPr lang="zh-TW" altLang="en-US" dirty="0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8B3A40BB-1748-ED39-DAD2-6F3A5EAC2C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995936" y="3933056"/>
            <a:ext cx="4906888" cy="27486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8998760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040161D-E681-BBE6-80E7-2CF4D1F33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遊戲名稱參照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77F662B-6DF7-7015-3B88-82484D3729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zh-TW" altLang="en-US" dirty="0"/>
              <a:t>艾爾登法環</a:t>
            </a:r>
            <a:endParaRPr lang="en-US" altLang="zh-TW" dirty="0"/>
          </a:p>
          <a:p>
            <a:r>
              <a:rPr lang="en-US" altLang="zh-TW" dirty="0"/>
              <a:t>Apex</a:t>
            </a:r>
          </a:p>
          <a:p>
            <a:r>
              <a:rPr lang="zh-TW" altLang="en-US" dirty="0"/>
              <a:t>英雄聯盟</a:t>
            </a:r>
            <a:endParaRPr lang="en-US" altLang="zh-TW" dirty="0"/>
          </a:p>
          <a:p>
            <a:r>
              <a:rPr lang="zh-TW" altLang="en-US" dirty="0"/>
              <a:t>流亡黯道</a:t>
            </a:r>
            <a:endParaRPr lang="en-US" altLang="zh-TW" dirty="0"/>
          </a:p>
          <a:p>
            <a:r>
              <a:rPr lang="zh-TW" altLang="en-US" dirty="0"/>
              <a:t>任天堂明星大亂鬥特別版</a:t>
            </a:r>
            <a:endParaRPr lang="en-US" altLang="zh-TW" dirty="0"/>
          </a:p>
          <a:p>
            <a:r>
              <a:rPr lang="zh-TW" altLang="en-US" dirty="0"/>
              <a:t>波斯王子：失落王冠</a:t>
            </a:r>
            <a:endParaRPr lang="en-US" altLang="zh-TW" dirty="0"/>
          </a:p>
          <a:p>
            <a:r>
              <a:rPr lang="zh-TW" altLang="en-US" dirty="0"/>
              <a:t>歧路旅人</a:t>
            </a:r>
            <a:r>
              <a:rPr lang="en-US" altLang="zh-TW" dirty="0"/>
              <a:t>2</a:t>
            </a:r>
          </a:p>
          <a:p>
            <a:r>
              <a:rPr lang="zh-TW" altLang="en-US" dirty="0"/>
              <a:t>仙境傳說</a:t>
            </a:r>
            <a:endParaRPr lang="en-US" altLang="zh-TW" dirty="0"/>
          </a:p>
          <a:p>
            <a:r>
              <a:rPr lang="zh-TW" altLang="en-US" dirty="0"/>
              <a:t>進擊羔羊傳說</a:t>
            </a:r>
            <a:endParaRPr lang="en-US" altLang="zh-TW" dirty="0"/>
          </a:p>
          <a:p>
            <a:r>
              <a:rPr lang="zh-TW" altLang="en-US" dirty="0"/>
              <a:t>空洞騎士</a:t>
            </a:r>
            <a:endParaRPr lang="en-US" altLang="zh-TW" dirty="0"/>
          </a:p>
          <a:p>
            <a:r>
              <a:rPr lang="zh-TW" altLang="en-US" dirty="0"/>
              <a:t>世紀帝國</a:t>
            </a:r>
            <a:r>
              <a:rPr lang="en-US" altLang="zh-TW" dirty="0"/>
              <a:t>2</a:t>
            </a:r>
          </a:p>
          <a:p>
            <a:r>
              <a:rPr lang="zh-TW" altLang="en-US"/>
              <a:t>黑帝斯</a:t>
            </a:r>
            <a:endParaRPr lang="en-US" altLang="zh-TW" dirty="0"/>
          </a:p>
          <a:p>
            <a:r>
              <a:rPr lang="en-US" altLang="zh-TW" dirty="0"/>
              <a:t>Unity</a:t>
            </a:r>
            <a:r>
              <a:rPr lang="zh-TW" altLang="en-US" dirty="0"/>
              <a:t>官方範例等</a:t>
            </a:r>
            <a:endParaRPr lang="en-US" altLang="zh-TW" dirty="0"/>
          </a:p>
          <a:p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87122428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都會">
  <a:themeElements>
    <a:clrScheme name="自訂 2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53548A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自訂 1">
      <a:majorFont>
        <a:latin typeface="Arial"/>
        <a:ea typeface="微軟正黑體"/>
        <a:cs typeface=""/>
      </a:majorFont>
      <a:minorFont>
        <a:latin typeface="Arial"/>
        <a:ea typeface="微軟正黑體"/>
        <a:cs typeface=""/>
      </a:minorFont>
    </a:fontScheme>
    <a:fmtScheme name="都會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301</TotalTime>
  <Words>244</Words>
  <Application>Microsoft Office PowerPoint</Application>
  <PresentationFormat>如螢幕大小 (4:3)</PresentationFormat>
  <Paragraphs>64</Paragraphs>
  <Slides>20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20</vt:i4>
      </vt:variant>
    </vt:vector>
  </HeadingPairs>
  <TitlesOfParts>
    <vt:vector size="25" baseType="lpstr">
      <vt:lpstr>Arial</vt:lpstr>
      <vt:lpstr>Georgia</vt:lpstr>
      <vt:lpstr>Times New Roman</vt:lpstr>
      <vt:lpstr>Wingdings 2</vt:lpstr>
      <vt:lpstr>都會</vt:lpstr>
      <vt:lpstr>Lesson 2 安裝Unity</vt:lpstr>
      <vt:lpstr>Unity Hub安裝</vt:lpstr>
      <vt:lpstr>申請帳號 &amp; 授權</vt:lpstr>
      <vt:lpstr>Unity安裝</vt:lpstr>
      <vt:lpstr>Unity 版本選擇</vt:lpstr>
      <vt:lpstr>Unity 開啟專案</vt:lpstr>
      <vt:lpstr>Unity 英文與中文</vt:lpstr>
      <vt:lpstr>Lesson 2.1 專案種類</vt:lpstr>
      <vt:lpstr>新增專案</vt:lpstr>
      <vt:lpstr>種類分法</vt:lpstr>
      <vt:lpstr>全3D (Perspective 3D、透視3D)</vt:lpstr>
      <vt:lpstr>正交3D (Orthographic, Isometric)</vt:lpstr>
      <vt:lpstr>3D畫面的2D(移動)遊戲</vt:lpstr>
      <vt:lpstr>混和式3D</vt:lpstr>
      <vt:lpstr>透視2D (Perspective 2D)</vt:lpstr>
      <vt:lpstr>純2D</vt:lpstr>
      <vt:lpstr>等角2D Isometric 2D</vt:lpstr>
      <vt:lpstr>開啟專案</vt:lpstr>
      <vt:lpstr>開啟新專案 [進階資訊]</vt:lpstr>
      <vt:lpstr>遊戲名稱參照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1 遊戲引擎概論</dc:title>
  <dc:creator>user</dc:creator>
  <cp:lastModifiedBy>仕明 張</cp:lastModifiedBy>
  <cp:revision>25</cp:revision>
  <dcterms:created xsi:type="dcterms:W3CDTF">2024-11-18T05:57:07Z</dcterms:created>
  <dcterms:modified xsi:type="dcterms:W3CDTF">2025-09-10T06:06:38Z</dcterms:modified>
</cp:coreProperties>
</file>