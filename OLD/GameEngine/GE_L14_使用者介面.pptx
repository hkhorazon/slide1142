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1"/>
  </p:notesMasterIdLst>
  <p:sldIdLst>
    <p:sldId id="256" r:id="rId2"/>
    <p:sldId id="264" r:id="rId3"/>
    <p:sldId id="285" r:id="rId4"/>
    <p:sldId id="265" r:id="rId5"/>
    <p:sldId id="266" r:id="rId6"/>
    <p:sldId id="267" r:id="rId7"/>
    <p:sldId id="291" r:id="rId8"/>
    <p:sldId id="292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7" r:id="rId18"/>
    <p:sldId id="286" r:id="rId19"/>
    <p:sldId id="287" r:id="rId20"/>
    <p:sldId id="288" r:id="rId21"/>
    <p:sldId id="278" r:id="rId22"/>
    <p:sldId id="279" r:id="rId23"/>
    <p:sldId id="280" r:id="rId24"/>
    <p:sldId id="289" r:id="rId25"/>
    <p:sldId id="281" r:id="rId26"/>
    <p:sldId id="282" r:id="rId27"/>
    <p:sldId id="283" r:id="rId28"/>
    <p:sldId id="290" r:id="rId29"/>
    <p:sldId id="284" r:id="rId3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11" autoAdjust="0"/>
  </p:normalViewPr>
  <p:slideViewPr>
    <p:cSldViewPr>
      <p:cViewPr>
        <p:scale>
          <a:sx n="125" d="100"/>
          <a:sy n="125" d="100"/>
        </p:scale>
        <p:origin x="-1618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仕明 張" userId="a807ee1b932df6c2" providerId="LiveId" clId="{AFAE7C5A-3E6D-494F-BBBB-CC72F70A7DD7}"/>
    <pc:docChg chg="modSld">
      <pc:chgData name="仕明 張" userId="a807ee1b932df6c2" providerId="LiveId" clId="{AFAE7C5A-3E6D-494F-BBBB-CC72F70A7DD7}" dt="2025-03-13T06:23:15.727" v="3" actId="20577"/>
      <pc:docMkLst>
        <pc:docMk/>
      </pc:docMkLst>
      <pc:sldChg chg="modSp mod">
        <pc:chgData name="仕明 張" userId="a807ee1b932df6c2" providerId="LiveId" clId="{AFAE7C5A-3E6D-494F-BBBB-CC72F70A7DD7}" dt="2025-03-13T06:23:15.727" v="3" actId="20577"/>
        <pc:sldMkLst>
          <pc:docMk/>
          <pc:sldMk cId="0" sldId="256"/>
        </pc:sldMkLst>
        <pc:spChg chg="mod">
          <ac:chgData name="仕明 張" userId="a807ee1b932df6c2" providerId="LiveId" clId="{AFAE7C5A-3E6D-494F-BBBB-CC72F70A7DD7}" dt="2025-03-13T06:23:15.727" v="3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  <pc:docChgLst>
    <pc:chgData name="仕明 張" userId="a807ee1b932df6c2" providerId="LiveId" clId="{82AF1F07-EA2B-4C9D-A90B-DBE7AA00116F}"/>
    <pc:docChg chg="custSel addSld delSld modSld sldOrd">
      <pc:chgData name="仕明 張" userId="a807ee1b932df6c2" providerId="LiveId" clId="{82AF1F07-EA2B-4C9D-A90B-DBE7AA00116F}" dt="2025-03-18T03:21:57.229" v="1561" actId="20577"/>
      <pc:docMkLst>
        <pc:docMk/>
      </pc:docMkLst>
      <pc:sldChg chg="modSp mod">
        <pc:chgData name="仕明 張" userId="a807ee1b932df6c2" providerId="LiveId" clId="{82AF1F07-EA2B-4C9D-A90B-DBE7AA00116F}" dt="2025-03-18T01:10:19.912" v="19" actId="20577"/>
        <pc:sldMkLst>
          <pc:docMk/>
          <pc:sldMk cId="0" sldId="256"/>
        </pc:sldMkLst>
        <pc:spChg chg="mod">
          <ac:chgData name="仕明 張" userId="a807ee1b932df6c2" providerId="LiveId" clId="{82AF1F07-EA2B-4C9D-A90B-DBE7AA00116F}" dt="2025-03-18T01:10:19.912" v="19" actId="20577"/>
          <ac:spMkLst>
            <pc:docMk/>
            <pc:sldMk cId="0" sldId="256"/>
            <ac:spMk id="2" creationId="{00000000-0000-0000-0000-000000000000}"/>
          </ac:spMkLst>
        </pc:spChg>
      </pc:sldChg>
      <pc:sldChg chg="addSp modSp new mod ord">
        <pc:chgData name="仕明 張" userId="a807ee1b932df6c2" providerId="LiveId" clId="{82AF1F07-EA2B-4C9D-A90B-DBE7AA00116F}" dt="2025-03-18T03:09:41.435" v="632" actId="20577"/>
        <pc:sldMkLst>
          <pc:docMk/>
          <pc:sldMk cId="2438330782" sldId="257"/>
        </pc:sldMkLst>
        <pc:spChg chg="mod">
          <ac:chgData name="仕明 張" userId="a807ee1b932df6c2" providerId="LiveId" clId="{82AF1F07-EA2B-4C9D-A90B-DBE7AA00116F}" dt="2025-03-18T03:09:41.435" v="632" actId="20577"/>
          <ac:spMkLst>
            <pc:docMk/>
            <pc:sldMk cId="2438330782" sldId="257"/>
            <ac:spMk id="2" creationId="{C8A001B2-318F-F738-F4F7-9BABA1B4ED50}"/>
          </ac:spMkLst>
        </pc:spChg>
        <pc:spChg chg="mod">
          <ac:chgData name="仕明 張" userId="a807ee1b932df6c2" providerId="LiveId" clId="{82AF1F07-EA2B-4C9D-A90B-DBE7AA00116F}" dt="2025-03-18T01:37:13.582" v="259" actId="404"/>
          <ac:spMkLst>
            <pc:docMk/>
            <pc:sldMk cId="2438330782" sldId="257"/>
            <ac:spMk id="3" creationId="{FB5E92BE-BEE6-9126-A514-BBEEAE32A7A5}"/>
          </ac:spMkLst>
        </pc:spChg>
        <pc:picChg chg="add mod">
          <ac:chgData name="仕明 張" userId="a807ee1b932df6c2" providerId="LiveId" clId="{82AF1F07-EA2B-4C9D-A90B-DBE7AA00116F}" dt="2025-03-18T01:35:45.885" v="52" actId="1076"/>
          <ac:picMkLst>
            <pc:docMk/>
            <pc:sldMk cId="2438330782" sldId="257"/>
            <ac:picMk id="5" creationId="{C9AF7AB2-AE35-3AEE-4BB4-D9F0990F78B4}"/>
          </ac:picMkLst>
        </pc:picChg>
      </pc:sldChg>
      <pc:sldChg chg="modSp new mod">
        <pc:chgData name="仕明 張" userId="a807ee1b932df6c2" providerId="LiveId" clId="{82AF1F07-EA2B-4C9D-A90B-DBE7AA00116F}" dt="2025-03-18T01:39:00.044" v="581" actId="20577"/>
        <pc:sldMkLst>
          <pc:docMk/>
          <pc:sldMk cId="3392264140" sldId="258"/>
        </pc:sldMkLst>
        <pc:spChg chg="mod">
          <ac:chgData name="仕明 張" userId="a807ee1b932df6c2" providerId="LiveId" clId="{82AF1F07-EA2B-4C9D-A90B-DBE7AA00116F}" dt="2025-03-18T01:37:30.155" v="284" actId="20577"/>
          <ac:spMkLst>
            <pc:docMk/>
            <pc:sldMk cId="3392264140" sldId="258"/>
            <ac:spMk id="2" creationId="{F7C164FF-B52D-4EA8-274D-294CD70A3E8F}"/>
          </ac:spMkLst>
        </pc:spChg>
        <pc:spChg chg="mod">
          <ac:chgData name="仕明 張" userId="a807ee1b932df6c2" providerId="LiveId" clId="{82AF1F07-EA2B-4C9D-A90B-DBE7AA00116F}" dt="2025-03-18T01:39:00.044" v="581" actId="20577"/>
          <ac:spMkLst>
            <pc:docMk/>
            <pc:sldMk cId="3392264140" sldId="258"/>
            <ac:spMk id="3" creationId="{1B8E764D-898D-2E2B-772D-5A4D2226CB4D}"/>
          </ac:spMkLst>
        </pc:spChg>
      </pc:sldChg>
      <pc:sldChg chg="addSp modSp new mod">
        <pc:chgData name="仕明 張" userId="a807ee1b932df6c2" providerId="LiveId" clId="{82AF1F07-EA2B-4C9D-A90B-DBE7AA00116F}" dt="2025-03-18T03:21:57.229" v="1561" actId="20577"/>
        <pc:sldMkLst>
          <pc:docMk/>
          <pc:sldMk cId="529276187" sldId="259"/>
        </pc:sldMkLst>
        <pc:spChg chg="mod">
          <ac:chgData name="仕明 張" userId="a807ee1b932df6c2" providerId="LiveId" clId="{82AF1F07-EA2B-4C9D-A90B-DBE7AA00116F}" dt="2025-03-18T03:09:46.322" v="645" actId="20577"/>
          <ac:spMkLst>
            <pc:docMk/>
            <pc:sldMk cId="529276187" sldId="259"/>
            <ac:spMk id="2" creationId="{9ED3E8C0-1A25-27F0-0B6A-90A7424FC35E}"/>
          </ac:spMkLst>
        </pc:spChg>
        <pc:spChg chg="mod">
          <ac:chgData name="仕明 張" userId="a807ee1b932df6c2" providerId="LiveId" clId="{82AF1F07-EA2B-4C9D-A90B-DBE7AA00116F}" dt="2025-03-18T03:21:57.229" v="1561" actId="20577"/>
          <ac:spMkLst>
            <pc:docMk/>
            <pc:sldMk cId="529276187" sldId="259"/>
            <ac:spMk id="3" creationId="{B95E9014-BC8D-99A6-3327-6F70C1C14FE9}"/>
          </ac:spMkLst>
        </pc:spChg>
        <pc:picChg chg="add mod">
          <ac:chgData name="仕明 張" userId="a807ee1b932df6c2" providerId="LiveId" clId="{82AF1F07-EA2B-4C9D-A90B-DBE7AA00116F}" dt="2025-03-18T03:09:34.736" v="621" actId="1076"/>
          <ac:picMkLst>
            <pc:docMk/>
            <pc:sldMk cId="529276187" sldId="259"/>
            <ac:picMk id="5" creationId="{0A718DA7-D9A9-A8E1-3286-4722A904A939}"/>
          </ac:picMkLst>
        </pc:picChg>
      </pc:sldChg>
      <pc:sldChg chg="addSp modSp new mod">
        <pc:chgData name="仕明 張" userId="a807ee1b932df6c2" providerId="LiveId" clId="{82AF1F07-EA2B-4C9D-A90B-DBE7AA00116F}" dt="2025-03-18T03:16:55.161" v="1032" actId="14100"/>
        <pc:sldMkLst>
          <pc:docMk/>
          <pc:sldMk cId="1346487584" sldId="260"/>
        </pc:sldMkLst>
        <pc:spChg chg="mod">
          <ac:chgData name="仕明 張" userId="a807ee1b932df6c2" providerId="LiveId" clId="{82AF1F07-EA2B-4C9D-A90B-DBE7AA00116F}" dt="2025-03-18T03:15:46.739" v="873" actId="20577"/>
          <ac:spMkLst>
            <pc:docMk/>
            <pc:sldMk cId="1346487584" sldId="260"/>
            <ac:spMk id="2" creationId="{41DE6A87-ABA3-C89C-DED5-C42CD4E6FB4E}"/>
          </ac:spMkLst>
        </pc:spChg>
        <pc:spChg chg="mod">
          <ac:chgData name="仕明 張" userId="a807ee1b932df6c2" providerId="LiveId" clId="{82AF1F07-EA2B-4C9D-A90B-DBE7AA00116F}" dt="2025-03-18T03:16:55.161" v="1032" actId="14100"/>
          <ac:spMkLst>
            <pc:docMk/>
            <pc:sldMk cId="1346487584" sldId="260"/>
            <ac:spMk id="3" creationId="{76824733-F35A-70AD-DC74-337876E3562B}"/>
          </ac:spMkLst>
        </pc:spChg>
        <pc:picChg chg="add mod">
          <ac:chgData name="仕明 張" userId="a807ee1b932df6c2" providerId="LiveId" clId="{82AF1F07-EA2B-4C9D-A90B-DBE7AA00116F}" dt="2025-03-18T03:16:20.832" v="949" actId="14100"/>
          <ac:picMkLst>
            <pc:docMk/>
            <pc:sldMk cId="1346487584" sldId="260"/>
            <ac:picMk id="5" creationId="{CDD08B3E-20E8-4BC5-9E68-D098645DCE7A}"/>
          </ac:picMkLst>
        </pc:picChg>
      </pc:sldChg>
      <pc:sldChg chg="addSp delSp modSp new mod">
        <pc:chgData name="仕明 張" userId="a807ee1b932df6c2" providerId="LiveId" clId="{82AF1F07-EA2B-4C9D-A90B-DBE7AA00116F}" dt="2025-03-18T03:21:11.395" v="1410" actId="6549"/>
        <pc:sldMkLst>
          <pc:docMk/>
          <pc:sldMk cId="3006665140" sldId="261"/>
        </pc:sldMkLst>
        <pc:spChg chg="mod">
          <ac:chgData name="仕明 張" userId="a807ee1b932df6c2" providerId="LiveId" clId="{82AF1F07-EA2B-4C9D-A90B-DBE7AA00116F}" dt="2025-03-18T03:20:25.899" v="1404"/>
          <ac:spMkLst>
            <pc:docMk/>
            <pc:sldMk cId="3006665140" sldId="261"/>
            <ac:spMk id="2" creationId="{CD69200E-22D0-334C-D056-7D605ADC745B}"/>
          </ac:spMkLst>
        </pc:spChg>
        <pc:spChg chg="mod">
          <ac:chgData name="仕明 張" userId="a807ee1b932df6c2" providerId="LiveId" clId="{82AF1F07-EA2B-4C9D-A90B-DBE7AA00116F}" dt="2025-03-18T03:21:11.395" v="1410" actId="6549"/>
          <ac:spMkLst>
            <pc:docMk/>
            <pc:sldMk cId="3006665140" sldId="261"/>
            <ac:spMk id="3" creationId="{538A6DF5-BD35-8537-DAF4-D5193A76AC97}"/>
          </ac:spMkLst>
        </pc:spChg>
        <pc:picChg chg="add del mod">
          <ac:chgData name="仕明 張" userId="a807ee1b932df6c2" providerId="LiveId" clId="{82AF1F07-EA2B-4C9D-A90B-DBE7AA00116F}" dt="2025-03-18T03:18:05.165" v="1036" actId="478"/>
          <ac:picMkLst>
            <pc:docMk/>
            <pc:sldMk cId="3006665140" sldId="261"/>
            <ac:picMk id="5" creationId="{833FC8AB-7D49-DAC3-EB58-897DEDCA76A6}"/>
          </ac:picMkLst>
        </pc:picChg>
        <pc:picChg chg="add mod">
          <ac:chgData name="仕明 張" userId="a807ee1b932df6c2" providerId="LiveId" clId="{82AF1F07-EA2B-4C9D-A90B-DBE7AA00116F}" dt="2025-03-18T03:18:07.026" v="1038" actId="1076"/>
          <ac:picMkLst>
            <pc:docMk/>
            <pc:sldMk cId="3006665140" sldId="261"/>
            <ac:picMk id="7" creationId="{F2AF50ED-3102-B2CF-808C-5661A35E12BC}"/>
          </ac:picMkLst>
        </pc:picChg>
      </pc:sldChg>
      <pc:sldChg chg="new del">
        <pc:chgData name="仕明 張" userId="a807ee1b932df6c2" providerId="LiveId" clId="{82AF1F07-EA2B-4C9D-A90B-DBE7AA00116F}" dt="2025-03-18T03:21:04.325" v="1407" actId="47"/>
        <pc:sldMkLst>
          <pc:docMk/>
          <pc:sldMk cId="428144202" sldId="262"/>
        </pc:sldMkLst>
      </pc:sldChg>
      <pc:sldChg chg="add">
        <pc:chgData name="仕明 張" userId="a807ee1b932df6c2" providerId="LiveId" clId="{82AF1F07-EA2B-4C9D-A90B-DBE7AA00116F}" dt="2025-03-18T03:21:02.994" v="1406"/>
        <pc:sldMkLst>
          <pc:docMk/>
          <pc:sldMk cId="3190844274" sldId="263"/>
        </pc:sldMkLst>
      </pc:sldChg>
    </pc:docChg>
  </pc:docChgLst>
  <pc:docChgLst>
    <pc:chgData name="仕明 張" userId="a807ee1b932df6c2" providerId="LiveId" clId="{BEBE251C-7599-4391-ABB1-20AC427F0AE6}"/>
    <pc:docChg chg="delSld modSld">
      <pc:chgData name="仕明 張" userId="a807ee1b932df6c2" providerId="LiveId" clId="{BEBE251C-7599-4391-ABB1-20AC427F0AE6}" dt="2025-03-13T06:24:14.409" v="15" actId="2696"/>
      <pc:docMkLst>
        <pc:docMk/>
      </pc:docMkLst>
      <pc:sldChg chg="modSp mod">
        <pc:chgData name="仕明 張" userId="a807ee1b932df6c2" providerId="LiveId" clId="{BEBE251C-7599-4391-ABB1-20AC427F0AE6}" dt="2025-03-13T06:24:09.239" v="14" actId="20577"/>
        <pc:sldMkLst>
          <pc:docMk/>
          <pc:sldMk cId="0" sldId="256"/>
        </pc:sldMkLst>
        <pc:spChg chg="mod">
          <ac:chgData name="仕明 張" userId="a807ee1b932df6c2" providerId="LiveId" clId="{BEBE251C-7599-4391-ABB1-20AC427F0AE6}" dt="2025-03-13T06:24:09.239" v="14" actId="20577"/>
          <ac:spMkLst>
            <pc:docMk/>
            <pc:sldMk cId="0" sldId="256"/>
            <ac:spMk id="2" creationId="{00000000-0000-0000-0000-000000000000}"/>
          </ac:spMkLst>
        </pc:spChg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4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5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6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7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8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9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70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71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2924347708" sldId="272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639790741" sldId="273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1458689279" sldId="274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3259108623" sldId="275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1390105728" sldId="276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2221582950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3EEAF-065D-475D-8058-07E926806314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1F32F-E31F-492B-A213-F4B1D5897EA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2025/12/7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Lesson 14</a:t>
            </a:r>
            <a:br>
              <a:rPr lang="en-US" altLang="zh-TW" dirty="0" smtClean="0"/>
            </a:br>
            <a:r>
              <a:rPr lang="zh-TW" altLang="en-US" dirty="0" smtClean="0"/>
              <a:t>使用者介面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smtClean="0"/>
              <a:t>Horazon</a:t>
            </a:r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[</a:t>
            </a:r>
            <a:r>
              <a:rPr lang="zh-TW" altLang="en-US" dirty="0"/>
              <a:t>通用</a:t>
            </a:r>
            <a:r>
              <a:rPr lang="en-US" altLang="zh-TW" dirty="0"/>
              <a:t>]</a:t>
            </a:r>
            <a:r>
              <a:rPr lang="zh-TW" altLang="en-US" dirty="0"/>
              <a:t>遊戲引擎功能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視覺與渲染</a:t>
            </a:r>
            <a:endParaRPr lang="en-US" altLang="zh-TW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物理模擬</a:t>
            </a:r>
            <a:endParaRPr lang="en-US" altLang="zh-TW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動畫系統</a:t>
            </a:r>
            <a:endParaRPr lang="en-US" altLang="zh-TW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音效與音樂</a:t>
            </a:r>
            <a:endParaRPr lang="en-US" altLang="zh-TW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使用者互動 </a:t>
            </a: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輸入</a:t>
            </a: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</a:rPr>
              <a:t>&amp;</a:t>
            </a:r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回應</a:t>
            </a: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  <a:p>
            <a:r>
              <a:rPr lang="zh-TW" altLang="en-US" b="1" u="sng" dirty="0">
                <a:solidFill>
                  <a:srgbClr val="00B050"/>
                </a:solidFill>
              </a:rPr>
              <a:t>使用者介面 </a:t>
            </a:r>
            <a:r>
              <a:rPr lang="en-US" altLang="zh-TW" b="1" u="sng" dirty="0">
                <a:solidFill>
                  <a:srgbClr val="00B050"/>
                </a:solidFill>
              </a:rPr>
              <a:t>(UI)</a:t>
            </a:r>
          </a:p>
          <a:p>
            <a:r>
              <a:rPr lang="zh-TW" altLang="en-US" dirty="0"/>
              <a:t>場景與資源管理 </a:t>
            </a:r>
            <a:r>
              <a:rPr lang="en-US" altLang="zh-TW" dirty="0"/>
              <a:t>	</a:t>
            </a:r>
          </a:p>
          <a:p>
            <a:r>
              <a:rPr lang="zh-TW" altLang="en-US" dirty="0"/>
              <a:t>遊戲邏輯與腳本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使用者介面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以下兩個通常會混為一談，但通常都是指</a:t>
            </a:r>
            <a:r>
              <a:rPr lang="en-US" altLang="zh-TW" dirty="0" smtClean="0"/>
              <a:t>GUI</a:t>
            </a:r>
          </a:p>
          <a:p>
            <a:r>
              <a:rPr lang="en-US" altLang="zh-TW" dirty="0" smtClean="0"/>
              <a:t>UI</a:t>
            </a:r>
            <a:r>
              <a:rPr lang="zh-TW" altLang="en-US" dirty="0" smtClean="0"/>
              <a:t> </a:t>
            </a:r>
            <a:r>
              <a:rPr lang="en-US" altLang="zh-TW" dirty="0" smtClean="0"/>
              <a:t>(User Interface,</a:t>
            </a:r>
            <a:r>
              <a:rPr lang="zh-TW" altLang="en-US" dirty="0" smtClean="0"/>
              <a:t> 使用者介面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 smtClean="0"/>
              <a:t>使用者與系統</a:t>
            </a:r>
            <a:r>
              <a:rPr lang="en-US" altLang="zh-TW" dirty="0" smtClean="0"/>
              <a:t>(</a:t>
            </a:r>
            <a:r>
              <a:rPr lang="zh-TW" altLang="en-US" dirty="0" smtClean="0"/>
              <a:t>遊戲</a:t>
            </a:r>
            <a:r>
              <a:rPr lang="en-US" altLang="zh-TW" dirty="0" smtClean="0"/>
              <a:t>)</a:t>
            </a:r>
            <a:r>
              <a:rPr lang="zh-TW" altLang="en-US" dirty="0" smtClean="0"/>
              <a:t>的溝通介面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不限定於圖形，也可以是文字、語音、手勢等形式。</a:t>
            </a:r>
            <a:endParaRPr lang="en-US" altLang="zh-TW" dirty="0" smtClean="0"/>
          </a:p>
          <a:p>
            <a:endParaRPr lang="en-US" sz="2400" dirty="0" smtClean="0"/>
          </a:p>
          <a:p>
            <a:r>
              <a:rPr lang="en-US" sz="2400" dirty="0" err="1" smtClean="0"/>
              <a:t>GUI（Graphical</a:t>
            </a:r>
            <a:r>
              <a:rPr lang="en-US" sz="2400" dirty="0" smtClean="0"/>
              <a:t> User Interface , </a:t>
            </a:r>
            <a:r>
              <a:rPr lang="zh-TW" altLang="en-US" sz="2400" dirty="0" smtClean="0"/>
              <a:t>圖形使用者介面</a:t>
            </a:r>
            <a:r>
              <a:rPr lang="en-US" sz="2400" dirty="0" smtClean="0"/>
              <a:t>）</a:t>
            </a:r>
          </a:p>
          <a:p>
            <a:pPr lvl="1"/>
            <a:r>
              <a:rPr lang="zh-TW" altLang="en-US" sz="2400" dirty="0" smtClean="0"/>
              <a:t>單指圖形方式的</a:t>
            </a:r>
            <a:r>
              <a:rPr lang="en-US" altLang="zh-TW" sz="2400" dirty="0" smtClean="0"/>
              <a:t>UI</a:t>
            </a:r>
            <a:r>
              <a:rPr lang="zh-TW" altLang="en-US" sz="2400" dirty="0" smtClean="0"/>
              <a:t>，常見有圖片、文字、按鈕、下拉式選單等等。</a:t>
            </a:r>
            <a:endParaRPr lang="en-US" altLang="zh-TW" sz="2400" dirty="0" smtClean="0"/>
          </a:p>
          <a:p>
            <a:pPr lvl="1"/>
            <a:r>
              <a:rPr lang="zh-TW" altLang="en-US" sz="2400" dirty="0" smtClean="0"/>
              <a:t>遊戲中有常有小地圖、血條、背包等等</a:t>
            </a:r>
            <a:endParaRPr lang="zh-TW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C220815F-F1B8-2120-A925-134DBF6D8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UnityUI</a:t>
            </a:r>
            <a:r>
              <a:rPr lang="en-US" altLang="zh-TW" dirty="0"/>
              <a:t> (UGUI)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0E6163-2265-B2F1-39B6-3F97DEC16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常見</a:t>
            </a:r>
            <a:r>
              <a:rPr lang="zh-TW" altLang="en-US" dirty="0"/>
              <a:t>的</a:t>
            </a:r>
            <a:r>
              <a:rPr lang="en-US" altLang="zh-TW" dirty="0" err="1"/>
              <a:t>UnityUI</a:t>
            </a:r>
            <a:r>
              <a:rPr lang="zh-TW" altLang="en-US" dirty="0"/>
              <a:t>方式有</a:t>
            </a:r>
            <a:endParaRPr lang="en-US" altLang="zh-TW" dirty="0"/>
          </a:p>
          <a:p>
            <a:pPr lvl="1"/>
            <a:r>
              <a:rPr lang="en-US" altLang="zh-TW" sz="2400" dirty="0"/>
              <a:t>GUI(</a:t>
            </a:r>
            <a:r>
              <a:rPr lang="zh-TW" altLang="en-US" sz="2400" dirty="0"/>
              <a:t>編輯器用</a:t>
            </a:r>
            <a:r>
              <a:rPr lang="en-US" altLang="zh-TW" sz="2400" dirty="0" smtClean="0"/>
              <a:t>)</a:t>
            </a:r>
          </a:p>
          <a:p>
            <a:pPr lvl="2"/>
            <a:r>
              <a:rPr lang="zh-TW" altLang="en-US" sz="2200" dirty="0" smtClean="0"/>
              <a:t>古老難用</a:t>
            </a:r>
            <a:endParaRPr lang="en-US" altLang="zh-TW" sz="2200" dirty="0" smtClean="0"/>
          </a:p>
          <a:p>
            <a:pPr lvl="1"/>
            <a:r>
              <a:rPr lang="en-US" altLang="zh-TW" sz="2400" dirty="0" smtClean="0"/>
              <a:t>NGUI(UGUI</a:t>
            </a:r>
            <a:r>
              <a:rPr lang="zh-TW" altLang="en-US" sz="2400" dirty="0"/>
              <a:t>前身</a:t>
            </a:r>
            <a:r>
              <a:rPr lang="en-US" altLang="zh-TW" sz="2400" dirty="0" smtClean="0"/>
              <a:t>)</a:t>
            </a:r>
          </a:p>
          <a:p>
            <a:pPr lvl="1"/>
            <a:r>
              <a:rPr lang="en-US" altLang="zh-TW" sz="2400" dirty="0" smtClean="0"/>
              <a:t>UGUI</a:t>
            </a:r>
          </a:p>
          <a:p>
            <a:pPr lvl="2"/>
            <a:r>
              <a:rPr lang="zh-TW" altLang="en-US" sz="2200" dirty="0" smtClean="0"/>
              <a:t>為</a:t>
            </a:r>
            <a:r>
              <a:rPr lang="en-US" altLang="zh-TW" sz="2200" dirty="0" smtClean="0"/>
              <a:t>NGUI</a:t>
            </a:r>
            <a:r>
              <a:rPr lang="zh-TW" altLang="en-US" sz="2200" dirty="0" smtClean="0"/>
              <a:t>作者開發</a:t>
            </a:r>
            <a:endParaRPr lang="en-US" altLang="zh-TW" sz="2200" dirty="0" smtClean="0"/>
          </a:p>
          <a:p>
            <a:pPr lvl="1"/>
            <a:r>
              <a:rPr lang="en-US" altLang="zh-TW" sz="2400" dirty="0" smtClean="0"/>
              <a:t>UI</a:t>
            </a:r>
            <a:r>
              <a:rPr lang="zh-TW" altLang="en-US" sz="2400" dirty="0" smtClean="0"/>
              <a:t> </a:t>
            </a:r>
            <a:r>
              <a:rPr lang="en-US" altLang="zh-TW" sz="2400" dirty="0"/>
              <a:t>Toolkit(6.0</a:t>
            </a:r>
            <a:r>
              <a:rPr lang="zh-TW" altLang="en-US" sz="2400" dirty="0"/>
              <a:t>最新</a:t>
            </a:r>
            <a:r>
              <a:rPr lang="en-US" altLang="zh-TW" sz="2400" dirty="0" smtClean="0"/>
              <a:t>)</a:t>
            </a:r>
          </a:p>
          <a:p>
            <a:pPr lvl="1"/>
            <a:endParaRPr lang="en-US" altLang="zh-TW" sz="2400" dirty="0" smtClean="0"/>
          </a:p>
          <a:p>
            <a:r>
              <a:rPr lang="zh-TW" altLang="en-US" dirty="0" smtClean="0"/>
              <a:t>課程中使用的為</a:t>
            </a:r>
            <a:r>
              <a:rPr lang="en-US" altLang="zh-TW" dirty="0" err="1" smtClean="0"/>
              <a:t>UnityUI</a:t>
            </a:r>
            <a:r>
              <a:rPr lang="en-US" altLang="zh-TW" dirty="0" smtClean="0"/>
              <a:t> (</a:t>
            </a:r>
            <a:r>
              <a:rPr lang="zh-TW" altLang="en-US" dirty="0" smtClean="0"/>
              <a:t>簡稱</a:t>
            </a:r>
            <a:r>
              <a:rPr lang="en-US" altLang="zh-TW" dirty="0" smtClean="0"/>
              <a:t>UGUI)</a:t>
            </a:r>
          </a:p>
          <a:p>
            <a:endParaRPr lang="en-US" altLang="zh-TW" dirty="0"/>
          </a:p>
          <a:p>
            <a:pPr lvl="1"/>
            <a:endParaRPr lang="en-US" altLang="zh-TW" sz="2400" dirty="0"/>
          </a:p>
          <a:p>
            <a:endParaRPr lang="zh-TW" altLang="en-US" sz="2600" dirty="0"/>
          </a:p>
        </p:txBody>
      </p:sp>
    </p:spTree>
    <p:extLst>
      <p:ext uri="{BB962C8B-B14F-4D97-AF65-F5344CB8AC3E}">
        <p14:creationId xmlns:p14="http://schemas.microsoft.com/office/powerpoint/2010/main" xmlns="" val="1116393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D03A3B7-3874-E678-CA23-123368CDD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UI</a:t>
            </a:r>
            <a:r>
              <a:rPr lang="zh-TW" altLang="en-US" dirty="0"/>
              <a:t>物件的特色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27AD89C0-9948-5834-D642-5633B3E28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如何開始：場景中新增任意的</a:t>
            </a:r>
            <a:r>
              <a:rPr lang="en-US" altLang="zh-TW" dirty="0"/>
              <a:t>UI</a:t>
            </a:r>
            <a:r>
              <a:rPr lang="zh-TW" altLang="en-US" dirty="0"/>
              <a:t>物件 </a:t>
            </a:r>
            <a:r>
              <a:rPr lang="en-US" altLang="zh-TW" dirty="0"/>
              <a:t>(</a:t>
            </a:r>
            <a:r>
              <a:rPr lang="zh-TW" altLang="en-US" dirty="0"/>
              <a:t>推薦圖片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使用</a:t>
            </a:r>
            <a:r>
              <a:rPr lang="en-US" altLang="zh-TW" dirty="0" err="1"/>
              <a:t>RectTransform</a:t>
            </a:r>
            <a:r>
              <a:rPr lang="zh-TW" altLang="en-US" dirty="0"/>
              <a:t>而非</a:t>
            </a:r>
            <a:r>
              <a:rPr lang="en-US" altLang="zh-TW" dirty="0"/>
              <a:t>Transform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必須在</a:t>
            </a:r>
            <a:r>
              <a:rPr lang="en-US" altLang="zh-TW" dirty="0"/>
              <a:t>Canvas</a:t>
            </a:r>
            <a:r>
              <a:rPr lang="zh-TW" altLang="en-US" dirty="0"/>
              <a:t>的子物件才能被顯示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F2DC4945-CCEE-E763-BCC0-1294812F3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3212976"/>
            <a:ext cx="4220164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24696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1F62673-B48E-AE8D-5EFC-33362A7F3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</a:t>
            </a:r>
            <a:r>
              <a:rPr lang="en-US" altLang="zh-TW" dirty="0" err="1"/>
              <a:t>RectTransform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8C784A9C-E857-AE5B-5FE1-99D33FEA7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Anchor </a:t>
            </a:r>
            <a:r>
              <a:rPr lang="zh-TW" altLang="en-US" dirty="0"/>
              <a:t>錨點</a:t>
            </a:r>
            <a:endParaRPr lang="en-US" altLang="zh-TW" dirty="0"/>
          </a:p>
          <a:p>
            <a:r>
              <a:rPr lang="en-US" altLang="zh-TW" dirty="0"/>
              <a:t>Pivot</a:t>
            </a:r>
            <a:r>
              <a:rPr lang="zh-TW" altLang="en-US" dirty="0"/>
              <a:t> 支點</a:t>
            </a:r>
            <a:endParaRPr lang="en-US" altLang="zh-TW" dirty="0"/>
          </a:p>
          <a:p>
            <a:pPr lvl="1"/>
            <a:r>
              <a:rPr lang="zh-TW" altLang="en-US" dirty="0"/>
              <a:t>使用的數值通常為</a:t>
            </a:r>
            <a:r>
              <a:rPr lang="en-US" altLang="zh-TW" dirty="0"/>
              <a:t>0.0~1.0</a:t>
            </a:r>
          </a:p>
          <a:p>
            <a:endParaRPr lang="en-US" altLang="zh-TW" dirty="0"/>
          </a:p>
          <a:p>
            <a:r>
              <a:rPr lang="zh-TW" altLang="en-US" dirty="0"/>
              <a:t>可以想像先以子</a:t>
            </a:r>
            <a:r>
              <a:rPr lang="zh-TW" altLang="en-US" dirty="0" smtClean="0"/>
              <a:t>物件的</a:t>
            </a:r>
            <a:r>
              <a:rPr lang="en-US" altLang="zh-TW" dirty="0" smtClean="0"/>
              <a:t>Pivot</a:t>
            </a:r>
            <a:r>
              <a:rPr lang="zh-TW" altLang="en-US" dirty="0" smtClean="0"/>
              <a:t>位置 </a:t>
            </a:r>
            <a:r>
              <a:rPr lang="zh-TW" altLang="en-US" dirty="0"/>
              <a:t>釘在 父物件的</a:t>
            </a:r>
            <a:r>
              <a:rPr lang="en-US" altLang="zh-TW" dirty="0" smtClean="0"/>
              <a:t>Anchor</a:t>
            </a:r>
            <a:r>
              <a:rPr lang="zh-TW" altLang="en-US" dirty="0" smtClean="0"/>
              <a:t>位置 </a:t>
            </a:r>
            <a:r>
              <a:rPr lang="en-US" altLang="zh-TW" dirty="0" smtClean="0"/>
              <a:t>(</a:t>
            </a:r>
            <a:r>
              <a:rPr lang="zh-TW" altLang="en-US" b="1" u="sng" dirty="0" smtClean="0"/>
              <a:t>皆為子物件設定的值</a:t>
            </a:r>
            <a:r>
              <a:rPr lang="en-US" altLang="zh-TW" dirty="0" smtClean="0"/>
              <a:t>)</a:t>
            </a:r>
          </a:p>
          <a:p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596544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371600" y="2743200"/>
            <a:ext cx="2590800" cy="1524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xmlns="" id="{A1F62673-B48E-AE8D-5EFC-33362A7F3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/>
          <a:lstStyle/>
          <a:p>
            <a:r>
              <a:rPr lang="en-US" altLang="zh-TW" dirty="0" err="1" smtClean="0"/>
              <a:t>RectTransform</a:t>
            </a:r>
            <a:r>
              <a:rPr lang="zh-TW" altLang="en-US" dirty="0" smtClean="0"/>
              <a:t> 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Pivot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990600" y="42672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P(0,0)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3733800" y="22976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P(1,1)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990600" y="22860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P(0,1)</a:t>
            </a:r>
            <a:endParaRPr lang="zh-TW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371600" y="2743200"/>
            <a:ext cx="5943600" cy="3048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1371600" y="2743200"/>
            <a:ext cx="2590800" cy="1524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xmlns="" id="{A1F62673-B48E-AE8D-5EFC-33362A7F3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/>
          <a:lstStyle/>
          <a:p>
            <a:r>
              <a:rPr lang="en-US" altLang="zh-TW" dirty="0" err="1" smtClean="0"/>
              <a:t>RectTransform</a:t>
            </a:r>
            <a:r>
              <a:rPr lang="zh-TW" altLang="en-US" dirty="0" smtClean="0"/>
              <a:t> 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Anchor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914400" y="24384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P(0,1)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914400" y="21336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A(0,1)</a:t>
            </a:r>
            <a:endParaRPr lang="zh-TW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C8C46F7A-9FC4-3B9F-4A3F-3E8472F26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</a:t>
            </a:r>
            <a:r>
              <a:rPr lang="en-US" altLang="zh-TW" dirty="0" err="1"/>
              <a:t>RectTransform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6E7D019A-3B00-4EE3-A1AD-BA5508AE7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然後再套用其他數值</a:t>
            </a:r>
            <a:endParaRPr lang="en-US" altLang="zh-TW" dirty="0"/>
          </a:p>
          <a:p>
            <a:pPr lvl="1"/>
            <a:r>
              <a:rPr lang="zh-TW" altLang="en-US" dirty="0"/>
              <a:t>位置</a:t>
            </a:r>
            <a:r>
              <a:rPr lang="en-US" altLang="zh-TW" dirty="0"/>
              <a:t>(</a:t>
            </a:r>
            <a:r>
              <a:rPr lang="en-US" altLang="zh-TW" dirty="0" err="1"/>
              <a:t>PosX,PosY</a:t>
            </a:r>
            <a:r>
              <a:rPr lang="zh-TW" altLang="en-US" dirty="0"/>
              <a:t>等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長寬 </a:t>
            </a:r>
            <a:r>
              <a:rPr lang="en-US" altLang="zh-TW" dirty="0"/>
              <a:t>(</a:t>
            </a:r>
            <a:r>
              <a:rPr lang="en-US" altLang="zh-TW" dirty="0" err="1"/>
              <a:t>Height,Width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轉動 </a:t>
            </a:r>
            <a:r>
              <a:rPr lang="en-US" altLang="zh-TW" dirty="0"/>
              <a:t>(Rotation)</a:t>
            </a:r>
          </a:p>
          <a:p>
            <a:pPr lvl="1"/>
            <a:r>
              <a:rPr lang="zh-TW" altLang="en-US" dirty="0"/>
              <a:t>縮放 </a:t>
            </a:r>
            <a:r>
              <a:rPr lang="en-US" altLang="zh-TW" dirty="0"/>
              <a:t>(Scale)</a:t>
            </a:r>
          </a:p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35498381-E428-D742-CB7D-776AB94CA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636" y="4509120"/>
            <a:ext cx="4220164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32832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元件：圖片</a:t>
            </a:r>
            <a:r>
              <a:rPr lang="en-US" altLang="zh-TW" dirty="0"/>
              <a:t>Image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使用的圖片必須切換為</a:t>
            </a:r>
            <a:r>
              <a:rPr lang="en-US" altLang="zh-TW" dirty="0"/>
              <a:t>Sprite (2D and UI)</a:t>
            </a:r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可以調整 材質</a:t>
            </a:r>
            <a:r>
              <a:rPr lang="en-US" altLang="zh-TW" dirty="0"/>
              <a:t>Material</a:t>
            </a:r>
            <a:r>
              <a:rPr lang="zh-TW" altLang="en-US" dirty="0"/>
              <a:t>，預設為</a:t>
            </a:r>
            <a:r>
              <a:rPr lang="en-US" altLang="zh-TW" dirty="0"/>
              <a:t>Sprite default</a:t>
            </a:r>
            <a:r>
              <a:rPr lang="zh-TW" altLang="en-US" dirty="0"/>
              <a:t>，可以額外調整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Preserved Aspect</a:t>
            </a:r>
          </a:p>
          <a:p>
            <a:r>
              <a:rPr lang="en-US" altLang="zh-TW" dirty="0"/>
              <a:t>Image Type</a:t>
            </a:r>
          </a:p>
          <a:p>
            <a:pPr lvl="1"/>
            <a:r>
              <a:rPr lang="en-US" altLang="zh-TW" dirty="0"/>
              <a:t>Simple</a:t>
            </a:r>
          </a:p>
          <a:p>
            <a:pPr lvl="1"/>
            <a:r>
              <a:rPr lang="en-US" altLang="zh-TW" dirty="0"/>
              <a:t>Tiled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227374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元件：圖片</a:t>
            </a:r>
            <a:r>
              <a:rPr lang="en-US" altLang="zh-TW" dirty="0"/>
              <a:t>Image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Image Type </a:t>
            </a:r>
            <a:r>
              <a:rPr lang="zh-TW" altLang="en-US" dirty="0"/>
              <a:t>： </a:t>
            </a:r>
            <a:r>
              <a:rPr lang="en-US" altLang="zh-TW" dirty="0"/>
              <a:t>Sliced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必須要在圖片中使用</a:t>
            </a:r>
            <a:r>
              <a:rPr lang="en-US" altLang="zh-TW" dirty="0"/>
              <a:t>Sprite Editor</a:t>
            </a:r>
            <a:r>
              <a:rPr lang="zh-TW" altLang="en-US" dirty="0"/>
              <a:t>設置邊界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Fill Center</a:t>
            </a:r>
          </a:p>
          <a:p>
            <a:r>
              <a:rPr lang="en-US" altLang="zh-TW" dirty="0"/>
              <a:t>Pixels Per Unit Multiplier</a:t>
            </a:r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需要縮放的</a:t>
            </a:r>
            <a:r>
              <a:rPr lang="en-US" altLang="zh-TW" dirty="0"/>
              <a:t>UI</a:t>
            </a:r>
            <a:r>
              <a:rPr lang="zh-TW" altLang="en-US" dirty="0"/>
              <a:t>使用</a:t>
            </a:r>
            <a:r>
              <a:rPr lang="en-US" altLang="zh-TW" dirty="0"/>
              <a:t>Sliced</a:t>
            </a:r>
            <a:r>
              <a:rPr lang="zh-TW" altLang="en-US" dirty="0"/>
              <a:t>可以使縮放更正常</a:t>
            </a:r>
          </a:p>
        </p:txBody>
      </p:sp>
    </p:spTree>
    <p:extLst>
      <p:ext uri="{BB962C8B-B14F-4D97-AF65-F5344CB8AC3E}">
        <p14:creationId xmlns:p14="http://schemas.microsoft.com/office/powerpoint/2010/main" xmlns="" val="3459006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8025929-EE20-7686-8B6F-900FA22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元件：圖片</a:t>
            </a:r>
            <a:r>
              <a:rPr lang="en-US" altLang="zh-TW" dirty="0"/>
              <a:t>Image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30A3DF7B-B72A-DED4-C006-D0A94B686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特殊用法，角色血條、技能冷卻</a:t>
            </a:r>
            <a:endParaRPr lang="en-US" altLang="zh-TW" dirty="0"/>
          </a:p>
          <a:p>
            <a:r>
              <a:rPr lang="en-US" altLang="zh-TW" dirty="0"/>
              <a:t>Image Type </a:t>
            </a:r>
            <a:r>
              <a:rPr lang="zh-TW" altLang="en-US" dirty="0"/>
              <a:t>： </a:t>
            </a:r>
            <a:r>
              <a:rPr lang="en-US" altLang="zh-TW" dirty="0"/>
              <a:t>Filled</a:t>
            </a:r>
          </a:p>
          <a:p>
            <a:endParaRPr lang="en-US" altLang="zh-TW" dirty="0"/>
          </a:p>
          <a:p>
            <a:r>
              <a:rPr lang="en-US" altLang="zh-TW" dirty="0"/>
              <a:t>Fill Method</a:t>
            </a:r>
            <a:r>
              <a:rPr lang="zh-TW" altLang="en-US" dirty="0"/>
              <a:t>的調整</a:t>
            </a:r>
            <a:endParaRPr lang="en-US" altLang="zh-TW" dirty="0"/>
          </a:p>
          <a:p>
            <a:pPr lvl="1"/>
            <a:r>
              <a:rPr lang="zh-TW" altLang="en-US" dirty="0"/>
              <a:t>角色血條：</a:t>
            </a:r>
            <a:r>
              <a:rPr lang="en-US" altLang="zh-TW" dirty="0"/>
              <a:t>Horizontal Left</a:t>
            </a:r>
          </a:p>
          <a:p>
            <a:pPr lvl="1"/>
            <a:r>
              <a:rPr lang="zh-TW" altLang="en-US" dirty="0"/>
              <a:t>技能冷卻：</a:t>
            </a:r>
            <a:r>
              <a:rPr lang="en-US" altLang="zh-TW" dirty="0"/>
              <a:t>Radial 360</a:t>
            </a:r>
          </a:p>
        </p:txBody>
      </p:sp>
    </p:spTree>
    <p:extLst>
      <p:ext uri="{BB962C8B-B14F-4D97-AF65-F5344CB8AC3E}">
        <p14:creationId xmlns:p14="http://schemas.microsoft.com/office/powerpoint/2010/main" xmlns="" val="1129521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元件：文字</a:t>
            </a:r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目前的文字會盡量使用</a:t>
            </a:r>
            <a:r>
              <a:rPr lang="en-US" altLang="zh-TW" dirty="0" err="1"/>
              <a:t>TextMeshPro</a:t>
            </a:r>
            <a:r>
              <a:rPr lang="zh-TW" altLang="en-US" dirty="0"/>
              <a:t>的版本</a:t>
            </a:r>
            <a:endParaRPr lang="en-US" altLang="zh-TW" dirty="0"/>
          </a:p>
          <a:p>
            <a:pPr lvl="1"/>
            <a:r>
              <a:rPr lang="zh-TW" altLang="en-US" dirty="0"/>
              <a:t>第一次使用慧要求你安裝</a:t>
            </a:r>
            <a:r>
              <a:rPr lang="en-US" altLang="zh-TW" dirty="0"/>
              <a:t>TMP</a:t>
            </a:r>
            <a:r>
              <a:rPr lang="zh-TW" altLang="en-US" dirty="0"/>
              <a:t>功能</a:t>
            </a:r>
            <a:endParaRPr lang="en-US" altLang="zh-TW" dirty="0"/>
          </a:p>
          <a:p>
            <a:pPr lvl="1"/>
            <a:r>
              <a:rPr lang="en-US" altLang="zh-TW" dirty="0"/>
              <a:t>TMP</a:t>
            </a:r>
            <a:r>
              <a:rPr lang="zh-TW" altLang="en-US" dirty="0"/>
              <a:t>系統的文字會比較好看，但是中文</a:t>
            </a:r>
            <a:r>
              <a:rPr lang="en-US" altLang="zh-TW" dirty="0"/>
              <a:t>(</a:t>
            </a:r>
            <a:r>
              <a:rPr lang="zh-TW" altLang="en-US" dirty="0"/>
              <a:t>文字的種類較多的語文</a:t>
            </a:r>
            <a:r>
              <a:rPr lang="en-US" altLang="zh-TW" dirty="0"/>
              <a:t>) </a:t>
            </a:r>
            <a:r>
              <a:rPr lang="zh-TW" altLang="en-US" dirty="0"/>
              <a:t>使用上比較麻煩 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有許多文字相關的設定，如粗體</a:t>
            </a:r>
            <a:r>
              <a:rPr lang="zh-TW" altLang="en-US"/>
              <a:t>、大小、對齊</a:t>
            </a:r>
            <a:endParaRPr lang="en-US" altLang="zh-TW" dirty="0"/>
          </a:p>
          <a:p>
            <a:r>
              <a:rPr lang="en-US" altLang="zh-TW" dirty="0" err="1"/>
              <a:t>RichText</a:t>
            </a:r>
            <a:r>
              <a:rPr lang="zh-TW" altLang="en-US" dirty="0"/>
              <a:t>打開的狀況下，可以使用類似</a:t>
            </a:r>
            <a:r>
              <a:rPr lang="en-US" altLang="zh-TW" dirty="0"/>
              <a:t>html</a:t>
            </a:r>
            <a:r>
              <a:rPr lang="zh-TW" altLang="en-US" dirty="0"/>
              <a:t>的語法來修改部分的顏色</a:t>
            </a:r>
            <a:r>
              <a:rPr lang="en-US" altLang="zh-TW" dirty="0"/>
              <a:t>(&lt;color&gt;&lt;/color&gt;)</a:t>
            </a:r>
          </a:p>
        </p:txBody>
      </p:sp>
    </p:spTree>
    <p:extLst>
      <p:ext uri="{BB962C8B-B14F-4D97-AF65-F5344CB8AC3E}">
        <p14:creationId xmlns:p14="http://schemas.microsoft.com/office/powerpoint/2010/main" xmlns="" val="4156717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元件：文字</a:t>
            </a:r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482952" cy="4325112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目前的文字會盡量使用</a:t>
            </a:r>
            <a:r>
              <a:rPr lang="en-US" altLang="zh-TW" dirty="0" err="1"/>
              <a:t>TextMeshPro</a:t>
            </a:r>
            <a:r>
              <a:rPr lang="zh-TW" altLang="en-US" dirty="0"/>
              <a:t>的版本</a:t>
            </a:r>
            <a:endParaRPr lang="en-US" altLang="zh-TW" dirty="0"/>
          </a:p>
          <a:p>
            <a:pPr lvl="1"/>
            <a:r>
              <a:rPr lang="zh-TW" altLang="en-US" dirty="0"/>
              <a:t>第一次使用會要求你安裝</a:t>
            </a:r>
            <a:r>
              <a:rPr lang="en-US" altLang="zh-TW" dirty="0"/>
              <a:t>TMP</a:t>
            </a:r>
            <a:r>
              <a:rPr lang="zh-TW" altLang="en-US" dirty="0"/>
              <a:t>功能</a:t>
            </a:r>
            <a:endParaRPr lang="en-US" altLang="zh-TW" dirty="0"/>
          </a:p>
          <a:p>
            <a:pPr lvl="1"/>
            <a:r>
              <a:rPr lang="en-US" altLang="zh-TW" dirty="0"/>
              <a:t>TMP</a:t>
            </a:r>
            <a:r>
              <a:rPr lang="zh-TW" altLang="en-US" dirty="0"/>
              <a:t>系統的文字會比較好看，但是中文</a:t>
            </a:r>
            <a:r>
              <a:rPr lang="en-US" altLang="zh-TW" dirty="0"/>
              <a:t>(</a:t>
            </a:r>
            <a:r>
              <a:rPr lang="zh-TW" altLang="en-US" dirty="0"/>
              <a:t>文字的種類較多的語文</a:t>
            </a:r>
            <a:r>
              <a:rPr lang="en-US" altLang="zh-TW" dirty="0"/>
              <a:t>) </a:t>
            </a:r>
            <a:r>
              <a:rPr lang="zh-TW" altLang="en-US" dirty="0"/>
              <a:t>使用上比較麻煩 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在</a:t>
            </a:r>
            <a:r>
              <a:rPr lang="en-US" altLang="zh-TW" dirty="0"/>
              <a:t>Text</a:t>
            </a:r>
            <a:r>
              <a:rPr lang="zh-TW" altLang="en-US" dirty="0"/>
              <a:t>中，有大量的文字相關的屬性可調整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DB369A8B-4F6B-E793-C7D3-FC019CED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461" y="2420888"/>
            <a:ext cx="3076301" cy="443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46199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元件：文字</a:t>
            </a:r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使用中文文字，必須將字型放入遊戲中，可以使用</a:t>
            </a:r>
            <a:r>
              <a:rPr lang="en-US" altLang="zh-TW" dirty="0"/>
              <a:t>Windows</a:t>
            </a:r>
            <a:r>
              <a:rPr lang="zh-TW" altLang="en-US" dirty="0"/>
              <a:t>內建字型</a:t>
            </a:r>
            <a:r>
              <a:rPr lang="en-US" altLang="zh-TW" dirty="0"/>
              <a:t>(C:\Windows\Fonts)</a:t>
            </a:r>
            <a:r>
              <a:rPr lang="zh-TW" altLang="en-US" dirty="0"/>
              <a:t>或可商用字型來製作。</a:t>
            </a:r>
            <a:endParaRPr lang="en-US" altLang="zh-TW" dirty="0"/>
          </a:p>
          <a:p>
            <a:pPr lvl="1"/>
            <a:r>
              <a:rPr lang="zh-TW" altLang="en-US" dirty="0"/>
              <a:t>傳入字型</a:t>
            </a:r>
            <a:endParaRPr lang="en-US" altLang="zh-TW" dirty="0"/>
          </a:p>
          <a:p>
            <a:pPr lvl="1"/>
            <a:r>
              <a:rPr lang="zh-TW" altLang="en-US" dirty="0"/>
              <a:t>選擇字型後右鍵 </a:t>
            </a:r>
            <a:r>
              <a:rPr lang="en-US" altLang="zh-TW" dirty="0"/>
              <a:t>Create/</a:t>
            </a:r>
            <a:r>
              <a:rPr lang="en-US" altLang="zh-TW" dirty="0" err="1"/>
              <a:t>TextMeshPro</a:t>
            </a:r>
            <a:r>
              <a:rPr lang="en-US" altLang="zh-TW" dirty="0"/>
              <a:t>/Font Asset</a:t>
            </a:r>
          </a:p>
          <a:p>
            <a:pPr lvl="1"/>
            <a:r>
              <a:rPr lang="en-US" altLang="zh-TW" dirty="0"/>
              <a:t>Atlas Population Mode</a:t>
            </a:r>
            <a:r>
              <a:rPr lang="zh-TW" altLang="en-US" dirty="0"/>
              <a:t>中維持</a:t>
            </a:r>
            <a:r>
              <a:rPr lang="en-US" altLang="zh-TW" dirty="0"/>
              <a:t>Dynamic</a:t>
            </a:r>
            <a:r>
              <a:rPr lang="zh-TW" altLang="en-US" dirty="0"/>
              <a:t>可方便使用中文</a:t>
            </a:r>
            <a:endParaRPr lang="en-US" altLang="zh-TW" dirty="0"/>
          </a:p>
          <a:p>
            <a:pPr lvl="2"/>
            <a:r>
              <a:rPr lang="zh-TW" altLang="en-US" dirty="0"/>
              <a:t>固定 與 變動 </a:t>
            </a:r>
            <a:r>
              <a:rPr lang="en-US" altLang="zh-TW" dirty="0"/>
              <a:t>(</a:t>
            </a:r>
            <a:r>
              <a:rPr lang="zh-TW" altLang="en-US" dirty="0"/>
              <a:t>如：玩家可自行輸入名字</a:t>
            </a:r>
            <a:r>
              <a:rPr lang="en-US" altLang="zh-TW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xmlns="" val="2429467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</a:t>
            </a:r>
            <a:r>
              <a:rPr lang="zh-TW" altLang="en-US" dirty="0">
                <a:sym typeface="Wingdings" panose="05000000000000000000" pitchFamily="2" charset="2"/>
              </a:rPr>
              <a:t>：按鈕 </a:t>
            </a:r>
            <a:r>
              <a:rPr lang="en-US" altLang="zh-TW" dirty="0">
                <a:sym typeface="Wingdings" panose="05000000000000000000" pitchFamily="2" charset="2"/>
              </a:rPr>
              <a:t>Button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新建一個</a:t>
            </a:r>
            <a:r>
              <a:rPr lang="en-US" altLang="zh-TW" dirty="0"/>
              <a:t>Button</a:t>
            </a:r>
            <a:r>
              <a:rPr lang="zh-TW" altLang="en-US" dirty="0"/>
              <a:t>後，實際上由兩部分組成</a:t>
            </a:r>
            <a:endParaRPr lang="en-US" altLang="zh-TW" dirty="0"/>
          </a:p>
          <a:p>
            <a:pPr lvl="1"/>
            <a:r>
              <a:rPr lang="zh-TW" altLang="en-US" dirty="0"/>
              <a:t>圖片</a:t>
            </a:r>
            <a:endParaRPr lang="en-US" altLang="zh-TW" dirty="0"/>
          </a:p>
          <a:p>
            <a:pPr lvl="1"/>
            <a:r>
              <a:rPr lang="zh-TW" altLang="en-US" dirty="0"/>
              <a:t>文字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圖片上除</a:t>
            </a:r>
            <a:r>
              <a:rPr lang="en-US" altLang="zh-TW" dirty="0"/>
              <a:t>Image</a:t>
            </a:r>
            <a:r>
              <a:rPr lang="zh-TW" altLang="en-US" dirty="0"/>
              <a:t>以外，掛有另外一個元件</a:t>
            </a:r>
            <a:r>
              <a:rPr lang="en-US" altLang="zh-TW" dirty="0"/>
              <a:t>Button</a:t>
            </a:r>
          </a:p>
          <a:p>
            <a:pPr lvl="1"/>
            <a:r>
              <a:rPr lang="zh-TW" altLang="en-US" dirty="0"/>
              <a:t>這是實際上按鈕運作的功能元件</a:t>
            </a:r>
            <a:endParaRPr lang="en-US" altLang="zh-TW" dirty="0"/>
          </a:p>
          <a:p>
            <a:pPr lvl="1"/>
            <a:r>
              <a:rPr lang="zh-TW" altLang="en-US" dirty="0"/>
              <a:t>視狀況，可以去除掉圖片或文字，但是必須留有任何一個</a:t>
            </a:r>
            <a:r>
              <a:rPr lang="en-US" altLang="zh-TW" dirty="0" err="1"/>
              <a:t>Raycast</a:t>
            </a:r>
            <a:r>
              <a:rPr lang="en-US" altLang="zh-TW" dirty="0"/>
              <a:t> Target</a:t>
            </a:r>
            <a:r>
              <a:rPr lang="zh-TW" altLang="en-US" dirty="0"/>
              <a:t>，按鈕才能被觸發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21DE090B-7440-7B3D-7C13-E7FD01F6B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2780928"/>
            <a:ext cx="3166290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2488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</a:t>
            </a:r>
            <a:r>
              <a:rPr lang="zh-TW" altLang="en-US" dirty="0">
                <a:sym typeface="Wingdings" panose="05000000000000000000" pitchFamily="2" charset="2"/>
              </a:rPr>
              <a:t>：按鈕 </a:t>
            </a:r>
            <a:r>
              <a:rPr lang="en-US" altLang="zh-TW" dirty="0">
                <a:sym typeface="Wingdings" panose="05000000000000000000" pitchFamily="2" charset="2"/>
              </a:rPr>
              <a:t>Button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4325112"/>
          </a:xfrm>
        </p:spPr>
        <p:txBody>
          <a:bodyPr/>
          <a:lstStyle/>
          <a:p>
            <a:r>
              <a:rPr lang="zh-TW" altLang="en-US" dirty="0"/>
              <a:t>處理</a:t>
            </a:r>
            <a:r>
              <a:rPr lang="en-US" altLang="zh-TW" dirty="0"/>
              <a:t>Button</a:t>
            </a:r>
            <a:r>
              <a:rPr lang="zh-TW" altLang="en-US" dirty="0"/>
              <a:t>的按鈕事件</a:t>
            </a:r>
            <a:endParaRPr lang="en-US" altLang="zh-TW" dirty="0"/>
          </a:p>
          <a:p>
            <a:pPr lvl="1"/>
            <a:r>
              <a:rPr lang="zh-TW" altLang="en-US" dirty="0"/>
              <a:t>方法</a:t>
            </a:r>
            <a:r>
              <a:rPr lang="en-US" altLang="zh-TW" dirty="0"/>
              <a:t>2</a:t>
            </a:r>
            <a:r>
              <a:rPr lang="zh-TW" altLang="en-US" dirty="0"/>
              <a:t>：使用</a:t>
            </a:r>
            <a:r>
              <a:rPr lang="en-US" altLang="zh-TW" dirty="0" err="1"/>
              <a:t>UnityEvent</a:t>
            </a:r>
            <a:r>
              <a:rPr lang="zh-TW" altLang="en-US" dirty="0"/>
              <a:t>並且在按鈕中設定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DF9E24D2-40B9-7DE8-C990-9F0ED330C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4095375"/>
            <a:ext cx="4563112" cy="268642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4D41394C-EAED-47DF-CB5D-F782BD4FE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3200400"/>
            <a:ext cx="4534533" cy="866896"/>
          </a:xfrm>
          <a:prstGeom prst="rect">
            <a:avLst/>
          </a:prstGeom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33975" y="4867275"/>
            <a:ext cx="38576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48250" y="3457575"/>
            <a:ext cx="4019550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676067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其他</a:t>
            </a:r>
            <a:r>
              <a:rPr lang="en-US" altLang="zh-TW" dirty="0" smtClean="0"/>
              <a:t>UI</a:t>
            </a:r>
            <a:r>
              <a:rPr lang="zh-TW" altLang="en-US" dirty="0" smtClean="0"/>
              <a:t>元件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Toggle:</a:t>
            </a:r>
            <a:r>
              <a:rPr lang="zh-TW" altLang="en-US" dirty="0" smtClean="0"/>
              <a:t> 單選或多選按鈕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3429000"/>
            <a:ext cx="4533900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其他</a:t>
            </a:r>
            <a:r>
              <a:rPr lang="en-US" altLang="zh-TW" dirty="0" smtClean="0"/>
              <a:t>UI</a:t>
            </a:r>
            <a:r>
              <a:rPr lang="zh-TW" altLang="en-US" dirty="0" smtClean="0"/>
              <a:t>元件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Scroll View</a:t>
            </a:r>
          </a:p>
          <a:p>
            <a:pPr lvl="1"/>
            <a:r>
              <a:rPr lang="zh-TW" altLang="en-US" dirty="0" smtClean="0"/>
              <a:t>滾動檢視區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Scroll Bar</a:t>
            </a:r>
          </a:p>
          <a:p>
            <a:pPr lvl="1"/>
            <a:r>
              <a:rPr lang="zh-TW" altLang="en-US" dirty="0" smtClean="0"/>
              <a:t>滾動卷軸</a:t>
            </a:r>
            <a:endParaRPr lang="en-US" altLang="zh-TW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0" y="3319798"/>
            <a:ext cx="3429000" cy="3414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其他</a:t>
            </a:r>
            <a:r>
              <a:rPr lang="en-US" altLang="zh-TW" dirty="0" smtClean="0"/>
              <a:t>UI</a:t>
            </a:r>
            <a:r>
              <a:rPr lang="zh-TW" altLang="en-US" dirty="0" smtClean="0"/>
              <a:t>元件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Dropdown </a:t>
            </a:r>
          </a:p>
          <a:p>
            <a:pPr lvl="1"/>
            <a:r>
              <a:rPr lang="zh-TW" altLang="en-US" dirty="0" smtClean="0"/>
              <a:t>下拉式選單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Input Field</a:t>
            </a:r>
          </a:p>
          <a:p>
            <a:pPr lvl="1"/>
            <a:r>
              <a:rPr lang="zh-TW" altLang="en-US" dirty="0" smtClean="0"/>
              <a:t>可輸入區域</a:t>
            </a:r>
            <a:endParaRPr lang="en-US" altLang="zh-TW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38800" y="2133600"/>
            <a:ext cx="2824206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0" y="4953000"/>
            <a:ext cx="2324100" cy="11478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9B6E48A-22F6-52C4-BD3E-9AC65835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細談</a:t>
            </a:r>
            <a:r>
              <a:rPr lang="en-US" altLang="zh-TW" dirty="0"/>
              <a:t>Canvas</a:t>
            </a:r>
            <a:r>
              <a:rPr lang="zh-TW" altLang="en-US" dirty="0"/>
              <a:t> 運用時機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27AC9419-F1D3-4745-5278-D10050476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通常使用為表示一個</a:t>
            </a:r>
            <a:r>
              <a:rPr lang="en-US" altLang="zh-TW" dirty="0"/>
              <a:t>UI</a:t>
            </a:r>
            <a:r>
              <a:rPr lang="zh-TW" altLang="en-US" dirty="0"/>
              <a:t>區域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當一個</a:t>
            </a:r>
            <a:r>
              <a:rPr lang="en-US" altLang="zh-TW" dirty="0"/>
              <a:t>Canvas</a:t>
            </a:r>
            <a:r>
              <a:rPr lang="zh-TW" altLang="en-US" dirty="0"/>
              <a:t>內的任意元件有畫面上的變動，該</a:t>
            </a:r>
            <a:r>
              <a:rPr lang="en-US" altLang="zh-TW" dirty="0"/>
              <a:t>Canvas</a:t>
            </a:r>
            <a:r>
              <a:rPr lang="zh-TW" altLang="en-US" dirty="0"/>
              <a:t>需要整個重畫。因為這個原因，所以建議以下幾點：</a:t>
            </a:r>
            <a:endParaRPr lang="en-US" altLang="zh-TW" dirty="0"/>
          </a:p>
          <a:p>
            <a:pPr lvl="1"/>
            <a:r>
              <a:rPr lang="zh-TW" altLang="en-US" dirty="0"/>
              <a:t>部分動態物件可獨立一個</a:t>
            </a:r>
            <a:r>
              <a:rPr lang="en-US" altLang="zh-TW" dirty="0"/>
              <a:t>Canvas(</a:t>
            </a:r>
            <a:r>
              <a:rPr lang="zh-TW" altLang="en-US" dirty="0"/>
              <a:t>如按鈕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動態部分與靜態部分分屬不同</a:t>
            </a:r>
            <a:r>
              <a:rPr lang="en-US" altLang="zh-TW" dirty="0"/>
              <a:t>Canvas</a:t>
            </a:r>
          </a:p>
          <a:p>
            <a:pPr lvl="1"/>
            <a:r>
              <a:rPr lang="zh-TW" altLang="en-US" dirty="0"/>
              <a:t>可以以移動或關閉</a:t>
            </a:r>
            <a:r>
              <a:rPr lang="en-US" altLang="zh-TW" dirty="0"/>
              <a:t>Canvas</a:t>
            </a:r>
            <a:r>
              <a:rPr lang="zh-TW" altLang="en-US" dirty="0"/>
              <a:t>方式使其消失</a:t>
            </a:r>
          </a:p>
        </p:txBody>
      </p:sp>
    </p:spTree>
    <p:extLst>
      <p:ext uri="{BB962C8B-B14F-4D97-AF65-F5344CB8AC3E}">
        <p14:creationId xmlns:p14="http://schemas.microsoft.com/office/powerpoint/2010/main" xmlns="" val="4069911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9B6E48A-22F6-52C4-BD3E-9AC65835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細談</a:t>
            </a:r>
            <a:r>
              <a:rPr lang="en-US" altLang="zh-TW" dirty="0"/>
              <a:t>Canvas :</a:t>
            </a:r>
            <a:r>
              <a:rPr lang="zh-TW" altLang="en-US" dirty="0"/>
              <a:t> </a:t>
            </a:r>
            <a:r>
              <a:rPr lang="en-US" altLang="zh-TW" dirty="0"/>
              <a:t>Render Mode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27AC9419-F1D3-4745-5278-D10050476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Screen Space - Overlay</a:t>
            </a:r>
          </a:p>
          <a:p>
            <a:pPr lvl="1"/>
            <a:r>
              <a:rPr lang="zh-TW" altLang="en-US" dirty="0"/>
              <a:t>畫面一律覆蓋在最上層</a:t>
            </a:r>
            <a:endParaRPr lang="en-US" altLang="zh-TW" dirty="0"/>
          </a:p>
          <a:p>
            <a:r>
              <a:rPr lang="en-US" altLang="zh-TW" dirty="0"/>
              <a:t>Screen Space – Camera</a:t>
            </a:r>
          </a:p>
          <a:p>
            <a:pPr lvl="1"/>
            <a:r>
              <a:rPr lang="zh-TW" altLang="en-US" dirty="0"/>
              <a:t>類似於</a:t>
            </a:r>
            <a:r>
              <a:rPr lang="en-US" altLang="zh-TW" dirty="0"/>
              <a:t>Overlay</a:t>
            </a:r>
            <a:r>
              <a:rPr lang="zh-TW" altLang="en-US" dirty="0"/>
              <a:t>，但會將畫面畫在攝影機中</a:t>
            </a:r>
            <a:endParaRPr lang="en-US" altLang="zh-TW" dirty="0"/>
          </a:p>
          <a:p>
            <a:r>
              <a:rPr lang="en-US" altLang="zh-TW" dirty="0"/>
              <a:t>World Space</a:t>
            </a:r>
          </a:p>
          <a:p>
            <a:pPr lvl="1"/>
            <a:r>
              <a:rPr lang="zh-TW" altLang="en-US" dirty="0"/>
              <a:t>實際放在遊戲的座標上</a:t>
            </a:r>
            <a:endParaRPr lang="en-US" altLang="zh-TW" dirty="0"/>
          </a:p>
          <a:p>
            <a:pPr lvl="1"/>
            <a:r>
              <a:rPr lang="zh-TW" altLang="en-US" dirty="0"/>
              <a:t>通常為</a:t>
            </a:r>
            <a:r>
              <a:rPr lang="en-US" altLang="zh-TW" dirty="0"/>
              <a:t>3D</a:t>
            </a:r>
            <a:r>
              <a:rPr lang="zh-TW" altLang="en-US" dirty="0"/>
              <a:t>型</a:t>
            </a:r>
            <a:r>
              <a:rPr lang="en-US" altLang="zh-TW" dirty="0"/>
              <a:t>UI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059069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6E578CF-C799-4D22-9F13-EE4EAC29F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細談</a:t>
            </a:r>
            <a:r>
              <a:rPr lang="en-US" altLang="zh-TW" dirty="0"/>
              <a:t>Canvas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3B4E225E-375A-A3D1-1CF5-E020533C7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Sort Order</a:t>
            </a:r>
            <a:r>
              <a:rPr lang="zh-TW" altLang="en-US" dirty="0"/>
              <a:t>，可決定畫面的顯示順序，</a:t>
            </a:r>
            <a:r>
              <a:rPr lang="en-US" altLang="zh-TW" dirty="0"/>
              <a:t>UI</a:t>
            </a:r>
            <a:r>
              <a:rPr lang="zh-TW" altLang="en-US" dirty="0"/>
              <a:t>與</a:t>
            </a:r>
            <a:r>
              <a:rPr lang="en-US" altLang="zh-TW" dirty="0"/>
              <a:t>2D</a:t>
            </a:r>
            <a:r>
              <a:rPr lang="zh-TW" altLang="en-US" dirty="0"/>
              <a:t>別使用</a:t>
            </a:r>
            <a:r>
              <a:rPr lang="en-US" altLang="zh-TW" dirty="0"/>
              <a:t>Z</a:t>
            </a:r>
            <a:r>
              <a:rPr lang="zh-TW" altLang="en-US" dirty="0"/>
              <a:t>值排序。</a:t>
            </a:r>
            <a:endParaRPr lang="en-US" altLang="zh-TW" dirty="0"/>
          </a:p>
          <a:p>
            <a:r>
              <a:rPr lang="en-US" altLang="zh-TW" dirty="0"/>
              <a:t>Canvas Scaler</a:t>
            </a:r>
            <a:r>
              <a:rPr lang="zh-TW" altLang="en-US" dirty="0"/>
              <a:t>，額外元件，可使用此元件來符合螢幕大小。</a:t>
            </a:r>
            <a:endParaRPr lang="en-US" altLang="zh-TW" dirty="0"/>
          </a:p>
          <a:p>
            <a:r>
              <a:rPr lang="en-US" altLang="zh-TW" dirty="0"/>
              <a:t>Graphic </a:t>
            </a:r>
            <a:r>
              <a:rPr lang="en-US" altLang="zh-TW" dirty="0" err="1"/>
              <a:t>Raycaster</a:t>
            </a:r>
            <a:r>
              <a:rPr lang="zh-TW" altLang="en-US" dirty="0"/>
              <a:t>，必須要有此元件，其下的</a:t>
            </a:r>
            <a:r>
              <a:rPr lang="en-US" altLang="zh-TW" dirty="0"/>
              <a:t>UI</a:t>
            </a:r>
            <a:r>
              <a:rPr lang="zh-TW" altLang="en-US" dirty="0"/>
              <a:t>物件才能被點選 </a:t>
            </a:r>
            <a:r>
              <a:rPr lang="en-US" altLang="zh-TW" dirty="0"/>
              <a:t>(</a:t>
            </a:r>
            <a:r>
              <a:rPr lang="zh-TW" altLang="en-US" dirty="0"/>
              <a:t>或阻擋點選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Canvas</a:t>
            </a:r>
            <a:r>
              <a:rPr lang="zh-TW" altLang="en-US" dirty="0"/>
              <a:t> </a:t>
            </a:r>
            <a:r>
              <a:rPr lang="en-US" altLang="zh-TW" dirty="0"/>
              <a:t>Group</a:t>
            </a:r>
            <a:r>
              <a:rPr lang="zh-TW" altLang="en-US" dirty="0"/>
              <a:t>，額外元件，可調整其下所有</a:t>
            </a:r>
            <a:r>
              <a:rPr lang="en-US" altLang="zh-TW" dirty="0"/>
              <a:t>UI</a:t>
            </a:r>
            <a:r>
              <a:rPr lang="zh-TW" altLang="en-US" dirty="0"/>
              <a:t>的透明度，並且也可控制所有</a:t>
            </a:r>
            <a:r>
              <a:rPr lang="en-US" altLang="zh-TW" dirty="0"/>
              <a:t>UI</a:t>
            </a:r>
            <a:r>
              <a:rPr lang="zh-TW" altLang="en-US" dirty="0"/>
              <a:t>的互動及阻擋點選相關。</a:t>
            </a:r>
          </a:p>
        </p:txBody>
      </p:sp>
    </p:spTree>
    <p:extLst>
      <p:ext uri="{BB962C8B-B14F-4D97-AF65-F5344CB8AC3E}">
        <p14:creationId xmlns:p14="http://schemas.microsoft.com/office/powerpoint/2010/main" xmlns="" val="2762115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UGUI</a:t>
            </a:r>
            <a:r>
              <a:rPr lang="zh-TW" altLang="en-US" dirty="0" smtClean="0"/>
              <a:t>排序問題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前面有提到由</a:t>
            </a:r>
            <a:r>
              <a:rPr lang="en-US" altLang="zh-TW" b="1" u="sng" dirty="0" smtClean="0"/>
              <a:t>Canvas</a:t>
            </a:r>
            <a:r>
              <a:rPr lang="zh-TW" altLang="en-US" b="1" u="sng" dirty="0" smtClean="0"/>
              <a:t>定義的</a:t>
            </a:r>
            <a:r>
              <a:rPr lang="en-US" altLang="zh-TW" b="1" u="sng" dirty="0" smtClean="0"/>
              <a:t>Sort Order</a:t>
            </a:r>
            <a:r>
              <a:rPr lang="zh-TW" altLang="en-US" dirty="0" smtClean="0"/>
              <a:t>，在</a:t>
            </a:r>
            <a:r>
              <a:rPr lang="en-US" altLang="zh-TW" dirty="0" smtClean="0"/>
              <a:t>GUI(</a:t>
            </a:r>
            <a:r>
              <a:rPr lang="zh-TW" altLang="en-US" dirty="0" smtClean="0"/>
              <a:t>極大多數的</a:t>
            </a:r>
            <a:r>
              <a:rPr lang="en-US" altLang="zh-TW" dirty="0" smtClean="0"/>
              <a:t>2D)</a:t>
            </a:r>
            <a:r>
              <a:rPr lang="zh-TW" altLang="en-US" dirty="0" smtClean="0"/>
              <a:t>的排序中，都是以這個作為排序方式。</a:t>
            </a:r>
            <a:endParaRPr lang="en-US" altLang="zh-TW" dirty="0" smtClean="0"/>
          </a:p>
          <a:p>
            <a:r>
              <a:rPr lang="en-US" altLang="zh-TW" dirty="0" smtClean="0"/>
              <a:t>GUI</a:t>
            </a:r>
            <a:r>
              <a:rPr lang="zh-TW" altLang="en-US" dirty="0" smtClean="0"/>
              <a:t>會使用最接近他的</a:t>
            </a:r>
            <a:r>
              <a:rPr lang="en-US" altLang="zh-TW" dirty="0" smtClean="0"/>
              <a:t>Canvas</a:t>
            </a:r>
            <a:r>
              <a:rPr lang="zh-TW" altLang="en-US" dirty="0" smtClean="0"/>
              <a:t>的</a:t>
            </a:r>
            <a:r>
              <a:rPr lang="en-US" altLang="zh-TW" dirty="0" smtClean="0"/>
              <a:t>Sort Order</a:t>
            </a:r>
            <a:r>
              <a:rPr lang="zh-TW" altLang="en-US" dirty="0" smtClean="0"/>
              <a:t>，若都找不到</a:t>
            </a:r>
            <a:r>
              <a:rPr lang="en-US" altLang="zh-TW" dirty="0" smtClean="0"/>
              <a:t>Canvas</a:t>
            </a:r>
            <a:r>
              <a:rPr lang="zh-TW" altLang="en-US" dirty="0" smtClean="0"/>
              <a:t>，則無法顯示。</a:t>
            </a:r>
            <a:endParaRPr lang="en-US" altLang="zh-TW" dirty="0" smtClean="0"/>
          </a:p>
          <a:p>
            <a:r>
              <a:rPr lang="zh-TW" altLang="en-US" dirty="0" smtClean="0"/>
              <a:t>而相同</a:t>
            </a:r>
            <a:r>
              <a:rPr lang="en-US" altLang="zh-TW" dirty="0" smtClean="0"/>
              <a:t>Sort Order</a:t>
            </a:r>
            <a:r>
              <a:rPr lang="zh-TW" altLang="en-US" dirty="0" smtClean="0"/>
              <a:t>的</a:t>
            </a:r>
            <a:r>
              <a:rPr lang="en-US" altLang="zh-TW" dirty="0" smtClean="0"/>
              <a:t>GUI</a:t>
            </a:r>
            <a:r>
              <a:rPr lang="zh-TW" altLang="en-US" dirty="0" smtClean="0"/>
              <a:t>，則是以階層順序決定誰在上方，階層較下方者會蓋住其它</a:t>
            </a:r>
            <a:r>
              <a:rPr lang="en-US" altLang="zh-TW" dirty="0" smtClean="0"/>
              <a:t>GUI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</a:t>
            </a:r>
            <a:r>
              <a:rPr lang="en-US" altLang="zh-TW" dirty="0" smtClean="0"/>
              <a:t>14.2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場景切換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 smtClean="0"/>
              <a:t>Horazon</a:t>
            </a:r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601808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C4106E3-7CD4-5229-6CE8-7E2A6FEA7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加入可切換的場景</a:t>
            </a:r>
            <a:r>
              <a:rPr lang="en-US" altLang="zh-TW" dirty="0"/>
              <a:t>(Scene)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F38D44FD-C8FE-E2D9-27B4-C229A32AB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並不是每個場景都會在可遊玩的遊戲中</a:t>
            </a:r>
            <a:endParaRPr lang="en-US" altLang="zh-TW" dirty="0"/>
          </a:p>
          <a:p>
            <a:pPr lvl="1"/>
            <a:r>
              <a:rPr lang="zh-TW" altLang="en-US" dirty="0"/>
              <a:t>測試用場景</a:t>
            </a:r>
            <a:endParaRPr lang="en-US" altLang="zh-TW" dirty="0"/>
          </a:p>
          <a:p>
            <a:pPr lvl="1"/>
            <a:r>
              <a:rPr lang="zh-TW" altLang="en-US" dirty="0"/>
              <a:t>編輯器場景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File&gt;Build Settings</a:t>
            </a:r>
          </a:p>
          <a:p>
            <a:pPr lvl="1"/>
            <a:r>
              <a:rPr lang="zh-TW" altLang="en-US" dirty="0"/>
              <a:t>上方加入場景</a:t>
            </a:r>
            <a:endParaRPr lang="en-US" altLang="zh-TW" dirty="0"/>
          </a:p>
          <a:p>
            <a:pPr lvl="1"/>
            <a:r>
              <a:rPr lang="zh-TW" altLang="en-US" dirty="0"/>
              <a:t>注意此處的編號</a:t>
            </a:r>
            <a:r>
              <a:rPr lang="en-US" altLang="zh-TW" dirty="0"/>
              <a:t>(index)</a:t>
            </a:r>
            <a:r>
              <a:rPr lang="zh-TW" altLang="en-US" dirty="0"/>
              <a:t>，</a:t>
            </a:r>
            <a:endParaRPr lang="en-US" altLang="zh-TW" dirty="0"/>
          </a:p>
          <a:p>
            <a:pPr marL="411480" lvl="1" indent="0">
              <a:buNone/>
            </a:pPr>
            <a:r>
              <a:rPr lang="zh-TW" altLang="en-US" dirty="0"/>
              <a:t>   也可調整順序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8193F6DE-CA2F-3BF7-0A87-A8773F26B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2924944"/>
            <a:ext cx="4283968" cy="3832130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xmlns="" id="{011B0593-20DF-206E-E04D-129AEB10620C}"/>
              </a:ext>
            </a:extLst>
          </p:cNvPr>
          <p:cNvSpPr/>
          <p:nvPr/>
        </p:nvSpPr>
        <p:spPr>
          <a:xfrm>
            <a:off x="4788024" y="2852936"/>
            <a:ext cx="4355976" cy="12961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578383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3C799F7E-0BB7-BEDA-54FE-8112EC7D0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讀取場景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80E1E49-CFDD-C116-DCBF-392F33E5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2249424"/>
            <a:ext cx="6122872" cy="4325112"/>
          </a:xfrm>
        </p:spPr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Scene Manager</a:t>
            </a:r>
            <a:r>
              <a:rPr lang="zh-TW" altLang="en-US" dirty="0"/>
              <a:t> </a:t>
            </a:r>
            <a:r>
              <a:rPr lang="en-US" altLang="zh-TW" dirty="0"/>
              <a:t>&gt;</a:t>
            </a:r>
            <a:r>
              <a:rPr lang="zh-TW" altLang="en-US" dirty="0"/>
              <a:t> </a:t>
            </a:r>
            <a:r>
              <a:rPr lang="en-US" altLang="zh-TW" dirty="0"/>
              <a:t>Load Scene</a:t>
            </a:r>
          </a:p>
          <a:p>
            <a:pPr lvl="1"/>
            <a:r>
              <a:rPr lang="zh-TW" altLang="en-US" dirty="0"/>
              <a:t>可使用名稱</a:t>
            </a:r>
            <a:endParaRPr lang="en-US" altLang="zh-TW" dirty="0"/>
          </a:p>
          <a:p>
            <a:pPr lvl="1"/>
            <a:r>
              <a:rPr lang="zh-TW" altLang="en-US" dirty="0"/>
              <a:t>或使用編號</a:t>
            </a:r>
            <a:r>
              <a:rPr lang="en-US" altLang="zh-TW" dirty="0"/>
              <a:t>(index)</a:t>
            </a:r>
          </a:p>
          <a:p>
            <a:pPr lvl="2"/>
            <a:r>
              <a:rPr lang="zh-TW" altLang="en-US" dirty="0"/>
              <a:t>可以使用</a:t>
            </a:r>
            <a:r>
              <a:rPr lang="en-US" altLang="zh-TW" dirty="0"/>
              <a:t>Get Active Scene</a:t>
            </a:r>
            <a:r>
              <a:rPr lang="zh-TW" altLang="en-US" dirty="0"/>
              <a:t>來做計算</a:t>
            </a:r>
            <a:endParaRPr lang="en-US" altLang="zh-TW" dirty="0"/>
          </a:p>
          <a:p>
            <a:pPr lvl="2"/>
            <a:r>
              <a:rPr lang="zh-TW" altLang="en-US" dirty="0"/>
              <a:t>如</a:t>
            </a:r>
            <a:r>
              <a:rPr lang="en-US" altLang="zh-TW" dirty="0"/>
              <a:t>+1</a:t>
            </a:r>
            <a:r>
              <a:rPr lang="zh-TW" altLang="en-US" dirty="0"/>
              <a:t>前往下一關</a:t>
            </a:r>
            <a:endParaRPr lang="en-US" altLang="zh-TW" dirty="0"/>
          </a:p>
          <a:p>
            <a:pPr marL="411480" lvl="1" indent="0">
              <a:buNone/>
            </a:pPr>
            <a:endParaRPr lang="en-US" altLang="zh-TW" dirty="0"/>
          </a:p>
          <a:p>
            <a:r>
              <a:rPr lang="zh-TW" altLang="en-US" dirty="0"/>
              <a:t>讀取場景時可加入參數，</a:t>
            </a:r>
            <a:endParaRPr lang="en-US" altLang="zh-TW" dirty="0"/>
          </a:p>
          <a:p>
            <a:pPr marL="109728" indent="0">
              <a:buNone/>
            </a:pPr>
            <a:r>
              <a:rPr lang="zh-TW" altLang="en-US" dirty="0"/>
              <a:t>   使其為</a:t>
            </a:r>
            <a:r>
              <a:rPr lang="en-US" altLang="zh-TW" dirty="0"/>
              <a:t>”</a:t>
            </a:r>
            <a:r>
              <a:rPr lang="zh-TW" altLang="en-US" dirty="0"/>
              <a:t>新增讀取</a:t>
            </a:r>
            <a:r>
              <a:rPr lang="en-US" altLang="zh-TW" dirty="0"/>
              <a:t>”</a:t>
            </a:r>
            <a:endParaRPr lang="zh-TW" altLang="en-US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957241BA-FDA8-AE53-8BCA-4C305BF8A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400" y="1234481"/>
            <a:ext cx="2715004" cy="339137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2118899F-CDE7-923E-0010-DA0ABA7C7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807" y="4902888"/>
            <a:ext cx="4134427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548387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讀取場景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也可以使用程式碼達成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這邊做的事情與下一段相同，分別為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r>
              <a:rPr lang="zh-TW" altLang="en-US" dirty="0" smtClean="0"/>
              <a:t>讀取 序號</a:t>
            </a:r>
            <a:r>
              <a:rPr lang="en-US" altLang="zh-TW" dirty="0" smtClean="0"/>
              <a:t>(index)</a:t>
            </a:r>
            <a:r>
              <a:rPr lang="zh-TW" altLang="en-US" dirty="0" smtClean="0"/>
              <a:t>為</a:t>
            </a:r>
            <a:r>
              <a:rPr lang="en-US" altLang="zh-TW" dirty="0" smtClean="0"/>
              <a:t>1</a:t>
            </a:r>
            <a:r>
              <a:rPr lang="zh-TW" altLang="en-US" dirty="0" smtClean="0"/>
              <a:t>的場景 </a:t>
            </a:r>
            <a:r>
              <a:rPr lang="en-US" altLang="zh-TW" dirty="0" smtClean="0"/>
              <a:t>(</a:t>
            </a:r>
            <a:r>
              <a:rPr lang="zh-TW" altLang="en-US" dirty="0" smtClean="0"/>
              <a:t>第</a:t>
            </a:r>
            <a:r>
              <a:rPr lang="en-US" altLang="zh-TW" dirty="0" smtClean="0"/>
              <a:t>2</a:t>
            </a:r>
            <a:r>
              <a:rPr lang="zh-TW" altLang="en-US" dirty="0" smtClean="0"/>
              <a:t>個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 smtClean="0"/>
              <a:t>讀取名稱為</a:t>
            </a:r>
            <a:r>
              <a:rPr lang="en-US" altLang="zh-TW" dirty="0" smtClean="0"/>
              <a:t>”</a:t>
            </a:r>
            <a:r>
              <a:rPr lang="zh-TW" altLang="en-US" dirty="0" smtClean="0"/>
              <a:t>下一個場景</a:t>
            </a:r>
            <a:r>
              <a:rPr lang="en-US" altLang="zh-TW" dirty="0" smtClean="0"/>
              <a:t>“</a:t>
            </a:r>
            <a:r>
              <a:rPr lang="zh-TW" altLang="en-US" dirty="0" smtClean="0"/>
              <a:t>的場景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讀取</a:t>
            </a:r>
            <a:r>
              <a:rPr lang="en-US" altLang="zh-TW" dirty="0" smtClean="0"/>
              <a:t>(</a:t>
            </a:r>
            <a:r>
              <a:rPr lang="zh-TW" altLang="en-US" dirty="0" smtClean="0"/>
              <a:t>當前場景序號</a:t>
            </a:r>
            <a:r>
              <a:rPr lang="en-US" altLang="zh-TW" dirty="0" smtClean="0"/>
              <a:t>+1)</a:t>
            </a:r>
            <a:r>
              <a:rPr lang="zh-TW" altLang="en-US" dirty="0" smtClean="0"/>
              <a:t>的場景</a:t>
            </a:r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5314950"/>
            <a:ext cx="8383587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DDBAE2F-A677-112C-59EB-57CA4CAF4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讀取場景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F53ABE08-3BFA-B8E6-7E29-9C4052777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</a:t>
            </a:r>
            <a:r>
              <a:rPr lang="zh-TW" altLang="en-US"/>
              <a:t>使用</a:t>
            </a:r>
            <a:r>
              <a:rPr lang="zh-TW" altLang="en-US" smtClean="0"/>
              <a:t>非同步讀取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常見的遊戲讀取方式為：</a:t>
            </a:r>
            <a:endParaRPr lang="en-US" altLang="zh-TW" dirty="0"/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先讓玩家無法操作、暫停遊戲</a:t>
            </a:r>
            <a:endParaRPr lang="en-US" altLang="zh-TW" dirty="0"/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以讀取畫面覆蓋</a:t>
            </a:r>
            <a:endParaRPr lang="en-US" altLang="zh-TW" dirty="0"/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非同步讀取場景 </a:t>
            </a:r>
            <a:r>
              <a:rPr lang="en-US" altLang="zh-TW" dirty="0"/>
              <a:t>(</a:t>
            </a:r>
            <a:r>
              <a:rPr lang="zh-TW" altLang="en-US" dirty="0"/>
              <a:t>此時可顯示讀取百分比</a:t>
            </a:r>
            <a:r>
              <a:rPr lang="en-US" altLang="zh-TW" dirty="0"/>
              <a:t>)</a:t>
            </a:r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確認場景讀取完成後，切換場景</a:t>
            </a:r>
            <a:endParaRPr lang="en-US" altLang="zh-TW" dirty="0"/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關閉讀取畫面</a:t>
            </a:r>
            <a:endParaRPr lang="en-US" altLang="zh-TW" dirty="0"/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釋放玩家操作、解除暫停</a:t>
            </a:r>
            <a:endParaRPr lang="en-US" altLang="zh-TW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2743200"/>
            <a:ext cx="369570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1104401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7444</TotalTime>
  <Words>1198</Words>
  <Application>Microsoft Office PowerPoint</Application>
  <PresentationFormat>如螢幕大小 (4:3)</PresentationFormat>
  <Paragraphs>197</Paragraphs>
  <Slides>29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0" baseType="lpstr">
      <vt:lpstr>都會</vt:lpstr>
      <vt:lpstr>Lesson 14 使用者介面</vt:lpstr>
      <vt:lpstr>[通用]遊戲引擎功能</vt:lpstr>
      <vt:lpstr>使用者介面</vt:lpstr>
      <vt:lpstr>UnityUI (UGUI)</vt:lpstr>
      <vt:lpstr>UI物件的特色</vt:lpstr>
      <vt:lpstr>調整RectTransform</vt:lpstr>
      <vt:lpstr>RectTransform : Pivot</vt:lpstr>
      <vt:lpstr>RectTransform : Anchor</vt:lpstr>
      <vt:lpstr>調整RectTransform</vt:lpstr>
      <vt:lpstr>常用的UI元件：圖片Image</vt:lpstr>
      <vt:lpstr>常用的UI元件：圖片Image</vt:lpstr>
      <vt:lpstr>常用的UI元件：圖片Image</vt:lpstr>
      <vt:lpstr>常用的UI元件：文字Text</vt:lpstr>
      <vt:lpstr>常用的UI元件：文字Text</vt:lpstr>
      <vt:lpstr>常用的UI元件：文字Text</vt:lpstr>
      <vt:lpstr>常用的UI元件：按鈕 Button</vt:lpstr>
      <vt:lpstr>常用的UI元件：按鈕 Button</vt:lpstr>
      <vt:lpstr>其他UI元件</vt:lpstr>
      <vt:lpstr>其他UI元件</vt:lpstr>
      <vt:lpstr>其他UI元件</vt:lpstr>
      <vt:lpstr>細談Canvas 運用時機</vt:lpstr>
      <vt:lpstr>細談Canvas : Render Mode</vt:lpstr>
      <vt:lpstr>細談Canvas</vt:lpstr>
      <vt:lpstr>UGUI排序問題</vt:lpstr>
      <vt:lpstr>Lesson 14.2 場景切換</vt:lpstr>
      <vt:lpstr>加入可切換的場景(Scene)</vt:lpstr>
      <vt:lpstr>讀取場景</vt:lpstr>
      <vt:lpstr>讀取場景</vt:lpstr>
      <vt:lpstr>讀取場景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552</cp:revision>
  <dcterms:created xsi:type="dcterms:W3CDTF">2024-11-18T05:57:07Z</dcterms:created>
  <dcterms:modified xsi:type="dcterms:W3CDTF">2025-12-07T14:22:27Z</dcterms:modified>
</cp:coreProperties>
</file>