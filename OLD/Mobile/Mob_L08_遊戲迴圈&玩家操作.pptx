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56" r:id="rId2"/>
    <p:sldId id="265" r:id="rId3"/>
    <p:sldId id="259" r:id="rId4"/>
    <p:sldId id="286" r:id="rId5"/>
    <p:sldId id="264" r:id="rId6"/>
    <p:sldId id="268" r:id="rId7"/>
    <p:sldId id="280" r:id="rId8"/>
    <p:sldId id="277" r:id="rId9"/>
    <p:sldId id="281" r:id="rId10"/>
    <p:sldId id="283" r:id="rId11"/>
    <p:sldId id="284" r:id="rId12"/>
    <p:sldId id="288" r:id="rId13"/>
    <p:sldId id="289" r:id="rId14"/>
    <p:sldId id="290" r:id="rId15"/>
    <p:sldId id="282" r:id="rId16"/>
    <p:sldId id="278" r:id="rId17"/>
    <p:sldId id="279" r:id="rId18"/>
    <p:sldId id="269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11" autoAdjust="0"/>
  </p:normalViewPr>
  <p:slideViewPr>
    <p:cSldViewPr>
      <p:cViewPr>
        <p:scale>
          <a:sx n="125" d="100"/>
          <a:sy n="125" d="100"/>
        </p:scale>
        <p:origin x="1194" y="-6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3EEAF-065D-475D-8058-07E926806314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F32F-E31F-492B-A213-F4B1D5897EA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1F32F-E31F-492B-A213-F4B1D5897EA8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1F32F-E31F-492B-A213-F4B1D5897EA8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930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2025/3/27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mos.com/calculator/1m25o6q5z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8</a:t>
            </a:r>
            <a:br>
              <a:rPr lang="en-US" altLang="zh-TW" dirty="0"/>
            </a:br>
            <a:r>
              <a:rPr lang="zh-TW" altLang="en-US" dirty="0"/>
              <a:t>遊戲迴圈 </a:t>
            </a:r>
            <a:r>
              <a:rPr lang="en-US" altLang="zh-TW" dirty="0"/>
              <a:t>&amp;</a:t>
            </a:r>
            <a:r>
              <a:rPr lang="zh-TW" altLang="en-US" dirty="0"/>
              <a:t> 玩家操作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手遊設計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Game Loop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Unity Game Loop</a:t>
            </a:r>
            <a:endParaRPr lang="zh-TW" altLang="en-US" dirty="0"/>
          </a:p>
        </p:txBody>
      </p:sp>
      <p:pic>
        <p:nvPicPr>
          <p:cNvPr id="1026" name="Picture 2" descr="https://miro.medium.com/v2/resize:fit:875/1*W07x4fyVp6ZXAIXMfMYSP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37419" y="0"/>
            <a:ext cx="4906582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Game Loop </a:t>
            </a:r>
            <a:r>
              <a:rPr lang="zh-TW" altLang="en-US" dirty="0"/>
              <a:t>簡化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zh-TW" altLang="en-US" dirty="0"/>
              <a:t>迴圈</a:t>
            </a:r>
            <a:r>
              <a:rPr lang="en-US" altLang="zh-TW" dirty="0"/>
              <a:t>{</a:t>
            </a:r>
          </a:p>
          <a:p>
            <a:pPr>
              <a:buNone/>
            </a:pPr>
            <a:r>
              <a:rPr lang="en-US" altLang="zh-TW" dirty="0"/>
              <a:t>	</a:t>
            </a:r>
            <a:r>
              <a:rPr lang="zh-TW" altLang="en-US" dirty="0"/>
              <a:t>接受玩家輸入</a:t>
            </a:r>
            <a:r>
              <a:rPr lang="en-US" altLang="zh-TW" dirty="0"/>
              <a:t>;</a:t>
            </a:r>
          </a:p>
          <a:p>
            <a:pPr>
              <a:buNone/>
            </a:pPr>
            <a:r>
              <a:rPr lang="en-US" altLang="zh-TW" dirty="0"/>
              <a:t>   </a:t>
            </a:r>
            <a:r>
              <a:rPr lang="zh-TW" altLang="en-US" dirty="0"/>
              <a:t>處理遊戲邏輯</a:t>
            </a:r>
            <a:r>
              <a:rPr lang="en-US" altLang="zh-TW" dirty="0"/>
              <a:t>;</a:t>
            </a:r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en-US" altLang="zh-TW" dirty="0"/>
              <a:t>	</a:t>
            </a:r>
            <a:r>
              <a:rPr lang="zh-TW" altLang="en-US" dirty="0"/>
              <a:t>渲染遊戲畫面</a:t>
            </a:r>
            <a:r>
              <a:rPr lang="en-US" altLang="zh-TW" dirty="0"/>
              <a:t>;</a:t>
            </a:r>
          </a:p>
          <a:p>
            <a:pPr>
              <a:buNone/>
            </a:pPr>
            <a:r>
              <a:rPr lang="en-US" altLang="zh-TW" dirty="0"/>
              <a:t>	</a:t>
            </a:r>
            <a:r>
              <a:rPr lang="zh-TW" altLang="en-US" dirty="0"/>
              <a:t>等待</a:t>
            </a:r>
            <a:r>
              <a:rPr lang="en-US" altLang="zh-TW" dirty="0"/>
              <a:t>;</a:t>
            </a:r>
          </a:p>
          <a:p>
            <a:pPr>
              <a:buNone/>
            </a:pPr>
            <a:r>
              <a:rPr lang="en-US" altLang="zh-TW" dirty="0"/>
              <a:t>}</a:t>
            </a: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B4528-6A9C-B334-A26A-007B2C59F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Game Loop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7407D4-40C0-F385-AB85-8A4FF101F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一個迴圈即為一幀</a:t>
            </a:r>
            <a:r>
              <a:rPr lang="en-US" altLang="zh-TW" dirty="0"/>
              <a:t>(Frame,</a:t>
            </a:r>
            <a:r>
              <a:rPr lang="zh-TW" altLang="en-US" dirty="0"/>
              <a:t>張</a:t>
            </a:r>
            <a:r>
              <a:rPr lang="en-US" altLang="zh-TW" dirty="0"/>
              <a:t>)</a:t>
            </a:r>
            <a:r>
              <a:rPr lang="zh-TW" altLang="en-US" dirty="0"/>
              <a:t>，每秒能跑的幀數即為</a:t>
            </a:r>
            <a:r>
              <a:rPr lang="en-US" altLang="zh-TW" dirty="0"/>
              <a:t>FPS (Frames per Second)</a:t>
            </a:r>
          </a:p>
          <a:p>
            <a:r>
              <a:rPr lang="zh-TW" altLang="en-US" dirty="0"/>
              <a:t>如果一個</a:t>
            </a:r>
            <a:r>
              <a:rPr lang="en-US" altLang="zh-TW" dirty="0"/>
              <a:t>Frame</a:t>
            </a:r>
            <a:r>
              <a:rPr lang="zh-TW" altLang="en-US" dirty="0"/>
              <a:t>執行過久，就會出現畫面延遲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其他相關</a:t>
            </a:r>
            <a:endParaRPr lang="en-US" altLang="zh-TW" dirty="0"/>
          </a:p>
          <a:p>
            <a:pPr lvl="1"/>
            <a:r>
              <a:rPr lang="zh-TW" altLang="en-US" dirty="0"/>
              <a:t>垂直同步</a:t>
            </a:r>
            <a:endParaRPr lang="en-US" altLang="zh-TW" dirty="0"/>
          </a:p>
          <a:p>
            <a:pPr lvl="1"/>
            <a:r>
              <a:rPr lang="zh-TW" altLang="en-US" dirty="0"/>
              <a:t>雙倍、三倍緩衝</a:t>
            </a:r>
            <a:endParaRPr lang="en-US" altLang="zh-TW" dirty="0"/>
          </a:p>
          <a:p>
            <a:pPr lvl="1"/>
            <a:r>
              <a:rPr lang="en-US" altLang="zh-TW" dirty="0"/>
              <a:t>DLSS</a:t>
            </a:r>
          </a:p>
          <a:p>
            <a:pPr lvl="1"/>
            <a:r>
              <a:rPr lang="zh-TW" altLang="en-US" dirty="0"/>
              <a:t>補幀</a:t>
            </a: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68093B66-344A-04DF-4BDB-A05530655200}"/>
              </a:ext>
            </a:extLst>
          </p:cNvPr>
          <p:cNvCxnSpPr>
            <a:cxnSpLocks/>
          </p:cNvCxnSpPr>
          <p:nvPr/>
        </p:nvCxnSpPr>
        <p:spPr>
          <a:xfrm>
            <a:off x="971600" y="2636912"/>
            <a:ext cx="59046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085FACB-8ABC-E4AE-E089-E1E579650E24}"/>
              </a:ext>
            </a:extLst>
          </p:cNvPr>
          <p:cNvSpPr/>
          <p:nvPr/>
        </p:nvSpPr>
        <p:spPr>
          <a:xfrm>
            <a:off x="1403648" y="2492896"/>
            <a:ext cx="720080" cy="288008"/>
          </a:xfrm>
          <a:prstGeom prst="rect">
            <a:avLst/>
          </a:prstGeom>
          <a:solidFill>
            <a:srgbClr val="5C92B5">
              <a:alpha val="50196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F6F91C3-0829-1E0C-DFBD-C4871C2F48E8}"/>
              </a:ext>
            </a:extLst>
          </p:cNvPr>
          <p:cNvCxnSpPr/>
          <p:nvPr/>
        </p:nvCxnSpPr>
        <p:spPr>
          <a:xfrm>
            <a:off x="2483768" y="2492896"/>
            <a:ext cx="0" cy="28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B74C9ACA-742C-35A4-FBF2-366BA40BCF47}"/>
              </a:ext>
            </a:extLst>
          </p:cNvPr>
          <p:cNvSpPr/>
          <p:nvPr/>
        </p:nvSpPr>
        <p:spPr>
          <a:xfrm>
            <a:off x="2483768" y="2492896"/>
            <a:ext cx="720078" cy="288008"/>
          </a:xfrm>
          <a:prstGeom prst="rect">
            <a:avLst/>
          </a:prstGeom>
          <a:solidFill>
            <a:srgbClr val="5C92B5">
              <a:alpha val="50196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028DE1C7-EC95-2D83-E54B-29639B30BEDE}"/>
              </a:ext>
            </a:extLst>
          </p:cNvPr>
          <p:cNvCxnSpPr/>
          <p:nvPr/>
        </p:nvCxnSpPr>
        <p:spPr>
          <a:xfrm>
            <a:off x="3563888" y="2492896"/>
            <a:ext cx="0" cy="28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70CA025D-738E-8CF6-DB02-99763CD6D9BB}"/>
              </a:ext>
            </a:extLst>
          </p:cNvPr>
          <p:cNvSpPr/>
          <p:nvPr/>
        </p:nvSpPr>
        <p:spPr>
          <a:xfrm>
            <a:off x="3563888" y="2492896"/>
            <a:ext cx="514399" cy="288008"/>
          </a:xfrm>
          <a:prstGeom prst="rect">
            <a:avLst/>
          </a:prstGeom>
          <a:solidFill>
            <a:srgbClr val="5C92B5">
              <a:alpha val="50196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037B4FA-4934-2F69-3BBC-945904EBD103}"/>
              </a:ext>
            </a:extLst>
          </p:cNvPr>
          <p:cNvCxnSpPr/>
          <p:nvPr/>
        </p:nvCxnSpPr>
        <p:spPr>
          <a:xfrm>
            <a:off x="4644008" y="2492896"/>
            <a:ext cx="0" cy="28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5542B446-CF38-A02B-41D1-18A5B059232F}"/>
              </a:ext>
            </a:extLst>
          </p:cNvPr>
          <p:cNvSpPr/>
          <p:nvPr/>
        </p:nvSpPr>
        <p:spPr>
          <a:xfrm>
            <a:off x="4644008" y="2492896"/>
            <a:ext cx="936104" cy="288008"/>
          </a:xfrm>
          <a:prstGeom prst="rect">
            <a:avLst/>
          </a:prstGeom>
          <a:solidFill>
            <a:srgbClr val="5C92B5">
              <a:alpha val="50196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1F542A2E-90C0-C74B-B566-9419D5B605FC}"/>
              </a:ext>
            </a:extLst>
          </p:cNvPr>
          <p:cNvCxnSpPr/>
          <p:nvPr/>
        </p:nvCxnSpPr>
        <p:spPr>
          <a:xfrm>
            <a:off x="5724128" y="2492896"/>
            <a:ext cx="0" cy="28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1DDC1B5C-53F0-E683-79E2-BB26F1E1BDC2}"/>
              </a:ext>
            </a:extLst>
          </p:cNvPr>
          <p:cNvSpPr/>
          <p:nvPr/>
        </p:nvSpPr>
        <p:spPr>
          <a:xfrm>
            <a:off x="5724128" y="2492896"/>
            <a:ext cx="648068" cy="288008"/>
          </a:xfrm>
          <a:prstGeom prst="rect">
            <a:avLst/>
          </a:prstGeom>
          <a:solidFill>
            <a:srgbClr val="5C92B5">
              <a:alpha val="50196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4399E6B3-676D-DEAF-013F-3C367BED4E87}"/>
              </a:ext>
            </a:extLst>
          </p:cNvPr>
          <p:cNvCxnSpPr/>
          <p:nvPr/>
        </p:nvCxnSpPr>
        <p:spPr>
          <a:xfrm>
            <a:off x="6804248" y="2492896"/>
            <a:ext cx="0" cy="28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左大括弧 20">
            <a:extLst>
              <a:ext uri="{FF2B5EF4-FFF2-40B4-BE49-F238E27FC236}">
                <a16:creationId xmlns:a16="http://schemas.microsoft.com/office/drawing/2014/main" id="{2A414284-C4DD-A390-FC35-C3B7F7BC8342}"/>
              </a:ext>
            </a:extLst>
          </p:cNvPr>
          <p:cNvSpPr/>
          <p:nvPr/>
        </p:nvSpPr>
        <p:spPr>
          <a:xfrm rot="5400000">
            <a:off x="1773680" y="1727337"/>
            <a:ext cx="345799" cy="1085864"/>
          </a:xfrm>
          <a:prstGeom prst="leftBrace">
            <a:avLst>
              <a:gd name="adj1" fmla="val 1154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66A13-DB24-BBAA-FBCC-EA84E663FF6A}"/>
              </a:ext>
            </a:extLst>
          </p:cNvPr>
          <p:cNvSpPr/>
          <p:nvPr/>
        </p:nvSpPr>
        <p:spPr>
          <a:xfrm>
            <a:off x="4644008" y="2165264"/>
            <a:ext cx="1584176" cy="288008"/>
          </a:xfrm>
          <a:prstGeom prst="rect">
            <a:avLst/>
          </a:prstGeom>
          <a:solidFill>
            <a:srgbClr val="FF0000">
              <a:alpha val="50196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00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遊戲迴圈 與 </a:t>
            </a:r>
            <a:r>
              <a:rPr lang="en-US" altLang="zh-TW" dirty="0"/>
              <a:t>Update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Update</a:t>
            </a:r>
          </a:p>
          <a:p>
            <a:pPr lvl="1"/>
            <a:r>
              <a:rPr lang="zh-TW" altLang="en-US" dirty="0"/>
              <a:t>遊戲邏輯</a:t>
            </a:r>
            <a:endParaRPr lang="en-US" altLang="zh-TW" dirty="0"/>
          </a:p>
          <a:p>
            <a:pPr lvl="1"/>
            <a:r>
              <a:rPr lang="en-US" altLang="zh-TW" dirty="0" err="1"/>
              <a:t>Time.deltaTime</a:t>
            </a:r>
            <a:r>
              <a:rPr lang="en-US" altLang="zh-TW" dirty="0"/>
              <a:t> </a:t>
            </a:r>
          </a:p>
          <a:p>
            <a:pPr lvl="1"/>
            <a:r>
              <a:rPr lang="zh-TW" altLang="en-US" dirty="0"/>
              <a:t>可設定 </a:t>
            </a:r>
            <a:r>
              <a:rPr lang="en-US" altLang="zh-TW" dirty="0" err="1"/>
              <a:t>Application.targetFrameRate</a:t>
            </a:r>
            <a:r>
              <a:rPr lang="zh-TW" altLang="en-US" dirty="0"/>
              <a:t> </a:t>
            </a:r>
            <a:r>
              <a:rPr lang="en-US" altLang="zh-TW" dirty="0"/>
              <a:t>= 60</a:t>
            </a:r>
          </a:p>
          <a:p>
            <a:pPr lvl="1"/>
            <a:r>
              <a:rPr lang="zh-TW" altLang="en-US" dirty="0"/>
              <a:t>可設定 </a:t>
            </a:r>
            <a:r>
              <a:rPr lang="en-US" altLang="zh-TW" dirty="0" err="1"/>
              <a:t>QualitySettings.vSyncCount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0 ~ 4</a:t>
            </a:r>
          </a:p>
          <a:p>
            <a:endParaRPr lang="en-US" altLang="zh-TW" dirty="0"/>
          </a:p>
          <a:p>
            <a:r>
              <a:rPr lang="en-US" altLang="zh-TW" dirty="0" err="1"/>
              <a:t>LateUpdate</a:t>
            </a:r>
            <a:endParaRPr lang="en-US" altLang="zh-TW" dirty="0"/>
          </a:p>
          <a:p>
            <a:pPr lvl="1"/>
            <a:r>
              <a:rPr lang="zh-TW" altLang="en-US" dirty="0"/>
              <a:t>遊戲邏輯：在</a:t>
            </a:r>
            <a:r>
              <a:rPr lang="en-US" altLang="zh-TW" dirty="0"/>
              <a:t>Update</a:t>
            </a:r>
            <a:r>
              <a:rPr lang="zh-TW" altLang="en-US" dirty="0"/>
              <a:t>與動畫後</a:t>
            </a:r>
            <a:endParaRPr lang="en-US" altLang="zh-TW" dirty="0"/>
          </a:p>
          <a:p>
            <a:pPr lvl="1"/>
            <a:r>
              <a:rPr lang="en-US" altLang="zh-TW" dirty="0" err="1"/>
              <a:t>Time.deltaTime</a:t>
            </a:r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遊戲迴圈 與 </a:t>
            </a:r>
            <a:r>
              <a:rPr lang="en-US" altLang="zh-TW" dirty="0" err="1"/>
              <a:t>FixedUpdate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FixedUpdate</a:t>
            </a:r>
            <a:endParaRPr lang="en-US" altLang="zh-TW" dirty="0"/>
          </a:p>
          <a:p>
            <a:pPr lvl="1"/>
            <a:r>
              <a:rPr lang="zh-TW" altLang="en-US" dirty="0"/>
              <a:t>物理</a:t>
            </a:r>
            <a:r>
              <a:rPr lang="en-US" altLang="zh-TW" dirty="0"/>
              <a:t>(Physic)</a:t>
            </a:r>
            <a:r>
              <a:rPr lang="zh-TW" altLang="en-US" dirty="0"/>
              <a:t>處理的間隔時間</a:t>
            </a:r>
            <a:endParaRPr lang="en-US" altLang="zh-TW" dirty="0"/>
          </a:p>
          <a:p>
            <a:pPr lvl="1"/>
            <a:r>
              <a:rPr lang="zh-TW" altLang="en-US" dirty="0"/>
              <a:t>通常為</a:t>
            </a:r>
            <a:r>
              <a:rPr lang="en-US" altLang="zh-TW" dirty="0"/>
              <a:t>0.02</a:t>
            </a:r>
            <a:r>
              <a:rPr lang="zh-TW" altLang="en-US" dirty="0"/>
              <a:t>秒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1/50</a:t>
            </a:r>
            <a:r>
              <a:rPr lang="zh-TW" altLang="en-US" dirty="0"/>
              <a:t>秒</a:t>
            </a:r>
            <a:r>
              <a:rPr lang="en-US" altLang="zh-TW" dirty="0"/>
              <a:t>  (</a:t>
            </a:r>
            <a:r>
              <a:rPr lang="en-US" altLang="zh-TW" dirty="0" err="1"/>
              <a:t>ProjectSetting</a:t>
            </a:r>
            <a:r>
              <a:rPr lang="en-US" altLang="zh-TW" dirty="0"/>
              <a:t>&gt;Time)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角色操控方式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常用的有以下兩種方式，有各自優缺點，</a:t>
            </a:r>
            <a:r>
              <a:rPr lang="en-US" altLang="zh-TW" dirty="0"/>
              <a:t>Unity</a:t>
            </a:r>
            <a:r>
              <a:rPr lang="zh-TW" altLang="en-US" dirty="0"/>
              <a:t>對這塊處理不算太好</a:t>
            </a:r>
            <a:endParaRPr lang="en-US" altLang="zh-TW" dirty="0"/>
          </a:p>
          <a:p>
            <a:r>
              <a:rPr lang="en-US" altLang="zh-TW" dirty="0"/>
              <a:t>Rigidbody2D + Collider</a:t>
            </a:r>
          </a:p>
          <a:p>
            <a:pPr lvl="1"/>
            <a:r>
              <a:rPr lang="zh-TW" altLang="en-US" dirty="0"/>
              <a:t>可支援物理相關功能 </a:t>
            </a:r>
            <a:r>
              <a:rPr lang="en-US" altLang="zh-TW" dirty="0"/>
              <a:t>(</a:t>
            </a:r>
            <a:r>
              <a:rPr lang="zh-TW" altLang="en-US" dirty="0"/>
              <a:t>重力、物理運動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操作須使用物理相關函數</a:t>
            </a:r>
            <a:endParaRPr lang="en-US" altLang="zh-TW" dirty="0"/>
          </a:p>
          <a:p>
            <a:r>
              <a:rPr lang="en-US" altLang="zh-TW" dirty="0"/>
              <a:t>Character Controller2D</a:t>
            </a:r>
          </a:p>
          <a:p>
            <a:pPr lvl="1"/>
            <a:r>
              <a:rPr lang="zh-TW" altLang="en-US" dirty="0"/>
              <a:t>有些額外功能 </a:t>
            </a:r>
            <a:r>
              <a:rPr lang="en-US" altLang="zh-TW" dirty="0"/>
              <a:t>(</a:t>
            </a:r>
            <a:r>
              <a:rPr lang="zh-TW" altLang="en-US" dirty="0"/>
              <a:t>上樓梯、斜坡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物理特性要自己寫</a:t>
            </a:r>
            <a:endParaRPr lang="en-US" altLang="zh-TW" dirty="0"/>
          </a:p>
          <a:p>
            <a:pPr lvl="1"/>
            <a:r>
              <a:rPr lang="zh-TW" altLang="en-US" dirty="0"/>
              <a:t>可使用</a:t>
            </a:r>
            <a:r>
              <a:rPr lang="en-US" altLang="zh-TW" dirty="0" err="1"/>
              <a:t>NavMeshAgent</a:t>
            </a:r>
            <a:r>
              <a:rPr lang="en-US" altLang="zh-TW" dirty="0"/>
              <a:t> (</a:t>
            </a:r>
            <a:r>
              <a:rPr lang="zh-TW" altLang="en-US" dirty="0"/>
              <a:t>尋路</a:t>
            </a:r>
            <a:r>
              <a:rPr lang="en-US" altLang="zh-TW" dirty="0"/>
              <a:t>AI</a:t>
            </a:r>
            <a:r>
              <a:rPr lang="zh-TW" altLang="en-US" dirty="0"/>
              <a:t>相關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建立玩家物件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玩家 </a:t>
            </a:r>
            <a:r>
              <a:rPr lang="en-US" altLang="zh-TW" dirty="0"/>
              <a:t>(</a:t>
            </a:r>
            <a:r>
              <a:rPr lang="zh-TW" altLang="en-US" dirty="0"/>
              <a:t>空物件</a:t>
            </a:r>
            <a:r>
              <a:rPr lang="en-US" altLang="zh-TW" dirty="0"/>
              <a:t>Root)</a:t>
            </a:r>
          </a:p>
          <a:p>
            <a:pPr lvl="1"/>
            <a:r>
              <a:rPr lang="zh-TW" altLang="en-US" dirty="0"/>
              <a:t>空物件較好管理相關功能</a:t>
            </a:r>
            <a:endParaRPr lang="en-US" altLang="zh-TW" dirty="0"/>
          </a:p>
          <a:p>
            <a:pPr lvl="1"/>
            <a:r>
              <a:rPr lang="zh-TW" altLang="en-US" dirty="0"/>
              <a:t>模型 </a:t>
            </a:r>
            <a:r>
              <a:rPr lang="en-US" altLang="zh-TW" dirty="0"/>
              <a:t>(</a:t>
            </a:r>
            <a:r>
              <a:rPr lang="zh-TW" altLang="en-US" dirty="0"/>
              <a:t>先使用個簡單的圖代替</a:t>
            </a:r>
            <a:r>
              <a:rPr lang="en-US" altLang="zh-TW"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玩家物件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增加</a:t>
            </a:r>
            <a:r>
              <a:rPr lang="en-US" altLang="zh-TW" dirty="0"/>
              <a:t>Collider</a:t>
            </a:r>
          </a:p>
          <a:p>
            <a:endParaRPr lang="en-US" altLang="zh-TW" dirty="0"/>
          </a:p>
          <a:p>
            <a:r>
              <a:rPr lang="zh-TW" altLang="en-US" dirty="0"/>
              <a:t>增加</a:t>
            </a:r>
            <a:r>
              <a:rPr lang="en-US" altLang="zh-TW" dirty="0" err="1"/>
              <a:t>Rigidbody</a:t>
            </a:r>
            <a:endParaRPr lang="en-US" altLang="zh-TW" dirty="0"/>
          </a:p>
          <a:p>
            <a:pPr lvl="1"/>
            <a:r>
              <a:rPr lang="zh-TW" altLang="en-US" dirty="0"/>
              <a:t>使其接受物理運算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>
                <a:solidFill>
                  <a:srgbClr val="FF0000"/>
                </a:solidFill>
              </a:rPr>
              <a:t>增加</a:t>
            </a:r>
            <a:r>
              <a:rPr lang="en-US" altLang="zh-TW" dirty="0" err="1">
                <a:solidFill>
                  <a:srgbClr val="FF0000"/>
                </a:solidFill>
              </a:rPr>
              <a:t>PlayerInput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zh-TW" altLang="en-US" dirty="0"/>
              <a:t>使其接受玩家輸入</a:t>
            </a:r>
            <a:endParaRPr lang="en-US" altLang="zh-TW" dirty="0"/>
          </a:p>
          <a:p>
            <a:pPr lvl="1"/>
            <a:r>
              <a:rPr lang="zh-TW" altLang="en-US" dirty="0"/>
              <a:t>其實可以放在別的</a:t>
            </a:r>
            <a:r>
              <a:rPr lang="en-US" altLang="zh-TW" dirty="0"/>
              <a:t>Object</a:t>
            </a:r>
            <a:r>
              <a:rPr lang="zh-TW" altLang="en-US" dirty="0"/>
              <a:t>，只要能操控角色即可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角色移動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596" y="2214554"/>
            <a:ext cx="8229600" cy="4325112"/>
          </a:xfrm>
        </p:spPr>
        <p:txBody>
          <a:bodyPr/>
          <a:lstStyle/>
          <a:p>
            <a:r>
              <a:rPr lang="zh-TW" altLang="en-US" dirty="0"/>
              <a:t>輸入為 </a:t>
            </a:r>
            <a:r>
              <a:rPr lang="en-US" altLang="zh-TW" dirty="0"/>
              <a:t>Vector2</a:t>
            </a:r>
          </a:p>
          <a:p>
            <a:pPr lvl="1"/>
            <a:r>
              <a:rPr lang="en-US" altLang="zh-TW" dirty="0"/>
              <a:t>WASD</a:t>
            </a:r>
            <a:r>
              <a:rPr lang="zh-TW" altLang="en-US" dirty="0"/>
              <a:t>、上下左右</a:t>
            </a:r>
            <a:endParaRPr lang="en-US" altLang="zh-TW" dirty="0"/>
          </a:p>
          <a:p>
            <a:pPr lvl="1"/>
            <a:r>
              <a:rPr lang="zh-TW" altLang="en-US" dirty="0"/>
              <a:t>手把左搖桿</a:t>
            </a:r>
          </a:p>
        </p:txBody>
      </p:sp>
      <p:grpSp>
        <p:nvGrpSpPr>
          <p:cNvPr id="4" name="群組 14"/>
          <p:cNvGrpSpPr/>
          <p:nvPr/>
        </p:nvGrpSpPr>
        <p:grpSpPr>
          <a:xfrm>
            <a:off x="1571604" y="3929066"/>
            <a:ext cx="2428892" cy="2357454"/>
            <a:chOff x="785786" y="3214686"/>
            <a:chExt cx="2428892" cy="2357454"/>
          </a:xfrm>
        </p:grpSpPr>
        <p:cxnSp>
          <p:nvCxnSpPr>
            <p:cNvPr id="5" name="直線單箭頭接點 4"/>
            <p:cNvCxnSpPr/>
            <p:nvPr/>
          </p:nvCxnSpPr>
          <p:spPr>
            <a:xfrm>
              <a:off x="785786" y="4429132"/>
              <a:ext cx="2428892" cy="1588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 rot="5400000" flipH="1" flipV="1">
              <a:off x="822299" y="4392619"/>
              <a:ext cx="2357454" cy="1588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2857488" y="4405978"/>
              <a:ext cx="3571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x</a:t>
              </a:r>
              <a:endParaRPr lang="zh-TW" altLang="en-US" sz="2800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1571604" y="3214686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/>
                <a:t>y</a:t>
              </a:r>
              <a:endParaRPr lang="zh-TW" altLang="en-US" dirty="0"/>
            </a:p>
          </p:txBody>
        </p:sp>
      </p:grp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72198" y="2643182"/>
            <a:ext cx="2398579" cy="3979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重力與跳躍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給予初始速度 </a:t>
            </a:r>
            <a:endParaRPr lang="en-US" altLang="zh-TW" dirty="0"/>
          </a:p>
          <a:p>
            <a:pPr lvl="1"/>
            <a:r>
              <a:rPr lang="zh-TW" altLang="en-US" dirty="0"/>
              <a:t>計算跳躍高度 與 重力</a:t>
            </a:r>
            <a:endParaRPr lang="en-US" altLang="zh-TW" dirty="0"/>
          </a:p>
          <a:p>
            <a:pPr lvl="1"/>
            <a:r>
              <a:rPr lang="en-US" altLang="zh-TW" dirty="0"/>
              <a:t>  </a:t>
            </a:r>
          </a:p>
          <a:p>
            <a:pPr lvl="1"/>
            <a:r>
              <a:rPr lang="en-US" altLang="zh-TW" dirty="0"/>
              <a:t> </a:t>
            </a:r>
          </a:p>
          <a:p>
            <a:pPr lvl="1"/>
            <a:r>
              <a:rPr lang="en-US" altLang="zh-TW" dirty="0">
                <a:hlinkClick r:id="rId3"/>
              </a:rPr>
              <a:t>https://www.desmos.com/calculator/1m25o6q5zk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55343" y="3140968"/>
            <a:ext cx="1428760" cy="483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26998" y="3624548"/>
            <a:ext cx="331470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重力與跳躍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重力本身則在</a:t>
            </a:r>
            <a:r>
              <a:rPr lang="en-US" altLang="zh-TW" dirty="0"/>
              <a:t>RigidBody2D</a:t>
            </a:r>
            <a:r>
              <a:rPr lang="zh-TW" altLang="en-US" dirty="0"/>
              <a:t>已有內建</a:t>
            </a:r>
            <a:endParaRPr lang="en-US" altLang="zh-TW" dirty="0"/>
          </a:p>
          <a:p>
            <a:r>
              <a:rPr lang="zh-TW" altLang="en-US" dirty="0"/>
              <a:t>設置條件</a:t>
            </a:r>
            <a:endParaRPr lang="en-US" altLang="zh-TW" dirty="0"/>
          </a:p>
          <a:p>
            <a:pPr lvl="1"/>
            <a:r>
              <a:rPr lang="zh-TW" altLang="en-US" dirty="0"/>
              <a:t>必須在地板上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地板測試 </a:t>
            </a:r>
            <a:r>
              <a:rPr lang="en-US" altLang="zh-TW" dirty="0"/>
              <a:t>(Ground Check)</a:t>
            </a:r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1</a:t>
            </a:r>
            <a:r>
              <a:rPr lang="zh-TW" altLang="en-US" dirty="0"/>
              <a:t>：使用</a:t>
            </a:r>
            <a:r>
              <a:rPr lang="en-US" altLang="zh-TW" dirty="0"/>
              <a:t>Trigger</a:t>
            </a:r>
            <a:r>
              <a:rPr lang="zh-TW" altLang="en-US" dirty="0"/>
              <a:t>碰撞做</a:t>
            </a:r>
            <a:r>
              <a:rPr lang="en-US" altLang="zh-TW" dirty="0"/>
              <a:t>enter / exit</a:t>
            </a:r>
            <a:r>
              <a:rPr lang="zh-TW" altLang="en-US" dirty="0"/>
              <a:t>切換</a:t>
            </a:r>
            <a:endParaRPr lang="en-US" altLang="zh-TW" dirty="0"/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2.1</a:t>
            </a:r>
            <a:r>
              <a:rPr lang="zh-TW" altLang="en-US" dirty="0"/>
              <a:t>：使用射線投射</a:t>
            </a:r>
            <a:r>
              <a:rPr lang="en-US" altLang="zh-TW" dirty="0"/>
              <a:t>(</a:t>
            </a:r>
            <a:r>
              <a:rPr lang="en-US" altLang="zh-TW" dirty="0" err="1"/>
              <a:t>Raycast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2.2</a:t>
            </a:r>
            <a:r>
              <a:rPr lang="zh-TW" altLang="en-US" dirty="0"/>
              <a:t>：其他投射方式</a:t>
            </a:r>
            <a:r>
              <a:rPr lang="en-US" altLang="zh-TW" dirty="0"/>
              <a:t>(</a:t>
            </a:r>
            <a:r>
              <a:rPr lang="en-US" altLang="zh-TW" dirty="0" err="1"/>
              <a:t>CircleCast</a:t>
            </a:r>
            <a:r>
              <a:rPr lang="en-US" altLang="zh-TW" dirty="0"/>
              <a:t> </a:t>
            </a:r>
            <a:r>
              <a:rPr lang="en-US" altLang="zh-TW" dirty="0" err="1"/>
              <a:t>etc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88578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F14AA9-8531-8F03-B20E-DC26C624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地板測試 </a:t>
            </a:r>
            <a:r>
              <a:rPr lang="en-US" altLang="zh-TW" dirty="0"/>
              <a:t>(Ground Check)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4934B82-3476-E106-F465-3C9C97BE7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2402984"/>
            <a:ext cx="3214395" cy="350103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48CDE98-FE83-044A-6BAA-7ED68BA62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402984"/>
            <a:ext cx="2898609" cy="3518934"/>
          </a:xfrm>
          <a:prstGeom prst="rect">
            <a:avLst/>
          </a:prstGeom>
        </p:spPr>
      </p:pic>
      <p:sp>
        <p:nvSpPr>
          <p:cNvPr id="20" name="橢圓 19">
            <a:extLst>
              <a:ext uri="{FF2B5EF4-FFF2-40B4-BE49-F238E27FC236}">
                <a16:creationId xmlns:a16="http://schemas.microsoft.com/office/drawing/2014/main" id="{B8723619-7EE4-6188-7A5A-2F277DD08E69}"/>
              </a:ext>
            </a:extLst>
          </p:cNvPr>
          <p:cNvSpPr/>
          <p:nvPr/>
        </p:nvSpPr>
        <p:spPr>
          <a:xfrm>
            <a:off x="7976572" y="2756148"/>
            <a:ext cx="720080" cy="66597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863D7A1D-5FD2-55E7-C9AE-848A65BBAAA5}"/>
              </a:ext>
            </a:extLst>
          </p:cNvPr>
          <p:cNvCxnSpPr>
            <a:cxnSpLocks/>
          </p:cNvCxnSpPr>
          <p:nvPr/>
        </p:nvCxnSpPr>
        <p:spPr>
          <a:xfrm>
            <a:off x="3920316" y="3108176"/>
            <a:ext cx="14600" cy="16561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>
            <a:extLst>
              <a:ext uri="{FF2B5EF4-FFF2-40B4-BE49-F238E27FC236}">
                <a16:creationId xmlns:a16="http://schemas.microsoft.com/office/drawing/2014/main" id="{072F7E82-E364-1459-D9E4-20346DA658ED}"/>
              </a:ext>
            </a:extLst>
          </p:cNvPr>
          <p:cNvSpPr/>
          <p:nvPr/>
        </p:nvSpPr>
        <p:spPr>
          <a:xfrm>
            <a:off x="7976572" y="4223050"/>
            <a:ext cx="720080" cy="66597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1E30461F-E0AE-2EC9-3A48-4EE933793A46}"/>
              </a:ext>
            </a:extLst>
          </p:cNvPr>
          <p:cNvCxnSpPr>
            <a:cxnSpLocks/>
            <a:stCxn id="20" idx="2"/>
            <a:endCxn id="23" idx="2"/>
          </p:cNvCxnSpPr>
          <p:nvPr/>
        </p:nvCxnSpPr>
        <p:spPr>
          <a:xfrm>
            <a:off x="7976572" y="3089136"/>
            <a:ext cx="0" cy="14669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C2D976EA-B259-3ECA-CAA9-AB92910D563B}"/>
              </a:ext>
            </a:extLst>
          </p:cNvPr>
          <p:cNvCxnSpPr>
            <a:cxnSpLocks/>
            <a:stCxn id="20" idx="6"/>
            <a:endCxn id="23" idx="6"/>
          </p:cNvCxnSpPr>
          <p:nvPr/>
        </p:nvCxnSpPr>
        <p:spPr>
          <a:xfrm>
            <a:off x="8696652" y="3089136"/>
            <a:ext cx="0" cy="14669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733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16CC87-AEF3-E753-33D2-B6E91855A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地板測試 </a:t>
            </a:r>
            <a:r>
              <a:rPr lang="en-US" altLang="zh-TW" dirty="0"/>
              <a:t>(Ground Check)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25E3C2-0C80-66BB-AF96-6DE29DC62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由於我們測試的方式為搜尋最近的元件</a:t>
            </a:r>
            <a:endParaRPr lang="en-US" altLang="zh-TW" dirty="0"/>
          </a:p>
          <a:p>
            <a:pPr lvl="1"/>
            <a:r>
              <a:rPr lang="zh-TW" altLang="en-US" dirty="0"/>
              <a:t>有可能會因此而撞到本身或其他元件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我們必須將地板設置為特定的</a:t>
            </a:r>
            <a:r>
              <a:rPr lang="en-US" altLang="zh-TW" b="1" dirty="0">
                <a:solidFill>
                  <a:srgbClr val="FF0000"/>
                </a:solidFill>
              </a:rPr>
              <a:t>Layer</a:t>
            </a:r>
          </a:p>
          <a:p>
            <a:pPr lvl="1"/>
            <a:r>
              <a:rPr lang="zh-TW" altLang="en-US" dirty="0"/>
              <a:t>並且只允許該次搜尋</a:t>
            </a:r>
            <a:r>
              <a:rPr lang="zh-TW" altLang="en-US" dirty="0">
                <a:solidFill>
                  <a:srgbClr val="FF0000"/>
                </a:solidFill>
              </a:rPr>
              <a:t>地板</a:t>
            </a:r>
            <a:r>
              <a:rPr lang="en-US" altLang="zh-TW" dirty="0">
                <a:solidFill>
                  <a:srgbClr val="FF0000"/>
                </a:solidFill>
              </a:rPr>
              <a:t>Layer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Update</a:t>
            </a:r>
            <a:r>
              <a:rPr lang="zh-TW" altLang="en-US" dirty="0"/>
              <a:t>中更新</a:t>
            </a:r>
            <a:r>
              <a:rPr lang="en-US" altLang="zh-TW" dirty="0" err="1"/>
              <a:t>IsGrounded</a:t>
            </a:r>
            <a:r>
              <a:rPr lang="zh-TW" altLang="en-US" dirty="0"/>
              <a:t>狀態後，即可讓跳躍正常執行</a:t>
            </a:r>
          </a:p>
        </p:txBody>
      </p:sp>
    </p:spTree>
    <p:extLst>
      <p:ext uri="{BB962C8B-B14F-4D97-AF65-F5344CB8AC3E}">
        <p14:creationId xmlns:p14="http://schemas.microsoft.com/office/powerpoint/2010/main" val="2709312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Input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  <a:endParaRPr lang="en-US" altLang="zh-TW" dirty="0"/>
          </a:p>
          <a:p>
            <a:pPr lvl="1"/>
            <a:r>
              <a:rPr lang="en-US" altLang="zh-TW" dirty="0"/>
              <a:t>Window &gt; </a:t>
            </a:r>
            <a:r>
              <a:rPr lang="en-US" altLang="zh-TW" dirty="0" err="1"/>
              <a:t>PackageManager</a:t>
            </a:r>
            <a:r>
              <a:rPr lang="en-US" altLang="zh-TW" dirty="0"/>
              <a:t> &gt;</a:t>
            </a:r>
            <a:r>
              <a:rPr lang="zh-TW" altLang="en-US" dirty="0"/>
              <a:t> 尋找</a:t>
            </a:r>
            <a:r>
              <a:rPr lang="en-US" altLang="zh-TW" dirty="0" err="1"/>
              <a:t>InputSystem</a:t>
            </a:r>
            <a:endParaRPr lang="en-US" altLang="zh-TW" dirty="0"/>
          </a:p>
          <a:p>
            <a:pPr lvl="1"/>
            <a:r>
              <a:rPr lang="en-US" altLang="zh-TW" dirty="0"/>
              <a:t>(</a:t>
            </a:r>
            <a:r>
              <a:rPr lang="zh-TW" altLang="en-US" dirty="0"/>
              <a:t>可能須切換分頁等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啟用 </a:t>
            </a:r>
            <a:r>
              <a:rPr lang="en-US" altLang="zh-TW" dirty="0"/>
              <a:t>Edit &gt; </a:t>
            </a:r>
            <a:r>
              <a:rPr lang="en-US" altLang="zh-TW" dirty="0" err="1"/>
              <a:t>ProjectSetting</a:t>
            </a:r>
            <a:r>
              <a:rPr lang="en-US" altLang="zh-TW" dirty="0"/>
              <a:t> &gt; </a:t>
            </a:r>
            <a:r>
              <a:rPr lang="en-US" altLang="zh-TW" dirty="0" err="1"/>
              <a:t>InputSystemPackage</a:t>
            </a:r>
            <a:endParaRPr lang="zh-TW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Input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2757478" cy="4325112"/>
          </a:xfrm>
        </p:spPr>
        <p:txBody>
          <a:bodyPr/>
          <a:lstStyle/>
          <a:p>
            <a:r>
              <a:rPr lang="zh-TW" altLang="en-US" dirty="0"/>
              <a:t>編輯玩家操作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Action Map</a:t>
            </a:r>
          </a:p>
          <a:p>
            <a:pPr lvl="1"/>
            <a:r>
              <a:rPr lang="zh-TW" altLang="en-US" dirty="0"/>
              <a:t>指一種操作模式 </a:t>
            </a:r>
            <a:r>
              <a:rPr lang="en-US" altLang="zh-TW" dirty="0"/>
              <a:t>(</a:t>
            </a:r>
            <a:r>
              <a:rPr lang="zh-TW" altLang="en-US" dirty="0"/>
              <a:t>如：主頁面 </a:t>
            </a:r>
            <a:r>
              <a:rPr lang="en-US" altLang="zh-TW" dirty="0"/>
              <a:t>/ </a:t>
            </a:r>
            <a:r>
              <a:rPr lang="zh-TW" altLang="en-US" dirty="0"/>
              <a:t>戰鬥 </a:t>
            </a:r>
            <a:r>
              <a:rPr lang="en-US" altLang="zh-TW" dirty="0"/>
              <a:t>/ </a:t>
            </a:r>
            <a:r>
              <a:rPr lang="zh-TW" altLang="en-US" dirty="0"/>
              <a:t>觀戰模式等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06274" y="2786058"/>
            <a:ext cx="5966288" cy="4024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Input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Action</a:t>
            </a:r>
          </a:p>
          <a:p>
            <a:pPr lvl="1"/>
            <a:r>
              <a:rPr lang="zh-TW" altLang="en-US" dirty="0"/>
              <a:t>一種行動，如移動、跳躍等</a:t>
            </a:r>
            <a:endParaRPr lang="en-US" altLang="zh-TW" dirty="0"/>
          </a:p>
          <a:p>
            <a:pPr lvl="1"/>
            <a:r>
              <a:rPr lang="zh-TW" altLang="en-US" dirty="0"/>
              <a:t>允許多種輸入類型</a:t>
            </a:r>
            <a:endParaRPr lang="en-US" altLang="zh-TW" dirty="0"/>
          </a:p>
          <a:p>
            <a:pPr lvl="1"/>
            <a:r>
              <a:rPr lang="zh-TW" altLang="en-US" dirty="0"/>
              <a:t>常用為</a:t>
            </a:r>
            <a:r>
              <a:rPr lang="en-US" altLang="zh-TW" dirty="0"/>
              <a:t>Button</a:t>
            </a:r>
            <a:r>
              <a:rPr lang="zh-TW" altLang="en-US" dirty="0"/>
              <a:t>、</a:t>
            </a:r>
            <a:r>
              <a:rPr lang="en-US" altLang="zh-TW" dirty="0"/>
              <a:t>Value-Vector2(</a:t>
            </a:r>
            <a:r>
              <a:rPr lang="zh-TW" altLang="en-US" dirty="0"/>
              <a:t>平面移動</a:t>
            </a:r>
            <a:r>
              <a:rPr lang="en-US" altLang="zh-TW" dirty="0"/>
              <a:t>)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Binding</a:t>
            </a:r>
          </a:p>
          <a:p>
            <a:pPr lvl="1"/>
            <a:r>
              <a:rPr lang="zh-TW" altLang="en-US" dirty="0"/>
              <a:t>每個</a:t>
            </a:r>
            <a:r>
              <a:rPr lang="en-US" altLang="zh-TW" dirty="0"/>
              <a:t>Action</a:t>
            </a:r>
            <a:r>
              <a:rPr lang="zh-TW" altLang="en-US" dirty="0"/>
              <a:t>可以有多種</a:t>
            </a:r>
            <a:r>
              <a:rPr lang="en-US" altLang="zh-TW" dirty="0"/>
              <a:t>Binding</a:t>
            </a:r>
          </a:p>
          <a:p>
            <a:pPr lvl="1"/>
            <a:r>
              <a:rPr lang="zh-TW" altLang="en-US" dirty="0"/>
              <a:t>通常每種操作模式會有一個</a:t>
            </a:r>
            <a:r>
              <a:rPr lang="en-US" altLang="zh-TW" dirty="0"/>
              <a:t>Binding</a:t>
            </a:r>
          </a:p>
          <a:p>
            <a:pPr lvl="1"/>
            <a:r>
              <a:rPr lang="zh-TW" altLang="en-US" dirty="0"/>
              <a:t>切換到</a:t>
            </a:r>
            <a:r>
              <a:rPr lang="en-US" altLang="zh-TW" dirty="0"/>
              <a:t>All</a:t>
            </a:r>
            <a:r>
              <a:rPr lang="zh-TW" altLang="en-US" dirty="0"/>
              <a:t> </a:t>
            </a:r>
            <a:r>
              <a:rPr lang="en-US" altLang="zh-TW" dirty="0"/>
              <a:t>Control Schemes</a:t>
            </a:r>
            <a:r>
              <a:rPr lang="zh-TW" altLang="en-US" dirty="0"/>
              <a:t>確認所有操作</a:t>
            </a:r>
            <a:endParaRPr lang="en-US" altLang="zh-TW" dirty="0"/>
          </a:p>
          <a:p>
            <a:pPr lvl="2">
              <a:buNone/>
            </a:pPr>
            <a:endParaRPr lang="zh-TW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遊戲速度 </a:t>
            </a:r>
            <a:r>
              <a:rPr lang="en-US" altLang="zh-TW" dirty="0" err="1"/>
              <a:t>Time.timeScale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dirty="0"/>
              <a:t>可以透過</a:t>
            </a:r>
            <a:r>
              <a:rPr lang="en-US" altLang="zh-TW" sz="2400" dirty="0" err="1"/>
              <a:t>Time.timeScale</a:t>
            </a:r>
            <a:r>
              <a:rPr lang="zh-TW" altLang="en-US" sz="2400" dirty="0"/>
              <a:t>設定 </a:t>
            </a:r>
            <a:r>
              <a:rPr lang="en-US" altLang="zh-TW" sz="2400" dirty="0"/>
              <a:t>(</a:t>
            </a:r>
            <a:r>
              <a:rPr lang="zh-TW" altLang="en-US" sz="2400" dirty="0"/>
              <a:t>或</a:t>
            </a:r>
            <a:r>
              <a:rPr lang="en-US" altLang="zh-TW" sz="2400" dirty="0" err="1"/>
              <a:t>ProjectSetting</a:t>
            </a:r>
            <a:r>
              <a:rPr lang="en-US" altLang="zh-TW" sz="2400" dirty="0"/>
              <a:t>&gt;Time)</a:t>
            </a:r>
          </a:p>
          <a:p>
            <a:pPr lvl="1"/>
            <a:r>
              <a:rPr lang="zh-TW" altLang="en-US" dirty="0"/>
              <a:t>正常為</a:t>
            </a:r>
            <a:r>
              <a:rPr lang="en-US" altLang="zh-TW" dirty="0"/>
              <a:t>1</a:t>
            </a:r>
          </a:p>
          <a:p>
            <a:pPr lvl="1"/>
            <a:r>
              <a:rPr lang="zh-TW" altLang="en-US" dirty="0"/>
              <a:t>若為</a:t>
            </a:r>
            <a:r>
              <a:rPr lang="en-US" altLang="zh-TW" dirty="0"/>
              <a:t>0</a:t>
            </a:r>
            <a:r>
              <a:rPr lang="zh-TW" altLang="en-US" dirty="0"/>
              <a:t>，即為暫停</a:t>
            </a:r>
            <a:endParaRPr lang="en-US" altLang="zh-TW" dirty="0"/>
          </a:p>
          <a:p>
            <a:pPr lvl="1"/>
            <a:r>
              <a:rPr lang="zh-TW" altLang="en-US" dirty="0"/>
              <a:t>若低於</a:t>
            </a:r>
            <a:r>
              <a:rPr lang="en-US" altLang="zh-TW" dirty="0"/>
              <a:t>1</a:t>
            </a:r>
            <a:r>
              <a:rPr lang="zh-TW" altLang="en-US" dirty="0"/>
              <a:t>，即為慢動作 </a:t>
            </a:r>
            <a:r>
              <a:rPr lang="en-US" altLang="zh-TW" dirty="0"/>
              <a:t>(</a:t>
            </a:r>
            <a:r>
              <a:rPr lang="zh-TW" altLang="en-US" dirty="0"/>
              <a:t>如</a:t>
            </a:r>
            <a:r>
              <a:rPr lang="en-US" altLang="zh-TW" dirty="0"/>
              <a:t>0.5)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Update</a:t>
            </a:r>
            <a:r>
              <a:rPr lang="zh-TW" altLang="en-US" dirty="0"/>
              <a:t>仍然會維持原本設定 </a:t>
            </a:r>
            <a:r>
              <a:rPr lang="en-US" altLang="zh-TW" dirty="0"/>
              <a:t>(ex.60fps)</a:t>
            </a:r>
          </a:p>
          <a:p>
            <a:pPr lvl="1"/>
            <a:r>
              <a:rPr lang="en-US" altLang="zh-TW" dirty="0" err="1"/>
              <a:t>FixedUpdate</a:t>
            </a:r>
            <a:r>
              <a:rPr lang="zh-TW" altLang="en-US" dirty="0"/>
              <a:t>會跟隨遊戲速率執行 </a:t>
            </a:r>
            <a:r>
              <a:rPr lang="en-US" altLang="zh-TW" dirty="0"/>
              <a:t>(</a:t>
            </a:r>
            <a:r>
              <a:rPr lang="zh-TW" altLang="en-US" dirty="0"/>
              <a:t>若有需要可修改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sz="2400" dirty="0"/>
              <a:t>部分功能</a:t>
            </a:r>
            <a:r>
              <a:rPr lang="en-US" altLang="zh-TW" sz="2400" dirty="0"/>
              <a:t>(</a:t>
            </a:r>
            <a:r>
              <a:rPr lang="zh-TW" altLang="en-US" sz="2400" dirty="0"/>
              <a:t>如：動畫</a:t>
            </a:r>
            <a:r>
              <a:rPr lang="en-US" altLang="zh-TW" sz="2400" dirty="0"/>
              <a:t>)</a:t>
            </a:r>
            <a:r>
              <a:rPr lang="zh-TW" altLang="en-US" sz="2400" dirty="0"/>
              <a:t>可自行決定是否受遊戲速度影響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6584</TotalTime>
  <Words>617</Words>
  <Application>Microsoft Office PowerPoint</Application>
  <PresentationFormat>如螢幕大小 (4:3)</PresentationFormat>
  <Paragraphs>125</Paragraphs>
  <Slides>18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4" baseType="lpstr">
      <vt:lpstr>Arial</vt:lpstr>
      <vt:lpstr>Calibri</vt:lpstr>
      <vt:lpstr>Georgia</vt:lpstr>
      <vt:lpstr>Times New Roman</vt:lpstr>
      <vt:lpstr>Wingdings 2</vt:lpstr>
      <vt:lpstr>都會</vt:lpstr>
      <vt:lpstr>Lesson 8 遊戲迴圈 &amp; 玩家操作</vt:lpstr>
      <vt:lpstr>Game Loop</vt:lpstr>
      <vt:lpstr>Game Loop 簡化</vt:lpstr>
      <vt:lpstr>Game Loop</vt:lpstr>
      <vt:lpstr>遊戲迴圈 與 Update</vt:lpstr>
      <vt:lpstr>遊戲迴圈 與 FixedUpdate</vt:lpstr>
      <vt:lpstr>角色操控方式 </vt:lpstr>
      <vt:lpstr>建立玩家物件</vt:lpstr>
      <vt:lpstr>玩家物件</vt:lpstr>
      <vt:lpstr>角色移動</vt:lpstr>
      <vt:lpstr>重力與跳躍</vt:lpstr>
      <vt:lpstr>重力與跳躍</vt:lpstr>
      <vt:lpstr>地板測試 (Ground Check)</vt:lpstr>
      <vt:lpstr>地板測試 (Ground Check)</vt:lpstr>
      <vt:lpstr>New Input System</vt:lpstr>
      <vt:lpstr>New Input System</vt:lpstr>
      <vt:lpstr>New Input System</vt:lpstr>
      <vt:lpstr>遊戲速度 Time.timeScale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440</cp:revision>
  <dcterms:created xsi:type="dcterms:W3CDTF">2024-11-18T05:57:07Z</dcterms:created>
  <dcterms:modified xsi:type="dcterms:W3CDTF">2025-03-27T09:11:42Z</dcterms:modified>
</cp:coreProperties>
</file>